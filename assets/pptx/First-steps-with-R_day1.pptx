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2"/>
  </p:notesMasterIdLst>
  <p:handoutMasterIdLst>
    <p:handoutMasterId r:id="rId133"/>
  </p:handoutMasterIdLst>
  <p:sldIdLst>
    <p:sldId id="2199" r:id="rId5"/>
    <p:sldId id="2324" r:id="rId6"/>
    <p:sldId id="1180" r:id="rId7"/>
    <p:sldId id="2200" r:id="rId8"/>
    <p:sldId id="2201" r:id="rId9"/>
    <p:sldId id="2202" r:id="rId10"/>
    <p:sldId id="2203" r:id="rId11"/>
    <p:sldId id="2204" r:id="rId12"/>
    <p:sldId id="2319" r:id="rId13"/>
    <p:sldId id="2318" r:id="rId14"/>
    <p:sldId id="2320" r:id="rId15"/>
    <p:sldId id="2317" r:id="rId16"/>
    <p:sldId id="2205" r:id="rId17"/>
    <p:sldId id="2207" r:id="rId18"/>
    <p:sldId id="2208" r:id="rId19"/>
    <p:sldId id="2209" r:id="rId20"/>
    <p:sldId id="2210" r:id="rId21"/>
    <p:sldId id="2212" r:id="rId22"/>
    <p:sldId id="2332" r:id="rId23"/>
    <p:sldId id="2325" r:id="rId24"/>
    <p:sldId id="2213" r:id="rId25"/>
    <p:sldId id="2214" r:id="rId26"/>
    <p:sldId id="2215" r:id="rId27"/>
    <p:sldId id="2217" r:id="rId28"/>
    <p:sldId id="2326" r:id="rId29"/>
    <p:sldId id="2218" r:id="rId30"/>
    <p:sldId id="2219" r:id="rId31"/>
    <p:sldId id="2220" r:id="rId32"/>
    <p:sldId id="2221" r:id="rId33"/>
    <p:sldId id="2327" r:id="rId34"/>
    <p:sldId id="2223" r:id="rId35"/>
    <p:sldId id="2222" r:id="rId36"/>
    <p:sldId id="2224" r:id="rId37"/>
    <p:sldId id="2226" r:id="rId38"/>
    <p:sldId id="2227" r:id="rId39"/>
    <p:sldId id="2306" r:id="rId40"/>
    <p:sldId id="2331" r:id="rId41"/>
    <p:sldId id="2228" r:id="rId42"/>
    <p:sldId id="2229" r:id="rId43"/>
    <p:sldId id="2230" r:id="rId44"/>
    <p:sldId id="2231" r:id="rId45"/>
    <p:sldId id="2232" r:id="rId46"/>
    <p:sldId id="2309" r:id="rId47"/>
    <p:sldId id="2234" r:id="rId48"/>
    <p:sldId id="2328" r:id="rId49"/>
    <p:sldId id="2233" r:id="rId50"/>
    <p:sldId id="2235" r:id="rId51"/>
    <p:sldId id="2236" r:id="rId52"/>
    <p:sldId id="2237" r:id="rId53"/>
    <p:sldId id="2240" r:id="rId54"/>
    <p:sldId id="2329" r:id="rId55"/>
    <p:sldId id="2241" r:id="rId56"/>
    <p:sldId id="2245" r:id="rId57"/>
    <p:sldId id="2246" r:id="rId58"/>
    <p:sldId id="2330" r:id="rId59"/>
    <p:sldId id="2321" r:id="rId60"/>
    <p:sldId id="2333" r:id="rId61"/>
    <p:sldId id="2322" r:id="rId62"/>
    <p:sldId id="2323" r:id="rId63"/>
    <p:sldId id="2247" r:id="rId64"/>
    <p:sldId id="2248" r:id="rId65"/>
    <p:sldId id="2249" r:id="rId66"/>
    <p:sldId id="2250" r:id="rId67"/>
    <p:sldId id="2251" r:id="rId68"/>
    <p:sldId id="2252" r:id="rId69"/>
    <p:sldId id="2253" r:id="rId70"/>
    <p:sldId id="2255" r:id="rId71"/>
    <p:sldId id="2256" r:id="rId72"/>
    <p:sldId id="2257" r:id="rId73"/>
    <p:sldId id="2258" r:id="rId74"/>
    <p:sldId id="2259" r:id="rId75"/>
    <p:sldId id="2260" r:id="rId76"/>
    <p:sldId id="2254" r:id="rId77"/>
    <p:sldId id="2261" r:id="rId78"/>
    <p:sldId id="2262" r:id="rId79"/>
    <p:sldId id="2263" r:id="rId80"/>
    <p:sldId id="2264" r:id="rId81"/>
    <p:sldId id="2265" r:id="rId82"/>
    <p:sldId id="2266" r:id="rId83"/>
    <p:sldId id="2267" r:id="rId84"/>
    <p:sldId id="2268" r:id="rId85"/>
    <p:sldId id="2269" r:id="rId86"/>
    <p:sldId id="2271" r:id="rId87"/>
    <p:sldId id="2272" r:id="rId88"/>
    <p:sldId id="2273" r:id="rId89"/>
    <p:sldId id="2270" r:id="rId90"/>
    <p:sldId id="2311" r:id="rId91"/>
    <p:sldId id="2312" r:id="rId92"/>
    <p:sldId id="2313" r:id="rId93"/>
    <p:sldId id="2314" r:id="rId94"/>
    <p:sldId id="2278" r:id="rId95"/>
    <p:sldId id="2280" r:id="rId96"/>
    <p:sldId id="2281" r:id="rId97"/>
    <p:sldId id="2282" r:id="rId98"/>
    <p:sldId id="2315" r:id="rId99"/>
    <p:sldId id="258" r:id="rId100"/>
    <p:sldId id="257" r:id="rId101"/>
    <p:sldId id="2334" r:id="rId102"/>
    <p:sldId id="259" r:id="rId103"/>
    <p:sldId id="260" r:id="rId104"/>
    <p:sldId id="261" r:id="rId105"/>
    <p:sldId id="2310" r:id="rId106"/>
    <p:sldId id="2275" r:id="rId107"/>
    <p:sldId id="2276" r:id="rId108"/>
    <p:sldId id="2288" r:id="rId109"/>
    <p:sldId id="2286" r:id="rId110"/>
    <p:sldId id="2287" r:id="rId111"/>
    <p:sldId id="2289" r:id="rId112"/>
    <p:sldId id="2290" r:id="rId113"/>
    <p:sldId id="2291" r:id="rId114"/>
    <p:sldId id="2292" r:id="rId115"/>
    <p:sldId id="2301" r:id="rId116"/>
    <p:sldId id="2307" r:id="rId117"/>
    <p:sldId id="2300" r:id="rId118"/>
    <p:sldId id="2293" r:id="rId119"/>
    <p:sldId id="2294" r:id="rId120"/>
    <p:sldId id="2295" r:id="rId121"/>
    <p:sldId id="2296" r:id="rId122"/>
    <p:sldId id="2298" r:id="rId123"/>
    <p:sldId id="2297" r:id="rId124"/>
    <p:sldId id="2299" r:id="rId125"/>
    <p:sldId id="2302" r:id="rId126"/>
    <p:sldId id="2308" r:id="rId127"/>
    <p:sldId id="2211" r:id="rId128"/>
    <p:sldId id="2303" r:id="rId129"/>
    <p:sldId id="2304" r:id="rId130"/>
    <p:sldId id="2305" r:id="rId13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BC7DA7-61C6-FE01-D5D8-A892A102519B}" name="Marie Dangles" initials="MD" userId="S::Marie.Dangles@sib.swiss::7b63edcb-ccf4-4a75-88d0-c14d201c4d6b" providerId="AD"/>
  <p188:author id="{CE5D80B9-1F14-B145-DF47-4868472354CC}" name="Marie Dangles" initials="MD" userId="S::marie.dangles@sib.swiss::7b63edcb-ccf4-4a75-88d0-c14d201c4d6b" providerId="AD"/>
  <p188:author id="{808096D5-8C93-63BC-E4B0-42D5AEA0682D}" name="Maia Berman" initials="MB" userId="S::maia.berman@sib.swiss::1345ac14-4068-45c8-a090-8c43709fd17f" providerId="AD"/>
  <p188:author id="{6B1FADD7-C699-59FF-534C-F7CDC6EE7682}" name="Maia Berman" initials="MB" userId="S::Maia.Berman@sib.swiss::1345ac14-4068-45c8-a090-8c43709fd1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eonore Wigger" initials="LW" lastIdx="33" clrIdx="0">
    <p:extLst>
      <p:ext uri="{19B8F6BF-5375-455C-9EA6-DF929625EA0E}">
        <p15:presenceInfo xmlns:p15="http://schemas.microsoft.com/office/powerpoint/2012/main" userId="086e7699ab774da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50"/>
    <p:restoredTop sz="86099"/>
  </p:normalViewPr>
  <p:slideViewPr>
    <p:cSldViewPr snapToGrid="0">
      <p:cViewPr varScale="1">
        <p:scale>
          <a:sx n="88" d="100"/>
          <a:sy n="88" d="100"/>
        </p:scale>
        <p:origin x="208" y="53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tableStyles" Target="tableStyle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commentAuthors" Target="commentAuthors.xml"/><Relationship Id="rId139" Type="http://schemas.microsoft.com/office/2018/10/relationships/authors" Target="author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presProps" Target="presProps.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notesMaster" Target="notesMasters/notesMaster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F87670A-975B-8A3E-CA1E-1C95318AB1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latin typeface="Corbel" panose="020B0503020204020204" pitchFamily="34" charset="0"/>
            </a:endParaRPr>
          </a:p>
        </p:txBody>
      </p:sp>
      <p:sp>
        <p:nvSpPr>
          <p:cNvPr id="3" name="Espace réservé de la date 2">
            <a:extLst>
              <a:ext uri="{FF2B5EF4-FFF2-40B4-BE49-F238E27FC236}">
                <a16:creationId xmlns:a16="http://schemas.microsoft.com/office/drawing/2014/main" id="{F7AF402A-CBD2-E8BA-AAA8-34E54EAE212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9F29005-80C1-A548-84CE-9D8F7C27BC60}" type="datetimeFigureOut">
              <a:rPr lang="fr-FR" smtClean="0">
                <a:latin typeface="Corbel" panose="020B0503020204020204" pitchFamily="34" charset="0"/>
              </a:rPr>
              <a:t>02/10/2026</a:t>
            </a:fld>
            <a:endParaRPr lang="fr-FR">
              <a:latin typeface="Corbel" panose="020B0503020204020204" pitchFamily="34" charset="0"/>
            </a:endParaRPr>
          </a:p>
        </p:txBody>
      </p:sp>
      <p:sp>
        <p:nvSpPr>
          <p:cNvPr id="4" name="Espace réservé du pied de page 3">
            <a:extLst>
              <a:ext uri="{FF2B5EF4-FFF2-40B4-BE49-F238E27FC236}">
                <a16:creationId xmlns:a16="http://schemas.microsoft.com/office/drawing/2014/main" id="{EF918FD6-F4AE-D982-B32D-7F319AFAF6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latin typeface="Corbel" panose="020B0503020204020204" pitchFamily="34" charset="0"/>
            </a:endParaRPr>
          </a:p>
        </p:txBody>
      </p:sp>
      <p:sp>
        <p:nvSpPr>
          <p:cNvPr id="5" name="Espace réservé du numéro de diapositive 4">
            <a:extLst>
              <a:ext uri="{FF2B5EF4-FFF2-40B4-BE49-F238E27FC236}">
                <a16:creationId xmlns:a16="http://schemas.microsoft.com/office/drawing/2014/main" id="{C4C636B7-0054-2915-21E4-2E5FE70944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A0CD75-09BC-0C48-AAA4-476A4268C9A9}" type="slidenum">
              <a:rPr lang="fr-FR" smtClean="0">
                <a:latin typeface="Corbel" panose="020B0503020204020204" pitchFamily="34" charset="0"/>
              </a:rPr>
              <a:t>‹N°›</a:t>
            </a:fld>
            <a:endParaRPr lang="fr-FR">
              <a:latin typeface="Corbel" panose="020B0503020204020204" pitchFamily="34" charset="0"/>
            </a:endParaRPr>
          </a:p>
        </p:txBody>
      </p:sp>
    </p:spTree>
    <p:extLst>
      <p:ext uri="{BB962C8B-B14F-4D97-AF65-F5344CB8AC3E}">
        <p14:creationId xmlns:p14="http://schemas.microsoft.com/office/powerpoint/2010/main" val="35173920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orbel" panose="020B0503020204020204" pitchFamily="34" charset="0"/>
              </a:defRPr>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orbel" panose="020B0503020204020204" pitchFamily="34" charset="0"/>
              </a:defRPr>
            </a:lvl1pPr>
          </a:lstStyle>
          <a:p>
            <a:fld id="{252EF52D-CFFC-FA47-BBAF-74B3994A70AD}" type="datetimeFigureOut">
              <a:rPr lang="fr-FR" smtClean="0"/>
              <a:pPr/>
              <a:t>02/10/2026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orbel" panose="020B0503020204020204" pitchFamily="34" charset="0"/>
              </a:defRPr>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orbel" panose="020B0503020204020204" pitchFamily="34" charset="0"/>
              </a:defRPr>
            </a:lvl1pPr>
          </a:lstStyle>
          <a:p>
            <a:fld id="{170F0992-BC5E-544C-9AC1-207704CC8F47}" type="slidenum">
              <a:rPr lang="fr-FR" smtClean="0"/>
              <a:pPr/>
              <a:t>‹N°›</a:t>
            </a:fld>
            <a:endParaRPr lang="fr-FR"/>
          </a:p>
        </p:txBody>
      </p:sp>
    </p:spTree>
    <p:extLst>
      <p:ext uri="{BB962C8B-B14F-4D97-AF65-F5344CB8AC3E}">
        <p14:creationId xmlns:p14="http://schemas.microsoft.com/office/powerpoint/2010/main" val="1850885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Corbel" panose="020B0503020204020204" pitchFamily="34" charset="0"/>
        <a:ea typeface="+mn-ea"/>
        <a:cs typeface="+mn-cs"/>
      </a:defRPr>
    </a:lvl1pPr>
    <a:lvl2pPr marL="457200" algn="l" defTabSz="914400" rtl="0" eaLnBrk="1" latinLnBrk="0" hangingPunct="1">
      <a:defRPr sz="1200" b="0" i="0" kern="1200">
        <a:solidFill>
          <a:schemeClr val="tx1"/>
        </a:solidFill>
        <a:latin typeface="Corbel" panose="020B0503020204020204" pitchFamily="34" charset="0"/>
        <a:ea typeface="+mn-ea"/>
        <a:cs typeface="+mn-cs"/>
      </a:defRPr>
    </a:lvl2pPr>
    <a:lvl3pPr marL="914400" algn="l" defTabSz="914400" rtl="0" eaLnBrk="1" latinLnBrk="0" hangingPunct="1">
      <a:defRPr sz="1200" b="0" i="0" kern="1200">
        <a:solidFill>
          <a:schemeClr val="tx1"/>
        </a:solidFill>
        <a:latin typeface="Corbel" panose="020B0503020204020204" pitchFamily="34" charset="0"/>
        <a:ea typeface="+mn-ea"/>
        <a:cs typeface="+mn-cs"/>
      </a:defRPr>
    </a:lvl3pPr>
    <a:lvl4pPr marL="1371600" algn="l" defTabSz="914400" rtl="0" eaLnBrk="1" latinLnBrk="0" hangingPunct="1">
      <a:defRPr sz="1200" b="0" i="0" kern="1200">
        <a:solidFill>
          <a:schemeClr val="tx1"/>
        </a:solidFill>
        <a:latin typeface="Corbel" panose="020B0503020204020204" pitchFamily="34" charset="0"/>
        <a:ea typeface="+mn-ea"/>
        <a:cs typeface="+mn-cs"/>
      </a:defRPr>
    </a:lvl4pPr>
    <a:lvl5pPr marL="1828800" algn="l" defTabSz="914400" rtl="0" eaLnBrk="1" latinLnBrk="0" hangingPunct="1">
      <a:defRPr sz="1200" b="0" i="0" kern="1200">
        <a:solidFill>
          <a:schemeClr val="tx1"/>
        </a:solidFill>
        <a:latin typeface="Corbel" panose="020B05030202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 name="PlaceHolder 1"/>
          <p:cNvSpPr>
            <a:spLocks noGrp="1" noRot="1" noChangeAspect="1"/>
          </p:cNvSpPr>
          <p:nvPr>
            <p:ph type="sldImg"/>
          </p:nvPr>
        </p:nvSpPr>
        <p:spPr>
          <a:xfrm>
            <a:off x="331788" y="696913"/>
            <a:ext cx="6191250" cy="3482975"/>
          </a:xfrm>
          <a:prstGeom prst="rect">
            <a:avLst/>
          </a:prstGeom>
        </p:spPr>
      </p:sp>
      <p:sp>
        <p:nvSpPr>
          <p:cNvPr id="701" name="PlaceHolder 2"/>
          <p:cNvSpPr>
            <a:spLocks noGrp="1"/>
          </p:cNvSpPr>
          <p:nvPr>
            <p:ph type="body"/>
          </p:nvPr>
        </p:nvSpPr>
        <p:spPr>
          <a:xfrm>
            <a:off x="685800" y="4415790"/>
            <a:ext cx="5482440" cy="4179354"/>
          </a:xfrm>
          <a:prstGeom prst="rect">
            <a:avLst/>
          </a:prstGeom>
        </p:spPr>
        <p:txBody>
          <a:bodyPr lIns="0" tIns="0" rIns="0" bIns="0"/>
          <a:lstStyle/>
          <a:p>
            <a:pPr marL="0" indent="0">
              <a:spcAft>
                <a:spcPts val="600"/>
              </a:spcAft>
            </a:pPr>
            <a:r>
              <a:rPr lang="en-GB" sz="1200" dirty="0"/>
              <a:t>What ELIXIR is: ELIXIR is the European infrastructure for life-science data, bringing together national nodes. SIB runs the Swiss node (ELIXIR Switzerland), which is why this course is listed in the ELIXIR training portfolio and follows its Code of Conduct.</a:t>
            </a:r>
          </a:p>
          <a:p>
            <a:pPr marL="0" indent="0">
              <a:spcAft>
                <a:spcPts val="600"/>
              </a:spcAft>
            </a:pPr>
            <a:r>
              <a:rPr lang="en-GB" sz="1200" dirty="0"/>
              <a:t>Why show this slide: the Code of Conduct applies to every ELIXIR event, including this course: the classroom, breaks, the online chat and any exchanges with trainers or other participants. Say it once at the start so the rules are explicit for everyone, not just implied.</a:t>
            </a:r>
          </a:p>
          <a:p>
            <a:pPr marL="0" indent="0">
              <a:spcAft>
                <a:spcPts val="600"/>
              </a:spcAft>
            </a:pPr>
            <a:r>
              <a:rPr lang="en-GB" sz="1200" dirty="0"/>
              <a:t>1. Diversity: everyone is welcome, whatever their background, career stage, field or level in programming. In this course: there are no stupid questions; beginners and experienced users learn side by side.</a:t>
            </a:r>
          </a:p>
          <a:p>
            <a:pPr marL="0" indent="0">
              <a:spcAft>
                <a:spcPts val="600"/>
              </a:spcAft>
            </a:pPr>
            <a:r>
              <a:rPr lang="en-GB" sz="1200" dirty="0"/>
              <a:t>2. Act ethically and with integrity: be honest about your work and respect others' work. In this course: cite the code and data you reuse, respect data confidentiality, and do not share course material or participants' data outside the agreed scope.</a:t>
            </a:r>
          </a:p>
          <a:p>
            <a:pPr marL="0" indent="0">
              <a:spcAft>
                <a:spcPts val="600"/>
              </a:spcAft>
            </a:pPr>
            <a:r>
              <a:rPr lang="en-GB" sz="1200" dirty="0"/>
              <a:t>3. Foster trust and collaboration: help each other, share knowledge openly, and give credit. In this course: it is fine (encouraged!) to help your neighbour during exercises, but explain rather than just type the answer for them.</a:t>
            </a:r>
          </a:p>
          <a:p>
            <a:pPr marL="0" indent="0">
              <a:spcAft>
                <a:spcPts val="600"/>
              </a:spcAft>
            </a:pPr>
            <a:r>
              <a:rPr lang="en-GB" sz="1200" dirty="0"/>
              <a:t>4. Respect and show courtesy to each other: be kind and constructive; no harassment or discriminatory remarks, in person or online. In this course: let people finish their questions, keep criticism about the code, never about the person.</a:t>
            </a:r>
          </a:p>
          <a:p>
            <a:pPr marL="0" indent="0">
              <a:spcAft>
                <a:spcPts val="600"/>
              </a:spcAft>
            </a:pPr>
            <a:r>
              <a:rPr lang="en-GB" sz="1200" dirty="0"/>
              <a:t>If something goes wrong: anyone who experiences or witnesses unacceptable behaviour can speak to one of the trainers, privately and in confidence. Concerns can also be raised directly with ELIXIR via the Code of Conduct page on the ELIXIR website (elixir-europe.org).</a:t>
            </a:r>
          </a:p>
          <a:p>
            <a:pPr marL="0" indent="0">
              <a:spcAft>
                <a:spcPts val="600"/>
              </a:spcAft>
            </a:pPr>
            <a:r>
              <a:rPr lang="en-GB" sz="1200" dirty="0"/>
              <a:t>Tip: keep this short (about 1 minute), make eye contact, and then move on to practical information. The tone should be welcoming, not disciplinary.</a:t>
            </a:r>
          </a:p>
        </p:txBody>
      </p:sp>
      <p:sp>
        <p:nvSpPr>
          <p:cNvPr id="702" name="CustomShape 3"/>
          <p:cNvSpPr/>
          <p:nvPr/>
        </p:nvSpPr>
        <p:spPr>
          <a:xfrm>
            <a:off x="3884760" y="8830116"/>
            <a:ext cx="2967840" cy="460794"/>
          </a:xfrm>
          <a:prstGeom prst="rect">
            <a:avLst/>
          </a:prstGeom>
          <a:noFill/>
          <a:ln>
            <a:no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136810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 name="PlaceHolder 1"/>
          <p:cNvSpPr>
            <a:spLocks noGrp="1" noRot="1" noChangeAspect="1"/>
          </p:cNvSpPr>
          <p:nvPr>
            <p:ph type="sldImg"/>
          </p:nvPr>
        </p:nvSpPr>
        <p:spPr>
          <a:xfrm>
            <a:off x="331788" y="696913"/>
            <a:ext cx="6191250" cy="3482975"/>
          </a:xfrm>
          <a:prstGeom prst="rect">
            <a:avLst/>
          </a:prstGeom>
        </p:spPr>
      </p:sp>
      <p:sp>
        <p:nvSpPr>
          <p:cNvPr id="701" name="PlaceHolder 2"/>
          <p:cNvSpPr>
            <a:spLocks noGrp="1"/>
          </p:cNvSpPr>
          <p:nvPr>
            <p:ph type="body"/>
          </p:nvPr>
        </p:nvSpPr>
        <p:spPr>
          <a:xfrm>
            <a:off x="685800" y="4415790"/>
            <a:ext cx="5482440" cy="4179354"/>
          </a:xfrm>
          <a:prstGeom prst="rect">
            <a:avLst/>
          </a:prstGeom>
        </p:spPr>
        <p:txBody>
          <a:bodyPr lIns="0" tIns="0" rIns="0" bIns="0"/>
          <a:lstStyle/>
          <a:p>
            <a:pPr marL="216000" indent="-212400">
              <a:lnSpc>
                <a:spcPct val="100000"/>
              </a:lnSpc>
            </a:pPr>
            <a:endParaRPr lang="en-US" sz="2000" b="0" strike="noStrike" spc="-1" dirty="0">
              <a:latin typeface="Arial"/>
            </a:endParaRPr>
          </a:p>
        </p:txBody>
      </p:sp>
      <p:sp>
        <p:nvSpPr>
          <p:cNvPr id="702" name="CustomShape 3"/>
          <p:cNvSpPr/>
          <p:nvPr/>
        </p:nvSpPr>
        <p:spPr>
          <a:xfrm>
            <a:off x="3884760" y="8830116"/>
            <a:ext cx="2967840" cy="460794"/>
          </a:xfrm>
          <a:prstGeom prst="rect">
            <a:avLst/>
          </a:prstGeom>
          <a:noFill/>
          <a:ln>
            <a:noFill/>
          </a:ln>
        </p:spPr>
        <p:style>
          <a:lnRef idx="0">
            <a:scrgbClr r="0" g="0" b="0"/>
          </a:lnRef>
          <a:fillRef idx="0">
            <a:scrgbClr r="0" g="0" b="0"/>
          </a:fillRef>
          <a:effectRef idx="0">
            <a:scrgbClr r="0" g="0" b="0"/>
          </a:effectRef>
          <a:fontRef idx="minor"/>
        </p:style>
      </p:sp>
    </p:spTree>
    <p:extLst>
      <p:ext uri="{BB962C8B-B14F-4D97-AF65-F5344CB8AC3E}">
        <p14:creationId xmlns:p14="http://schemas.microsoft.com/office/powerpoint/2010/main" val="31368100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emf"/><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7.em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graphics">
    <p:spTree>
      <p:nvGrpSpPr>
        <p:cNvPr id="1" name=""/>
        <p:cNvGrpSpPr/>
        <p:nvPr/>
      </p:nvGrpSpPr>
      <p:grpSpPr>
        <a:xfrm>
          <a:off x="0" y="0"/>
          <a:ext cx="0" cy="0"/>
          <a:chOff x="0" y="0"/>
          <a:chExt cx="0" cy="0"/>
        </a:xfrm>
      </p:grpSpPr>
      <p:pic>
        <p:nvPicPr>
          <p:cNvPr id="4" name="Image 6">
            <a:extLst>
              <a:ext uri="{FF2B5EF4-FFF2-40B4-BE49-F238E27FC236}">
                <a16:creationId xmlns:a16="http://schemas.microsoft.com/office/drawing/2014/main" id="{D6A4036E-D85D-A184-409E-2273352F1C4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0477"/>
          <a:stretch/>
        </p:blipFill>
        <p:spPr>
          <a:xfrm rot="5400000">
            <a:off x="6516289" y="666647"/>
            <a:ext cx="6323119" cy="5028302"/>
          </a:xfrm>
          <a:prstGeom prst="rect">
            <a:avLst/>
          </a:prstGeom>
        </p:spPr>
      </p:pic>
      <p:sp>
        <p:nvSpPr>
          <p:cNvPr id="2" name="Titre 1">
            <a:extLst>
              <a:ext uri="{FF2B5EF4-FFF2-40B4-BE49-F238E27FC236}">
                <a16:creationId xmlns:a16="http://schemas.microsoft.com/office/drawing/2014/main" id="{484A197B-42EE-7E36-CA2A-208BE5C87877}"/>
              </a:ext>
            </a:extLst>
          </p:cNvPr>
          <p:cNvSpPr>
            <a:spLocks noGrp="1"/>
          </p:cNvSpPr>
          <p:nvPr>
            <p:ph type="title" hasCustomPrompt="1"/>
          </p:nvPr>
        </p:nvSpPr>
        <p:spPr>
          <a:xfrm>
            <a:off x="410812" y="3053222"/>
            <a:ext cx="6817301" cy="1309483"/>
          </a:xfrm>
          <a:prstGeom prst="rect">
            <a:avLst/>
          </a:prstGeom>
        </p:spPr>
        <p:txBody>
          <a:bodyPr anchor="t">
            <a:noAutofit/>
          </a:bodyPr>
          <a:lstStyle>
            <a:lvl1pPr algn="l">
              <a:defRPr sz="4400" b="0" i="0">
                <a:latin typeface="+mj-lt"/>
              </a:defRPr>
            </a:lvl1pPr>
          </a:lstStyle>
          <a:p>
            <a:r>
              <a:rPr lang="en-GB" noProof="0" dirty="0"/>
              <a:t>Title</a:t>
            </a:r>
          </a:p>
        </p:txBody>
      </p:sp>
      <p:sp>
        <p:nvSpPr>
          <p:cNvPr id="3" name="Espace réservé du texte 2">
            <a:extLst>
              <a:ext uri="{FF2B5EF4-FFF2-40B4-BE49-F238E27FC236}">
                <a16:creationId xmlns:a16="http://schemas.microsoft.com/office/drawing/2014/main" id="{0B3413D0-F0C5-B0D1-C1C4-682D69D9BB98}"/>
              </a:ext>
            </a:extLst>
          </p:cNvPr>
          <p:cNvSpPr>
            <a:spLocks noGrp="1"/>
          </p:cNvSpPr>
          <p:nvPr>
            <p:ph type="body" idx="1" hasCustomPrompt="1"/>
          </p:nvPr>
        </p:nvSpPr>
        <p:spPr>
          <a:xfrm>
            <a:off x="410813" y="2483568"/>
            <a:ext cx="6817300" cy="426204"/>
          </a:xfrm>
          <a:prstGeom prst="rect">
            <a:avLst/>
          </a:prstGeom>
        </p:spPr>
        <p:txBody>
          <a:bodyPr anchor="ctr">
            <a:noAutofit/>
          </a:bodyPr>
          <a:lstStyle>
            <a:lvl1pPr marL="0" indent="0" algn="l">
              <a:buNone/>
              <a:defRPr sz="1200" b="0" i="0" cap="all" spc="300" baseline="0">
                <a:solidFill>
                  <a:schemeClr val="tx1"/>
                </a:solidFill>
                <a:latin typeface="+mn-lt"/>
                <a:cs typeface="Gill Sans" panose="020B0502020104020203" pitchFamily="34" charset="-79"/>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dirty="0"/>
              <a:t>SUB-TITLE</a:t>
            </a:r>
          </a:p>
        </p:txBody>
      </p:sp>
      <p:pic>
        <p:nvPicPr>
          <p:cNvPr id="8" name="Image 7">
            <a:extLst>
              <a:ext uri="{FF2B5EF4-FFF2-40B4-BE49-F238E27FC236}">
                <a16:creationId xmlns:a16="http://schemas.microsoft.com/office/drawing/2014/main" id="{C304F84F-F1E5-7B79-33D4-5383FF6BE8CC}"/>
              </a:ext>
            </a:extLst>
          </p:cNvPr>
          <p:cNvPicPr>
            <a:picLocks noChangeAspect="1"/>
          </p:cNvPicPr>
          <p:nvPr userDrawn="1"/>
        </p:nvPicPr>
        <p:blipFill>
          <a:blip r:embed="rId3"/>
          <a:stretch>
            <a:fillRect/>
          </a:stretch>
        </p:blipFill>
        <p:spPr>
          <a:xfrm>
            <a:off x="543913" y="520351"/>
            <a:ext cx="2727302" cy="1311202"/>
          </a:xfrm>
          <a:prstGeom prst="rect">
            <a:avLst/>
          </a:prstGeom>
        </p:spPr>
      </p:pic>
      <p:sp>
        <p:nvSpPr>
          <p:cNvPr id="6" name="Espace réservé du texte 4">
            <a:extLst>
              <a:ext uri="{FF2B5EF4-FFF2-40B4-BE49-F238E27FC236}">
                <a16:creationId xmlns:a16="http://schemas.microsoft.com/office/drawing/2014/main" id="{73E26040-493B-53F9-2620-DDFB0901DE3D}"/>
              </a:ext>
            </a:extLst>
          </p:cNvPr>
          <p:cNvSpPr>
            <a:spLocks noGrp="1"/>
          </p:cNvSpPr>
          <p:nvPr>
            <p:ph type="body" sz="quarter" idx="14" hasCustomPrompt="1"/>
          </p:nvPr>
        </p:nvSpPr>
        <p:spPr>
          <a:xfrm>
            <a:off x="411163" y="5355033"/>
            <a:ext cx="2724150" cy="261711"/>
          </a:xfrm>
          <a:prstGeom prst="rect">
            <a:avLst/>
          </a:prstGeom>
        </p:spPr>
        <p:txBody>
          <a:bodyPr>
            <a:noAutofit/>
          </a:bodyPr>
          <a:lstStyle>
            <a:lvl1pPr marL="0" indent="0">
              <a:buNone/>
              <a:defRPr sz="1600" b="0"/>
            </a:lvl1pPr>
          </a:lstStyle>
          <a:p>
            <a:pPr lvl="0"/>
            <a:r>
              <a:rPr lang="en-GB" noProof="0" dirty="0"/>
              <a:t>Date and location</a:t>
            </a:r>
          </a:p>
        </p:txBody>
      </p:sp>
      <p:pic>
        <p:nvPicPr>
          <p:cNvPr id="7" name="Image 8">
            <a:extLst>
              <a:ext uri="{FF2B5EF4-FFF2-40B4-BE49-F238E27FC236}">
                <a16:creationId xmlns:a16="http://schemas.microsoft.com/office/drawing/2014/main" id="{EC5E4898-5706-F441-9C38-D0C7D97D5277}"/>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b="31472"/>
          <a:stretch/>
        </p:blipFill>
        <p:spPr>
          <a:xfrm rot="10800000" flipV="1">
            <a:off x="5217759" y="1525932"/>
            <a:ext cx="4193535" cy="1492608"/>
          </a:xfrm>
          <a:prstGeom prst="rect">
            <a:avLst/>
          </a:prstGeom>
        </p:spPr>
      </p:pic>
      <p:sp>
        <p:nvSpPr>
          <p:cNvPr id="9" name="Espace réservé du texte 4">
            <a:extLst>
              <a:ext uri="{FF2B5EF4-FFF2-40B4-BE49-F238E27FC236}">
                <a16:creationId xmlns:a16="http://schemas.microsoft.com/office/drawing/2014/main" id="{53090551-4FA3-8BD4-932A-287498CAB2C5}"/>
              </a:ext>
            </a:extLst>
          </p:cNvPr>
          <p:cNvSpPr>
            <a:spLocks noGrp="1"/>
          </p:cNvSpPr>
          <p:nvPr>
            <p:ph type="body" sz="quarter" idx="15" hasCustomPrompt="1"/>
          </p:nvPr>
        </p:nvSpPr>
        <p:spPr>
          <a:xfrm>
            <a:off x="410812" y="5066270"/>
            <a:ext cx="2724150" cy="261711"/>
          </a:xfrm>
          <a:prstGeom prst="rect">
            <a:avLst/>
          </a:prstGeom>
        </p:spPr>
        <p:txBody>
          <a:bodyPr>
            <a:noAutofit/>
          </a:bodyPr>
          <a:lstStyle>
            <a:lvl1pPr marL="0" indent="0">
              <a:buNone/>
              <a:defRPr sz="1600" b="1"/>
            </a:lvl1pPr>
          </a:lstStyle>
          <a:p>
            <a:pPr lvl="0"/>
            <a:r>
              <a:rPr lang="en-GB" noProof="0" dirty="0"/>
              <a:t>Author, Group name </a:t>
            </a:r>
          </a:p>
        </p:txBody>
      </p:sp>
      <p:pic>
        <p:nvPicPr>
          <p:cNvPr id="5" name="Picture 4" descr="A logo with orange and grey letters&#10;&#10;Description automatically generated">
            <a:extLst>
              <a:ext uri="{FF2B5EF4-FFF2-40B4-BE49-F238E27FC236}">
                <a16:creationId xmlns:a16="http://schemas.microsoft.com/office/drawing/2014/main" id="{1C19E4D0-3074-51FB-06DC-4C49BD099F24}"/>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410812" y="6163222"/>
            <a:ext cx="1054917" cy="507172"/>
          </a:xfrm>
          <a:prstGeom prst="rect">
            <a:avLst/>
          </a:prstGeom>
        </p:spPr>
      </p:pic>
    </p:spTree>
    <p:extLst>
      <p:ext uri="{BB962C8B-B14F-4D97-AF65-F5344CB8AC3E}">
        <p14:creationId xmlns:p14="http://schemas.microsoft.com/office/powerpoint/2010/main" val="26257557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B3413D0-F0C5-B0D1-C1C4-682D69D9BB98}"/>
              </a:ext>
            </a:extLst>
          </p:cNvPr>
          <p:cNvSpPr>
            <a:spLocks noGrp="1"/>
          </p:cNvSpPr>
          <p:nvPr>
            <p:ph type="body" idx="1" hasCustomPrompt="1"/>
          </p:nvPr>
        </p:nvSpPr>
        <p:spPr>
          <a:xfrm>
            <a:off x="410813" y="2481027"/>
            <a:ext cx="5685187" cy="426204"/>
          </a:xfrm>
          <a:prstGeom prst="rect">
            <a:avLst/>
          </a:prstGeom>
        </p:spPr>
        <p:txBody>
          <a:bodyPr anchor="ctr">
            <a:noAutofit/>
          </a:bodyPr>
          <a:lstStyle>
            <a:lvl1pPr marL="0" indent="0" algn="l">
              <a:buNone/>
              <a:defRPr sz="1200" b="0" i="0" cap="all" spc="300" baseline="0">
                <a:solidFill>
                  <a:schemeClr val="tx1"/>
                </a:solidFill>
                <a:latin typeface="Corbel" panose="020B0503020204020204" pitchFamily="34" charset="0"/>
                <a:cs typeface="Gill Sans" panose="020B0502020104020203" pitchFamily="34" charset="-79"/>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noProof="0" dirty="0"/>
              <a:t>SUB-TITLE</a:t>
            </a:r>
          </a:p>
        </p:txBody>
      </p:sp>
      <p:sp>
        <p:nvSpPr>
          <p:cNvPr id="7" name="Espace réservé pour une image  6">
            <a:extLst>
              <a:ext uri="{FF2B5EF4-FFF2-40B4-BE49-F238E27FC236}">
                <a16:creationId xmlns:a16="http://schemas.microsoft.com/office/drawing/2014/main" id="{F880213D-89B1-3800-87F3-0045D35E0A46}"/>
              </a:ext>
            </a:extLst>
          </p:cNvPr>
          <p:cNvSpPr>
            <a:spLocks noGrp="1"/>
          </p:cNvSpPr>
          <p:nvPr>
            <p:ph type="pic" sz="quarter" idx="10"/>
          </p:nvPr>
        </p:nvSpPr>
        <p:spPr>
          <a:xfrm>
            <a:off x="7415213" y="0"/>
            <a:ext cx="4776787" cy="6858000"/>
          </a:xfrm>
          <a:prstGeom prst="rect">
            <a:avLst/>
          </a:prstGeom>
        </p:spPr>
        <p:txBody>
          <a:bodyPr/>
          <a:lstStyle/>
          <a:p>
            <a:endParaRPr lang="fr-FR"/>
          </a:p>
        </p:txBody>
      </p:sp>
      <p:pic>
        <p:nvPicPr>
          <p:cNvPr id="8" name="Image 7">
            <a:extLst>
              <a:ext uri="{FF2B5EF4-FFF2-40B4-BE49-F238E27FC236}">
                <a16:creationId xmlns:a16="http://schemas.microsoft.com/office/drawing/2014/main" id="{C304F84F-F1E5-7B79-33D4-5383FF6BE8CC}"/>
              </a:ext>
            </a:extLst>
          </p:cNvPr>
          <p:cNvPicPr>
            <a:picLocks noChangeAspect="1"/>
          </p:cNvPicPr>
          <p:nvPr userDrawn="1"/>
        </p:nvPicPr>
        <p:blipFill>
          <a:blip r:embed="rId2"/>
          <a:stretch>
            <a:fillRect/>
          </a:stretch>
        </p:blipFill>
        <p:spPr>
          <a:xfrm>
            <a:off x="543913" y="520351"/>
            <a:ext cx="2727302" cy="1311202"/>
          </a:xfrm>
          <a:prstGeom prst="rect">
            <a:avLst/>
          </a:prstGeom>
        </p:spPr>
      </p:pic>
      <p:sp>
        <p:nvSpPr>
          <p:cNvPr id="4" name="Titre 1">
            <a:extLst>
              <a:ext uri="{FF2B5EF4-FFF2-40B4-BE49-F238E27FC236}">
                <a16:creationId xmlns:a16="http://schemas.microsoft.com/office/drawing/2014/main" id="{6174D3E9-3CB8-1293-F324-12517D2E2DF2}"/>
              </a:ext>
            </a:extLst>
          </p:cNvPr>
          <p:cNvSpPr>
            <a:spLocks noGrp="1"/>
          </p:cNvSpPr>
          <p:nvPr>
            <p:ph type="title" hasCustomPrompt="1"/>
          </p:nvPr>
        </p:nvSpPr>
        <p:spPr>
          <a:xfrm>
            <a:off x="410813" y="3052800"/>
            <a:ext cx="6817301" cy="1309483"/>
          </a:xfrm>
          <a:prstGeom prst="rect">
            <a:avLst/>
          </a:prstGeom>
        </p:spPr>
        <p:txBody>
          <a:bodyPr anchor="t">
            <a:noAutofit/>
          </a:bodyPr>
          <a:lstStyle>
            <a:lvl1pPr algn="l" defTabSz="914400" rtl="0" eaLnBrk="1" latinLnBrk="0" hangingPunct="1">
              <a:lnSpc>
                <a:spcPct val="80000"/>
              </a:lnSpc>
              <a:spcBef>
                <a:spcPct val="0"/>
              </a:spcBef>
              <a:buNone/>
              <a:defRPr lang="en-GB" sz="4400" b="0" i="0" kern="1200" noProof="0" dirty="0">
                <a:solidFill>
                  <a:schemeClr val="tx1"/>
                </a:solidFill>
                <a:latin typeface="+mj-lt"/>
                <a:ea typeface="Verdana" panose="020B0604030504040204" pitchFamily="34" charset="0"/>
                <a:cs typeface="Gill Sans" panose="020B0502020104020203" pitchFamily="34" charset="-79"/>
              </a:defRPr>
            </a:lvl1pPr>
          </a:lstStyle>
          <a:p>
            <a:r>
              <a:rPr lang="en-GB" noProof="0" dirty="0"/>
              <a:t>Title</a:t>
            </a:r>
          </a:p>
        </p:txBody>
      </p:sp>
      <p:sp>
        <p:nvSpPr>
          <p:cNvPr id="6" name="Espace réservé du texte 4">
            <a:extLst>
              <a:ext uri="{FF2B5EF4-FFF2-40B4-BE49-F238E27FC236}">
                <a16:creationId xmlns:a16="http://schemas.microsoft.com/office/drawing/2014/main" id="{14BD102C-AA50-9B30-F804-3089D180E781}"/>
              </a:ext>
            </a:extLst>
          </p:cNvPr>
          <p:cNvSpPr>
            <a:spLocks noGrp="1"/>
          </p:cNvSpPr>
          <p:nvPr>
            <p:ph type="body" sz="quarter" idx="14" hasCustomPrompt="1"/>
          </p:nvPr>
        </p:nvSpPr>
        <p:spPr>
          <a:xfrm>
            <a:off x="411164" y="5351168"/>
            <a:ext cx="2724150" cy="261711"/>
          </a:xfrm>
          <a:prstGeom prst="rect">
            <a:avLst/>
          </a:prstGeom>
        </p:spPr>
        <p:txBody>
          <a:bodyPr>
            <a:noAutofit/>
          </a:bodyPr>
          <a:lstStyle>
            <a:lvl1pPr marL="0" indent="0">
              <a:buNone/>
              <a:defRPr sz="1600" b="0"/>
            </a:lvl1pPr>
          </a:lstStyle>
          <a:p>
            <a:pPr lvl="0"/>
            <a:r>
              <a:rPr lang="en-GB" noProof="0" dirty="0"/>
              <a:t>Date and location</a:t>
            </a:r>
          </a:p>
        </p:txBody>
      </p:sp>
      <p:sp>
        <p:nvSpPr>
          <p:cNvPr id="9" name="Espace réservé du texte 4">
            <a:extLst>
              <a:ext uri="{FF2B5EF4-FFF2-40B4-BE49-F238E27FC236}">
                <a16:creationId xmlns:a16="http://schemas.microsoft.com/office/drawing/2014/main" id="{F42A1719-D5FD-C104-F48D-FEF55559DE50}"/>
              </a:ext>
            </a:extLst>
          </p:cNvPr>
          <p:cNvSpPr>
            <a:spLocks noGrp="1"/>
          </p:cNvSpPr>
          <p:nvPr>
            <p:ph type="body" sz="quarter" idx="15" hasCustomPrompt="1"/>
          </p:nvPr>
        </p:nvSpPr>
        <p:spPr>
          <a:xfrm>
            <a:off x="410813" y="5062405"/>
            <a:ext cx="2724150" cy="261711"/>
          </a:xfrm>
          <a:prstGeom prst="rect">
            <a:avLst/>
          </a:prstGeom>
        </p:spPr>
        <p:txBody>
          <a:bodyPr>
            <a:noAutofit/>
          </a:bodyPr>
          <a:lstStyle>
            <a:lvl1pPr marL="0" indent="0">
              <a:buNone/>
              <a:defRPr sz="1600" b="1"/>
            </a:lvl1pPr>
          </a:lstStyle>
          <a:p>
            <a:pPr lvl="0"/>
            <a:r>
              <a:rPr lang="en-GB" noProof="0" dirty="0"/>
              <a:t>Author, Group name </a:t>
            </a:r>
          </a:p>
        </p:txBody>
      </p:sp>
      <p:pic>
        <p:nvPicPr>
          <p:cNvPr id="11" name="Picture 10" descr="A logo with orange and grey letters&#10;&#10;Description automatically generated">
            <a:extLst>
              <a:ext uri="{FF2B5EF4-FFF2-40B4-BE49-F238E27FC236}">
                <a16:creationId xmlns:a16="http://schemas.microsoft.com/office/drawing/2014/main" id="{6DAA9095-74D9-EEBF-5F10-15053C77C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0812" y="6163222"/>
            <a:ext cx="1054917" cy="507172"/>
          </a:xfrm>
          <a:prstGeom prst="rect">
            <a:avLst/>
          </a:prstGeom>
        </p:spPr>
      </p:pic>
    </p:spTree>
    <p:extLst>
      <p:ext uri="{BB962C8B-B14F-4D97-AF65-F5344CB8AC3E}">
        <p14:creationId xmlns:p14="http://schemas.microsoft.com/office/powerpoint/2010/main" val="1676216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message red">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 name="Titre 1">
            <a:extLst>
              <a:ext uri="{FF2B5EF4-FFF2-40B4-BE49-F238E27FC236}">
                <a16:creationId xmlns:a16="http://schemas.microsoft.com/office/drawing/2014/main" id="{37F542CB-EF84-68BA-9A50-B6575183E8B9}"/>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bg1"/>
                </a:solidFill>
              </a:defRPr>
            </a:lvl1pPr>
          </a:lstStyle>
          <a:p>
            <a:r>
              <a:rPr lang="en-GB" noProof="0" dirty="0"/>
              <a:t>Key message text</a:t>
            </a:r>
          </a:p>
        </p:txBody>
      </p:sp>
    </p:spTree>
    <p:extLst>
      <p:ext uri="{BB962C8B-B14F-4D97-AF65-F5344CB8AC3E}">
        <p14:creationId xmlns:p14="http://schemas.microsoft.com/office/powerpoint/2010/main" val="3901132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ey message pink">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re 1">
            <a:extLst>
              <a:ext uri="{FF2B5EF4-FFF2-40B4-BE49-F238E27FC236}">
                <a16:creationId xmlns:a16="http://schemas.microsoft.com/office/drawing/2014/main" id="{1DB113ED-E4E6-4F61-AFF2-2D6137F50FCF}"/>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tx1"/>
                </a:solidFill>
              </a:defRPr>
            </a:lvl1pPr>
          </a:lstStyle>
          <a:p>
            <a:r>
              <a:rPr lang="en-GB" noProof="0" dirty="0"/>
              <a:t>Key message text</a:t>
            </a:r>
          </a:p>
        </p:txBody>
      </p:sp>
    </p:spTree>
    <p:extLst>
      <p:ext uri="{BB962C8B-B14F-4D97-AF65-F5344CB8AC3E}">
        <p14:creationId xmlns:p14="http://schemas.microsoft.com/office/powerpoint/2010/main" val="2720042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message grey">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2"/>
              </a:solidFill>
            </a:endParaRPr>
          </a:p>
        </p:txBody>
      </p:sp>
      <p:sp>
        <p:nvSpPr>
          <p:cNvPr id="2" name="Titre 1">
            <a:extLst>
              <a:ext uri="{FF2B5EF4-FFF2-40B4-BE49-F238E27FC236}">
                <a16:creationId xmlns:a16="http://schemas.microsoft.com/office/drawing/2014/main" id="{484A197B-42EE-7E36-CA2A-208BE5C87877}"/>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tx1"/>
                </a:solidFill>
              </a:defRPr>
            </a:lvl1pPr>
          </a:lstStyle>
          <a:p>
            <a:r>
              <a:rPr lang="en-GB" noProof="0"/>
              <a:t>Key message text</a:t>
            </a: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Tree>
    <p:extLst>
      <p:ext uri="{BB962C8B-B14F-4D97-AF65-F5344CB8AC3E}">
        <p14:creationId xmlns:p14="http://schemas.microsoft.com/office/powerpoint/2010/main" val="4050387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 message green">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 name="Titre 1">
            <a:extLst>
              <a:ext uri="{FF2B5EF4-FFF2-40B4-BE49-F238E27FC236}">
                <a16:creationId xmlns:a16="http://schemas.microsoft.com/office/drawing/2014/main" id="{9A746E69-DEDB-F5B5-CAF6-095827C42BE4}"/>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bg1"/>
                </a:solidFill>
              </a:defRPr>
            </a:lvl1pPr>
          </a:lstStyle>
          <a:p>
            <a:r>
              <a:rPr lang="en-GB" noProof="0"/>
              <a:t>Key message text</a:t>
            </a:r>
          </a:p>
        </p:txBody>
      </p:sp>
    </p:spTree>
    <p:extLst>
      <p:ext uri="{BB962C8B-B14F-4D97-AF65-F5344CB8AC3E}">
        <p14:creationId xmlns:p14="http://schemas.microsoft.com/office/powerpoint/2010/main" val="1548055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ey message blue">
    <p:spTree>
      <p:nvGrpSpPr>
        <p:cNvPr id="1" name=""/>
        <p:cNvGrpSpPr/>
        <p:nvPr/>
      </p:nvGrpSpPr>
      <p:grpSpPr>
        <a:xfrm>
          <a:off x="0" y="0"/>
          <a:ext cx="0" cy="0"/>
          <a:chOff x="0" y="0"/>
          <a:chExt cx="0" cy="0"/>
        </a:xfrm>
      </p:grpSpPr>
      <p:sp>
        <p:nvSpPr>
          <p:cNvPr id="6" name="Rectangle : coins arrondis 5">
            <a:extLst>
              <a:ext uri="{FF2B5EF4-FFF2-40B4-BE49-F238E27FC236}">
                <a16:creationId xmlns:a16="http://schemas.microsoft.com/office/drawing/2014/main" id="{C206A323-E28E-0970-02BD-0A9A42E59FD3}"/>
              </a:ext>
            </a:extLst>
          </p:cNvPr>
          <p:cNvSpPr/>
          <p:nvPr userDrawn="1"/>
        </p:nvSpPr>
        <p:spPr>
          <a:xfrm>
            <a:off x="1182370" y="708797"/>
            <a:ext cx="9827260" cy="5482046"/>
          </a:xfrm>
          <a:prstGeom prst="roundRect">
            <a:avLst>
              <a:gd name="adj" fmla="val 54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4" name="Image 3">
            <a:extLst>
              <a:ext uri="{FF2B5EF4-FFF2-40B4-BE49-F238E27FC236}">
                <a16:creationId xmlns:a16="http://schemas.microsoft.com/office/drawing/2014/main" id="{D2559E90-99B6-97A4-09B6-E7031AD7A9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 name="Titre 1">
            <a:extLst>
              <a:ext uri="{FF2B5EF4-FFF2-40B4-BE49-F238E27FC236}">
                <a16:creationId xmlns:a16="http://schemas.microsoft.com/office/drawing/2014/main" id="{DC2582AC-69EE-6A66-007B-371C19BB57DC}"/>
              </a:ext>
            </a:extLst>
          </p:cNvPr>
          <p:cNvSpPr>
            <a:spLocks noGrp="1"/>
          </p:cNvSpPr>
          <p:nvPr>
            <p:ph type="title" hasCustomPrompt="1"/>
          </p:nvPr>
        </p:nvSpPr>
        <p:spPr>
          <a:xfrm>
            <a:off x="1441174" y="2002631"/>
            <a:ext cx="9332844" cy="2852737"/>
          </a:xfrm>
          <a:prstGeom prst="rect">
            <a:avLst/>
          </a:prstGeom>
        </p:spPr>
        <p:txBody>
          <a:bodyPr anchor="ctr">
            <a:noAutofit/>
          </a:bodyPr>
          <a:lstStyle>
            <a:lvl1pPr algn="ctr">
              <a:defRPr sz="3600" b="0" i="0">
                <a:solidFill>
                  <a:schemeClr val="bg1"/>
                </a:solidFill>
              </a:defRPr>
            </a:lvl1pPr>
          </a:lstStyle>
          <a:p>
            <a:r>
              <a:rPr lang="en-GB" noProof="0"/>
              <a:t>Key message text</a:t>
            </a:r>
          </a:p>
        </p:txBody>
      </p:sp>
    </p:spTree>
    <p:extLst>
      <p:ext uri="{BB962C8B-B14F-4D97-AF65-F5344CB8AC3E}">
        <p14:creationId xmlns:p14="http://schemas.microsoft.com/office/powerpoint/2010/main" val="1556764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bullet points">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2" name="Title 1">
            <a:extLst>
              <a:ext uri="{FF2B5EF4-FFF2-40B4-BE49-F238E27FC236}">
                <a16:creationId xmlns:a16="http://schemas.microsoft.com/office/drawing/2014/main" id="{AEA9DB7C-CCD5-2762-99F6-9387BFF5EB36}"/>
              </a:ext>
            </a:extLst>
          </p:cNvPr>
          <p:cNvSpPr>
            <a:spLocks noGrp="1"/>
          </p:cNvSpPr>
          <p:nvPr>
            <p:ph type="title" hasCustomPrompt="1"/>
          </p:nvPr>
        </p:nvSpPr>
        <p:spPr/>
        <p:txBody>
          <a:bodyPr/>
          <a:lstStyle/>
          <a:p>
            <a:r>
              <a:rPr lang="en-GB" dirty="0"/>
              <a:t>Title</a:t>
            </a:r>
            <a:endParaRPr lang="en-US" dirty="0"/>
          </a:p>
        </p:txBody>
      </p:sp>
      <p:sp>
        <p:nvSpPr>
          <p:cNvPr id="11" name="Text Placeholder 10">
            <a:extLst>
              <a:ext uri="{FF2B5EF4-FFF2-40B4-BE49-F238E27FC236}">
                <a16:creationId xmlns:a16="http://schemas.microsoft.com/office/drawing/2014/main" id="{FBBFD76F-4B2D-8AFE-0E41-04FBC8DBB5A6}"/>
              </a:ext>
            </a:extLst>
          </p:cNvPr>
          <p:cNvSpPr>
            <a:spLocks noGrp="1"/>
          </p:cNvSpPr>
          <p:nvPr>
            <p:ph type="body" sz="quarter" idx="11"/>
          </p:nvPr>
        </p:nvSpPr>
        <p:spPr>
          <a:xfrm>
            <a:off x="838200" y="1819275"/>
            <a:ext cx="10515600" cy="4351338"/>
          </a:xfrm>
        </p:spPr>
        <p:txBody>
          <a:bodyPr/>
          <a:lstStyle>
            <a:lvl2pPr marL="358775" indent="-358775">
              <a:buFontTx/>
              <a:buBlip>
                <a:blip r:embed="rId3"/>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669925" indent="-304800">
              <a:buFontTx/>
              <a:buBlip>
                <a:blip r:embed="rId3"/>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4"/>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4"/>
              </a:buBlip>
              <a:tabLst/>
            </a:pPr>
            <a:r>
              <a:rPr lang="en-GB" dirty="0"/>
              <a:t>Third level</a:t>
            </a:r>
          </a:p>
        </p:txBody>
      </p:sp>
    </p:spTree>
    <p:extLst>
      <p:ext uri="{BB962C8B-B14F-4D97-AF65-F5344CB8AC3E}">
        <p14:creationId xmlns:p14="http://schemas.microsoft.com/office/powerpoint/2010/main" val="1034059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placeholders">
    <p:spTree>
      <p:nvGrpSpPr>
        <p:cNvPr id="1" name=""/>
        <p:cNvGrpSpPr/>
        <p:nvPr/>
      </p:nvGrpSpPr>
      <p:grpSpPr>
        <a:xfrm>
          <a:off x="0" y="0"/>
          <a:ext cx="0" cy="0"/>
          <a:chOff x="0" y="0"/>
          <a:chExt cx="0" cy="0"/>
        </a:xfrm>
      </p:grpSpPr>
      <p:sp>
        <p:nvSpPr>
          <p:cNvPr id="5" name="Content Placeholder 9">
            <a:extLst>
              <a:ext uri="{FF2B5EF4-FFF2-40B4-BE49-F238E27FC236}">
                <a16:creationId xmlns:a16="http://schemas.microsoft.com/office/drawing/2014/main" id="{4F1E9F87-214B-A780-CA56-3B0F35E5CEC0}"/>
              </a:ext>
            </a:extLst>
          </p:cNvPr>
          <p:cNvSpPr>
            <a:spLocks noGrp="1"/>
          </p:cNvSpPr>
          <p:nvPr>
            <p:ph sz="quarter" idx="12"/>
          </p:nvPr>
        </p:nvSpPr>
        <p:spPr>
          <a:xfrm>
            <a:off x="838201" y="1816100"/>
            <a:ext cx="5181600" cy="4351338"/>
          </a:xfrm>
        </p:spPr>
        <p:txBody>
          <a:bodyPr/>
          <a:lstStyle>
            <a:lvl2pPr marL="358775" indent="-358775">
              <a:spcBef>
                <a:spcPts val="1000"/>
              </a:spcBef>
              <a:buFontTx/>
              <a:buBlip>
                <a:blip r:embed="rId2"/>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3"/>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3"/>
              </a:buBlip>
              <a:tabLst/>
            </a:pPr>
            <a:r>
              <a:rPr lang="en-GB" dirty="0"/>
              <a:t>Third level</a:t>
            </a:r>
          </a:p>
        </p:txBody>
      </p:sp>
      <p:sp>
        <p:nvSpPr>
          <p:cNvPr id="9" name="Content Placeholder 9">
            <a:extLst>
              <a:ext uri="{FF2B5EF4-FFF2-40B4-BE49-F238E27FC236}">
                <a16:creationId xmlns:a16="http://schemas.microsoft.com/office/drawing/2014/main" id="{71D74064-9855-E307-BE4C-FF1AC6C9FADB}"/>
              </a:ext>
            </a:extLst>
          </p:cNvPr>
          <p:cNvSpPr>
            <a:spLocks noGrp="1"/>
          </p:cNvSpPr>
          <p:nvPr>
            <p:ph sz="quarter" idx="13"/>
          </p:nvPr>
        </p:nvSpPr>
        <p:spPr>
          <a:xfrm>
            <a:off x="6172199" y="1816100"/>
            <a:ext cx="5181600" cy="4351338"/>
          </a:xfrm>
        </p:spPr>
        <p:txBody>
          <a:bodyPr/>
          <a:lstStyle>
            <a:lvl2pPr marL="358775" indent="-358775">
              <a:spcBef>
                <a:spcPts val="1000"/>
              </a:spcBef>
              <a:buFontTx/>
              <a:buBlip>
                <a:blip r:embed="rId2"/>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3"/>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3"/>
              </a:buBlip>
              <a:tabLst/>
            </a:pPr>
            <a:r>
              <a:rPr lang="en-GB" dirty="0"/>
              <a:t>Third level</a:t>
            </a:r>
          </a:p>
        </p:txBody>
      </p:sp>
      <p:pic>
        <p:nvPicPr>
          <p:cNvPr id="8" name="Image 7">
            <a:extLst>
              <a:ext uri="{FF2B5EF4-FFF2-40B4-BE49-F238E27FC236}">
                <a16:creationId xmlns:a16="http://schemas.microsoft.com/office/drawing/2014/main" id="{04096A7F-17E3-1944-DBB4-18263DE8D953}"/>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60934A60-C3FD-F1F7-C71C-505AC974FF65}"/>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3093246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ey figures with emblem">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3B310AEF-E302-7CA7-22FA-C063913AC3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10" name="Rectangle : coins arrondis 1">
            <a:extLst>
              <a:ext uri="{FF2B5EF4-FFF2-40B4-BE49-F238E27FC236}">
                <a16:creationId xmlns:a16="http://schemas.microsoft.com/office/drawing/2014/main" id="{C518B50C-3518-E963-7EB2-CF27A10646B9}"/>
              </a:ext>
            </a:extLst>
          </p:cNvPr>
          <p:cNvSpPr/>
          <p:nvPr userDrawn="1"/>
        </p:nvSpPr>
        <p:spPr>
          <a:xfrm>
            <a:off x="838200" y="1101600"/>
            <a:ext cx="5043534" cy="2417275"/>
          </a:xfrm>
          <a:prstGeom prst="roundRect">
            <a:avLst>
              <a:gd name="adj" fmla="val 544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1" name="Rectangle : coins arrondis 2">
            <a:extLst>
              <a:ext uri="{FF2B5EF4-FFF2-40B4-BE49-F238E27FC236}">
                <a16:creationId xmlns:a16="http://schemas.microsoft.com/office/drawing/2014/main" id="{AF7FFA4B-45D7-B7FA-6B0D-442AB264A084}"/>
              </a:ext>
            </a:extLst>
          </p:cNvPr>
          <p:cNvSpPr/>
          <p:nvPr userDrawn="1"/>
        </p:nvSpPr>
        <p:spPr>
          <a:xfrm>
            <a:off x="6310265" y="1101600"/>
            <a:ext cx="5043535" cy="2417275"/>
          </a:xfrm>
          <a:prstGeom prst="roundRect">
            <a:avLst>
              <a:gd name="adj" fmla="val 544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2" name="Rectangle : coins arrondis 6">
            <a:extLst>
              <a:ext uri="{FF2B5EF4-FFF2-40B4-BE49-F238E27FC236}">
                <a16:creationId xmlns:a16="http://schemas.microsoft.com/office/drawing/2014/main" id="{DF00A995-522B-4021-102B-BCBD0FD9DCE3}"/>
              </a:ext>
            </a:extLst>
          </p:cNvPr>
          <p:cNvSpPr/>
          <p:nvPr userDrawn="1"/>
        </p:nvSpPr>
        <p:spPr>
          <a:xfrm>
            <a:off x="838200" y="3839175"/>
            <a:ext cx="5043534" cy="2417275"/>
          </a:xfrm>
          <a:prstGeom prst="roundRect">
            <a:avLst>
              <a:gd name="adj" fmla="val 5444"/>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2"/>
              </a:solidFill>
            </a:endParaRPr>
          </a:p>
        </p:txBody>
      </p:sp>
      <p:sp>
        <p:nvSpPr>
          <p:cNvPr id="13" name="Rectangle : coins arrondis 7">
            <a:extLst>
              <a:ext uri="{FF2B5EF4-FFF2-40B4-BE49-F238E27FC236}">
                <a16:creationId xmlns:a16="http://schemas.microsoft.com/office/drawing/2014/main" id="{7816F90A-A539-B087-965E-1578FF34D6E7}"/>
              </a:ext>
            </a:extLst>
          </p:cNvPr>
          <p:cNvSpPr/>
          <p:nvPr userDrawn="1"/>
        </p:nvSpPr>
        <p:spPr>
          <a:xfrm>
            <a:off x="6310265" y="3839175"/>
            <a:ext cx="5043535" cy="2417275"/>
          </a:xfrm>
          <a:prstGeom prst="roundRect">
            <a:avLst>
              <a:gd name="adj" fmla="val 5444"/>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2" name="Title 1">
            <a:extLst>
              <a:ext uri="{FF2B5EF4-FFF2-40B4-BE49-F238E27FC236}">
                <a16:creationId xmlns:a16="http://schemas.microsoft.com/office/drawing/2014/main" id="{8B558C04-A85E-141F-D30C-22896D918931}"/>
              </a:ext>
            </a:extLst>
          </p:cNvPr>
          <p:cNvSpPr>
            <a:spLocks noGrp="1"/>
          </p:cNvSpPr>
          <p:nvPr>
            <p:ph type="title" hasCustomPrompt="1"/>
          </p:nvPr>
        </p:nvSpPr>
        <p:spPr/>
        <p:txBody>
          <a:bodyPr/>
          <a:lstStyle/>
          <a:p>
            <a:r>
              <a:rPr lang="en-GB" dirty="0"/>
              <a:t>Title</a:t>
            </a:r>
            <a:endParaRPr lang="en-US" dirty="0"/>
          </a:p>
        </p:txBody>
      </p:sp>
      <p:sp>
        <p:nvSpPr>
          <p:cNvPr id="4" name="Content Placeholder 3">
            <a:extLst>
              <a:ext uri="{FF2B5EF4-FFF2-40B4-BE49-F238E27FC236}">
                <a16:creationId xmlns:a16="http://schemas.microsoft.com/office/drawing/2014/main" id="{CABF415C-547B-26E1-70E8-BB6C2005A4CA}"/>
              </a:ext>
            </a:extLst>
          </p:cNvPr>
          <p:cNvSpPr>
            <a:spLocks noGrp="1"/>
          </p:cNvSpPr>
          <p:nvPr>
            <p:ph sz="quarter" idx="14"/>
          </p:nvPr>
        </p:nvSpPr>
        <p:spPr>
          <a:xfrm>
            <a:off x="1020786" y="1206131"/>
            <a:ext cx="4678363" cy="2208212"/>
          </a:xfrm>
        </p:spPr>
        <p:txBody>
          <a:bodyPr anchor="ctr"/>
          <a:lstStyle>
            <a:lvl1pPr algn="ctr">
              <a:defRPr>
                <a:solidFill>
                  <a:schemeClr val="bg1"/>
                </a:solidFill>
              </a:defRPr>
            </a:lvl1pPr>
          </a:lstStyle>
          <a:p>
            <a:pPr lvl="0"/>
            <a:r>
              <a:rPr lang="en-GB" dirty="0"/>
              <a:t>Click to edit Master text styles</a:t>
            </a:r>
          </a:p>
        </p:txBody>
      </p:sp>
      <p:sp>
        <p:nvSpPr>
          <p:cNvPr id="5" name="Content Placeholder 3">
            <a:extLst>
              <a:ext uri="{FF2B5EF4-FFF2-40B4-BE49-F238E27FC236}">
                <a16:creationId xmlns:a16="http://schemas.microsoft.com/office/drawing/2014/main" id="{ECA972A6-C18B-E653-4933-08A90C461B6B}"/>
              </a:ext>
            </a:extLst>
          </p:cNvPr>
          <p:cNvSpPr>
            <a:spLocks noGrp="1"/>
          </p:cNvSpPr>
          <p:nvPr>
            <p:ph sz="quarter" idx="15"/>
          </p:nvPr>
        </p:nvSpPr>
        <p:spPr>
          <a:xfrm>
            <a:off x="6492851" y="1206131"/>
            <a:ext cx="4678363" cy="2208212"/>
          </a:xfrm>
        </p:spPr>
        <p:txBody>
          <a:bodyPr anchor="ctr"/>
          <a:lstStyle>
            <a:lvl1pPr algn="ctr">
              <a:defRPr/>
            </a:lvl1pPr>
          </a:lstStyle>
          <a:p>
            <a:pPr lvl="0"/>
            <a:r>
              <a:rPr lang="en-GB" dirty="0"/>
              <a:t>Click to edit Master text styles</a:t>
            </a:r>
          </a:p>
        </p:txBody>
      </p:sp>
      <p:sp>
        <p:nvSpPr>
          <p:cNvPr id="7" name="Content Placeholder 3">
            <a:extLst>
              <a:ext uri="{FF2B5EF4-FFF2-40B4-BE49-F238E27FC236}">
                <a16:creationId xmlns:a16="http://schemas.microsoft.com/office/drawing/2014/main" id="{8EEE2428-489D-DF92-9019-A2F54EF7ED22}"/>
              </a:ext>
            </a:extLst>
          </p:cNvPr>
          <p:cNvSpPr>
            <a:spLocks noGrp="1"/>
          </p:cNvSpPr>
          <p:nvPr>
            <p:ph sz="quarter" idx="16"/>
          </p:nvPr>
        </p:nvSpPr>
        <p:spPr>
          <a:xfrm>
            <a:off x="1020786" y="3943706"/>
            <a:ext cx="4678363" cy="2208212"/>
          </a:xfrm>
        </p:spPr>
        <p:txBody>
          <a:bodyPr anchor="ctr"/>
          <a:lstStyle>
            <a:lvl1pPr algn="ctr">
              <a:defRPr>
                <a:solidFill>
                  <a:schemeClr val="bg1"/>
                </a:solidFill>
              </a:defRPr>
            </a:lvl1pPr>
          </a:lstStyle>
          <a:p>
            <a:pPr lvl="0"/>
            <a:r>
              <a:rPr lang="en-GB" dirty="0"/>
              <a:t>Click to edit Master text styles</a:t>
            </a:r>
          </a:p>
        </p:txBody>
      </p:sp>
      <p:sp>
        <p:nvSpPr>
          <p:cNvPr id="8" name="Content Placeholder 3">
            <a:extLst>
              <a:ext uri="{FF2B5EF4-FFF2-40B4-BE49-F238E27FC236}">
                <a16:creationId xmlns:a16="http://schemas.microsoft.com/office/drawing/2014/main" id="{5635DDFA-F6B7-A5DC-0F14-CB6A0C903E2B}"/>
              </a:ext>
            </a:extLst>
          </p:cNvPr>
          <p:cNvSpPr>
            <a:spLocks noGrp="1"/>
          </p:cNvSpPr>
          <p:nvPr>
            <p:ph sz="quarter" idx="17"/>
          </p:nvPr>
        </p:nvSpPr>
        <p:spPr>
          <a:xfrm>
            <a:off x="6492851" y="3943706"/>
            <a:ext cx="4678363" cy="2208212"/>
          </a:xfrm>
        </p:spPr>
        <p:txBody>
          <a:bodyPr anchor="ctr"/>
          <a:lstStyle>
            <a:lvl1pPr algn="ctr">
              <a:defRPr/>
            </a:lvl1pPr>
          </a:lstStyle>
          <a:p>
            <a:pPr lvl="0"/>
            <a:r>
              <a:rPr lang="en-GB" dirty="0"/>
              <a:t>Click to edit Master text styles</a:t>
            </a:r>
          </a:p>
        </p:txBody>
      </p:sp>
    </p:spTree>
    <p:extLst>
      <p:ext uri="{BB962C8B-B14F-4D97-AF65-F5344CB8AC3E}">
        <p14:creationId xmlns:p14="http://schemas.microsoft.com/office/powerpoint/2010/main" val="2298951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d section 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8086D16-C425-1BC7-0C85-E10C16659F96}"/>
              </a:ext>
            </a:extLst>
          </p:cNvPr>
          <p:cNvSpPr/>
          <p:nvPr userDrawn="1"/>
        </p:nvSpPr>
        <p:spPr>
          <a:xfrm>
            <a:off x="0" y="0"/>
            <a:ext cx="12202633" cy="69008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a:prstGeom prst="rect">
            <a:avLst/>
          </a:prstGeom>
        </p:spPr>
        <p:txBody>
          <a:bodyPr anchor="t">
            <a:noAutofit/>
          </a:bodyPr>
          <a:lstStyle>
            <a:lvl1pPr algn="l">
              <a:lnSpc>
                <a:spcPct val="100000"/>
              </a:lnSpc>
              <a:defRPr sz="3600" b="1" i="0">
                <a:solidFill>
                  <a:schemeClr val="bg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lvl1pPr>
          </a:lstStyle>
          <a:p>
            <a:endParaRPr lang="en-GB" noProof="0"/>
          </a:p>
        </p:txBody>
      </p:sp>
      <p:sp>
        <p:nvSpPr>
          <p:cNvPr id="2" name="Sous-titre 2">
            <a:extLst>
              <a:ext uri="{FF2B5EF4-FFF2-40B4-BE49-F238E27FC236}">
                <a16:creationId xmlns:a16="http://schemas.microsoft.com/office/drawing/2014/main" id="{B9D6A197-143B-AEFD-829C-A370B9E48C7B}"/>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cap="all" spc="300" baseline="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2831686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nk section title">
    <p:bg>
      <p:bgPr>
        <a:solidFill>
          <a:schemeClr val="accent3"/>
        </a:solidFill>
        <a:effectLst/>
      </p:bgPr>
    </p:bg>
    <p:spTree>
      <p:nvGrpSpPr>
        <p:cNvPr id="1" name=""/>
        <p:cNvGrpSpPr/>
        <p:nvPr/>
      </p:nvGrpSpPr>
      <p:grpSpPr>
        <a:xfrm>
          <a:off x="0" y="0"/>
          <a:ext cx="0" cy="0"/>
          <a:chOff x="0" y="0"/>
          <a:chExt cx="0" cy="0"/>
        </a:xfrm>
      </p:grpSpPr>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p:spPr>
        <p:txBody>
          <a:bodyPr anchor="t">
            <a:noAutofit/>
          </a:bodyPr>
          <a:lstStyle>
            <a:lvl1pPr algn="l">
              <a:lnSpc>
                <a:spcPct val="100000"/>
              </a:lnSpc>
              <a:defRPr sz="3600" b="1" i="0">
                <a:solidFill>
                  <a:schemeClr val="tx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lvl1pPr>
          </a:lstStyle>
          <a:p>
            <a:endParaRPr lang="en-GB" noProof="0"/>
          </a:p>
        </p:txBody>
      </p:sp>
      <p:sp>
        <p:nvSpPr>
          <p:cNvPr id="2" name="Sous-titre 2">
            <a:extLst>
              <a:ext uri="{FF2B5EF4-FFF2-40B4-BE49-F238E27FC236}">
                <a16:creationId xmlns:a16="http://schemas.microsoft.com/office/drawing/2014/main" id="{77F1758D-FA39-78AD-05BA-1F0701430BD8}"/>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spc="300">
                <a:solidFill>
                  <a:schemeClr val="tx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9679579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ey section 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8086D16-C425-1BC7-0C85-E10C16659F96}"/>
              </a:ext>
            </a:extLst>
          </p:cNvPr>
          <p:cNvSpPr/>
          <p:nvPr userDrawn="1"/>
        </p:nvSpPr>
        <p:spPr>
          <a:xfrm>
            <a:off x="0" y="0"/>
            <a:ext cx="12202633" cy="6900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a:prstGeom prst="rect">
            <a:avLst/>
          </a:prstGeom>
        </p:spPr>
        <p:txBody>
          <a:bodyPr anchor="t">
            <a:noAutofit/>
          </a:bodyPr>
          <a:lstStyle>
            <a:lvl1pPr algn="l">
              <a:lnSpc>
                <a:spcPct val="100000"/>
              </a:lnSpc>
              <a:defRPr sz="3600" b="1" i="0">
                <a:solidFill>
                  <a:schemeClr val="bg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solidFill>
                  <a:schemeClr val="bg1"/>
                </a:solidFill>
              </a:defRPr>
            </a:lvl1pPr>
          </a:lstStyle>
          <a:p>
            <a:endParaRPr lang="en-GB" noProof="0"/>
          </a:p>
        </p:txBody>
      </p:sp>
      <p:sp>
        <p:nvSpPr>
          <p:cNvPr id="2" name="Sous-titre 2">
            <a:extLst>
              <a:ext uri="{FF2B5EF4-FFF2-40B4-BE49-F238E27FC236}">
                <a16:creationId xmlns:a16="http://schemas.microsoft.com/office/drawing/2014/main" id="{8AD1FA9F-FAA3-CC60-961C-DDECEC3D8E6B}"/>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spc="30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3342751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een section 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8086D16-C425-1BC7-0C85-E10C16659F96}"/>
              </a:ext>
            </a:extLst>
          </p:cNvPr>
          <p:cNvSpPr/>
          <p:nvPr userDrawn="1"/>
        </p:nvSpPr>
        <p:spPr>
          <a:xfrm>
            <a:off x="0" y="0"/>
            <a:ext cx="12202633" cy="69008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a:prstGeom prst="rect">
            <a:avLst/>
          </a:prstGeom>
        </p:spPr>
        <p:txBody>
          <a:bodyPr anchor="t">
            <a:noAutofit/>
          </a:bodyPr>
          <a:lstStyle>
            <a:lvl1pPr algn="l">
              <a:lnSpc>
                <a:spcPct val="100000"/>
              </a:lnSpc>
              <a:defRPr sz="3600" b="1" i="0">
                <a:solidFill>
                  <a:schemeClr val="bg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solidFill>
                  <a:schemeClr val="tx1"/>
                </a:solidFill>
              </a:defRPr>
            </a:lvl1pPr>
          </a:lstStyle>
          <a:p>
            <a:endParaRPr lang="en-GB" noProof="0"/>
          </a:p>
        </p:txBody>
      </p:sp>
      <p:sp>
        <p:nvSpPr>
          <p:cNvPr id="2" name="Sous-titre 2">
            <a:extLst>
              <a:ext uri="{FF2B5EF4-FFF2-40B4-BE49-F238E27FC236}">
                <a16:creationId xmlns:a16="http://schemas.microsoft.com/office/drawing/2014/main" id="{7EB932D8-947A-D8D7-D24E-FCAC4FA07BBC}"/>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spc="30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37779767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Green section title">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8086D16-C425-1BC7-0C85-E10C16659F96}"/>
              </a:ext>
            </a:extLst>
          </p:cNvPr>
          <p:cNvSpPr/>
          <p:nvPr userDrawn="1"/>
        </p:nvSpPr>
        <p:spPr>
          <a:xfrm>
            <a:off x="0" y="0"/>
            <a:ext cx="12202633" cy="69008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Titre 1">
            <a:extLst>
              <a:ext uri="{FF2B5EF4-FFF2-40B4-BE49-F238E27FC236}">
                <a16:creationId xmlns:a16="http://schemas.microsoft.com/office/drawing/2014/main" id="{59498766-DA08-75EA-8073-17495259A6C7}"/>
              </a:ext>
            </a:extLst>
          </p:cNvPr>
          <p:cNvSpPr>
            <a:spLocks noGrp="1"/>
          </p:cNvSpPr>
          <p:nvPr>
            <p:ph type="ctrTitle" hasCustomPrompt="1"/>
          </p:nvPr>
        </p:nvSpPr>
        <p:spPr>
          <a:xfrm>
            <a:off x="7084290" y="2718613"/>
            <a:ext cx="4593903" cy="2044707"/>
          </a:xfrm>
          <a:prstGeom prst="rect">
            <a:avLst/>
          </a:prstGeom>
        </p:spPr>
        <p:txBody>
          <a:bodyPr anchor="t">
            <a:noAutofit/>
          </a:bodyPr>
          <a:lstStyle>
            <a:lvl1pPr algn="l">
              <a:lnSpc>
                <a:spcPct val="100000"/>
              </a:lnSpc>
              <a:defRPr sz="3600" b="1" i="0">
                <a:solidFill>
                  <a:schemeClr val="bg1"/>
                </a:solidFill>
                <a:latin typeface="+mj-lt"/>
                <a:ea typeface="Verdana" panose="020B0604030504040204" pitchFamily="34" charset="0"/>
                <a:cs typeface="Verdana" panose="020B0604030504040204" pitchFamily="34" charset="0"/>
              </a:defRPr>
            </a:lvl1pPr>
          </a:lstStyle>
          <a:p>
            <a:r>
              <a:rPr lang="en-GB" noProof="0"/>
              <a:t>Title</a:t>
            </a:r>
          </a:p>
        </p:txBody>
      </p:sp>
      <p:sp>
        <p:nvSpPr>
          <p:cNvPr id="17" name="Espace réservé pour une image  16">
            <a:extLst>
              <a:ext uri="{FF2B5EF4-FFF2-40B4-BE49-F238E27FC236}">
                <a16:creationId xmlns:a16="http://schemas.microsoft.com/office/drawing/2014/main" id="{A47EA4EA-2597-99C9-7F28-56E9FEE07C9A}"/>
              </a:ext>
            </a:extLst>
          </p:cNvPr>
          <p:cNvSpPr>
            <a:spLocks noGrp="1"/>
          </p:cNvSpPr>
          <p:nvPr>
            <p:ph type="pic" sz="quarter" idx="20"/>
          </p:nvPr>
        </p:nvSpPr>
        <p:spPr>
          <a:xfrm>
            <a:off x="303565" y="1237683"/>
            <a:ext cx="6479824" cy="4406579"/>
          </a:xfrm>
          <a:custGeom>
            <a:avLst/>
            <a:gdLst>
              <a:gd name="connsiteX0" fmla="*/ 2204504 w 6479824"/>
              <a:gd name="connsiteY0" fmla="*/ 0 h 4406579"/>
              <a:gd name="connsiteX1" fmla="*/ 6479824 w 6479824"/>
              <a:gd name="connsiteY1" fmla="*/ 0 h 4406579"/>
              <a:gd name="connsiteX2" fmla="*/ 6479824 w 6479824"/>
              <a:gd name="connsiteY2" fmla="*/ 2197826 h 4406579"/>
              <a:gd name="connsiteX3" fmla="*/ 6479544 w 6479824"/>
              <a:gd name="connsiteY3" fmla="*/ 2197826 h 4406579"/>
              <a:gd name="connsiteX4" fmla="*/ 6479824 w 6479824"/>
              <a:gd name="connsiteY4" fmla="*/ 2203379 h 4406579"/>
              <a:gd name="connsiteX5" fmla="*/ 4501889 w 6479824"/>
              <a:gd name="connsiteY5" fmla="*/ 4395204 h 4406579"/>
              <a:gd name="connsiteX6" fmla="*/ 4338104 w 6479824"/>
              <a:gd name="connsiteY6" fmla="*/ 4403475 h 4406579"/>
              <a:gd name="connsiteX7" fmla="*/ 4338104 w 6479824"/>
              <a:gd name="connsiteY7" fmla="*/ 4406579 h 4406579"/>
              <a:gd name="connsiteX8" fmla="*/ 4276624 w 6479824"/>
              <a:gd name="connsiteY8" fmla="*/ 4406579 h 4406579"/>
              <a:gd name="connsiteX9" fmla="*/ 2204504 w 6479824"/>
              <a:gd name="connsiteY9" fmla="*/ 4406579 h 4406579"/>
              <a:gd name="connsiteX10" fmla="*/ 2204504 w 6479824"/>
              <a:gd name="connsiteY10" fmla="*/ 4406513 h 4406579"/>
              <a:gd name="connsiteX11" fmla="*/ 2203200 w 6479824"/>
              <a:gd name="connsiteY11" fmla="*/ 4406579 h 4406579"/>
              <a:gd name="connsiteX12" fmla="*/ 0 w 6479824"/>
              <a:gd name="connsiteY12" fmla="*/ 2203379 h 4406579"/>
              <a:gd name="connsiteX13" fmla="*/ 2203200 w 6479824"/>
              <a:gd name="connsiteY13" fmla="*/ 179 h 4406579"/>
              <a:gd name="connsiteX14" fmla="*/ 2204504 w 6479824"/>
              <a:gd name="connsiteY14" fmla="*/ 245 h 4406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9824" h="4406579">
                <a:moveTo>
                  <a:pt x="2204504" y="0"/>
                </a:moveTo>
                <a:lnTo>
                  <a:pt x="6479824" y="0"/>
                </a:lnTo>
                <a:lnTo>
                  <a:pt x="6479824" y="2197826"/>
                </a:lnTo>
                <a:lnTo>
                  <a:pt x="6479544" y="2197826"/>
                </a:lnTo>
                <a:lnTo>
                  <a:pt x="6479824" y="2203379"/>
                </a:lnTo>
                <a:cubicBezTo>
                  <a:pt x="6479824" y="3344124"/>
                  <a:pt x="5612866" y="4282379"/>
                  <a:pt x="4501889" y="4395204"/>
                </a:cubicBezTo>
                <a:lnTo>
                  <a:pt x="4338104" y="4403475"/>
                </a:lnTo>
                <a:lnTo>
                  <a:pt x="4338104" y="4406579"/>
                </a:lnTo>
                <a:lnTo>
                  <a:pt x="4276624" y="4406579"/>
                </a:lnTo>
                <a:lnTo>
                  <a:pt x="2204504" y="4406579"/>
                </a:lnTo>
                <a:lnTo>
                  <a:pt x="2204504" y="4406513"/>
                </a:lnTo>
                <a:lnTo>
                  <a:pt x="2203200" y="4406579"/>
                </a:lnTo>
                <a:cubicBezTo>
                  <a:pt x="986406" y="4406579"/>
                  <a:pt x="0" y="3420173"/>
                  <a:pt x="0" y="2203379"/>
                </a:cubicBezTo>
                <a:cubicBezTo>
                  <a:pt x="0" y="986585"/>
                  <a:pt x="986406" y="179"/>
                  <a:pt x="2203200" y="179"/>
                </a:cubicBezTo>
                <a:lnTo>
                  <a:pt x="2204504" y="245"/>
                </a:lnTo>
                <a:close/>
              </a:path>
            </a:pathLst>
          </a:custGeom>
        </p:spPr>
        <p:txBody>
          <a:bodyPr wrap="square" anchor="ctr">
            <a:noAutofit/>
          </a:bodyPr>
          <a:lstStyle>
            <a:lvl1pPr marL="0" indent="0" algn="ctr">
              <a:buFont typeface="Arial" panose="020B0604020202020204" pitchFamily="34" charset="0"/>
              <a:buNone/>
              <a:defRPr>
                <a:solidFill>
                  <a:schemeClr val="bg1"/>
                </a:solidFill>
              </a:defRPr>
            </a:lvl1pPr>
          </a:lstStyle>
          <a:p>
            <a:endParaRPr lang="en-GB" noProof="0"/>
          </a:p>
        </p:txBody>
      </p:sp>
      <p:sp>
        <p:nvSpPr>
          <p:cNvPr id="2" name="Sous-titre 2">
            <a:extLst>
              <a:ext uri="{FF2B5EF4-FFF2-40B4-BE49-F238E27FC236}">
                <a16:creationId xmlns:a16="http://schemas.microsoft.com/office/drawing/2014/main" id="{40B52BE3-5107-0A54-7B28-79B3E81F8D4C}"/>
              </a:ext>
            </a:extLst>
          </p:cNvPr>
          <p:cNvSpPr>
            <a:spLocks noGrp="1"/>
          </p:cNvSpPr>
          <p:nvPr>
            <p:ph type="subTitle" idx="1" hasCustomPrompt="1"/>
          </p:nvPr>
        </p:nvSpPr>
        <p:spPr>
          <a:xfrm>
            <a:off x="7069311" y="2058487"/>
            <a:ext cx="4608882" cy="306847"/>
          </a:xfrm>
          <a:prstGeom prst="rect">
            <a:avLst/>
          </a:prstGeom>
        </p:spPr>
        <p:txBody>
          <a:bodyPr anchor="b">
            <a:noAutofit/>
          </a:bodyPr>
          <a:lstStyle>
            <a:lvl1pPr marL="0" indent="0" algn="l">
              <a:buNone/>
              <a:defRPr sz="1200" b="0" i="0" spc="300">
                <a:solidFill>
                  <a:schemeClr val="bg1"/>
                </a:solidFill>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SECTION NUMBER/ SUBTITLE</a:t>
            </a:r>
          </a:p>
        </p:txBody>
      </p:sp>
    </p:spTree>
    <p:extLst>
      <p:ext uri="{BB962C8B-B14F-4D97-AF65-F5344CB8AC3E}">
        <p14:creationId xmlns:p14="http://schemas.microsoft.com/office/powerpoint/2010/main" val="31853016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Red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pic>
        <p:nvPicPr>
          <p:cNvPr id="6" name="Image 5">
            <a:extLst>
              <a:ext uri="{FF2B5EF4-FFF2-40B4-BE49-F238E27FC236}">
                <a16:creationId xmlns:a16="http://schemas.microsoft.com/office/drawing/2014/main" id="{6A9BFEC0-5DA3-56C2-248F-D500D2FE836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8" name="Title 7">
            <a:extLst>
              <a:ext uri="{FF2B5EF4-FFF2-40B4-BE49-F238E27FC236}">
                <a16:creationId xmlns:a16="http://schemas.microsoft.com/office/drawing/2014/main" id="{8896185D-C189-43C8-56F0-DC714250B920}"/>
              </a:ext>
            </a:extLst>
          </p:cNvPr>
          <p:cNvSpPr>
            <a:spLocks noGrp="1"/>
          </p:cNvSpPr>
          <p:nvPr>
            <p:ph type="title" hasCustomPrompt="1"/>
          </p:nvPr>
        </p:nvSpPr>
        <p:spPr/>
        <p:txBody>
          <a:bodyPr/>
          <a:lstStyle/>
          <a:p>
            <a:r>
              <a:rPr lang="en-US" dirty="0"/>
              <a:t>Title</a:t>
            </a:r>
            <a:endParaRPr lang="en-GB" dirty="0"/>
          </a:p>
        </p:txBody>
      </p:sp>
      <p:sp>
        <p:nvSpPr>
          <p:cNvPr id="2" name="Content Placeholder 9">
            <a:extLst>
              <a:ext uri="{FF2B5EF4-FFF2-40B4-BE49-F238E27FC236}">
                <a16:creationId xmlns:a16="http://schemas.microsoft.com/office/drawing/2014/main" id="{112190F2-119D-1880-693A-C35BB81F9E50}"/>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2842891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nk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pic>
        <p:nvPicPr>
          <p:cNvPr id="6" name="Image 5">
            <a:extLst>
              <a:ext uri="{FF2B5EF4-FFF2-40B4-BE49-F238E27FC236}">
                <a16:creationId xmlns:a16="http://schemas.microsoft.com/office/drawing/2014/main" id="{6A9BFEC0-5DA3-56C2-248F-D500D2FE8364}"/>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3" name="Title 2">
            <a:extLst>
              <a:ext uri="{FF2B5EF4-FFF2-40B4-BE49-F238E27FC236}">
                <a16:creationId xmlns:a16="http://schemas.microsoft.com/office/drawing/2014/main" id="{A29F137C-E460-9399-CD33-4A2C4360A875}"/>
              </a:ext>
            </a:extLst>
          </p:cNvPr>
          <p:cNvSpPr>
            <a:spLocks noGrp="1"/>
          </p:cNvSpPr>
          <p:nvPr>
            <p:ph type="title" hasCustomPrompt="1"/>
          </p:nvPr>
        </p:nvSpPr>
        <p:spPr/>
        <p:txBody>
          <a:bodyPr/>
          <a:lstStyle/>
          <a:p>
            <a:r>
              <a:rPr lang="en-US" dirty="0"/>
              <a:t>Title</a:t>
            </a:r>
            <a:endParaRPr lang="en-GB" dirty="0"/>
          </a:p>
        </p:txBody>
      </p:sp>
      <p:sp>
        <p:nvSpPr>
          <p:cNvPr id="5" name="Content Placeholder 9">
            <a:extLst>
              <a:ext uri="{FF2B5EF4-FFF2-40B4-BE49-F238E27FC236}">
                <a16:creationId xmlns:a16="http://schemas.microsoft.com/office/drawing/2014/main" id="{83BA3B39-EAE1-433A-6A33-289E6A2626EF}"/>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23868739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Grey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7" name="Title 6">
            <a:extLst>
              <a:ext uri="{FF2B5EF4-FFF2-40B4-BE49-F238E27FC236}">
                <a16:creationId xmlns:a16="http://schemas.microsoft.com/office/drawing/2014/main" id="{6F0CCA9F-64B1-86D3-B610-B2B226EAAF6F}"/>
              </a:ext>
            </a:extLst>
          </p:cNvPr>
          <p:cNvSpPr>
            <a:spLocks noGrp="1"/>
          </p:cNvSpPr>
          <p:nvPr>
            <p:ph type="title" hasCustomPrompt="1"/>
          </p:nvPr>
        </p:nvSpPr>
        <p:spPr/>
        <p:txBody>
          <a:bodyPr/>
          <a:lstStyle/>
          <a:p>
            <a:r>
              <a:rPr lang="en-US" dirty="0"/>
              <a:t>Title</a:t>
            </a:r>
            <a:endParaRPr lang="en-GB" dirty="0"/>
          </a:p>
        </p:txBody>
      </p:sp>
      <p:pic>
        <p:nvPicPr>
          <p:cNvPr id="8" name="Image 5">
            <a:extLst>
              <a:ext uri="{FF2B5EF4-FFF2-40B4-BE49-F238E27FC236}">
                <a16:creationId xmlns:a16="http://schemas.microsoft.com/office/drawing/2014/main" id="{362E6140-FFAE-26F1-DE48-719AB018F13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3" name="Content Placeholder 9">
            <a:extLst>
              <a:ext uri="{FF2B5EF4-FFF2-40B4-BE49-F238E27FC236}">
                <a16:creationId xmlns:a16="http://schemas.microsoft.com/office/drawing/2014/main" id="{8E097653-5197-A0E7-0D0F-5503D8FF9E9F}"/>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953981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Green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2" name="Title 1">
            <a:extLst>
              <a:ext uri="{FF2B5EF4-FFF2-40B4-BE49-F238E27FC236}">
                <a16:creationId xmlns:a16="http://schemas.microsoft.com/office/drawing/2014/main" id="{89364D93-5897-7C43-6A16-6A175307F45C}"/>
              </a:ext>
            </a:extLst>
          </p:cNvPr>
          <p:cNvSpPr>
            <a:spLocks noGrp="1"/>
          </p:cNvSpPr>
          <p:nvPr>
            <p:ph type="title" hasCustomPrompt="1"/>
          </p:nvPr>
        </p:nvSpPr>
        <p:spPr/>
        <p:txBody>
          <a:bodyPr/>
          <a:lstStyle/>
          <a:p>
            <a:r>
              <a:rPr lang="en-US" dirty="0"/>
              <a:t>Title</a:t>
            </a:r>
            <a:endParaRPr lang="en-GB" dirty="0"/>
          </a:p>
        </p:txBody>
      </p:sp>
      <p:pic>
        <p:nvPicPr>
          <p:cNvPr id="5" name="Image 5">
            <a:extLst>
              <a:ext uri="{FF2B5EF4-FFF2-40B4-BE49-F238E27FC236}">
                <a16:creationId xmlns:a16="http://schemas.microsoft.com/office/drawing/2014/main" id="{A510E9E1-90A9-831D-C2F6-C212AB9CE9C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6" name="Content Placeholder 9">
            <a:extLst>
              <a:ext uri="{FF2B5EF4-FFF2-40B4-BE49-F238E27FC236}">
                <a16:creationId xmlns:a16="http://schemas.microsoft.com/office/drawing/2014/main" id="{9E9BDC3A-E9DB-753C-35A5-4FAB18E7EB98}"/>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2721930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ue section text ">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5A240260-958F-F5B6-EDA1-7F63221F4752}"/>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2" name="Title 1">
            <a:extLst>
              <a:ext uri="{FF2B5EF4-FFF2-40B4-BE49-F238E27FC236}">
                <a16:creationId xmlns:a16="http://schemas.microsoft.com/office/drawing/2014/main" id="{7BEA09CA-36EE-F3C0-0BBA-9FB96C243FB4}"/>
              </a:ext>
            </a:extLst>
          </p:cNvPr>
          <p:cNvSpPr>
            <a:spLocks noGrp="1"/>
          </p:cNvSpPr>
          <p:nvPr>
            <p:ph type="title" hasCustomPrompt="1"/>
          </p:nvPr>
        </p:nvSpPr>
        <p:spPr/>
        <p:txBody>
          <a:bodyPr/>
          <a:lstStyle/>
          <a:p>
            <a:r>
              <a:rPr lang="en-US" dirty="0"/>
              <a:t>Title</a:t>
            </a:r>
            <a:endParaRPr lang="en-GB" dirty="0"/>
          </a:p>
        </p:txBody>
      </p:sp>
      <p:pic>
        <p:nvPicPr>
          <p:cNvPr id="6" name="Image 5">
            <a:extLst>
              <a:ext uri="{FF2B5EF4-FFF2-40B4-BE49-F238E27FC236}">
                <a16:creationId xmlns:a16="http://schemas.microsoft.com/office/drawing/2014/main" id="{C488ACDC-796B-3D38-6C7C-66BA405ADC3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5" name="Content Placeholder 9">
            <a:extLst>
              <a:ext uri="{FF2B5EF4-FFF2-40B4-BE49-F238E27FC236}">
                <a16:creationId xmlns:a16="http://schemas.microsoft.com/office/drawing/2014/main" id="{91B84487-9C16-DBA9-4F45-D4B5DB2A7605}"/>
              </a:ext>
            </a:extLst>
          </p:cNvPr>
          <p:cNvSpPr>
            <a:spLocks noGrp="1"/>
          </p:cNvSpPr>
          <p:nvPr>
            <p:ph sz="quarter" idx="11"/>
          </p:nvPr>
        </p:nvSpPr>
        <p:spPr>
          <a:xfrm>
            <a:off x="838200" y="1365250"/>
            <a:ext cx="10515599" cy="4802188"/>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36674380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d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6" name="Image 5">
            <a:extLst>
              <a:ext uri="{FF2B5EF4-FFF2-40B4-BE49-F238E27FC236}">
                <a16:creationId xmlns:a16="http://schemas.microsoft.com/office/drawing/2014/main" id="{C45D891C-6969-239C-3B65-2BC05D1B9A7C}"/>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B2C751B8-43CB-171F-4934-1C39A27CCA67}"/>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42477279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ink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2" name="Image 5">
            <a:extLst>
              <a:ext uri="{FF2B5EF4-FFF2-40B4-BE49-F238E27FC236}">
                <a16:creationId xmlns:a16="http://schemas.microsoft.com/office/drawing/2014/main" id="{D55CDB6B-0D3D-B6B1-5274-D76EBD678D4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6" name="Title 5">
            <a:extLst>
              <a:ext uri="{FF2B5EF4-FFF2-40B4-BE49-F238E27FC236}">
                <a16:creationId xmlns:a16="http://schemas.microsoft.com/office/drawing/2014/main" id="{90BF0361-23BE-604D-00BB-68E4E829AD9B}"/>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533051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y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7" name="Image 6">
            <a:extLst>
              <a:ext uri="{FF2B5EF4-FFF2-40B4-BE49-F238E27FC236}">
                <a16:creationId xmlns:a16="http://schemas.microsoft.com/office/drawing/2014/main" id="{9131A041-7A2D-5DF0-312F-374FCDE3D8DB}"/>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3808B731-9BD9-0580-0F24-09E82AA02353}"/>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35968145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een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6" name="Image 4">
            <a:extLst>
              <a:ext uri="{FF2B5EF4-FFF2-40B4-BE49-F238E27FC236}">
                <a16:creationId xmlns:a16="http://schemas.microsoft.com/office/drawing/2014/main" id="{DB7CC7CD-36EB-30C0-7B63-92EB9A5C8756}"/>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406E255D-7155-3DC1-36A0-05461143B51E}"/>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54373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 section content pictures">
    <p:spTree>
      <p:nvGrpSpPr>
        <p:cNvPr id="1" name=""/>
        <p:cNvGrpSpPr/>
        <p:nvPr/>
      </p:nvGrpSpPr>
      <p:grpSpPr>
        <a:xfrm>
          <a:off x="0" y="0"/>
          <a:ext cx="0" cy="0"/>
          <a:chOff x="0" y="0"/>
          <a:chExt cx="0" cy="0"/>
        </a:xfrm>
      </p:grpSpPr>
      <p:sp>
        <p:nvSpPr>
          <p:cNvPr id="5" name="Rectangle : avec coins arrondis en haut 4">
            <a:extLst>
              <a:ext uri="{FF2B5EF4-FFF2-40B4-BE49-F238E27FC236}">
                <a16:creationId xmlns:a16="http://schemas.microsoft.com/office/drawing/2014/main" id="{3DCF99A6-67DF-D9BC-C50D-0A87828E102D}"/>
              </a:ext>
            </a:extLst>
          </p:cNvPr>
          <p:cNvSpPr/>
          <p:nvPr userDrawn="1"/>
        </p:nvSpPr>
        <p:spPr>
          <a:xfrm>
            <a:off x="0" y="1222745"/>
            <a:ext cx="12192000"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a:extLst>
              <a:ext uri="{FF2B5EF4-FFF2-40B4-BE49-F238E27FC236}">
                <a16:creationId xmlns:a16="http://schemas.microsoft.com/office/drawing/2014/main" id="{F6B3CDA9-572A-C618-F5C1-D5F99D203D62}"/>
              </a:ext>
            </a:extLst>
          </p:cNvPr>
          <p:cNvSpPr>
            <a:spLocks noGrp="1"/>
          </p:cNvSpPr>
          <p:nvPr>
            <p:ph idx="1" hasCustomPrompt="1"/>
          </p:nvPr>
        </p:nvSpPr>
        <p:spPr>
          <a:xfrm>
            <a:off x="838200" y="1672911"/>
            <a:ext cx="10515600" cy="2354638"/>
          </a:xfrm>
          <a:prstGeom prst="rect">
            <a:avLst/>
          </a:prstGeom>
        </p:spPr>
        <p:txBody>
          <a:bodyPr>
            <a:noAutofit/>
          </a:bodyPr>
          <a:lstStyle>
            <a:lvl1pPr>
              <a:defRPr sz="2400"/>
            </a:lvl1pPr>
          </a:lstStyle>
          <a:p>
            <a:pPr lvl="0"/>
            <a:r>
              <a:rPr lang="en-GB" noProof="0" dirty="0"/>
              <a:t>Click to modify</a:t>
            </a: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35" name="Espace réservé pour une image  34">
            <a:extLst>
              <a:ext uri="{FF2B5EF4-FFF2-40B4-BE49-F238E27FC236}">
                <a16:creationId xmlns:a16="http://schemas.microsoft.com/office/drawing/2014/main" id="{A645C968-F0EE-32F7-4625-893A218543EA}"/>
              </a:ext>
            </a:extLst>
          </p:cNvPr>
          <p:cNvSpPr>
            <a:spLocks noGrp="1"/>
          </p:cNvSpPr>
          <p:nvPr>
            <p:ph type="pic" sz="quarter" idx="13"/>
          </p:nvPr>
        </p:nvSpPr>
        <p:spPr>
          <a:xfrm>
            <a:off x="838201"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1" name="Espace réservé pour une image  40">
            <a:extLst>
              <a:ext uri="{FF2B5EF4-FFF2-40B4-BE49-F238E27FC236}">
                <a16:creationId xmlns:a16="http://schemas.microsoft.com/office/drawing/2014/main" id="{E78266C7-8721-F11F-D042-62D33616610C}"/>
              </a:ext>
            </a:extLst>
          </p:cNvPr>
          <p:cNvSpPr>
            <a:spLocks noGrp="1"/>
          </p:cNvSpPr>
          <p:nvPr>
            <p:ph type="pic" sz="quarter" idx="14"/>
          </p:nvPr>
        </p:nvSpPr>
        <p:spPr>
          <a:xfrm>
            <a:off x="8020778"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sp>
        <p:nvSpPr>
          <p:cNvPr id="42" name="Espace réservé pour une image  41">
            <a:extLst>
              <a:ext uri="{FF2B5EF4-FFF2-40B4-BE49-F238E27FC236}">
                <a16:creationId xmlns:a16="http://schemas.microsoft.com/office/drawing/2014/main" id="{8F6D8692-7B6B-CC2C-89A5-37D0AEFA2224}"/>
              </a:ext>
            </a:extLst>
          </p:cNvPr>
          <p:cNvSpPr>
            <a:spLocks noGrp="1"/>
          </p:cNvSpPr>
          <p:nvPr>
            <p:ph type="pic" sz="quarter" idx="15"/>
          </p:nvPr>
        </p:nvSpPr>
        <p:spPr>
          <a:xfrm>
            <a:off x="4429490" y="4104036"/>
            <a:ext cx="3339123" cy="2185081"/>
          </a:xfrm>
          <a:custGeom>
            <a:avLst/>
            <a:gdLst>
              <a:gd name="connsiteX0" fmla="*/ 0 w 4082443"/>
              <a:gd name="connsiteY0" fmla="*/ 0 h 2671500"/>
              <a:gd name="connsiteX1" fmla="*/ 1334656 w 4082443"/>
              <a:gd name="connsiteY1" fmla="*/ 0 h 2671500"/>
              <a:gd name="connsiteX2" fmla="*/ 2747787 w 4082443"/>
              <a:gd name="connsiteY2" fmla="*/ 0 h 2671500"/>
              <a:gd name="connsiteX3" fmla="*/ 2747963 w 4082443"/>
              <a:gd name="connsiteY3" fmla="*/ 0 h 2671500"/>
              <a:gd name="connsiteX4" fmla="*/ 2747963 w 4082443"/>
              <a:gd name="connsiteY4" fmla="*/ 9 h 2671500"/>
              <a:gd name="connsiteX5" fmla="*/ 2884248 w 4082443"/>
              <a:gd name="connsiteY5" fmla="*/ 6896 h 2671500"/>
              <a:gd name="connsiteX6" fmla="*/ 4082443 w 4082443"/>
              <a:gd name="connsiteY6" fmla="*/ 1335750 h 2671500"/>
              <a:gd name="connsiteX7" fmla="*/ 2884248 w 4082443"/>
              <a:gd name="connsiteY7" fmla="*/ 2664604 h 2671500"/>
              <a:gd name="connsiteX8" fmla="*/ 2747962 w 4082443"/>
              <a:gd name="connsiteY8" fmla="*/ 2671491 h 2671500"/>
              <a:gd name="connsiteX9" fmla="*/ 2747962 w 4082443"/>
              <a:gd name="connsiteY9" fmla="*/ 2671499 h 2671500"/>
              <a:gd name="connsiteX10" fmla="*/ 2747807 w 4082443"/>
              <a:gd name="connsiteY10" fmla="*/ 2671499 h 2671500"/>
              <a:gd name="connsiteX11" fmla="*/ 2747787 w 4082443"/>
              <a:gd name="connsiteY11" fmla="*/ 2671500 h 2671500"/>
              <a:gd name="connsiteX12" fmla="*/ 2747767 w 4082443"/>
              <a:gd name="connsiteY12" fmla="*/ 2671499 h 2671500"/>
              <a:gd name="connsiteX13" fmla="*/ 1334676 w 4082443"/>
              <a:gd name="connsiteY13" fmla="*/ 2671499 h 2671500"/>
              <a:gd name="connsiteX14" fmla="*/ 1334656 w 4082443"/>
              <a:gd name="connsiteY14" fmla="*/ 2671500 h 2671500"/>
              <a:gd name="connsiteX15" fmla="*/ 1334637 w 4082443"/>
              <a:gd name="connsiteY15" fmla="*/ 2671499 h 2671500"/>
              <a:gd name="connsiteX16" fmla="*/ 1330323 w 4082443"/>
              <a:gd name="connsiteY16" fmla="*/ 2671499 h 2671500"/>
              <a:gd name="connsiteX17" fmla="*/ 1330323 w 4082443"/>
              <a:gd name="connsiteY17" fmla="*/ 2671281 h 2671500"/>
              <a:gd name="connsiteX18" fmla="*/ 1198195 w 4082443"/>
              <a:gd name="connsiteY18" fmla="*/ 2664604 h 2671500"/>
              <a:gd name="connsiteX19" fmla="*/ 6063 w 4082443"/>
              <a:gd name="connsiteY19" fmla="*/ 1463896 h 2671500"/>
              <a:gd name="connsiteX20" fmla="*/ 795 w 4082443"/>
              <a:gd name="connsiteY20" fmla="*/ 1352550 h 2671500"/>
              <a:gd name="connsiteX21" fmla="*/ 0 w 4082443"/>
              <a:gd name="connsiteY21" fmla="*/ 1352550 h 2671500"/>
              <a:gd name="connsiteX22" fmla="*/ 0 w 4082443"/>
              <a:gd name="connsiteY22" fmla="*/ 1335750 h 26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082443" h="2671500">
                <a:moveTo>
                  <a:pt x="0" y="0"/>
                </a:moveTo>
                <a:lnTo>
                  <a:pt x="1334656" y="0"/>
                </a:lnTo>
                <a:lnTo>
                  <a:pt x="2747787" y="0"/>
                </a:lnTo>
                <a:lnTo>
                  <a:pt x="2747963" y="0"/>
                </a:lnTo>
                <a:lnTo>
                  <a:pt x="2747963" y="9"/>
                </a:lnTo>
                <a:lnTo>
                  <a:pt x="2884248" y="6896"/>
                </a:lnTo>
                <a:cubicBezTo>
                  <a:pt x="3557256" y="75300"/>
                  <a:pt x="4082443" y="644143"/>
                  <a:pt x="4082443" y="1335750"/>
                </a:cubicBezTo>
                <a:cubicBezTo>
                  <a:pt x="4082443" y="2027357"/>
                  <a:pt x="3557256" y="2596200"/>
                  <a:pt x="2884248" y="2664604"/>
                </a:cubicBezTo>
                <a:lnTo>
                  <a:pt x="2747962" y="2671491"/>
                </a:lnTo>
                <a:lnTo>
                  <a:pt x="2747962" y="2671499"/>
                </a:lnTo>
                <a:lnTo>
                  <a:pt x="2747807" y="2671499"/>
                </a:lnTo>
                <a:lnTo>
                  <a:pt x="2747787" y="2671500"/>
                </a:lnTo>
                <a:lnTo>
                  <a:pt x="2747767" y="2671499"/>
                </a:lnTo>
                <a:lnTo>
                  <a:pt x="1334676" y="2671499"/>
                </a:lnTo>
                <a:lnTo>
                  <a:pt x="1334656" y="2671500"/>
                </a:lnTo>
                <a:lnTo>
                  <a:pt x="1334637" y="2671499"/>
                </a:lnTo>
                <a:lnTo>
                  <a:pt x="1330323" y="2671499"/>
                </a:lnTo>
                <a:lnTo>
                  <a:pt x="1330323" y="2671281"/>
                </a:lnTo>
                <a:lnTo>
                  <a:pt x="1198195" y="2664604"/>
                </a:lnTo>
                <a:cubicBezTo>
                  <a:pt x="567250" y="2600475"/>
                  <a:pt x="66226" y="2096508"/>
                  <a:pt x="6063" y="1463896"/>
                </a:cubicBezTo>
                <a:lnTo>
                  <a:pt x="795" y="1352550"/>
                </a:lnTo>
                <a:lnTo>
                  <a:pt x="0" y="1352550"/>
                </a:lnTo>
                <a:lnTo>
                  <a:pt x="0" y="1335750"/>
                </a:lnTo>
                <a:close/>
              </a:path>
            </a:pathLst>
          </a:custGeom>
          <a:noFill/>
        </p:spPr>
        <p:txBody>
          <a:bodyPr wrap="square">
            <a:noAutofit/>
          </a:bodyPr>
          <a:lstStyle/>
          <a:p>
            <a:endParaRPr lang="en-GB" noProof="0"/>
          </a:p>
        </p:txBody>
      </p:sp>
      <p:pic>
        <p:nvPicPr>
          <p:cNvPr id="7" name="Image 5">
            <a:extLst>
              <a:ext uri="{FF2B5EF4-FFF2-40B4-BE49-F238E27FC236}">
                <a16:creationId xmlns:a16="http://schemas.microsoft.com/office/drawing/2014/main" id="{A19DB2DF-140E-EF43-5DCB-97E0C3020688}"/>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020188F5-35F8-C73A-64F2-4F36B578CD15}"/>
              </a:ext>
            </a:extLst>
          </p:cNvPr>
          <p:cNvSpPr>
            <a:spLocks noGrp="1"/>
          </p:cNvSpPr>
          <p:nvPr>
            <p:ph type="title" hasCustomPrompt="1"/>
          </p:nvPr>
        </p:nvSpPr>
        <p:spPr/>
        <p:txBody>
          <a:bodyPr/>
          <a:lstStyle/>
          <a:p>
            <a:r>
              <a:rPr lang="en-GB" dirty="0"/>
              <a:t>Title</a:t>
            </a:r>
          </a:p>
        </p:txBody>
      </p:sp>
    </p:spTree>
    <p:extLst>
      <p:ext uri="{BB962C8B-B14F-4D97-AF65-F5344CB8AC3E}">
        <p14:creationId xmlns:p14="http://schemas.microsoft.com/office/powerpoint/2010/main" val="578742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Red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2300753F-C3F4-96FF-61E0-FF10ABF95857}"/>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C7C887E9-A174-8EE3-D419-4E1096196E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11" name="Content Placeholder 9">
            <a:extLst>
              <a:ext uri="{FF2B5EF4-FFF2-40B4-BE49-F238E27FC236}">
                <a16:creationId xmlns:a16="http://schemas.microsoft.com/office/drawing/2014/main" id="{AA2DAFB6-4120-0157-845E-21988732435B}"/>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
        <p:nvSpPr>
          <p:cNvPr id="12" name="Content Placeholder 9">
            <a:extLst>
              <a:ext uri="{FF2B5EF4-FFF2-40B4-BE49-F238E27FC236}">
                <a16:creationId xmlns:a16="http://schemas.microsoft.com/office/drawing/2014/main" id="{0A31A2BD-9D88-F08D-D109-40987069C726}"/>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23510015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nk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2300753F-C3F4-96FF-61E0-FF10ABF95857}"/>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C7C887E9-A174-8EE3-D419-4E1096196E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10" name="Content Placeholder 9">
            <a:extLst>
              <a:ext uri="{FF2B5EF4-FFF2-40B4-BE49-F238E27FC236}">
                <a16:creationId xmlns:a16="http://schemas.microsoft.com/office/drawing/2014/main" id="{6DB28834-2377-2BA6-AA40-B17CFC2B560C}"/>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
        <p:nvSpPr>
          <p:cNvPr id="11" name="Content Placeholder 9">
            <a:extLst>
              <a:ext uri="{FF2B5EF4-FFF2-40B4-BE49-F238E27FC236}">
                <a16:creationId xmlns:a16="http://schemas.microsoft.com/office/drawing/2014/main" id="{2C58EF55-DFB6-1CAE-C474-F8D0E76AF9D6}"/>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31967742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Grey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EF408574-C683-1985-6632-7A59AB94C9D2}"/>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9110A95F-7C10-1EBE-E254-51B73F31C29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11" name="Content Placeholder 9">
            <a:extLst>
              <a:ext uri="{FF2B5EF4-FFF2-40B4-BE49-F238E27FC236}">
                <a16:creationId xmlns:a16="http://schemas.microsoft.com/office/drawing/2014/main" id="{B046564C-405C-D92E-9921-39F8C498F130}"/>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
        <p:nvSpPr>
          <p:cNvPr id="12" name="Content Placeholder 9">
            <a:extLst>
              <a:ext uri="{FF2B5EF4-FFF2-40B4-BE49-F238E27FC236}">
                <a16:creationId xmlns:a16="http://schemas.microsoft.com/office/drawing/2014/main" id="{24F84300-D50C-CC9A-515D-1C7A50D2F460}"/>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342209064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Green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9DFDA38C-E54D-EE2E-3D3D-3473EB2C45CE}"/>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F1162257-C28A-4867-07F4-ED60C0E7A95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7" name="Content Placeholder 9">
            <a:extLst>
              <a:ext uri="{FF2B5EF4-FFF2-40B4-BE49-F238E27FC236}">
                <a16:creationId xmlns:a16="http://schemas.microsoft.com/office/drawing/2014/main" id="{2D711CD7-613C-60AE-8C72-DA2437410907}"/>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
        <p:nvSpPr>
          <p:cNvPr id="10" name="Content Placeholder 9">
            <a:extLst>
              <a:ext uri="{FF2B5EF4-FFF2-40B4-BE49-F238E27FC236}">
                <a16:creationId xmlns:a16="http://schemas.microsoft.com/office/drawing/2014/main" id="{0D732CC7-0FDE-D811-EDB1-AB646764A78E}"/>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5627421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ue section two columns">
    <p:spTree>
      <p:nvGrpSpPr>
        <p:cNvPr id="1" name=""/>
        <p:cNvGrpSpPr/>
        <p:nvPr/>
      </p:nvGrpSpPr>
      <p:grpSpPr>
        <a:xfrm>
          <a:off x="0" y="0"/>
          <a:ext cx="0" cy="0"/>
          <a:chOff x="0" y="0"/>
          <a:chExt cx="0" cy="0"/>
        </a:xfrm>
      </p:grpSpPr>
      <p:sp>
        <p:nvSpPr>
          <p:cNvPr id="8" name="Rectangle : avec coins arrondis en haut 7">
            <a:extLst>
              <a:ext uri="{FF2B5EF4-FFF2-40B4-BE49-F238E27FC236}">
                <a16:creationId xmlns:a16="http://schemas.microsoft.com/office/drawing/2014/main" id="{A2421562-4873-AA32-48AC-BEE03DBE8B89}"/>
              </a:ext>
            </a:extLst>
          </p:cNvPr>
          <p:cNvSpPr/>
          <p:nvPr userDrawn="1"/>
        </p:nvSpPr>
        <p:spPr>
          <a:xfrm>
            <a:off x="6311153"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avec coins arrondis en haut 8">
            <a:extLst>
              <a:ext uri="{FF2B5EF4-FFF2-40B4-BE49-F238E27FC236}">
                <a16:creationId xmlns:a16="http://schemas.microsoft.com/office/drawing/2014/main" id="{EB53B0F7-BA87-198E-048A-598446C72EA1}"/>
              </a:ext>
            </a:extLst>
          </p:cNvPr>
          <p:cNvSpPr/>
          <p:nvPr userDrawn="1"/>
        </p:nvSpPr>
        <p:spPr>
          <a:xfrm>
            <a:off x="838199" y="1222745"/>
            <a:ext cx="5042647" cy="5635255"/>
          </a:xfrm>
          <a:prstGeom prst="round2SameRect">
            <a:avLst>
              <a:gd name="adj1" fmla="val 5736"/>
              <a:gd name="adj2"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3" name="Title 2">
            <a:extLst>
              <a:ext uri="{FF2B5EF4-FFF2-40B4-BE49-F238E27FC236}">
                <a16:creationId xmlns:a16="http://schemas.microsoft.com/office/drawing/2014/main" id="{C20E56CA-9C63-7C92-E3C4-6C836C2F2926}"/>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B61C4734-C773-C156-A090-61CE06CB75F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7" name="Content Placeholder 9">
            <a:extLst>
              <a:ext uri="{FF2B5EF4-FFF2-40B4-BE49-F238E27FC236}">
                <a16:creationId xmlns:a16="http://schemas.microsoft.com/office/drawing/2014/main" id="{820FF58A-BBC7-12B7-1C2F-482012CE486B}"/>
              </a:ext>
            </a:extLst>
          </p:cNvPr>
          <p:cNvSpPr>
            <a:spLocks noGrp="1"/>
          </p:cNvSpPr>
          <p:nvPr>
            <p:ph sz="quarter" idx="11"/>
          </p:nvPr>
        </p:nvSpPr>
        <p:spPr>
          <a:xfrm>
            <a:off x="1188589"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
        <p:nvSpPr>
          <p:cNvPr id="10" name="Content Placeholder 9">
            <a:extLst>
              <a:ext uri="{FF2B5EF4-FFF2-40B4-BE49-F238E27FC236}">
                <a16:creationId xmlns:a16="http://schemas.microsoft.com/office/drawing/2014/main" id="{6C42C692-4841-FFF1-E1C0-1752D1F56676}"/>
              </a:ext>
            </a:extLst>
          </p:cNvPr>
          <p:cNvSpPr>
            <a:spLocks noGrp="1"/>
          </p:cNvSpPr>
          <p:nvPr>
            <p:ph sz="quarter" idx="12"/>
          </p:nvPr>
        </p:nvSpPr>
        <p:spPr>
          <a:xfrm>
            <a:off x="6636151" y="1660178"/>
            <a:ext cx="4367260" cy="4507259"/>
          </a:xfrm>
        </p:spPr>
        <p:txBody>
          <a:bodyPr/>
          <a:lstStyle>
            <a:lvl2pPr marL="358775" indent="-358775">
              <a:spcBef>
                <a:spcPts val="1000"/>
              </a:spcBef>
              <a:buFontTx/>
              <a:buBlip>
                <a:blip r:embed="rId4"/>
              </a:buBlip>
              <a:defRPr lang="en-GB" sz="2400" b="0" i="0" kern="1200" dirty="0" smtClean="0">
                <a:solidFill>
                  <a:schemeClr val="tx1"/>
                </a:solidFill>
                <a:latin typeface="+mn-lt"/>
                <a:ea typeface="Tahoma" panose="020B0604030504040204" pitchFamily="34" charset="0"/>
                <a:cs typeface="Gill Sans Light" panose="020B0302020104020203" pitchFamily="34" charset="-79"/>
              </a:defRPr>
            </a:lvl2pPr>
            <a:lvl3pPr marL="762000" indent="-374650">
              <a:buFontTx/>
              <a:buBlip>
                <a:blip r:embed="rId4"/>
              </a:buBlip>
              <a:tabLst/>
              <a:defRPr lang="en-GB" sz="2400" b="0" i="0" kern="1200" dirty="0" smtClean="0">
                <a:solidFill>
                  <a:schemeClr val="tx1"/>
                </a:solidFill>
                <a:latin typeface="+mn-lt"/>
                <a:ea typeface="Tahoma" panose="020B0604030504040204" pitchFamily="34" charset="0"/>
                <a:cs typeface="Gill Sans Light" panose="020B0302020104020203" pitchFamily="34" charset="-79"/>
              </a:defRPr>
            </a:lvl3p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5"/>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5"/>
              </a:buBlip>
              <a:tabLst/>
            </a:pPr>
            <a:r>
              <a:rPr lang="en-GB" dirty="0"/>
              <a:t>Third level</a:t>
            </a:r>
          </a:p>
        </p:txBody>
      </p:sp>
    </p:spTree>
    <p:extLst>
      <p:ext uri="{BB962C8B-B14F-4D97-AF65-F5344CB8AC3E}">
        <p14:creationId xmlns:p14="http://schemas.microsoft.com/office/powerpoint/2010/main" val="34609264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d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8" name="Rectangle : coins arrondis 7">
            <a:extLst>
              <a:ext uri="{FF2B5EF4-FFF2-40B4-BE49-F238E27FC236}">
                <a16:creationId xmlns:a16="http://schemas.microsoft.com/office/drawing/2014/main" id="{DF1A6571-E23B-5A9D-0558-093D4921C6CA}"/>
              </a:ext>
            </a:extLst>
          </p:cNvPr>
          <p:cNvSpPr/>
          <p:nvPr userDrawn="1"/>
        </p:nvSpPr>
        <p:spPr>
          <a:xfrm>
            <a:off x="1182370" y="1425643"/>
            <a:ext cx="9827260" cy="4765199"/>
          </a:xfrm>
          <a:prstGeom prst="roundRect">
            <a:avLst>
              <a:gd name="adj" fmla="val 5444"/>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pic>
        <p:nvPicPr>
          <p:cNvPr id="3" name="Image 2">
            <a:extLst>
              <a:ext uri="{FF2B5EF4-FFF2-40B4-BE49-F238E27FC236}">
                <a16:creationId xmlns:a16="http://schemas.microsoft.com/office/drawing/2014/main" id="{1B6083AA-D0FC-9F66-C26A-720F1CB281E7}"/>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12" name="Espace réservé du texte 11">
            <a:extLst>
              <a:ext uri="{FF2B5EF4-FFF2-40B4-BE49-F238E27FC236}">
                <a16:creationId xmlns:a16="http://schemas.microsoft.com/office/drawing/2014/main" id="{5FDEB2E9-2DE2-3933-9A0B-238CB6D2E10C}"/>
              </a:ext>
            </a:extLst>
          </p:cNvPr>
          <p:cNvSpPr>
            <a:spLocks noGrp="1"/>
          </p:cNvSpPr>
          <p:nvPr>
            <p:ph type="body" sz="quarter" idx="10" hasCustomPrompt="1"/>
          </p:nvPr>
        </p:nvSpPr>
        <p:spPr>
          <a:xfrm>
            <a:off x="2428118" y="2308068"/>
            <a:ext cx="7203188" cy="3224213"/>
          </a:xfrm>
          <a:prstGeom prst="rect">
            <a:avLst/>
          </a:prstGeom>
        </p:spPr>
        <p:txBody>
          <a:bodyPr anchor="ctr">
            <a:normAutofit/>
          </a:bodyPr>
          <a:lstStyle>
            <a:lvl1pPr marL="0" indent="0" algn="ctr">
              <a:buFont typeface="Arial" panose="020B0604020202020204" pitchFamily="34" charset="0"/>
              <a:buNone/>
              <a:defRPr sz="2800" b="0" i="0">
                <a:solidFill>
                  <a:schemeClr val="bg1"/>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a:t>Text</a:t>
            </a:r>
          </a:p>
        </p:txBody>
      </p:sp>
      <p:sp>
        <p:nvSpPr>
          <p:cNvPr id="2" name="Title 1">
            <a:extLst>
              <a:ext uri="{FF2B5EF4-FFF2-40B4-BE49-F238E27FC236}">
                <a16:creationId xmlns:a16="http://schemas.microsoft.com/office/drawing/2014/main" id="{29E6EDCA-745B-8829-5AD1-A11B03FE14F1}"/>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2071825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nk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a:stretch>
            <a:fillRect/>
          </a:stretch>
        </p:blipFill>
        <p:spPr>
          <a:xfrm>
            <a:off x="11577556" y="6362267"/>
            <a:ext cx="474844" cy="356133"/>
          </a:xfrm>
          <a:prstGeom prst="rect">
            <a:avLst/>
          </a:prstGeom>
        </p:spPr>
      </p:pic>
      <p:sp>
        <p:nvSpPr>
          <p:cNvPr id="5" name="Title 4">
            <a:extLst>
              <a:ext uri="{FF2B5EF4-FFF2-40B4-BE49-F238E27FC236}">
                <a16:creationId xmlns:a16="http://schemas.microsoft.com/office/drawing/2014/main" id="{97CB0CE7-DE33-88EE-3423-A4C2C7690266}"/>
              </a:ext>
            </a:extLst>
          </p:cNvPr>
          <p:cNvSpPr>
            <a:spLocks noGrp="1"/>
          </p:cNvSpPr>
          <p:nvPr>
            <p:ph type="title" hasCustomPrompt="1"/>
          </p:nvPr>
        </p:nvSpPr>
        <p:spPr/>
        <p:txBody>
          <a:bodyPr/>
          <a:lstStyle>
            <a:lvl1pPr>
              <a:defRPr/>
            </a:lvl1pPr>
          </a:lstStyle>
          <a:p>
            <a:r>
              <a:rPr lang="en-US" dirty="0"/>
              <a:t>Title</a:t>
            </a:r>
            <a:endParaRPr lang="en-GB" dirty="0"/>
          </a:p>
        </p:txBody>
      </p:sp>
      <p:pic>
        <p:nvPicPr>
          <p:cNvPr id="2" name="Image 5">
            <a:extLst>
              <a:ext uri="{FF2B5EF4-FFF2-40B4-BE49-F238E27FC236}">
                <a16:creationId xmlns:a16="http://schemas.microsoft.com/office/drawing/2014/main" id="{C39D1BED-4DD7-EE8D-19B6-DD064B0A9D2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06076" y="201600"/>
            <a:ext cx="506729" cy="506729"/>
          </a:xfrm>
          <a:prstGeom prst="rect">
            <a:avLst/>
          </a:prstGeom>
        </p:spPr>
      </p:pic>
      <p:sp>
        <p:nvSpPr>
          <p:cNvPr id="3" name="Rectangle : coins arrondis 7">
            <a:extLst>
              <a:ext uri="{FF2B5EF4-FFF2-40B4-BE49-F238E27FC236}">
                <a16:creationId xmlns:a16="http://schemas.microsoft.com/office/drawing/2014/main" id="{C024A53D-C380-52AE-2506-8FECF914876A}"/>
              </a:ext>
            </a:extLst>
          </p:cNvPr>
          <p:cNvSpPr/>
          <p:nvPr userDrawn="1"/>
        </p:nvSpPr>
        <p:spPr>
          <a:xfrm>
            <a:off x="1182370" y="1425643"/>
            <a:ext cx="9827260" cy="4765199"/>
          </a:xfrm>
          <a:prstGeom prst="roundRect">
            <a:avLst>
              <a:gd name="adj" fmla="val 544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6" name="Espace réservé du texte 11">
            <a:extLst>
              <a:ext uri="{FF2B5EF4-FFF2-40B4-BE49-F238E27FC236}">
                <a16:creationId xmlns:a16="http://schemas.microsoft.com/office/drawing/2014/main" id="{F1FC30D3-09BA-9EBC-E24F-AA6E2EAB3625}"/>
              </a:ext>
            </a:extLst>
          </p:cNvPr>
          <p:cNvSpPr>
            <a:spLocks noGrp="1"/>
          </p:cNvSpPr>
          <p:nvPr>
            <p:ph type="body" sz="quarter" idx="10" hasCustomPrompt="1"/>
          </p:nvPr>
        </p:nvSpPr>
        <p:spPr>
          <a:xfrm>
            <a:off x="2494406" y="2196136"/>
            <a:ext cx="7203188" cy="3224213"/>
          </a:xfrm>
          <a:prstGeom prst="rect">
            <a:avLst/>
          </a:prstGeom>
        </p:spPr>
        <p:txBody>
          <a:bodyPr anchor="ctr">
            <a:normAutofit/>
          </a:bodyPr>
          <a:lstStyle>
            <a:lvl1pPr marL="0" indent="0" algn="ctr">
              <a:buFont typeface="Arial" panose="020B0604020202020204" pitchFamily="34" charset="0"/>
              <a:buNone/>
              <a:defRPr sz="2800" b="0" i="0">
                <a:solidFill>
                  <a:sysClr val="windowText" lastClr="000000"/>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dirty="0"/>
              <a:t>Text</a:t>
            </a:r>
          </a:p>
        </p:txBody>
      </p:sp>
    </p:spTree>
    <p:extLst>
      <p:ext uri="{BB962C8B-B14F-4D97-AF65-F5344CB8AC3E}">
        <p14:creationId xmlns:p14="http://schemas.microsoft.com/office/powerpoint/2010/main" val="39002916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rey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8" name="Rectangle : coins arrondis 7">
            <a:extLst>
              <a:ext uri="{FF2B5EF4-FFF2-40B4-BE49-F238E27FC236}">
                <a16:creationId xmlns:a16="http://schemas.microsoft.com/office/drawing/2014/main" id="{DF1A6571-E23B-5A9D-0558-093D4921C6CA}"/>
              </a:ext>
            </a:extLst>
          </p:cNvPr>
          <p:cNvSpPr/>
          <p:nvPr userDrawn="1"/>
        </p:nvSpPr>
        <p:spPr>
          <a:xfrm>
            <a:off x="1182370" y="1425643"/>
            <a:ext cx="9827260" cy="4765199"/>
          </a:xfrm>
          <a:prstGeom prst="roundRect">
            <a:avLst>
              <a:gd name="adj" fmla="val 5444"/>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2" name="Espace réservé du texte 11">
            <a:extLst>
              <a:ext uri="{FF2B5EF4-FFF2-40B4-BE49-F238E27FC236}">
                <a16:creationId xmlns:a16="http://schemas.microsoft.com/office/drawing/2014/main" id="{5FDEB2E9-2DE2-3933-9A0B-238CB6D2E10C}"/>
              </a:ext>
            </a:extLst>
          </p:cNvPr>
          <p:cNvSpPr>
            <a:spLocks noGrp="1"/>
          </p:cNvSpPr>
          <p:nvPr>
            <p:ph type="body" sz="quarter" idx="10" hasCustomPrompt="1"/>
          </p:nvPr>
        </p:nvSpPr>
        <p:spPr>
          <a:xfrm>
            <a:off x="2428118" y="2308068"/>
            <a:ext cx="7203188" cy="3224213"/>
          </a:xfrm>
          <a:prstGeom prst="rect">
            <a:avLst/>
          </a:prstGeom>
        </p:spPr>
        <p:txBody>
          <a:bodyPr anchor="ctr">
            <a:normAutofit/>
          </a:bodyPr>
          <a:lstStyle>
            <a:lvl1pPr marL="0" indent="0" algn="ctr">
              <a:buFont typeface="Arial" panose="020B0604020202020204" pitchFamily="34" charset="0"/>
              <a:buNone/>
              <a:defRPr sz="2800" b="0" i="0">
                <a:solidFill>
                  <a:schemeClr val="bg1"/>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a:t>Text</a:t>
            </a:r>
          </a:p>
        </p:txBody>
      </p:sp>
      <p:pic>
        <p:nvPicPr>
          <p:cNvPr id="5" name="Image 6">
            <a:extLst>
              <a:ext uri="{FF2B5EF4-FFF2-40B4-BE49-F238E27FC236}">
                <a16:creationId xmlns:a16="http://schemas.microsoft.com/office/drawing/2014/main" id="{E52BFDE3-65C6-2516-9801-08DE82B1FA67}"/>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BE85C4DD-5280-6381-0242-CE01F22BA25F}"/>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2157954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een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8" name="Rectangle : coins arrondis 7">
            <a:extLst>
              <a:ext uri="{FF2B5EF4-FFF2-40B4-BE49-F238E27FC236}">
                <a16:creationId xmlns:a16="http://schemas.microsoft.com/office/drawing/2014/main" id="{DF1A6571-E23B-5A9D-0558-093D4921C6CA}"/>
              </a:ext>
            </a:extLst>
          </p:cNvPr>
          <p:cNvSpPr/>
          <p:nvPr userDrawn="1"/>
        </p:nvSpPr>
        <p:spPr>
          <a:xfrm>
            <a:off x="1182370" y="1425643"/>
            <a:ext cx="9827260" cy="4765199"/>
          </a:xfrm>
          <a:prstGeom prst="roundRect">
            <a:avLst>
              <a:gd name="adj" fmla="val 544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2" name="Espace réservé du texte 11">
            <a:extLst>
              <a:ext uri="{FF2B5EF4-FFF2-40B4-BE49-F238E27FC236}">
                <a16:creationId xmlns:a16="http://schemas.microsoft.com/office/drawing/2014/main" id="{5FDEB2E9-2DE2-3933-9A0B-238CB6D2E10C}"/>
              </a:ext>
            </a:extLst>
          </p:cNvPr>
          <p:cNvSpPr>
            <a:spLocks noGrp="1"/>
          </p:cNvSpPr>
          <p:nvPr>
            <p:ph type="body" sz="quarter" idx="10" hasCustomPrompt="1"/>
          </p:nvPr>
        </p:nvSpPr>
        <p:spPr>
          <a:xfrm>
            <a:off x="2428118" y="2308068"/>
            <a:ext cx="7203188" cy="3224213"/>
          </a:xfrm>
          <a:prstGeom prst="rect">
            <a:avLst/>
          </a:prstGeom>
        </p:spPr>
        <p:txBody>
          <a:bodyPr anchor="ctr">
            <a:normAutofit/>
          </a:bodyPr>
          <a:lstStyle>
            <a:lvl1pPr marL="0" indent="0" algn="ctr">
              <a:buFont typeface="Arial" panose="020B0604020202020204" pitchFamily="34" charset="0"/>
              <a:buNone/>
              <a:defRPr sz="2800" b="0" i="0">
                <a:solidFill>
                  <a:schemeClr val="bg1"/>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a:t>Text</a:t>
            </a:r>
          </a:p>
        </p:txBody>
      </p:sp>
      <p:pic>
        <p:nvPicPr>
          <p:cNvPr id="3" name="Image 4">
            <a:extLst>
              <a:ext uri="{FF2B5EF4-FFF2-40B4-BE49-F238E27FC236}">
                <a16:creationId xmlns:a16="http://schemas.microsoft.com/office/drawing/2014/main" id="{7C1E8E5C-3149-CFAB-E714-FEC68CD2CD7C}"/>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AD558C21-10BC-317A-A65D-2A6A57ACBF9F}"/>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14760160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ue section key messag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C9935361-3835-30E7-CA0B-A30C6AA290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577556" y="6362267"/>
            <a:ext cx="474844" cy="356133"/>
          </a:xfrm>
          <a:prstGeom prst="rect">
            <a:avLst/>
          </a:prstGeom>
        </p:spPr>
      </p:pic>
      <p:sp>
        <p:nvSpPr>
          <p:cNvPr id="8" name="Rectangle : coins arrondis 7">
            <a:extLst>
              <a:ext uri="{FF2B5EF4-FFF2-40B4-BE49-F238E27FC236}">
                <a16:creationId xmlns:a16="http://schemas.microsoft.com/office/drawing/2014/main" id="{DF1A6571-E23B-5A9D-0558-093D4921C6CA}"/>
              </a:ext>
            </a:extLst>
          </p:cNvPr>
          <p:cNvSpPr/>
          <p:nvPr userDrawn="1"/>
        </p:nvSpPr>
        <p:spPr>
          <a:xfrm>
            <a:off x="1182370" y="1425643"/>
            <a:ext cx="9827260" cy="4765199"/>
          </a:xfrm>
          <a:prstGeom prst="roundRect">
            <a:avLst>
              <a:gd name="adj" fmla="val 54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12" name="Espace réservé du texte 11">
            <a:extLst>
              <a:ext uri="{FF2B5EF4-FFF2-40B4-BE49-F238E27FC236}">
                <a16:creationId xmlns:a16="http://schemas.microsoft.com/office/drawing/2014/main" id="{5FDEB2E9-2DE2-3933-9A0B-238CB6D2E10C}"/>
              </a:ext>
            </a:extLst>
          </p:cNvPr>
          <p:cNvSpPr>
            <a:spLocks noGrp="1"/>
          </p:cNvSpPr>
          <p:nvPr>
            <p:ph type="body" sz="quarter" idx="10" hasCustomPrompt="1"/>
          </p:nvPr>
        </p:nvSpPr>
        <p:spPr>
          <a:xfrm>
            <a:off x="2428118" y="2308068"/>
            <a:ext cx="7203188" cy="3224213"/>
          </a:xfrm>
          <a:prstGeom prst="rect">
            <a:avLst/>
          </a:prstGeom>
        </p:spPr>
        <p:txBody>
          <a:bodyPr anchor="ctr">
            <a:normAutofit/>
          </a:bodyPr>
          <a:lstStyle>
            <a:lvl1pPr marL="0" indent="0" algn="ctr">
              <a:buFont typeface="Arial" panose="020B0604020202020204" pitchFamily="34" charset="0"/>
              <a:buNone/>
              <a:defRPr sz="2800" b="0" i="0">
                <a:solidFill>
                  <a:schemeClr val="bg1"/>
                </a:solidFill>
                <a:latin typeface="+mn-lt"/>
                <a:cs typeface="Gill Sans Light" panose="020B0302020104020203" pitchFamily="34" charset="-79"/>
              </a:defRPr>
            </a:lvl1pPr>
            <a:lvl2pPr algn="ctr">
              <a:defRPr sz="2800">
                <a:solidFill>
                  <a:schemeClr val="bg1"/>
                </a:solidFill>
              </a:defRPr>
            </a:lvl2pPr>
            <a:lvl3pPr algn="ctr">
              <a:defRPr sz="2800">
                <a:solidFill>
                  <a:schemeClr val="bg1"/>
                </a:solidFill>
              </a:defRPr>
            </a:lvl3pPr>
            <a:lvl4pPr algn="ctr">
              <a:defRPr sz="2800">
                <a:solidFill>
                  <a:schemeClr val="bg1"/>
                </a:solidFill>
              </a:defRPr>
            </a:lvl4pPr>
            <a:lvl5pPr algn="ctr">
              <a:defRPr sz="2800">
                <a:solidFill>
                  <a:schemeClr val="bg1"/>
                </a:solidFill>
              </a:defRPr>
            </a:lvl5pPr>
          </a:lstStyle>
          <a:p>
            <a:pPr lvl="0"/>
            <a:r>
              <a:rPr lang="en-GB" noProof="0"/>
              <a:t>Text</a:t>
            </a:r>
          </a:p>
        </p:txBody>
      </p:sp>
      <p:pic>
        <p:nvPicPr>
          <p:cNvPr id="5" name="Image 5">
            <a:extLst>
              <a:ext uri="{FF2B5EF4-FFF2-40B4-BE49-F238E27FC236}">
                <a16:creationId xmlns:a16="http://schemas.microsoft.com/office/drawing/2014/main" id="{91C01C6B-AFA9-4E83-E39B-4B28EDC8DB42}"/>
              </a:ext>
            </a:extLst>
          </p:cNvPr>
          <p:cNvPicPr>
            <a:picLocks noChangeAspect="1"/>
          </p:cNvPicPr>
          <p:nvPr userDrawn="1"/>
        </p:nvPicPr>
        <p:blipFill>
          <a:blip r:embed="rId3"/>
          <a:stretch>
            <a:fillRect/>
          </a:stretch>
        </p:blipFill>
        <p:spPr>
          <a:xfrm>
            <a:off x="202295" y="201600"/>
            <a:ext cx="514292" cy="506729"/>
          </a:xfrm>
          <a:prstGeom prst="rect">
            <a:avLst/>
          </a:prstGeom>
        </p:spPr>
      </p:pic>
      <p:sp>
        <p:nvSpPr>
          <p:cNvPr id="2" name="Title 1">
            <a:extLst>
              <a:ext uri="{FF2B5EF4-FFF2-40B4-BE49-F238E27FC236}">
                <a16:creationId xmlns:a16="http://schemas.microsoft.com/office/drawing/2014/main" id="{421329B1-5601-90DB-DAC1-279A701A2E3A}"/>
              </a:ext>
            </a:extLst>
          </p:cNvPr>
          <p:cNvSpPr>
            <a:spLocks noGrp="1"/>
          </p:cNvSpPr>
          <p:nvPr>
            <p:ph type="title" hasCustomPrompt="1"/>
          </p:nvPr>
        </p:nvSpPr>
        <p:spPr/>
        <p:txBody>
          <a:bodyPr/>
          <a:lstStyle/>
          <a:p>
            <a:r>
              <a:rPr lang="en-GB" dirty="0"/>
              <a:t>Title</a:t>
            </a:r>
            <a:endParaRPr lang="en-US" dirty="0"/>
          </a:p>
        </p:txBody>
      </p:sp>
    </p:spTree>
    <p:extLst>
      <p:ext uri="{BB962C8B-B14F-4D97-AF65-F5344CB8AC3E}">
        <p14:creationId xmlns:p14="http://schemas.microsoft.com/office/powerpoint/2010/main" val="3972882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94396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6471EAE6-704C-C3B2-B0BC-CFA343DD3333}"/>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0" y="0"/>
            <a:ext cx="12192000" cy="4876800"/>
          </a:xfrm>
          <a:prstGeom prst="rect">
            <a:avLst/>
          </a:prstGeom>
        </p:spPr>
      </p:pic>
      <p:sp>
        <p:nvSpPr>
          <p:cNvPr id="7" name="Rectangle 6">
            <a:extLst>
              <a:ext uri="{FF2B5EF4-FFF2-40B4-BE49-F238E27FC236}">
                <a16:creationId xmlns:a16="http://schemas.microsoft.com/office/drawing/2014/main" id="{D384EE32-F3B8-6076-4095-E8334D9BA78C}"/>
              </a:ext>
            </a:extLst>
          </p:cNvPr>
          <p:cNvSpPr/>
          <p:nvPr userDrawn="1"/>
        </p:nvSpPr>
        <p:spPr>
          <a:xfrm>
            <a:off x="0" y="5284640"/>
            <a:ext cx="12192000" cy="16238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5"/>
              </a:solidFill>
            </a:endParaRPr>
          </a:p>
        </p:txBody>
      </p:sp>
      <p:pic>
        <p:nvPicPr>
          <p:cNvPr id="5" name="Image 4">
            <a:extLst>
              <a:ext uri="{FF2B5EF4-FFF2-40B4-BE49-F238E27FC236}">
                <a16:creationId xmlns:a16="http://schemas.microsoft.com/office/drawing/2014/main" id="{D6062E67-AA0B-A006-FEB6-F218A58AAE9E}"/>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912"/>
          <a:stretch/>
        </p:blipFill>
        <p:spPr>
          <a:xfrm>
            <a:off x="11137315" y="6034572"/>
            <a:ext cx="927686" cy="711200"/>
          </a:xfrm>
          <a:prstGeom prst="rect">
            <a:avLst/>
          </a:prstGeom>
        </p:spPr>
      </p:pic>
      <p:sp>
        <p:nvSpPr>
          <p:cNvPr id="6" name="Rectangle 5">
            <a:extLst>
              <a:ext uri="{FF2B5EF4-FFF2-40B4-BE49-F238E27FC236}">
                <a16:creationId xmlns:a16="http://schemas.microsoft.com/office/drawing/2014/main" id="{58B5F9D4-7747-ADCB-E6C1-49ADA04EA204}"/>
              </a:ext>
            </a:extLst>
          </p:cNvPr>
          <p:cNvSpPr/>
          <p:nvPr userDrawn="1"/>
        </p:nvSpPr>
        <p:spPr>
          <a:xfrm>
            <a:off x="2690526" y="4878538"/>
            <a:ext cx="430924" cy="3556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fr-FR"/>
          </a:p>
        </p:txBody>
      </p:sp>
      <p:sp>
        <p:nvSpPr>
          <p:cNvPr id="2" name="Titre 1">
            <a:extLst>
              <a:ext uri="{FF2B5EF4-FFF2-40B4-BE49-F238E27FC236}">
                <a16:creationId xmlns:a16="http://schemas.microsoft.com/office/drawing/2014/main" id="{55DDB00A-3875-C6F7-B196-88BE08F200D3}"/>
              </a:ext>
            </a:extLst>
          </p:cNvPr>
          <p:cNvSpPr>
            <a:spLocks noGrp="1"/>
          </p:cNvSpPr>
          <p:nvPr>
            <p:ph type="ctrTitle" hasCustomPrompt="1"/>
          </p:nvPr>
        </p:nvSpPr>
        <p:spPr>
          <a:xfrm>
            <a:off x="1524000" y="5537693"/>
            <a:ext cx="9144000" cy="558871"/>
          </a:xfrm>
        </p:spPr>
        <p:txBody>
          <a:bodyPr anchor="ctr">
            <a:noAutofit/>
          </a:bodyPr>
          <a:lstStyle>
            <a:lvl1pPr algn="ctr">
              <a:defRPr sz="3200" b="1" i="0">
                <a:latin typeface="+mj-lt"/>
                <a:ea typeface="Verdana" panose="020B0604030504040204" pitchFamily="34" charset="0"/>
                <a:cs typeface="Verdana" panose="020B0604030504040204" pitchFamily="34" charset="0"/>
              </a:defRPr>
            </a:lvl1pPr>
          </a:lstStyle>
          <a:p>
            <a:r>
              <a:rPr lang="en-GB" noProof="0" dirty="0"/>
              <a:t>Text</a:t>
            </a:r>
          </a:p>
        </p:txBody>
      </p:sp>
      <p:sp>
        <p:nvSpPr>
          <p:cNvPr id="3" name="Sous-titre 2">
            <a:extLst>
              <a:ext uri="{FF2B5EF4-FFF2-40B4-BE49-F238E27FC236}">
                <a16:creationId xmlns:a16="http://schemas.microsoft.com/office/drawing/2014/main" id="{11115183-FACE-268A-57F0-F265985C2F27}"/>
              </a:ext>
            </a:extLst>
          </p:cNvPr>
          <p:cNvSpPr>
            <a:spLocks noGrp="1"/>
          </p:cNvSpPr>
          <p:nvPr>
            <p:ph type="subTitle" idx="1" hasCustomPrompt="1"/>
          </p:nvPr>
        </p:nvSpPr>
        <p:spPr>
          <a:xfrm>
            <a:off x="1524000" y="6098544"/>
            <a:ext cx="9144000" cy="291818"/>
          </a:xfrm>
          <a:prstGeom prst="rect">
            <a:avLst/>
          </a:prstGeom>
        </p:spPr>
        <p:txBody>
          <a:bodyPr>
            <a:noAutofit/>
          </a:bodyPr>
          <a:lstStyle>
            <a:lvl1pPr marL="0" indent="0" algn="ctr">
              <a:buNone/>
              <a:defRPr sz="1400" b="0" i="0" spc="300">
                <a:latin typeface="+mn-lt"/>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Sub-title</a:t>
            </a:r>
          </a:p>
        </p:txBody>
      </p:sp>
      <p:pic>
        <p:nvPicPr>
          <p:cNvPr id="13" name="Picture 12" descr="A logo with orange and grey letters&#10;&#10;Description automatically generated">
            <a:extLst>
              <a:ext uri="{FF2B5EF4-FFF2-40B4-BE49-F238E27FC236}">
                <a16:creationId xmlns:a16="http://schemas.microsoft.com/office/drawing/2014/main" id="{7929F3CA-82E7-6DD2-D615-F777D5A06B78}"/>
              </a:ext>
            </a:extLst>
          </p:cNvPr>
          <p:cNvPicPr>
            <a:picLocks noChangeAspect="1"/>
          </p:cNvPicPr>
          <p:nvPr userDrawn="1"/>
        </p:nvPicPr>
        <p:blipFill>
          <a:blip r:embed="rId4"/>
          <a:stretch>
            <a:fillRect/>
          </a:stretch>
        </p:blipFill>
        <p:spPr>
          <a:xfrm>
            <a:off x="152399" y="6099221"/>
            <a:ext cx="1291994" cy="621151"/>
          </a:xfrm>
          <a:prstGeom prst="rect">
            <a:avLst/>
          </a:prstGeom>
        </p:spPr>
      </p:pic>
    </p:spTree>
    <p:extLst>
      <p:ext uri="{BB962C8B-B14F-4D97-AF65-F5344CB8AC3E}">
        <p14:creationId xmlns:p14="http://schemas.microsoft.com/office/powerpoint/2010/main" val="2633583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p:cNvSpPr/>
          <p:nvPr userDrawn="1"/>
        </p:nvSpPr>
        <p:spPr>
          <a:xfrm>
            <a:off x="381581" y="139604"/>
            <a:ext cx="8348263" cy="739897"/>
          </a:xfrm>
          <a:prstGeom prst="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800"/>
          </a:p>
        </p:txBody>
      </p:sp>
    </p:spTree>
    <p:extLst>
      <p:ext uri="{BB962C8B-B14F-4D97-AF65-F5344CB8AC3E}">
        <p14:creationId xmlns:p14="http://schemas.microsoft.com/office/powerpoint/2010/main" val="37435883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54882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o bullet">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24674" y="1010137"/>
            <a:ext cx="11142653" cy="4993491"/>
          </a:xfrm>
          <a:prstGeom prst="rect">
            <a:avLst/>
          </a:prstGeom>
        </p:spPr>
        <p:txBody>
          <a:bodyPr lIns="0" tIns="0" rIns="0" bIns="0"/>
          <a:lstStyle>
            <a:lvl1pPr marL="0" indent="0">
              <a:buClr>
                <a:schemeClr val="tx1">
                  <a:lumMod val="85000"/>
                  <a:lumOff val="15000"/>
                </a:schemeClr>
              </a:buClr>
              <a:buFont typeface="Arial" pitchFamily="34" charset="0"/>
              <a:buNone/>
              <a:defRPr sz="2400">
                <a:solidFill>
                  <a:schemeClr val="tx1">
                    <a:lumMod val="85000"/>
                    <a:lumOff val="15000"/>
                  </a:schemeClr>
                </a:solidFill>
                <a:latin typeface="+mn-lt"/>
                <a:cs typeface="Arial" pitchFamily="34" charset="0"/>
              </a:defRPr>
            </a:lvl1pPr>
            <a:lvl2pPr marL="266700" indent="0">
              <a:buClr>
                <a:schemeClr val="tx1">
                  <a:lumMod val="85000"/>
                  <a:lumOff val="15000"/>
                </a:schemeClr>
              </a:buClr>
              <a:buFont typeface="Arial" pitchFamily="34" charset="0"/>
              <a:buNone/>
              <a:defRPr sz="2000" i="0">
                <a:solidFill>
                  <a:schemeClr val="tx1">
                    <a:lumMod val="85000"/>
                    <a:lumOff val="15000"/>
                  </a:schemeClr>
                </a:solidFill>
                <a:latin typeface="+mn-lt"/>
                <a:cs typeface="Arial" pitchFamily="34" charset="0"/>
              </a:defRPr>
            </a:lvl2pPr>
            <a:lvl3pPr marL="449263" indent="0">
              <a:buClr>
                <a:schemeClr val="tx1">
                  <a:lumMod val="85000"/>
                  <a:lumOff val="15000"/>
                </a:schemeClr>
              </a:buClr>
              <a:buNone/>
              <a:defRPr sz="1800" i="0">
                <a:solidFill>
                  <a:schemeClr val="tx1">
                    <a:lumMod val="85000"/>
                    <a:lumOff val="15000"/>
                  </a:schemeClr>
                </a:solidFill>
                <a:latin typeface="+mn-lt"/>
                <a:cs typeface="Arial" pitchFamily="34" charset="0"/>
              </a:defRPr>
            </a:lvl3pPr>
            <a:lvl4pPr marL="623887" indent="0">
              <a:buClr>
                <a:schemeClr val="tx1">
                  <a:lumMod val="85000"/>
                  <a:lumOff val="15000"/>
                </a:schemeClr>
              </a:buClr>
              <a:buFont typeface="Arial" pitchFamily="34" charset="0"/>
              <a:buNone/>
              <a:defRPr sz="1600" i="1">
                <a:solidFill>
                  <a:schemeClr val="tx1">
                    <a:lumMod val="85000"/>
                    <a:lumOff val="15000"/>
                  </a:schemeClr>
                </a:solidFill>
                <a:latin typeface="+mn-lt"/>
                <a:cs typeface="Arial" pitchFamily="34" charset="0"/>
              </a:defRPr>
            </a:lvl4pPr>
            <a:lvl5pPr marL="1346200" indent="-274638">
              <a:defRPr sz="1200" i="1">
                <a:latin typeface="Arial" pitchFamily="34" charset="0"/>
                <a:cs typeface="Arial" pitchFamily="34" charset="0"/>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4" name="Titre 1"/>
          <p:cNvSpPr>
            <a:spLocks noGrp="1"/>
          </p:cNvSpPr>
          <p:nvPr>
            <p:ph type="ctrTitle"/>
          </p:nvPr>
        </p:nvSpPr>
        <p:spPr>
          <a:xfrm>
            <a:off x="344668" y="344402"/>
            <a:ext cx="10572291" cy="387798"/>
          </a:xfrm>
          <a:prstGeom prst="rect">
            <a:avLst/>
          </a:prstGeom>
        </p:spPr>
        <p:txBody>
          <a:bodyPr wrap="square" lIns="144000" tIns="0" rIns="0" bIns="0" anchor="b" anchorCtr="0">
            <a:spAutoFit/>
          </a:bodyPr>
          <a:lstStyle>
            <a:lvl1pPr algn="l" defTabSz="914400" rtl="0" eaLnBrk="1" latinLnBrk="0" hangingPunct="1">
              <a:lnSpc>
                <a:spcPct val="90000"/>
              </a:lnSpc>
              <a:spcBef>
                <a:spcPct val="0"/>
              </a:spcBef>
              <a:buNone/>
              <a:defRPr lang="fr-FR" sz="2800" b="0" kern="1200" dirty="0">
                <a:solidFill>
                  <a:schemeClr val="accent1"/>
                </a:solidFill>
                <a:effectLst>
                  <a:outerShdw blurRad="50800" dist="38100" dir="2700000" algn="tl" rotWithShape="0">
                    <a:prstClr val="black">
                      <a:alpha val="40000"/>
                    </a:prstClr>
                  </a:outerShdw>
                </a:effectLst>
                <a:latin typeface="+mj-lt"/>
                <a:ea typeface="+mj-ea"/>
                <a:cs typeface="Arial" pitchFamily="34" charset="0"/>
              </a:defRPr>
            </a:lvl1pPr>
          </a:lstStyle>
          <a:p>
            <a:r>
              <a:rPr lang="fr-FR" dirty="0"/>
              <a:t>Modifiez le style du titre</a:t>
            </a:r>
          </a:p>
        </p:txBody>
      </p:sp>
    </p:spTree>
    <p:extLst>
      <p:ext uri="{BB962C8B-B14F-4D97-AF65-F5344CB8AC3E}">
        <p14:creationId xmlns:p14="http://schemas.microsoft.com/office/powerpoint/2010/main" val="7155398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ullet">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524674" y="1010137"/>
            <a:ext cx="11142653" cy="4993491"/>
          </a:xfrm>
          <a:prstGeom prst="rect">
            <a:avLst/>
          </a:prstGeom>
        </p:spPr>
        <p:txBody>
          <a:bodyPr lIns="0" tIns="0" rIns="0" bIns="0"/>
          <a:lstStyle>
            <a:lvl1pPr marL="266700" indent="-266700">
              <a:buClr>
                <a:schemeClr val="tx1">
                  <a:lumMod val="85000"/>
                  <a:lumOff val="15000"/>
                </a:schemeClr>
              </a:buClr>
              <a:buFont typeface="Arial" pitchFamily="34" charset="0"/>
              <a:buChar char="•"/>
              <a:defRPr sz="2400">
                <a:solidFill>
                  <a:schemeClr val="tx1">
                    <a:lumMod val="85000"/>
                    <a:lumOff val="15000"/>
                  </a:schemeClr>
                </a:solidFill>
                <a:latin typeface="+mn-lt"/>
                <a:cs typeface="Arial" pitchFamily="34" charset="0"/>
              </a:defRPr>
            </a:lvl1pPr>
            <a:lvl2pPr marL="449263" indent="-182563">
              <a:buClr>
                <a:schemeClr val="tx1">
                  <a:lumMod val="85000"/>
                  <a:lumOff val="15000"/>
                </a:schemeClr>
              </a:buClr>
              <a:buFont typeface="Arial" pitchFamily="34" charset="0"/>
              <a:buChar char="•"/>
              <a:defRPr sz="2000" i="0">
                <a:solidFill>
                  <a:schemeClr val="tx1">
                    <a:lumMod val="85000"/>
                    <a:lumOff val="15000"/>
                  </a:schemeClr>
                </a:solidFill>
                <a:latin typeface="+mn-lt"/>
                <a:cs typeface="Arial" pitchFamily="34" charset="0"/>
              </a:defRPr>
            </a:lvl2pPr>
            <a:lvl3pPr marL="623888" indent="-174625">
              <a:buClr>
                <a:schemeClr val="tx1">
                  <a:lumMod val="85000"/>
                  <a:lumOff val="15000"/>
                </a:schemeClr>
              </a:buClr>
              <a:defRPr sz="1800" i="0">
                <a:solidFill>
                  <a:schemeClr val="tx1">
                    <a:lumMod val="85000"/>
                    <a:lumOff val="15000"/>
                  </a:schemeClr>
                </a:solidFill>
                <a:latin typeface="+mn-lt"/>
                <a:cs typeface="Arial" pitchFamily="34" charset="0"/>
              </a:defRPr>
            </a:lvl3pPr>
            <a:lvl4pPr marL="806450" indent="-182563">
              <a:buClr>
                <a:schemeClr val="tx1">
                  <a:lumMod val="85000"/>
                  <a:lumOff val="15000"/>
                </a:schemeClr>
              </a:buClr>
              <a:buFont typeface="Arial" pitchFamily="34" charset="0"/>
              <a:buChar char="-"/>
              <a:defRPr sz="1600" i="1">
                <a:solidFill>
                  <a:schemeClr val="tx1">
                    <a:lumMod val="85000"/>
                    <a:lumOff val="15000"/>
                  </a:schemeClr>
                </a:solidFill>
                <a:latin typeface="+mn-lt"/>
                <a:cs typeface="Arial" pitchFamily="34" charset="0"/>
              </a:defRPr>
            </a:lvl4pPr>
            <a:lvl5pPr marL="1346200" indent="-274638">
              <a:defRPr sz="1200" i="1">
                <a:latin typeface="Arial" pitchFamily="34" charset="0"/>
                <a:cs typeface="Arial" pitchFamily="34" charset="0"/>
              </a:defRPr>
            </a:lvl5p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5" name="Titre 1"/>
          <p:cNvSpPr>
            <a:spLocks noGrp="1"/>
          </p:cNvSpPr>
          <p:nvPr>
            <p:ph type="ctrTitle"/>
          </p:nvPr>
        </p:nvSpPr>
        <p:spPr>
          <a:xfrm>
            <a:off x="344668" y="344402"/>
            <a:ext cx="10590904" cy="387798"/>
          </a:xfrm>
          <a:prstGeom prst="rect">
            <a:avLst/>
          </a:prstGeom>
        </p:spPr>
        <p:txBody>
          <a:bodyPr wrap="square" lIns="144000" tIns="0" rIns="0" bIns="0" anchor="b" anchorCtr="0">
            <a:spAutoFit/>
          </a:bodyPr>
          <a:lstStyle>
            <a:lvl1pPr algn="l" defTabSz="914400" rtl="0" eaLnBrk="1" latinLnBrk="0" hangingPunct="1">
              <a:lnSpc>
                <a:spcPct val="90000"/>
              </a:lnSpc>
              <a:spcBef>
                <a:spcPct val="0"/>
              </a:spcBef>
              <a:buNone/>
              <a:defRPr lang="fr-FR" sz="2800" b="0" kern="1200" dirty="0">
                <a:solidFill>
                  <a:schemeClr val="accent1"/>
                </a:solidFill>
                <a:effectLst>
                  <a:outerShdw blurRad="50800" dist="38100" dir="2700000" algn="tl" rotWithShape="0">
                    <a:prstClr val="black">
                      <a:alpha val="40000"/>
                    </a:prstClr>
                  </a:outerShdw>
                </a:effectLst>
                <a:latin typeface="+mj-lt"/>
                <a:ea typeface="+mj-ea"/>
                <a:cs typeface="Arial" pitchFamily="34" charset="0"/>
              </a:defRPr>
            </a:lvl1pPr>
          </a:lstStyle>
          <a:p>
            <a:r>
              <a:rPr lang="fr-FR" dirty="0"/>
              <a:t>Modifiez le style du titre</a:t>
            </a:r>
          </a:p>
        </p:txBody>
      </p:sp>
    </p:spTree>
    <p:extLst>
      <p:ext uri="{BB962C8B-B14F-4D97-AF65-F5344CB8AC3E}">
        <p14:creationId xmlns:p14="http://schemas.microsoft.com/office/powerpoint/2010/main" val="33396503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ub-sectio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6000" y="2204864"/>
            <a:ext cx="10800000" cy="3240360"/>
          </a:xfrm>
        </p:spPr>
        <p:txBody>
          <a:bodyPr>
            <a:normAutofit/>
          </a:bodyPr>
          <a:lstStyle>
            <a:lvl1pPr algn="ctr">
              <a:defRPr sz="3600"/>
            </a:lvl1pPr>
          </a:lstStyle>
          <a:p>
            <a:r>
              <a:rPr lang="en-GB" noProof="0" dirty="0"/>
              <a:t>Sub-section title</a:t>
            </a:r>
          </a:p>
        </p:txBody>
      </p:sp>
      <p:pic>
        <p:nvPicPr>
          <p:cNvPr id="3" name="Espace réservé pour une image  17" descr="profile-cover-2017.jpg"/>
          <p:cNvPicPr>
            <a:picLocks noChangeAspect="1"/>
          </p:cNvPicPr>
          <p:nvPr userDrawn="1"/>
        </p:nvPicPr>
        <p:blipFill>
          <a:blip r:embed="rId2"/>
          <a:srcRect l="1464" r="1464" b="78647"/>
          <a:stretch>
            <a:fillRect/>
          </a:stretch>
        </p:blipFill>
        <p:spPr>
          <a:xfrm>
            <a:off x="0" y="975601"/>
            <a:ext cx="12192000" cy="839665"/>
          </a:xfrm>
          <a:prstGeom prst="rect">
            <a:avLst/>
          </a:prstGeom>
        </p:spPr>
      </p:pic>
      <p:cxnSp>
        <p:nvCxnSpPr>
          <p:cNvPr id="4" name="Connecteur droit 9"/>
          <p:cNvCxnSpPr/>
          <p:nvPr userDrawn="1"/>
        </p:nvCxnSpPr>
        <p:spPr>
          <a:xfrm>
            <a:off x="0" y="975600"/>
            <a:ext cx="12192000" cy="1588"/>
          </a:xfrm>
          <a:prstGeom prst="line">
            <a:avLst/>
          </a:prstGeom>
          <a:ln w="19050">
            <a:solidFill>
              <a:srgbClr val="E30613"/>
            </a:solidFill>
          </a:ln>
        </p:spPr>
        <p:style>
          <a:lnRef idx="1">
            <a:schemeClr val="accent6"/>
          </a:lnRef>
          <a:fillRef idx="0">
            <a:schemeClr val="accent6"/>
          </a:fillRef>
          <a:effectRef idx="0">
            <a:schemeClr val="accent6"/>
          </a:effectRef>
          <a:fontRef idx="minor">
            <a:schemeClr val="tx1"/>
          </a:fontRef>
        </p:style>
      </p:cxnSp>
      <p:cxnSp>
        <p:nvCxnSpPr>
          <p:cNvPr id="5" name="Connecteur droit 10"/>
          <p:cNvCxnSpPr/>
          <p:nvPr userDrawn="1"/>
        </p:nvCxnSpPr>
        <p:spPr>
          <a:xfrm>
            <a:off x="0" y="1818000"/>
            <a:ext cx="12192000" cy="1588"/>
          </a:xfrm>
          <a:prstGeom prst="line">
            <a:avLst/>
          </a:prstGeom>
          <a:ln w="19050">
            <a:solidFill>
              <a:srgbClr val="E30613"/>
            </a:solidFill>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74929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Overview 1">
    <p:spTree>
      <p:nvGrpSpPr>
        <p:cNvPr id="1" name=""/>
        <p:cNvGrpSpPr/>
        <p:nvPr/>
      </p:nvGrpSpPr>
      <p:grpSpPr>
        <a:xfrm>
          <a:off x="0" y="0"/>
          <a:ext cx="0" cy="0"/>
          <a:chOff x="0" y="0"/>
          <a:chExt cx="0" cy="0"/>
        </a:xfrm>
      </p:grpSpPr>
      <p:pic>
        <p:nvPicPr>
          <p:cNvPr id="8" name="Espace réservé pour une image  17" descr="profile-cover-2017.jpg"/>
          <p:cNvPicPr>
            <a:picLocks noChangeAspect="1"/>
          </p:cNvPicPr>
          <p:nvPr userDrawn="1"/>
        </p:nvPicPr>
        <p:blipFill>
          <a:blip r:embed="rId2"/>
          <a:srcRect l="1464" r="1464" b="78647"/>
          <a:stretch>
            <a:fillRect/>
          </a:stretch>
        </p:blipFill>
        <p:spPr>
          <a:xfrm>
            <a:off x="0" y="975601"/>
            <a:ext cx="12192000" cy="839665"/>
          </a:xfrm>
          <a:prstGeom prst="rect">
            <a:avLst/>
          </a:prstGeom>
        </p:spPr>
      </p:pic>
      <p:sp>
        <p:nvSpPr>
          <p:cNvPr id="13" name="Espace réservé du texte 12"/>
          <p:cNvSpPr>
            <a:spLocks noGrp="1"/>
          </p:cNvSpPr>
          <p:nvPr>
            <p:ph type="body" sz="quarter" idx="10" hasCustomPrompt="1"/>
          </p:nvPr>
        </p:nvSpPr>
        <p:spPr>
          <a:xfrm>
            <a:off x="3504000" y="2988000"/>
            <a:ext cx="7680000" cy="720000"/>
          </a:xfrm>
        </p:spPr>
        <p:txBody>
          <a:bodyPr anchor="ctr" anchorCtr="0"/>
          <a:lstStyle>
            <a:lvl1pPr>
              <a:defRPr sz="2000" b="1">
                <a:solidFill>
                  <a:srgbClr val="575757"/>
                </a:solidFill>
              </a:defRPr>
            </a:lvl1pPr>
          </a:lstStyle>
          <a:p>
            <a:pPr lvl="0"/>
            <a:r>
              <a:rPr lang="en-US" noProof="0" dirty="0"/>
              <a:t>Section title</a:t>
            </a:r>
          </a:p>
        </p:txBody>
      </p:sp>
      <p:sp>
        <p:nvSpPr>
          <p:cNvPr id="14" name="Espace réservé du texte 12"/>
          <p:cNvSpPr>
            <a:spLocks noGrp="1"/>
          </p:cNvSpPr>
          <p:nvPr>
            <p:ph type="body" sz="quarter" idx="11" hasCustomPrompt="1"/>
          </p:nvPr>
        </p:nvSpPr>
        <p:spPr>
          <a:xfrm>
            <a:off x="3504000" y="3888000"/>
            <a:ext cx="7680000" cy="720000"/>
          </a:xfrm>
        </p:spPr>
        <p:txBody>
          <a:bodyPr anchor="ctr" anchorCtr="0"/>
          <a:lstStyle>
            <a:lvl1pPr>
              <a:defRPr sz="2000" b="1">
                <a:solidFill>
                  <a:srgbClr val="575757"/>
                </a:solidFill>
              </a:defRPr>
            </a:lvl1pPr>
          </a:lstStyle>
          <a:p>
            <a:pPr lvl="0"/>
            <a:r>
              <a:rPr lang="en-US" noProof="0" dirty="0"/>
              <a:t>Section title</a:t>
            </a:r>
          </a:p>
        </p:txBody>
      </p:sp>
      <p:sp>
        <p:nvSpPr>
          <p:cNvPr id="15" name="Espace réservé du texte 12"/>
          <p:cNvSpPr>
            <a:spLocks noGrp="1"/>
          </p:cNvSpPr>
          <p:nvPr>
            <p:ph type="body" sz="quarter" idx="12" hasCustomPrompt="1"/>
          </p:nvPr>
        </p:nvSpPr>
        <p:spPr>
          <a:xfrm>
            <a:off x="3504000" y="4786322"/>
            <a:ext cx="7680000" cy="720000"/>
          </a:xfrm>
        </p:spPr>
        <p:txBody>
          <a:bodyPr anchor="ctr" anchorCtr="0"/>
          <a:lstStyle>
            <a:lvl1pPr>
              <a:defRPr sz="2000" b="1">
                <a:solidFill>
                  <a:srgbClr val="575757"/>
                </a:solidFill>
              </a:defRPr>
            </a:lvl1pPr>
          </a:lstStyle>
          <a:p>
            <a:pPr lvl="0"/>
            <a:r>
              <a:rPr lang="en-US" noProof="0"/>
              <a:t>Section title</a:t>
            </a:r>
          </a:p>
        </p:txBody>
      </p:sp>
      <p:sp>
        <p:nvSpPr>
          <p:cNvPr id="16" name="Espace réservé du texte 12"/>
          <p:cNvSpPr>
            <a:spLocks noGrp="1"/>
          </p:cNvSpPr>
          <p:nvPr>
            <p:ph type="body" sz="quarter" idx="13" hasCustomPrompt="1"/>
          </p:nvPr>
        </p:nvSpPr>
        <p:spPr>
          <a:xfrm>
            <a:off x="3504000" y="5688000"/>
            <a:ext cx="7680000" cy="720000"/>
          </a:xfrm>
        </p:spPr>
        <p:txBody>
          <a:bodyPr anchor="ctr" anchorCtr="0"/>
          <a:lstStyle>
            <a:lvl1pPr>
              <a:defRPr sz="2000" b="1">
                <a:solidFill>
                  <a:srgbClr val="575757"/>
                </a:solidFill>
              </a:defRPr>
            </a:lvl1pPr>
          </a:lstStyle>
          <a:p>
            <a:pPr lvl="0"/>
            <a:r>
              <a:rPr lang="en-US" noProof="0"/>
              <a:t>Section title</a:t>
            </a:r>
          </a:p>
        </p:txBody>
      </p:sp>
      <p:sp>
        <p:nvSpPr>
          <p:cNvPr id="17" name="Espace réservé du texte 12"/>
          <p:cNvSpPr>
            <a:spLocks noGrp="1"/>
          </p:cNvSpPr>
          <p:nvPr>
            <p:ph type="body" sz="quarter" idx="14" hasCustomPrompt="1"/>
          </p:nvPr>
        </p:nvSpPr>
        <p:spPr>
          <a:xfrm>
            <a:off x="3504000" y="2088000"/>
            <a:ext cx="7680000" cy="720000"/>
          </a:xfrm>
        </p:spPr>
        <p:txBody>
          <a:bodyPr anchor="ctr" anchorCtr="0"/>
          <a:lstStyle>
            <a:lvl1pPr>
              <a:defRPr sz="2000" b="1">
                <a:solidFill>
                  <a:srgbClr val="E30613"/>
                </a:solidFill>
              </a:defRPr>
            </a:lvl1pPr>
          </a:lstStyle>
          <a:p>
            <a:pPr lvl="0"/>
            <a:r>
              <a:rPr lang="en-US" noProof="0" dirty="0"/>
              <a:t>Section title</a:t>
            </a:r>
          </a:p>
        </p:txBody>
      </p:sp>
      <p:cxnSp>
        <p:nvCxnSpPr>
          <p:cNvPr id="10" name="Connecteur droit 9"/>
          <p:cNvCxnSpPr/>
          <p:nvPr userDrawn="1"/>
        </p:nvCxnSpPr>
        <p:spPr>
          <a:xfrm>
            <a:off x="0" y="975600"/>
            <a:ext cx="12192000" cy="1588"/>
          </a:xfrm>
          <a:prstGeom prst="line">
            <a:avLst/>
          </a:prstGeom>
          <a:ln w="19050">
            <a:solidFill>
              <a:srgbClr val="E30613"/>
            </a:solidFill>
          </a:ln>
        </p:spPr>
        <p:style>
          <a:lnRef idx="1">
            <a:schemeClr val="accent6"/>
          </a:lnRef>
          <a:fillRef idx="0">
            <a:schemeClr val="accent6"/>
          </a:fillRef>
          <a:effectRef idx="0">
            <a:schemeClr val="accent6"/>
          </a:effectRef>
          <a:fontRef idx="minor">
            <a:schemeClr val="tx1"/>
          </a:fontRef>
        </p:style>
      </p:cxnSp>
      <p:cxnSp>
        <p:nvCxnSpPr>
          <p:cNvPr id="11" name="Connecteur droit 10"/>
          <p:cNvCxnSpPr/>
          <p:nvPr userDrawn="1"/>
        </p:nvCxnSpPr>
        <p:spPr>
          <a:xfrm>
            <a:off x="0" y="1818000"/>
            <a:ext cx="12192000" cy="1588"/>
          </a:xfrm>
          <a:prstGeom prst="line">
            <a:avLst/>
          </a:prstGeom>
          <a:ln w="19050">
            <a:solidFill>
              <a:srgbClr val="E30613"/>
            </a:solidFill>
          </a:ln>
        </p:spPr>
        <p:style>
          <a:lnRef idx="1">
            <a:schemeClr val="accent6"/>
          </a:lnRef>
          <a:fillRef idx="0">
            <a:schemeClr val="accent6"/>
          </a:fillRef>
          <a:effectRef idx="0">
            <a:schemeClr val="accent6"/>
          </a:effectRef>
          <a:fontRef idx="minor">
            <a:schemeClr val="tx1"/>
          </a:fontRef>
        </p:style>
      </p:cxnSp>
      <p:sp>
        <p:nvSpPr>
          <p:cNvPr id="12" name="Titre 1"/>
          <p:cNvSpPr>
            <a:spLocks noGrp="1"/>
          </p:cNvSpPr>
          <p:nvPr>
            <p:ph type="title" hasCustomPrompt="1"/>
          </p:nvPr>
        </p:nvSpPr>
        <p:spPr>
          <a:xfrm>
            <a:off x="672000" y="404665"/>
            <a:ext cx="10800000" cy="480251"/>
          </a:xfrm>
        </p:spPr>
        <p:txBody>
          <a:bodyPr/>
          <a:lstStyle>
            <a:lvl1pPr>
              <a:defRPr/>
            </a:lvl1pPr>
          </a:lstStyle>
          <a:p>
            <a:r>
              <a:rPr lang="en-GB" noProof="0" dirty="0"/>
              <a:t>Title</a:t>
            </a:r>
          </a:p>
        </p:txBody>
      </p:sp>
    </p:spTree>
    <p:extLst>
      <p:ext uri="{BB962C8B-B14F-4D97-AF65-F5344CB8AC3E}">
        <p14:creationId xmlns:p14="http://schemas.microsoft.com/office/powerpoint/2010/main" val="22308642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C0189C-F90C-FC9D-588A-92C73D24214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0183F02-58F9-48E4-679B-DF5B73BD409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1EE5082-9F65-8FB7-7B78-39659A719979}"/>
              </a:ext>
            </a:extLst>
          </p:cNvPr>
          <p:cNvSpPr>
            <a:spLocks noGrp="1"/>
          </p:cNvSpPr>
          <p:nvPr>
            <p:ph type="dt" sz="half" idx="10"/>
          </p:nvPr>
        </p:nvSpPr>
        <p:spPr/>
        <p:txBody>
          <a:bodyPr/>
          <a:lstStyle/>
          <a:p>
            <a:fld id="{B231BB13-F5C5-A74C-A49A-2F21646EAB77}" type="datetimeFigureOut">
              <a:rPr lang="fr-FR" smtClean="0"/>
              <a:t>02/10/2026</a:t>
            </a:fld>
            <a:endParaRPr lang="fr-FR"/>
          </a:p>
        </p:txBody>
      </p:sp>
      <p:sp>
        <p:nvSpPr>
          <p:cNvPr id="5" name="Espace réservé du pied de page 4">
            <a:extLst>
              <a:ext uri="{FF2B5EF4-FFF2-40B4-BE49-F238E27FC236}">
                <a16:creationId xmlns:a16="http://schemas.microsoft.com/office/drawing/2014/main" id="{D87DC5FF-89FC-A50C-684C-6D3C6B629F4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DCFC7F7-81DD-B912-E0A6-2D48C73B1BC6}"/>
              </a:ext>
            </a:extLst>
          </p:cNvPr>
          <p:cNvSpPr>
            <a:spLocks noGrp="1"/>
          </p:cNvSpPr>
          <p:nvPr>
            <p:ph type="sldNum" sz="quarter" idx="12"/>
          </p:nvPr>
        </p:nvSpPr>
        <p:spPr/>
        <p:txBody>
          <a:bodyPr/>
          <a:lstStyle/>
          <a:p>
            <a:fld id="{D6F05DD9-0C4D-984C-AEC1-E8972A0EFFE6}" type="slidenum">
              <a:rPr lang="fr-FR" smtClean="0"/>
              <a:t>‹N°›</a:t>
            </a:fld>
            <a:endParaRPr lang="fr-FR"/>
          </a:p>
        </p:txBody>
      </p:sp>
    </p:spTree>
    <p:extLst>
      <p:ext uri="{BB962C8B-B14F-4D97-AF65-F5344CB8AC3E}">
        <p14:creationId xmlns:p14="http://schemas.microsoft.com/office/powerpoint/2010/main" val="291973585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2.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u titre 1">
            <a:extLst>
              <a:ext uri="{FF2B5EF4-FFF2-40B4-BE49-F238E27FC236}">
                <a16:creationId xmlns:a16="http://schemas.microsoft.com/office/drawing/2014/main" id="{D52C7C54-A67B-7C6C-795D-7EEC864AB2D0}"/>
              </a:ext>
            </a:extLst>
          </p:cNvPr>
          <p:cNvSpPr>
            <a:spLocks noGrp="1"/>
          </p:cNvSpPr>
          <p:nvPr>
            <p:ph type="title"/>
          </p:nvPr>
        </p:nvSpPr>
        <p:spPr>
          <a:xfrm>
            <a:off x="838200" y="260594"/>
            <a:ext cx="10515600" cy="447735"/>
          </a:xfrm>
          <a:prstGeom prst="rect">
            <a:avLst/>
          </a:prstGeom>
        </p:spPr>
        <p:txBody>
          <a:bodyPr vert="horz" lIns="91440" tIns="0" rIns="91440" bIns="0" rtlCol="0" anchor="t">
            <a:noAutofit/>
          </a:bodyPr>
          <a:lstStyle/>
          <a:p>
            <a:r>
              <a:rPr lang="en-GB" noProof="0" dirty="0"/>
              <a:t>Title</a:t>
            </a:r>
          </a:p>
        </p:txBody>
      </p:sp>
      <p:sp>
        <p:nvSpPr>
          <p:cNvPr id="5" name="Text Placeholder 2">
            <a:extLst>
              <a:ext uri="{FF2B5EF4-FFF2-40B4-BE49-F238E27FC236}">
                <a16:creationId xmlns:a16="http://schemas.microsoft.com/office/drawing/2014/main" id="{DE1AC6A1-85F6-E8C4-97DE-B8C5FC3D59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marL="358775" lvl="1" indent="-358775" algn="l" defTabSz="914400" rtl="0" eaLnBrk="1" latinLnBrk="0" hangingPunct="1">
              <a:lnSpc>
                <a:spcPct val="90000"/>
              </a:lnSpc>
              <a:spcBef>
                <a:spcPts val="1000"/>
              </a:spcBef>
              <a:buSzPct val="70000"/>
              <a:buFontTx/>
              <a:buBlip>
                <a:blip r:embed="rId46"/>
              </a:buBlip>
              <a:tabLst/>
            </a:pPr>
            <a:r>
              <a:rPr lang="en-GB" dirty="0"/>
              <a:t>Second level</a:t>
            </a:r>
          </a:p>
          <a:p>
            <a:pPr marL="714375" lvl="2" indent="-357188" algn="l" defTabSz="914400" rtl="0" eaLnBrk="1" latinLnBrk="0" hangingPunct="1">
              <a:lnSpc>
                <a:spcPct val="90000"/>
              </a:lnSpc>
              <a:spcBef>
                <a:spcPts val="1000"/>
              </a:spcBef>
              <a:buSzPct val="70000"/>
              <a:buFontTx/>
              <a:buBlip>
                <a:blip r:embed="rId46"/>
              </a:buBlip>
              <a:tabLst/>
            </a:pPr>
            <a:r>
              <a:rPr lang="en-GB" dirty="0"/>
              <a:t>Third level</a:t>
            </a:r>
          </a:p>
        </p:txBody>
      </p:sp>
    </p:spTree>
    <p:extLst>
      <p:ext uri="{BB962C8B-B14F-4D97-AF65-F5344CB8AC3E}">
        <p14:creationId xmlns:p14="http://schemas.microsoft.com/office/powerpoint/2010/main" val="3716898283"/>
      </p:ext>
    </p:extLst>
  </p:cSld>
  <p:clrMap bg1="lt1" tx1="dk1" bg2="lt2" tx2="dk2" accent1="accent1" accent2="accent2" accent3="accent3" accent4="accent4" accent5="accent5" accent6="accent6" hlink="hlink" folHlink="folHlink"/>
  <p:sldLayoutIdLst>
    <p:sldLayoutId id="2147483686" r:id="rId1"/>
    <p:sldLayoutId id="2147483651" r:id="rId2"/>
    <p:sldLayoutId id="2147483704" r:id="rId3"/>
    <p:sldLayoutId id="2147483752" r:id="rId4"/>
    <p:sldLayoutId id="2147483705" r:id="rId5"/>
    <p:sldLayoutId id="2147483703" r:id="rId6"/>
    <p:sldLayoutId id="2147483685" r:id="rId7"/>
    <p:sldLayoutId id="2147483751" r:id="rId8"/>
    <p:sldLayoutId id="2147483652" r:id="rId9"/>
    <p:sldLayoutId id="2147483715" r:id="rId10"/>
    <p:sldLayoutId id="2147483717" r:id="rId11"/>
    <p:sldLayoutId id="2147483753" r:id="rId12"/>
    <p:sldLayoutId id="2147483722" r:id="rId13"/>
    <p:sldLayoutId id="2147483734" r:id="rId14"/>
    <p:sldLayoutId id="2147483739" r:id="rId15"/>
    <p:sldLayoutId id="2147483755" r:id="rId16"/>
    <p:sldLayoutId id="2147483754" r:id="rId17"/>
    <p:sldLayoutId id="2147483756" r:id="rId18"/>
    <p:sldLayoutId id="2147483757" r:id="rId19"/>
    <p:sldLayoutId id="2147483758" r:id="rId20"/>
    <p:sldLayoutId id="2147483728" r:id="rId21"/>
    <p:sldLayoutId id="2147483759" r:id="rId22"/>
    <p:sldLayoutId id="2147483729" r:id="rId23"/>
    <p:sldLayoutId id="2147483736" r:id="rId24"/>
    <p:sldLayoutId id="2147483741" r:id="rId25"/>
    <p:sldLayoutId id="2147483761" r:id="rId26"/>
    <p:sldLayoutId id="2147483760" r:id="rId27"/>
    <p:sldLayoutId id="2147483762" r:id="rId28"/>
    <p:sldLayoutId id="2147483763" r:id="rId29"/>
    <p:sldLayoutId id="2147483764" r:id="rId30"/>
    <p:sldLayoutId id="2147483732" r:id="rId31"/>
    <p:sldLayoutId id="2147483765" r:id="rId32"/>
    <p:sldLayoutId id="2147483733" r:id="rId33"/>
    <p:sldLayoutId id="2147483738" r:id="rId34"/>
    <p:sldLayoutId id="2147483743" r:id="rId35"/>
    <p:sldLayoutId id="214748365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Lst>
  <p:txStyles>
    <p:titleStyle>
      <a:lvl1pPr algn="l" defTabSz="914400" rtl="0" eaLnBrk="1" latinLnBrk="0" hangingPunct="1">
        <a:lnSpc>
          <a:spcPct val="80000"/>
        </a:lnSpc>
        <a:spcBef>
          <a:spcPct val="0"/>
        </a:spcBef>
        <a:buNone/>
        <a:defRPr sz="3600" b="0" i="0" kern="1200">
          <a:solidFill>
            <a:schemeClr val="tx1"/>
          </a:solidFill>
          <a:latin typeface="+mj-lt"/>
          <a:ea typeface="Verdana" panose="020B0604030504040204" pitchFamily="34" charset="0"/>
          <a:cs typeface="Gill Sans" panose="020B0502020104020203" pitchFamily="34" charset="-79"/>
        </a:defRPr>
      </a:lvl1pPr>
    </p:titleStyle>
    <p:body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47"/>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47"/>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sib-swiss/first-steps-with-R-training%E2%80%8B"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xml"/><Relationship Id="rId5" Type="http://schemas.openxmlformats.org/officeDocument/2006/relationships/image" Target="../media/image44.png"/><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www.rstudio.com" TargetMode="External"/><Relationship Id="rId1" Type="http://schemas.openxmlformats.org/officeDocument/2006/relationships/slideLayout" Target="../slideLayouts/slideLayout8.xml"/><Relationship Id="rId4" Type="http://schemas.openxmlformats.org/officeDocument/2006/relationships/image" Target="../media/image50.emf"/></Relationships>
</file>

<file path=ppt/slides/_rels/slide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sib-swiss/first-steps-with-R-training" TargetMode="External"/><Relationship Id="rId2" Type="http://schemas.openxmlformats.org/officeDocument/2006/relationships/image" Target="../media/image2.png"/><Relationship Id="rId1" Type="http://schemas.openxmlformats.org/officeDocument/2006/relationships/slideLayout" Target="../slideLayouts/slideLayout14.xml"/><Relationship Id="rId4" Type="http://schemas.openxmlformats.org/officeDocument/2006/relationships/image" Target="../media/image53.jpeg"/></Relationships>
</file>

<file path=ppt/slides/_rels/slide23.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8.xml"/><Relationship Id="rId5" Type="http://schemas.openxmlformats.org/officeDocument/2006/relationships/image" Target="../media/image58.jpeg"/><Relationship Id="rId4" Type="http://schemas.openxmlformats.org/officeDocument/2006/relationships/image" Target="../media/image57.png"/></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hyperlink" Target="http://cran.r-project.org" TargetMode="Externa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hyperlink" Target="https://stackoverflow.com/questions/tagged/r" TargetMode="Externa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hyperlink" Target="http://www.ucd.ie/ecomodel/pdf/TidyData.pdf" TargetMode="External"/><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60.jpeg"/><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hyperlink" Target="https://doi.org/10.1101/2025.07.10.663939" TargetMode="External"/><Relationship Id="rId1" Type="http://schemas.openxmlformats.org/officeDocument/2006/relationships/slideLayout" Target="../slideLayouts/slideLayout4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9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4.xml"/></Relationships>
</file>

<file path=ppt/slides/_rels/slide9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4.xml"/></Relationships>
</file>

<file path=ppt/slides/_rels/slide100.xml.rels><?xml version="1.0" encoding="UTF-8" standalone="yes"?>
<Relationships xmlns="http://schemas.openxmlformats.org/package/2006/relationships"><Relationship Id="rId2" Type="http://schemas.openxmlformats.org/officeDocument/2006/relationships/hyperlink" Target="https://doi.org/10.1002/cam4.71373" TargetMode="External"/><Relationship Id="rId1" Type="http://schemas.openxmlformats.org/officeDocument/2006/relationships/slideLayout" Target="../slideLayouts/slideLayout44.xml"/></Relationships>
</file>

<file path=ppt/slides/_rels/slide101.xml.rels><?xml version="1.0" encoding="UTF-8" standalone="yes"?>
<Relationships xmlns="http://schemas.openxmlformats.org/package/2006/relationships"><Relationship Id="rId2" Type="http://schemas.openxmlformats.org/officeDocument/2006/relationships/hyperlink" Target="https://doi.org/10.1002/cam4.71373" TargetMode="External"/><Relationship Id="rId1" Type="http://schemas.openxmlformats.org/officeDocument/2006/relationships/slideLayout" Target="../slideLayouts/slideLayout44.xml"/></Relationships>
</file>

<file path=ppt/slides/_rels/slide10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4.xml"/></Relationships>
</file>

<file path=ppt/slides/_rels/slide103.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67.png"/><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7.xml.rels><?xml version="1.0" encoding="UTF-8" standalone="yes"?>
<Relationships xmlns="http://schemas.openxmlformats.org/package/2006/relationships"><Relationship Id="rId2" Type="http://schemas.openxmlformats.org/officeDocument/2006/relationships/hyperlink" Target="https://web.stanford.edu/class/cs109l/unrestricted/resources/google-style.html"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C1575-BA47-27AF-7812-F767C893F577}"/>
              </a:ext>
            </a:extLst>
          </p:cNvPr>
          <p:cNvSpPr>
            <a:spLocks noGrp="1"/>
          </p:cNvSpPr>
          <p:nvPr>
            <p:ph type="title"/>
          </p:nvPr>
        </p:nvSpPr>
        <p:spPr/>
        <p:txBody>
          <a:bodyPr/>
          <a:lstStyle/>
          <a:p>
            <a:r>
              <a:rPr lang="en-GB" dirty="0">
                <a:ea typeface="Verdana"/>
                <a:cs typeface="Gill Sans"/>
              </a:rPr>
              <a:t>First Steps with R in Life Sciences: Introduction</a:t>
            </a:r>
            <a:endParaRPr lang="en-GB" dirty="0"/>
          </a:p>
        </p:txBody>
      </p:sp>
      <p:sp>
        <p:nvSpPr>
          <p:cNvPr id="5" name="Content Placeholder 4">
            <a:extLst>
              <a:ext uri="{FF2B5EF4-FFF2-40B4-BE49-F238E27FC236}">
                <a16:creationId xmlns:a16="http://schemas.microsoft.com/office/drawing/2014/main" id="{3D0A2170-98B9-D0B4-6CB7-41B92028DEBE}"/>
              </a:ext>
            </a:extLst>
          </p:cNvPr>
          <p:cNvSpPr>
            <a:spLocks noGrp="1"/>
          </p:cNvSpPr>
          <p:nvPr>
            <p:ph type="body" sz="quarter" idx="15"/>
          </p:nvPr>
        </p:nvSpPr>
        <p:spPr>
          <a:xfrm>
            <a:off x="410812" y="5066270"/>
            <a:ext cx="5010149" cy="568785"/>
          </a:xfrm>
        </p:spPr>
        <p:txBody>
          <a:bodyPr vert="horz" lIns="91440" tIns="45720" rIns="91440" bIns="45720" rtlCol="0" anchor="t">
            <a:noAutofit/>
          </a:bodyPr>
          <a:lstStyle/>
          <a:p>
            <a:r>
              <a:rPr lang="en-GB" dirty="0">
                <a:ea typeface="Tahoma"/>
                <a:cs typeface="Gill Sans Light"/>
              </a:rPr>
              <a:t>With slides from: </a:t>
            </a:r>
            <a:r>
              <a:rPr lang="en-GB" b="0" dirty="0">
                <a:ea typeface="+mn-lt"/>
                <a:cs typeface="+mn-lt"/>
              </a:rPr>
              <a:t>Diana Marek, Geoffrey Fucile, Alex Smith, Linda Dib, Leonore Wigger, Wandrille Duchemin</a:t>
            </a:r>
            <a:r>
              <a:rPr lang="en-GB" dirty="0">
                <a:ea typeface="Tahoma"/>
                <a:cs typeface="Gill Sans Light"/>
              </a:rPr>
              <a:t> </a:t>
            </a:r>
            <a:endParaRPr lang="en-GB" dirty="0"/>
          </a:p>
        </p:txBody>
      </p:sp>
      <p:pic>
        <p:nvPicPr>
          <p:cNvPr id="8" name="Picture 7" descr="A red line drawing of a person&#10;&#10;Description automatically generated">
            <a:extLst>
              <a:ext uri="{FF2B5EF4-FFF2-40B4-BE49-F238E27FC236}">
                <a16:creationId xmlns:a16="http://schemas.microsoft.com/office/drawing/2014/main" id="{22F25DA9-24E9-A4F5-6179-91D46B8FDBB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090767" y="4037439"/>
            <a:ext cx="994837" cy="927630"/>
          </a:xfrm>
          <a:prstGeom prst="rect">
            <a:avLst/>
          </a:prstGeom>
        </p:spPr>
      </p:pic>
    </p:spTree>
    <p:extLst>
      <p:ext uri="{BB962C8B-B14F-4D97-AF65-F5344CB8AC3E}">
        <p14:creationId xmlns:p14="http://schemas.microsoft.com/office/powerpoint/2010/main" val="3852797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000865-75F9-E715-2E79-331A67B28AC5}"/>
              </a:ext>
            </a:extLst>
          </p:cNvPr>
          <p:cNvSpPr>
            <a:spLocks noGrp="1"/>
          </p:cNvSpPr>
          <p:nvPr>
            <p:ph type="title"/>
          </p:nvPr>
        </p:nvSpPr>
        <p:spPr/>
        <p:txBody>
          <a:bodyPr/>
          <a:lstStyle/>
          <a:p>
            <a:r>
              <a:rPr lang="fr-FR" dirty="0"/>
              <a:t>ELIXIR Code of </a:t>
            </a:r>
            <a:r>
              <a:rPr lang="fr-FR" dirty="0" err="1"/>
              <a:t>conduct</a:t>
            </a:r>
            <a:endParaRPr lang="fr-FR" dirty="0"/>
          </a:p>
        </p:txBody>
      </p:sp>
      <p:pic>
        <p:nvPicPr>
          <p:cNvPr id="5" name="Image 4">
            <a:extLst>
              <a:ext uri="{FF2B5EF4-FFF2-40B4-BE49-F238E27FC236}">
                <a16:creationId xmlns:a16="http://schemas.microsoft.com/office/drawing/2014/main" id="{0A887C1C-CADD-C25D-5C46-8DA8D3FE8BA9}"/>
              </a:ext>
            </a:extLst>
          </p:cNvPr>
          <p:cNvPicPr>
            <a:picLocks noChangeAspect="1"/>
          </p:cNvPicPr>
          <p:nvPr/>
        </p:nvPicPr>
        <p:blipFill>
          <a:blip r:embed="rId3"/>
          <a:stretch>
            <a:fillRect/>
          </a:stretch>
        </p:blipFill>
        <p:spPr>
          <a:xfrm>
            <a:off x="8360228" y="1"/>
            <a:ext cx="3831771" cy="753676"/>
          </a:xfrm>
          <a:prstGeom prst="rect">
            <a:avLst/>
          </a:prstGeom>
        </p:spPr>
      </p:pic>
      <p:pic>
        <p:nvPicPr>
          <p:cNvPr id="7" name="Image 6">
            <a:extLst>
              <a:ext uri="{FF2B5EF4-FFF2-40B4-BE49-F238E27FC236}">
                <a16:creationId xmlns:a16="http://schemas.microsoft.com/office/drawing/2014/main" id="{4754DEBE-96B0-9B26-38D9-1DA22DC3F4C3}"/>
              </a:ext>
            </a:extLst>
          </p:cNvPr>
          <p:cNvPicPr>
            <a:picLocks noChangeAspect="1"/>
          </p:cNvPicPr>
          <p:nvPr/>
        </p:nvPicPr>
        <p:blipFill>
          <a:blip r:embed="rId4"/>
          <a:srcRect l="22937" t="13336" r="14957" b="15361"/>
          <a:stretch>
            <a:fillRect/>
          </a:stretch>
        </p:blipFill>
        <p:spPr>
          <a:xfrm>
            <a:off x="4099249" y="1884784"/>
            <a:ext cx="3993502" cy="3910304"/>
          </a:xfrm>
          <a:prstGeom prst="rect">
            <a:avLst/>
          </a:prstGeom>
        </p:spPr>
      </p:pic>
    </p:spTree>
    <p:extLst>
      <p:ext uri="{BB962C8B-B14F-4D97-AF65-F5344CB8AC3E}">
        <p14:creationId xmlns:p14="http://schemas.microsoft.com/office/powerpoint/2010/main" val="3487434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98B7F-3A2C-C90F-0510-E05F5944F329}"/>
              </a:ext>
            </a:extLst>
          </p:cNvPr>
          <p:cNvSpPr>
            <a:spLocks noGrp="1"/>
          </p:cNvSpPr>
          <p:nvPr>
            <p:ph type="title"/>
          </p:nvPr>
        </p:nvSpPr>
        <p:spPr/>
        <p:txBody>
          <a:bodyPr/>
          <a:lstStyle/>
          <a:p>
            <a:r>
              <a:rPr lang="en-GB" dirty="0">
                <a:ea typeface="Verdana"/>
                <a:cs typeface="Gill Sans"/>
              </a:rPr>
              <a:t>General Information</a:t>
            </a:r>
            <a:endParaRPr lang="en-GB" dirty="0"/>
          </a:p>
        </p:txBody>
      </p:sp>
      <p:sp>
        <p:nvSpPr>
          <p:cNvPr id="3" name="Text Placeholder 2">
            <a:extLst>
              <a:ext uri="{FF2B5EF4-FFF2-40B4-BE49-F238E27FC236}">
                <a16:creationId xmlns:a16="http://schemas.microsoft.com/office/drawing/2014/main" id="{ACF591EC-0660-097E-8D27-CE8DD10F274C}"/>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561"/>
              </a:spcBef>
            </a:pPr>
            <a:r>
              <a:rPr lang="en-US" sz="2800" dirty="0">
                <a:solidFill>
                  <a:srgbClr val="262626"/>
                </a:solidFill>
                <a:ea typeface="+mn-lt"/>
                <a:cs typeface="+mn-lt"/>
              </a:rPr>
              <a:t>Course page</a:t>
            </a:r>
            <a:r>
              <a:rPr lang="en-US" sz="2000" dirty="0">
                <a:solidFill>
                  <a:srgbClr val="262626"/>
                </a:solidFill>
                <a:ea typeface="+mn-lt"/>
                <a:cs typeface="+mn-lt"/>
              </a:rPr>
              <a:t>: </a:t>
            </a:r>
            <a:r>
              <a:rPr lang="en-US" sz="2000" dirty="0">
                <a:ea typeface="+mn-lt"/>
                <a:cs typeface="+mn-lt"/>
                <a:hlinkClick r:id="rId3"/>
              </a:rPr>
              <a:t>https://github.com/sib-swiss/first-steps-with-R-training</a:t>
            </a:r>
            <a:endParaRPr lang="de-CH" sz="2000">
              <a:solidFill>
                <a:srgbClr val="0000FF"/>
              </a:solidFill>
              <a:ea typeface="+mn-lt"/>
              <a:cs typeface="+mn-lt"/>
            </a:endParaRPr>
          </a:p>
          <a:p>
            <a:pPr lvl="1" indent="-304800">
              <a:lnSpc>
                <a:spcPct val="100000"/>
              </a:lnSpc>
              <a:spcBef>
                <a:spcPts val="479"/>
              </a:spcBef>
              <a:buFont typeface="Arial"/>
              <a:buChar char="•"/>
            </a:pPr>
            <a:r>
              <a:rPr lang="en-US" dirty="0">
                <a:ea typeface="+mn-lt"/>
                <a:cs typeface="+mn-lt"/>
              </a:rPr>
              <a:t>Slides</a:t>
            </a:r>
            <a:endParaRPr lang="en-US"/>
          </a:p>
          <a:p>
            <a:pPr lvl="1" indent="-304800">
              <a:lnSpc>
                <a:spcPct val="100000"/>
              </a:lnSpc>
              <a:spcBef>
                <a:spcPts val="479"/>
              </a:spcBef>
              <a:buFont typeface="Arial"/>
              <a:buChar char="•"/>
            </a:pPr>
            <a:r>
              <a:rPr lang="en-US" dirty="0">
                <a:ea typeface="+mn-lt"/>
                <a:cs typeface="+mn-lt"/>
              </a:rPr>
              <a:t>Data sets</a:t>
            </a:r>
            <a:endParaRPr lang="en-US"/>
          </a:p>
          <a:p>
            <a:pPr lvl="1" indent="-304800">
              <a:lnSpc>
                <a:spcPct val="100000"/>
              </a:lnSpc>
              <a:spcBef>
                <a:spcPts val="479"/>
              </a:spcBef>
              <a:buFont typeface="Arial"/>
              <a:buChar char="•"/>
            </a:pPr>
            <a:r>
              <a:rPr lang="en-US" dirty="0">
                <a:ea typeface="+mn-lt"/>
                <a:cs typeface="+mn-lt"/>
              </a:rPr>
              <a:t>Exercises</a:t>
            </a:r>
            <a:endParaRPr lang="en-US"/>
          </a:p>
          <a:p>
            <a:pPr lvl="1" indent="-304800">
              <a:lnSpc>
                <a:spcPct val="100000"/>
              </a:lnSpc>
              <a:spcBef>
                <a:spcPts val="479"/>
              </a:spcBef>
              <a:buFont typeface="Arial"/>
              <a:buChar char="•"/>
            </a:pPr>
            <a:r>
              <a:rPr lang="en-US" dirty="0">
                <a:ea typeface="+mn-lt"/>
                <a:cs typeface="+mn-lt"/>
              </a:rPr>
              <a:t>Solutions</a:t>
            </a:r>
            <a:br>
              <a:rPr lang="en-US" sz="1800" dirty="0">
                <a:ea typeface="+mn-lt"/>
                <a:cs typeface="+mn-lt"/>
              </a:rPr>
            </a:br>
            <a:r>
              <a:rPr lang="en-US" dirty="0">
                <a:solidFill>
                  <a:srgbClr val="262626"/>
                </a:solidFill>
                <a:ea typeface="+mn-lt"/>
                <a:cs typeface="+mn-lt"/>
              </a:rPr>
              <a:t> </a:t>
            </a:r>
            <a:endParaRPr lang="en-US"/>
          </a:p>
          <a:p>
            <a:pPr>
              <a:lnSpc>
                <a:spcPct val="100000"/>
              </a:lnSpc>
              <a:spcBef>
                <a:spcPts val="561"/>
              </a:spcBef>
            </a:pPr>
            <a:endParaRPr lang="en-US" sz="2800" dirty="0">
              <a:solidFill>
                <a:srgbClr val="262626"/>
              </a:solidFill>
              <a:ea typeface="+mn-lt"/>
              <a:cs typeface="+mn-lt"/>
            </a:endParaRPr>
          </a:p>
          <a:p>
            <a:pPr marL="3810">
              <a:lnSpc>
                <a:spcPct val="100000"/>
              </a:lnSpc>
              <a:spcBef>
                <a:spcPts val="561"/>
              </a:spcBef>
            </a:pPr>
            <a:r>
              <a:rPr lang="en-US" sz="2800" dirty="0">
                <a:solidFill>
                  <a:srgbClr val="262626"/>
                </a:solidFill>
                <a:ea typeface="+mn-lt"/>
                <a:cs typeface="+mn-lt"/>
              </a:rPr>
              <a:t>Optional exam, 0.5 ECTS value</a:t>
            </a:r>
          </a:p>
        </p:txBody>
      </p:sp>
      <p:pic>
        <p:nvPicPr>
          <p:cNvPr id="5" name="Image 40" descr="Une image contenant Graphique, Police, capture d’écran, graphisme&#10;&#10;Description générée automatiquement">
            <a:extLst>
              <a:ext uri="{FF2B5EF4-FFF2-40B4-BE49-F238E27FC236}">
                <a16:creationId xmlns:a16="http://schemas.microsoft.com/office/drawing/2014/main" id="{86AE7AE0-45E5-88FA-D12E-01FE8D3E2B9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8686089" y="1817911"/>
            <a:ext cx="1329212" cy="1047171"/>
          </a:xfrm>
          <a:prstGeom prst="rect">
            <a:avLst/>
          </a:prstGeom>
        </p:spPr>
      </p:pic>
    </p:spTree>
    <p:extLst>
      <p:ext uri="{BB962C8B-B14F-4D97-AF65-F5344CB8AC3E}">
        <p14:creationId xmlns:p14="http://schemas.microsoft.com/office/powerpoint/2010/main" val="3083001299"/>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9C90D-317F-9FFD-4B90-A0F3DA34BEE6}"/>
              </a:ext>
            </a:extLst>
          </p:cNvPr>
          <p:cNvSpPr>
            <a:spLocks noGrp="1"/>
          </p:cNvSpPr>
          <p:nvPr>
            <p:ph type="title"/>
          </p:nvPr>
        </p:nvSpPr>
        <p:spPr/>
        <p:txBody>
          <a:bodyPr/>
          <a:lstStyle/>
          <a:p>
            <a:r>
              <a:rPr lang="en-GB" dirty="0">
                <a:ea typeface="Verdana"/>
                <a:cs typeface="Gill Sans"/>
              </a:rPr>
              <a:t>Asking questions - Communication</a:t>
            </a:r>
            <a:endParaRPr lang="en-GB" dirty="0"/>
          </a:p>
        </p:txBody>
      </p:sp>
      <p:sp>
        <p:nvSpPr>
          <p:cNvPr id="3" name="Text Placeholder 2">
            <a:extLst>
              <a:ext uri="{FF2B5EF4-FFF2-40B4-BE49-F238E27FC236}">
                <a16:creationId xmlns:a16="http://schemas.microsoft.com/office/drawing/2014/main" id="{3B57035B-5DD8-6E4D-3CBA-628ED667B9EC}"/>
              </a:ext>
            </a:extLst>
          </p:cNvPr>
          <p:cNvSpPr>
            <a:spLocks noGrp="1"/>
          </p:cNvSpPr>
          <p:nvPr>
            <p:ph type="body" sz="quarter" idx="11"/>
          </p:nvPr>
        </p:nvSpPr>
        <p:spPr/>
        <p:txBody>
          <a:bodyPr vert="horz" lIns="91440" tIns="45720" rIns="91440" bIns="45720" rtlCol="0" anchor="t">
            <a:noAutofit/>
          </a:bodyPr>
          <a:lstStyle/>
          <a:p>
            <a:pPr marL="342900" indent="-342900">
              <a:buChar char="•"/>
            </a:pPr>
            <a:r>
              <a:rPr lang="en-GB" sz="4000" dirty="0">
                <a:ea typeface="Tahoma"/>
                <a:cs typeface="Gill Sans Light"/>
              </a:rPr>
              <a:t>Raise your hand anytime</a:t>
            </a:r>
            <a:endParaRPr lang="en-US" sz="4000"/>
          </a:p>
          <a:p>
            <a:endParaRPr lang="en-GB" sz="4000" dirty="0"/>
          </a:p>
          <a:p>
            <a:endParaRPr lang="en-GB" sz="4000" dirty="0"/>
          </a:p>
          <a:p>
            <a:endParaRPr lang="en-GB" sz="4000" dirty="0"/>
          </a:p>
          <a:p>
            <a:pPr marL="342900" indent="-342900">
              <a:buChar char="•"/>
            </a:pPr>
            <a:r>
              <a:rPr lang="en-GB" sz="4000" dirty="0">
                <a:ea typeface="Tahoma"/>
                <a:cs typeface="Gill Sans Light"/>
              </a:rPr>
              <a:t>Done with an exercise?</a:t>
            </a:r>
            <a:endParaRPr lang="en-GB" sz="4000" dirty="0"/>
          </a:p>
        </p:txBody>
      </p:sp>
      <p:pic>
        <p:nvPicPr>
          <p:cNvPr id="4" name="Picture 3" descr="Icon&#10;&#10;Description automatically generated">
            <a:extLst>
              <a:ext uri="{FF2B5EF4-FFF2-40B4-BE49-F238E27FC236}">
                <a16:creationId xmlns:a16="http://schemas.microsoft.com/office/drawing/2014/main" id="{4D25B8DE-56F7-4B2D-68EE-5FFB05503504}"/>
              </a:ext>
            </a:extLst>
          </p:cNvPr>
          <p:cNvPicPr>
            <a:picLocks noChangeAspect="1"/>
          </p:cNvPicPr>
          <p:nvPr/>
        </p:nvPicPr>
        <p:blipFill>
          <a:blip r:embed="rId2"/>
          <a:stretch>
            <a:fillRect/>
          </a:stretch>
        </p:blipFill>
        <p:spPr>
          <a:xfrm>
            <a:off x="6410649" y="1610009"/>
            <a:ext cx="1108841" cy="1100082"/>
          </a:xfrm>
          <a:prstGeom prst="rect">
            <a:avLst/>
          </a:prstGeom>
        </p:spPr>
      </p:pic>
      <p:pic>
        <p:nvPicPr>
          <p:cNvPr id="5" name="Picture 4" descr="A picture containing text, businesscard, stationary, envelope&#10;&#10;Description automatically generated">
            <a:extLst>
              <a:ext uri="{FF2B5EF4-FFF2-40B4-BE49-F238E27FC236}">
                <a16:creationId xmlns:a16="http://schemas.microsoft.com/office/drawing/2014/main" id="{5E08B16D-25A5-9E46-3D3D-CBCC62DF7567}"/>
              </a:ext>
            </a:extLst>
          </p:cNvPr>
          <p:cNvPicPr>
            <a:picLocks noChangeAspect="1"/>
          </p:cNvPicPr>
          <p:nvPr/>
        </p:nvPicPr>
        <p:blipFill>
          <a:blip r:embed="rId3"/>
          <a:stretch>
            <a:fillRect/>
          </a:stretch>
        </p:blipFill>
        <p:spPr>
          <a:xfrm>
            <a:off x="7293356" y="1015396"/>
            <a:ext cx="2353003" cy="2200582"/>
          </a:xfrm>
          <a:prstGeom prst="rect">
            <a:avLst/>
          </a:prstGeom>
        </p:spPr>
      </p:pic>
      <p:pic>
        <p:nvPicPr>
          <p:cNvPr id="6" name="Picture 5" descr="A picture containing text, businesscard, envelope, picture frame&#10;&#10;Description automatically generated">
            <a:extLst>
              <a:ext uri="{FF2B5EF4-FFF2-40B4-BE49-F238E27FC236}">
                <a16:creationId xmlns:a16="http://schemas.microsoft.com/office/drawing/2014/main" id="{323572B9-DD38-A8E5-10D1-C513609F7453}"/>
              </a:ext>
            </a:extLst>
          </p:cNvPr>
          <p:cNvPicPr>
            <a:picLocks noChangeAspect="1"/>
          </p:cNvPicPr>
          <p:nvPr/>
        </p:nvPicPr>
        <p:blipFill>
          <a:blip r:embed="rId4"/>
          <a:stretch>
            <a:fillRect/>
          </a:stretch>
        </p:blipFill>
        <p:spPr>
          <a:xfrm>
            <a:off x="7140529" y="4244084"/>
            <a:ext cx="2353003" cy="2238687"/>
          </a:xfrm>
          <a:prstGeom prst="rect">
            <a:avLst/>
          </a:prstGeom>
        </p:spPr>
      </p:pic>
    </p:spTree>
    <p:extLst>
      <p:ext uri="{BB962C8B-B14F-4D97-AF65-F5344CB8AC3E}">
        <p14:creationId xmlns:p14="http://schemas.microsoft.com/office/powerpoint/2010/main" val="2382603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E08FD-7424-0010-8E8A-4B125279A04D}"/>
              </a:ext>
            </a:extLst>
          </p:cNvPr>
          <p:cNvSpPr>
            <a:spLocks noGrp="1"/>
          </p:cNvSpPr>
          <p:nvPr>
            <p:ph type="title"/>
          </p:nvPr>
        </p:nvSpPr>
        <p:spPr/>
        <p:txBody>
          <a:bodyPr/>
          <a:lstStyle/>
          <a:p>
            <a:r>
              <a:rPr lang="en-GB" sz="4800" dirty="0">
                <a:ea typeface="Verdana"/>
                <a:cs typeface="Gill Sans"/>
              </a:rPr>
              <a:t>Introducing ourselves</a:t>
            </a:r>
          </a:p>
        </p:txBody>
      </p:sp>
      <p:sp>
        <p:nvSpPr>
          <p:cNvPr id="101" name="Card 101"/>
          <p:cNvSpPr/>
          <p:nvPr/>
        </p:nvSpPr>
        <p:spPr>
          <a:xfrm>
            <a:off x="841248" y="1463040"/>
            <a:ext cx="3291840" cy="3840480"/>
          </a:xfrm>
          <a:prstGeom prst="roundRect">
            <a:avLst>
              <a:gd name="adj" fmla="val 6000"/>
            </a:avLst>
          </a:prstGeom>
          <a:solidFill>
            <a:srgbClr val="F2F2F2"/>
          </a:solidFill>
          <a:ln>
            <a:noFill/>
          </a:ln>
        </p:spPr>
        <p:txBody>
          <a:bodyPr/>
          <a:lstStyle/>
          <a:p>
            <a:endParaRPr lang="fr-FR"/>
          </a:p>
        </p:txBody>
      </p:sp>
      <p:sp>
        <p:nvSpPr>
          <p:cNvPr id="102" name="IconBg 102"/>
          <p:cNvSpPr/>
          <p:nvPr/>
        </p:nvSpPr>
        <p:spPr>
          <a:xfrm>
            <a:off x="1915668" y="1828800"/>
            <a:ext cx="1143000" cy="1143000"/>
          </a:xfrm>
          <a:prstGeom prst="ellipse">
            <a:avLst/>
          </a:prstGeom>
          <a:solidFill>
            <a:srgbClr val="E20613"/>
          </a:solidFill>
          <a:ln>
            <a:noFill/>
          </a:ln>
        </p:spPr>
        <p:txBody>
          <a:bodyPr/>
          <a:lstStyle/>
          <a:p>
            <a:endParaRPr lang="fr-FR"/>
          </a:p>
        </p:txBody>
      </p:sp>
      <p:pic>
        <p:nvPicPr>
          <p:cNvPr id="103" name="Icon 103" descr="user"/>
          <p:cNvPicPr>
            <a:picLocks noChangeAspect="1"/>
          </p:cNvPicPr>
          <p:nvPr/>
        </p:nvPicPr>
        <p:blipFill>
          <a:blip r:embed="rId2"/>
          <a:stretch>
            <a:fillRect/>
          </a:stretch>
        </p:blipFill>
        <p:spPr>
          <a:xfrm>
            <a:off x="2189988" y="2103120"/>
            <a:ext cx="594360" cy="594360"/>
          </a:xfrm>
          <a:prstGeom prst="rect">
            <a:avLst/>
          </a:prstGeom>
        </p:spPr>
      </p:pic>
      <p:sp>
        <p:nvSpPr>
          <p:cNvPr id="104" name="Text 104"/>
          <p:cNvSpPr txBox="1"/>
          <p:nvPr/>
        </p:nvSpPr>
        <p:spPr>
          <a:xfrm>
            <a:off x="1024128" y="3246120"/>
            <a:ext cx="2926080" cy="187452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Who are you?</a:t>
            </a:r>
            <a:endParaRPr lang="en-GB" sz="1400" dirty="0"/>
          </a:p>
          <a:p>
            <a:pPr marL="0" indent="0" algn="ctr">
              <a:spcAft>
                <a:spcPts val="0"/>
              </a:spcAft>
              <a:buNone/>
            </a:pPr>
            <a:r>
              <a:rPr lang="en-GB" sz="1350" i="1" dirty="0">
                <a:solidFill>
                  <a:srgbClr val="6B6B6B"/>
                </a:solidFill>
              </a:rPr>
              <a:t>Your name, and where you work or study</a:t>
            </a:r>
            <a:endParaRPr lang="en-GB" sz="1400" dirty="0"/>
          </a:p>
        </p:txBody>
      </p:sp>
      <p:sp>
        <p:nvSpPr>
          <p:cNvPr id="105" name="Card 105"/>
          <p:cNvSpPr/>
          <p:nvPr/>
        </p:nvSpPr>
        <p:spPr>
          <a:xfrm>
            <a:off x="4453128" y="1463040"/>
            <a:ext cx="3291840" cy="3840480"/>
          </a:xfrm>
          <a:prstGeom prst="roundRect">
            <a:avLst>
              <a:gd name="adj" fmla="val 6000"/>
            </a:avLst>
          </a:prstGeom>
          <a:solidFill>
            <a:srgbClr val="F2F2F2"/>
          </a:solidFill>
          <a:ln>
            <a:noFill/>
          </a:ln>
        </p:spPr>
        <p:txBody>
          <a:bodyPr/>
          <a:lstStyle/>
          <a:p>
            <a:endParaRPr lang="fr-FR"/>
          </a:p>
        </p:txBody>
      </p:sp>
      <p:sp>
        <p:nvSpPr>
          <p:cNvPr id="106" name="IconBg 106"/>
          <p:cNvSpPr/>
          <p:nvPr/>
        </p:nvSpPr>
        <p:spPr>
          <a:xfrm>
            <a:off x="5527548" y="1828800"/>
            <a:ext cx="1143000" cy="1143000"/>
          </a:xfrm>
          <a:prstGeom prst="ellipse">
            <a:avLst/>
          </a:prstGeom>
          <a:solidFill>
            <a:srgbClr val="E20613"/>
          </a:solidFill>
          <a:ln>
            <a:noFill/>
          </a:ln>
        </p:spPr>
        <p:txBody>
          <a:bodyPr/>
          <a:lstStyle/>
          <a:p>
            <a:endParaRPr lang="fr-FR"/>
          </a:p>
        </p:txBody>
      </p:sp>
      <p:pic>
        <p:nvPicPr>
          <p:cNvPr id="107" name="Icon 107" descr="flask"/>
          <p:cNvPicPr>
            <a:picLocks noChangeAspect="1"/>
          </p:cNvPicPr>
          <p:nvPr/>
        </p:nvPicPr>
        <p:blipFill>
          <a:blip r:embed="rId3"/>
          <a:stretch>
            <a:fillRect/>
          </a:stretch>
        </p:blipFill>
        <p:spPr>
          <a:xfrm>
            <a:off x="5801868" y="2103120"/>
            <a:ext cx="594360" cy="594360"/>
          </a:xfrm>
          <a:prstGeom prst="rect">
            <a:avLst/>
          </a:prstGeom>
        </p:spPr>
      </p:pic>
      <p:sp>
        <p:nvSpPr>
          <p:cNvPr id="108" name="Text 108"/>
          <p:cNvSpPr txBox="1"/>
          <p:nvPr/>
        </p:nvSpPr>
        <p:spPr>
          <a:xfrm>
            <a:off x="4636008" y="3246120"/>
            <a:ext cx="2926080" cy="187452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What do you work on?</a:t>
            </a:r>
            <a:endParaRPr lang="en-GB" sz="1400" dirty="0"/>
          </a:p>
          <a:p>
            <a:pPr marL="0" indent="0" algn="ctr">
              <a:spcAft>
                <a:spcPts val="0"/>
              </a:spcAft>
              <a:buNone/>
            </a:pPr>
            <a:r>
              <a:rPr lang="en-GB" sz="1350" i="1" dirty="0">
                <a:solidFill>
                  <a:srgbClr val="6B6B6B"/>
                </a:solidFill>
              </a:rPr>
              <a:t>Your field, and the kind of data you handle</a:t>
            </a:r>
            <a:endParaRPr lang="en-GB" sz="1400" dirty="0"/>
          </a:p>
        </p:txBody>
      </p:sp>
      <p:sp>
        <p:nvSpPr>
          <p:cNvPr id="109" name="Card 109"/>
          <p:cNvSpPr/>
          <p:nvPr/>
        </p:nvSpPr>
        <p:spPr>
          <a:xfrm>
            <a:off x="8065008" y="1463040"/>
            <a:ext cx="3291840" cy="3840480"/>
          </a:xfrm>
          <a:prstGeom prst="roundRect">
            <a:avLst>
              <a:gd name="adj" fmla="val 6000"/>
            </a:avLst>
          </a:prstGeom>
          <a:solidFill>
            <a:srgbClr val="F2F2F2"/>
          </a:solidFill>
          <a:ln>
            <a:noFill/>
          </a:ln>
        </p:spPr>
        <p:txBody>
          <a:bodyPr/>
          <a:lstStyle/>
          <a:p>
            <a:endParaRPr lang="fr-FR"/>
          </a:p>
        </p:txBody>
      </p:sp>
      <p:sp>
        <p:nvSpPr>
          <p:cNvPr id="110" name="IconBg 110"/>
          <p:cNvSpPr/>
          <p:nvPr/>
        </p:nvSpPr>
        <p:spPr>
          <a:xfrm>
            <a:off x="9139428" y="1828800"/>
            <a:ext cx="1143000" cy="1143000"/>
          </a:xfrm>
          <a:prstGeom prst="ellipse">
            <a:avLst/>
          </a:prstGeom>
          <a:solidFill>
            <a:srgbClr val="E20613"/>
          </a:solidFill>
          <a:ln>
            <a:noFill/>
          </a:ln>
        </p:spPr>
        <p:txBody>
          <a:bodyPr/>
          <a:lstStyle/>
          <a:p>
            <a:endParaRPr lang="fr-FR"/>
          </a:p>
        </p:txBody>
      </p:sp>
      <p:pic>
        <p:nvPicPr>
          <p:cNvPr id="111" name="Icon 111" descr="target"/>
          <p:cNvPicPr>
            <a:picLocks noChangeAspect="1"/>
          </p:cNvPicPr>
          <p:nvPr/>
        </p:nvPicPr>
        <p:blipFill>
          <a:blip r:embed="rId4"/>
          <a:stretch>
            <a:fillRect/>
          </a:stretch>
        </p:blipFill>
        <p:spPr>
          <a:xfrm>
            <a:off x="9413748" y="2103120"/>
            <a:ext cx="594360" cy="594360"/>
          </a:xfrm>
          <a:prstGeom prst="rect">
            <a:avLst/>
          </a:prstGeom>
        </p:spPr>
      </p:pic>
      <p:sp>
        <p:nvSpPr>
          <p:cNvPr id="112" name="Text 112"/>
          <p:cNvSpPr txBox="1"/>
          <p:nvPr/>
        </p:nvSpPr>
        <p:spPr>
          <a:xfrm>
            <a:off x="8247888" y="3246120"/>
            <a:ext cx="2926080" cy="187452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Why R?</a:t>
            </a:r>
            <a:endParaRPr lang="en-GB" sz="1400" dirty="0"/>
          </a:p>
          <a:p>
            <a:pPr marL="0" indent="0" algn="ctr">
              <a:spcAft>
                <a:spcPts val="0"/>
              </a:spcAft>
              <a:buNone/>
            </a:pPr>
            <a:r>
              <a:rPr lang="en-GB" sz="1350" i="1" dirty="0">
                <a:solidFill>
                  <a:srgbClr val="6B6B6B"/>
                </a:solidFill>
              </a:rPr>
              <a:t>What you would like to be able to do after this course</a:t>
            </a:r>
            <a:endParaRPr lang="en-GB" sz="1400" dirty="0"/>
          </a:p>
        </p:txBody>
      </p:sp>
      <p:sp>
        <p:nvSpPr>
          <p:cNvPr id="113" name="Text 113"/>
          <p:cNvSpPr txBox="1"/>
          <p:nvPr/>
        </p:nvSpPr>
        <p:spPr>
          <a:xfrm>
            <a:off x="841248" y="5486400"/>
            <a:ext cx="10515600" cy="365760"/>
          </a:xfrm>
          <a:prstGeom prst="rect">
            <a:avLst/>
          </a:prstGeom>
          <a:noFill/>
          <a:ln>
            <a:noFill/>
          </a:ln>
        </p:spPr>
        <p:txBody>
          <a:bodyPr wrap="square" lIns="0" tIns="0" rIns="0" bIns="0" rtlCol="0" anchor="t">
            <a:noAutofit/>
          </a:bodyPr>
          <a:lstStyle/>
          <a:p>
            <a:pPr marL="0" indent="0" algn="ctr">
              <a:spcAft>
                <a:spcPts val="0"/>
              </a:spcAft>
              <a:buNone/>
            </a:pPr>
            <a:r>
              <a:rPr lang="en-GB" sz="1400" i="1" dirty="0">
                <a:solidFill>
                  <a:srgbClr val="6B6B6B"/>
                </a:solidFill>
              </a:rPr>
              <a:t>About 30 seconds each, no slides required :)</a:t>
            </a:r>
            <a:endParaRPr lang="en-GB" sz="1400" dirty="0"/>
          </a:p>
        </p:txBody>
      </p:sp>
    </p:spTree>
    <p:extLst>
      <p:ext uri="{BB962C8B-B14F-4D97-AF65-F5344CB8AC3E}">
        <p14:creationId xmlns:p14="http://schemas.microsoft.com/office/powerpoint/2010/main" val="3967256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3B689-B9E7-B2E2-9C56-33BB94D29BF9}"/>
              </a:ext>
            </a:extLst>
          </p:cNvPr>
          <p:cNvSpPr>
            <a:spLocks noGrp="1"/>
          </p:cNvSpPr>
          <p:nvPr>
            <p:ph type="title"/>
          </p:nvPr>
        </p:nvSpPr>
        <p:spPr/>
        <p:txBody>
          <a:bodyPr/>
          <a:lstStyle/>
          <a:p>
            <a:r>
              <a:rPr lang="en-GB" dirty="0">
                <a:ea typeface="Verdana"/>
                <a:cs typeface="Gill Sans"/>
              </a:rPr>
              <a:t>What type of computer OS are you using?</a:t>
            </a:r>
          </a:p>
        </p:txBody>
      </p:sp>
      <p:sp>
        <p:nvSpPr>
          <p:cNvPr id="101" name="Card 101"/>
          <p:cNvSpPr/>
          <p:nvPr/>
        </p:nvSpPr>
        <p:spPr>
          <a:xfrm>
            <a:off x="841248" y="1463040"/>
            <a:ext cx="3291840" cy="3108960"/>
          </a:xfrm>
          <a:prstGeom prst="roundRect">
            <a:avLst>
              <a:gd name="adj" fmla="val 6000"/>
            </a:avLst>
          </a:prstGeom>
          <a:solidFill>
            <a:srgbClr val="F2F2F2"/>
          </a:solidFill>
          <a:ln>
            <a:noFill/>
          </a:ln>
        </p:spPr>
        <p:txBody>
          <a:bodyPr/>
          <a:lstStyle/>
          <a:p>
            <a:endParaRPr lang="fr-FR"/>
          </a:p>
        </p:txBody>
      </p:sp>
      <p:sp>
        <p:nvSpPr>
          <p:cNvPr id="102" name="IconBg 102"/>
          <p:cNvSpPr/>
          <p:nvPr/>
        </p:nvSpPr>
        <p:spPr>
          <a:xfrm>
            <a:off x="1801368" y="1828800"/>
            <a:ext cx="1371600" cy="1371600"/>
          </a:xfrm>
          <a:prstGeom prst="ellipse">
            <a:avLst/>
          </a:prstGeom>
          <a:solidFill>
            <a:srgbClr val="333333"/>
          </a:solidFill>
          <a:ln>
            <a:noFill/>
          </a:ln>
        </p:spPr>
        <p:txBody>
          <a:bodyPr/>
          <a:lstStyle/>
          <a:p>
            <a:endParaRPr lang="fr-FR"/>
          </a:p>
        </p:txBody>
      </p:sp>
      <p:pic>
        <p:nvPicPr>
          <p:cNvPr id="103" name="Icon 103" descr="windows"/>
          <p:cNvPicPr>
            <a:picLocks noChangeAspect="1"/>
          </p:cNvPicPr>
          <p:nvPr/>
        </p:nvPicPr>
        <p:blipFill>
          <a:blip r:embed="rId2"/>
          <a:stretch>
            <a:fillRect/>
          </a:stretch>
        </p:blipFill>
        <p:spPr>
          <a:xfrm>
            <a:off x="2130552" y="2157984"/>
            <a:ext cx="713232" cy="713232"/>
          </a:xfrm>
          <a:prstGeom prst="rect">
            <a:avLst/>
          </a:prstGeom>
        </p:spPr>
      </p:pic>
      <p:sp>
        <p:nvSpPr>
          <p:cNvPr id="104" name="Text 104"/>
          <p:cNvSpPr txBox="1"/>
          <p:nvPr/>
        </p:nvSpPr>
        <p:spPr>
          <a:xfrm>
            <a:off x="1024128" y="3474720"/>
            <a:ext cx="2926080" cy="91440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Windows</a:t>
            </a:r>
            <a:endParaRPr lang="en-GB" sz="1400" dirty="0"/>
          </a:p>
        </p:txBody>
      </p:sp>
      <p:sp>
        <p:nvSpPr>
          <p:cNvPr id="105" name="Card 105"/>
          <p:cNvSpPr/>
          <p:nvPr/>
        </p:nvSpPr>
        <p:spPr>
          <a:xfrm>
            <a:off x="4453128" y="1463040"/>
            <a:ext cx="3291840" cy="3108960"/>
          </a:xfrm>
          <a:prstGeom prst="roundRect">
            <a:avLst>
              <a:gd name="adj" fmla="val 6000"/>
            </a:avLst>
          </a:prstGeom>
          <a:solidFill>
            <a:srgbClr val="F2F2F2"/>
          </a:solidFill>
          <a:ln>
            <a:noFill/>
          </a:ln>
        </p:spPr>
        <p:txBody>
          <a:bodyPr/>
          <a:lstStyle/>
          <a:p>
            <a:endParaRPr lang="fr-FR"/>
          </a:p>
        </p:txBody>
      </p:sp>
      <p:sp>
        <p:nvSpPr>
          <p:cNvPr id="106" name="IconBg 106"/>
          <p:cNvSpPr/>
          <p:nvPr/>
        </p:nvSpPr>
        <p:spPr>
          <a:xfrm>
            <a:off x="5413248" y="1828800"/>
            <a:ext cx="1371600" cy="1371600"/>
          </a:xfrm>
          <a:prstGeom prst="ellipse">
            <a:avLst/>
          </a:prstGeom>
          <a:solidFill>
            <a:srgbClr val="333333"/>
          </a:solidFill>
          <a:ln>
            <a:noFill/>
          </a:ln>
        </p:spPr>
        <p:txBody>
          <a:bodyPr/>
          <a:lstStyle/>
          <a:p>
            <a:endParaRPr lang="fr-FR"/>
          </a:p>
        </p:txBody>
      </p:sp>
      <p:pic>
        <p:nvPicPr>
          <p:cNvPr id="107" name="Icon 107" descr="apple"/>
          <p:cNvPicPr>
            <a:picLocks noChangeAspect="1"/>
          </p:cNvPicPr>
          <p:nvPr/>
        </p:nvPicPr>
        <p:blipFill>
          <a:blip r:embed="rId3"/>
          <a:stretch>
            <a:fillRect/>
          </a:stretch>
        </p:blipFill>
        <p:spPr>
          <a:xfrm>
            <a:off x="5742432" y="2157984"/>
            <a:ext cx="713232" cy="713232"/>
          </a:xfrm>
          <a:prstGeom prst="rect">
            <a:avLst/>
          </a:prstGeom>
        </p:spPr>
      </p:pic>
      <p:sp>
        <p:nvSpPr>
          <p:cNvPr id="108" name="Text 108"/>
          <p:cNvSpPr txBox="1"/>
          <p:nvPr/>
        </p:nvSpPr>
        <p:spPr>
          <a:xfrm>
            <a:off x="4636008" y="3474720"/>
            <a:ext cx="2926080" cy="91440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macOS</a:t>
            </a:r>
            <a:endParaRPr lang="en-GB" sz="1400" dirty="0"/>
          </a:p>
        </p:txBody>
      </p:sp>
      <p:sp>
        <p:nvSpPr>
          <p:cNvPr id="109" name="Card 109"/>
          <p:cNvSpPr/>
          <p:nvPr/>
        </p:nvSpPr>
        <p:spPr>
          <a:xfrm>
            <a:off x="8065008" y="1463040"/>
            <a:ext cx="3291840" cy="3108960"/>
          </a:xfrm>
          <a:prstGeom prst="roundRect">
            <a:avLst>
              <a:gd name="adj" fmla="val 6000"/>
            </a:avLst>
          </a:prstGeom>
          <a:solidFill>
            <a:srgbClr val="F2F2F2"/>
          </a:solidFill>
          <a:ln>
            <a:noFill/>
          </a:ln>
        </p:spPr>
        <p:txBody>
          <a:bodyPr/>
          <a:lstStyle/>
          <a:p>
            <a:endParaRPr lang="fr-FR"/>
          </a:p>
        </p:txBody>
      </p:sp>
      <p:sp>
        <p:nvSpPr>
          <p:cNvPr id="110" name="IconBg 110"/>
          <p:cNvSpPr/>
          <p:nvPr/>
        </p:nvSpPr>
        <p:spPr>
          <a:xfrm>
            <a:off x="9025128" y="1828800"/>
            <a:ext cx="1371600" cy="1371600"/>
          </a:xfrm>
          <a:prstGeom prst="ellipse">
            <a:avLst/>
          </a:prstGeom>
          <a:solidFill>
            <a:srgbClr val="333333"/>
          </a:solidFill>
          <a:ln>
            <a:noFill/>
          </a:ln>
        </p:spPr>
        <p:txBody>
          <a:bodyPr/>
          <a:lstStyle/>
          <a:p>
            <a:endParaRPr lang="fr-FR"/>
          </a:p>
        </p:txBody>
      </p:sp>
      <p:pic>
        <p:nvPicPr>
          <p:cNvPr id="111" name="Icon 111" descr="linux"/>
          <p:cNvPicPr>
            <a:picLocks noChangeAspect="1"/>
          </p:cNvPicPr>
          <p:nvPr/>
        </p:nvPicPr>
        <p:blipFill>
          <a:blip r:embed="rId4"/>
          <a:stretch>
            <a:fillRect/>
          </a:stretch>
        </p:blipFill>
        <p:spPr>
          <a:xfrm>
            <a:off x="9354312" y="2157984"/>
            <a:ext cx="713232" cy="713232"/>
          </a:xfrm>
          <a:prstGeom prst="rect">
            <a:avLst/>
          </a:prstGeom>
        </p:spPr>
      </p:pic>
      <p:sp>
        <p:nvSpPr>
          <p:cNvPr id="112" name="Text 112"/>
          <p:cNvSpPr txBox="1"/>
          <p:nvPr/>
        </p:nvSpPr>
        <p:spPr>
          <a:xfrm>
            <a:off x="8247888" y="3474720"/>
            <a:ext cx="2926080" cy="91440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Unix / Linux</a:t>
            </a:r>
            <a:endParaRPr lang="en-GB" sz="1400" dirty="0"/>
          </a:p>
          <a:p>
            <a:pPr marL="0" indent="0" algn="ctr">
              <a:spcAft>
                <a:spcPts val="0"/>
              </a:spcAft>
              <a:buNone/>
            </a:pPr>
            <a:r>
              <a:rPr lang="en-GB" sz="1350" i="1" dirty="0">
                <a:solidFill>
                  <a:srgbClr val="6B6B6B"/>
                </a:solidFill>
              </a:rPr>
              <a:t>Ubuntu, CentOS, ...</a:t>
            </a:r>
            <a:endParaRPr lang="en-GB" sz="1400" dirty="0"/>
          </a:p>
        </p:txBody>
      </p:sp>
      <p:sp>
        <p:nvSpPr>
          <p:cNvPr id="113" name="Message 113"/>
          <p:cNvSpPr/>
          <p:nvPr/>
        </p:nvSpPr>
        <p:spPr>
          <a:xfrm>
            <a:off x="841248" y="4892040"/>
            <a:ext cx="10515600" cy="685800"/>
          </a:xfrm>
          <a:prstGeom prst="roundRect">
            <a:avLst>
              <a:gd name="adj" fmla="val 12000"/>
            </a:avLst>
          </a:prstGeom>
          <a:solidFill>
            <a:srgbClr val="FDECED"/>
          </a:solidFill>
          <a:ln>
            <a:noFill/>
          </a:ln>
        </p:spPr>
        <p:txBody>
          <a:bodyPr wrap="square" lIns="137160" tIns="137160" rIns="137160" bIns="137160" rtlCol="0" anchor="ctr">
            <a:noAutofit/>
          </a:bodyPr>
          <a:lstStyle/>
          <a:p>
            <a:pPr marL="0" indent="0" algn="l">
              <a:spcAft>
                <a:spcPts val="0"/>
              </a:spcAft>
              <a:buNone/>
            </a:pPr>
            <a:r>
              <a:rPr lang="en-GB" sz="1400" b="1" dirty="0">
                <a:solidFill>
                  <a:srgbClr val="E20613"/>
                </a:solidFill>
              </a:rPr>
              <a:t>Why we ask: </a:t>
            </a:r>
            <a:r>
              <a:rPr lang="en-GB" sz="1400" dirty="0">
                <a:solidFill>
                  <a:srgbClr val="333333"/>
                </a:solidFill>
              </a:rPr>
              <a:t>R is the same everywhere, but shortcuts (Ctrl vs Cmd) and file paths (C:/Users/... vs /Users/...) differ a little.</a:t>
            </a:r>
            <a:endParaRPr lang="en-GB" sz="1400" dirty="0"/>
          </a:p>
        </p:txBody>
      </p:sp>
    </p:spTree>
    <p:extLst>
      <p:ext uri="{BB962C8B-B14F-4D97-AF65-F5344CB8AC3E}">
        <p14:creationId xmlns:p14="http://schemas.microsoft.com/office/powerpoint/2010/main" val="161837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675DA-EABE-CF06-A810-73E6BF350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93F9F-E42F-590C-F331-0C75D2B64CBE}"/>
              </a:ext>
            </a:extLst>
          </p:cNvPr>
          <p:cNvSpPr>
            <a:spLocks noGrp="1"/>
          </p:cNvSpPr>
          <p:nvPr>
            <p:ph type="title"/>
          </p:nvPr>
        </p:nvSpPr>
        <p:spPr/>
        <p:txBody>
          <a:bodyPr/>
          <a:lstStyle/>
          <a:p>
            <a:r>
              <a:rPr lang="en-GB" dirty="0">
                <a:ea typeface="Verdana"/>
                <a:cs typeface="Gill Sans"/>
              </a:rPr>
              <a:t>Do you code in other languages?</a:t>
            </a:r>
          </a:p>
        </p:txBody>
      </p:sp>
      <p:sp>
        <p:nvSpPr>
          <p:cNvPr id="101" name="Card 101"/>
          <p:cNvSpPr/>
          <p:nvPr/>
        </p:nvSpPr>
        <p:spPr>
          <a:xfrm>
            <a:off x="841248" y="1463040"/>
            <a:ext cx="3291840" cy="3291840"/>
          </a:xfrm>
          <a:prstGeom prst="roundRect">
            <a:avLst>
              <a:gd name="adj" fmla="val 6000"/>
            </a:avLst>
          </a:prstGeom>
          <a:solidFill>
            <a:srgbClr val="F2F2F2"/>
          </a:solidFill>
          <a:ln>
            <a:noFill/>
          </a:ln>
        </p:spPr>
        <p:txBody>
          <a:bodyPr/>
          <a:lstStyle/>
          <a:p>
            <a:endParaRPr lang="fr-FR"/>
          </a:p>
        </p:txBody>
      </p:sp>
      <p:sp>
        <p:nvSpPr>
          <p:cNvPr id="102" name="IconBg 102"/>
          <p:cNvSpPr/>
          <p:nvPr/>
        </p:nvSpPr>
        <p:spPr>
          <a:xfrm>
            <a:off x="1869948" y="1828800"/>
            <a:ext cx="1234440" cy="1234440"/>
          </a:xfrm>
          <a:prstGeom prst="ellipse">
            <a:avLst/>
          </a:prstGeom>
          <a:solidFill>
            <a:srgbClr val="F09096"/>
          </a:solidFill>
          <a:ln>
            <a:noFill/>
          </a:ln>
        </p:spPr>
        <p:txBody>
          <a:bodyPr/>
          <a:lstStyle/>
          <a:p>
            <a:endParaRPr lang="fr-FR"/>
          </a:p>
        </p:txBody>
      </p:sp>
      <p:pic>
        <p:nvPicPr>
          <p:cNvPr id="103" name="Icon 103" descr="seedling"/>
          <p:cNvPicPr>
            <a:picLocks noChangeAspect="1"/>
          </p:cNvPicPr>
          <p:nvPr/>
        </p:nvPicPr>
        <p:blipFill>
          <a:blip r:embed="rId2"/>
          <a:stretch>
            <a:fillRect/>
          </a:stretch>
        </p:blipFill>
        <p:spPr>
          <a:xfrm>
            <a:off x="2166214" y="2125066"/>
            <a:ext cx="641909" cy="641909"/>
          </a:xfrm>
          <a:prstGeom prst="rect">
            <a:avLst/>
          </a:prstGeom>
        </p:spPr>
      </p:pic>
      <p:sp>
        <p:nvSpPr>
          <p:cNvPr id="104" name="Text 104"/>
          <p:cNvSpPr txBox="1"/>
          <p:nvPr/>
        </p:nvSpPr>
        <p:spPr>
          <a:xfrm>
            <a:off x="1024128" y="3337560"/>
            <a:ext cx="2926080" cy="123444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None</a:t>
            </a:r>
            <a:endParaRPr lang="en-GB" sz="1400" dirty="0"/>
          </a:p>
          <a:p>
            <a:pPr marL="0" indent="0" algn="ctr">
              <a:spcAft>
                <a:spcPts val="0"/>
              </a:spcAft>
              <a:buNone/>
            </a:pPr>
            <a:r>
              <a:rPr lang="en-GB" sz="1350" i="1" dirty="0">
                <a:solidFill>
                  <a:srgbClr val="6B6B6B"/>
                </a:solidFill>
              </a:rPr>
              <a:t>R will be your first one, great place to start</a:t>
            </a:r>
            <a:endParaRPr lang="en-GB" sz="1400" dirty="0"/>
          </a:p>
        </p:txBody>
      </p:sp>
      <p:sp>
        <p:nvSpPr>
          <p:cNvPr id="105" name="Card 105"/>
          <p:cNvSpPr/>
          <p:nvPr/>
        </p:nvSpPr>
        <p:spPr>
          <a:xfrm>
            <a:off x="4453128" y="1463040"/>
            <a:ext cx="3291840" cy="3291840"/>
          </a:xfrm>
          <a:prstGeom prst="roundRect">
            <a:avLst>
              <a:gd name="adj" fmla="val 6000"/>
            </a:avLst>
          </a:prstGeom>
          <a:solidFill>
            <a:srgbClr val="F2F2F2"/>
          </a:solidFill>
          <a:ln>
            <a:noFill/>
          </a:ln>
        </p:spPr>
        <p:txBody>
          <a:bodyPr/>
          <a:lstStyle/>
          <a:p>
            <a:endParaRPr lang="fr-FR"/>
          </a:p>
        </p:txBody>
      </p:sp>
      <p:sp>
        <p:nvSpPr>
          <p:cNvPr id="106" name="IconBg 106"/>
          <p:cNvSpPr/>
          <p:nvPr/>
        </p:nvSpPr>
        <p:spPr>
          <a:xfrm>
            <a:off x="5481828" y="1828800"/>
            <a:ext cx="1234440" cy="1234440"/>
          </a:xfrm>
          <a:prstGeom prst="ellipse">
            <a:avLst/>
          </a:prstGeom>
          <a:solidFill>
            <a:srgbClr val="E9525B"/>
          </a:solidFill>
          <a:ln>
            <a:noFill/>
          </a:ln>
        </p:spPr>
        <p:txBody>
          <a:bodyPr/>
          <a:lstStyle/>
          <a:p>
            <a:endParaRPr lang="fr-FR"/>
          </a:p>
        </p:txBody>
      </p:sp>
      <p:pic>
        <p:nvPicPr>
          <p:cNvPr id="107" name="Icon 107" descr="book"/>
          <p:cNvPicPr>
            <a:picLocks noChangeAspect="1"/>
          </p:cNvPicPr>
          <p:nvPr/>
        </p:nvPicPr>
        <p:blipFill>
          <a:blip r:embed="rId3"/>
          <a:stretch>
            <a:fillRect/>
          </a:stretch>
        </p:blipFill>
        <p:spPr>
          <a:xfrm>
            <a:off x="5778094" y="2125066"/>
            <a:ext cx="641909" cy="641909"/>
          </a:xfrm>
          <a:prstGeom prst="rect">
            <a:avLst/>
          </a:prstGeom>
        </p:spPr>
      </p:pic>
      <p:sp>
        <p:nvSpPr>
          <p:cNvPr id="108" name="Text 108"/>
          <p:cNvSpPr txBox="1"/>
          <p:nvPr/>
        </p:nvSpPr>
        <p:spPr>
          <a:xfrm>
            <a:off x="4636008" y="3337560"/>
            <a:ext cx="2926080" cy="123444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Yes, but only notions</a:t>
            </a:r>
            <a:endParaRPr lang="en-GB" sz="1400" dirty="0"/>
          </a:p>
          <a:p>
            <a:pPr marL="0" indent="0" algn="ctr">
              <a:spcAft>
                <a:spcPts val="0"/>
              </a:spcAft>
              <a:buNone/>
            </a:pPr>
            <a:r>
              <a:rPr lang="en-GB" sz="1350" i="1" dirty="0">
                <a:solidFill>
                  <a:srgbClr val="6B6B6B"/>
                </a:solidFill>
              </a:rPr>
              <a:t>you have seen a loop or two</a:t>
            </a:r>
            <a:endParaRPr lang="en-GB" sz="1400" dirty="0"/>
          </a:p>
        </p:txBody>
      </p:sp>
      <p:sp>
        <p:nvSpPr>
          <p:cNvPr id="109" name="Card 109"/>
          <p:cNvSpPr/>
          <p:nvPr/>
        </p:nvSpPr>
        <p:spPr>
          <a:xfrm>
            <a:off x="8065008" y="1463040"/>
            <a:ext cx="3291840" cy="3291840"/>
          </a:xfrm>
          <a:prstGeom prst="roundRect">
            <a:avLst>
              <a:gd name="adj" fmla="val 6000"/>
            </a:avLst>
          </a:prstGeom>
          <a:solidFill>
            <a:srgbClr val="F2F2F2"/>
          </a:solidFill>
          <a:ln>
            <a:noFill/>
          </a:ln>
        </p:spPr>
        <p:txBody>
          <a:bodyPr/>
          <a:lstStyle/>
          <a:p>
            <a:endParaRPr lang="fr-FR"/>
          </a:p>
        </p:txBody>
      </p:sp>
      <p:sp>
        <p:nvSpPr>
          <p:cNvPr id="110" name="IconBg 110"/>
          <p:cNvSpPr/>
          <p:nvPr/>
        </p:nvSpPr>
        <p:spPr>
          <a:xfrm>
            <a:off x="9093708" y="1828800"/>
            <a:ext cx="1234440" cy="1234440"/>
          </a:xfrm>
          <a:prstGeom prst="ellipse">
            <a:avLst/>
          </a:prstGeom>
          <a:solidFill>
            <a:srgbClr val="E20613"/>
          </a:solidFill>
          <a:ln>
            <a:noFill/>
          </a:ln>
        </p:spPr>
        <p:txBody>
          <a:bodyPr/>
          <a:lstStyle/>
          <a:p>
            <a:endParaRPr lang="fr-FR"/>
          </a:p>
        </p:txBody>
      </p:sp>
      <p:pic>
        <p:nvPicPr>
          <p:cNvPr id="111" name="Icon 111" descr="code"/>
          <p:cNvPicPr>
            <a:picLocks noChangeAspect="1"/>
          </p:cNvPicPr>
          <p:nvPr/>
        </p:nvPicPr>
        <p:blipFill>
          <a:blip r:embed="rId4"/>
          <a:stretch>
            <a:fillRect/>
          </a:stretch>
        </p:blipFill>
        <p:spPr>
          <a:xfrm>
            <a:off x="9389974" y="2125066"/>
            <a:ext cx="641909" cy="641909"/>
          </a:xfrm>
          <a:prstGeom prst="rect">
            <a:avLst/>
          </a:prstGeom>
        </p:spPr>
      </p:pic>
      <p:sp>
        <p:nvSpPr>
          <p:cNvPr id="112" name="Text 112"/>
          <p:cNvSpPr txBox="1"/>
          <p:nvPr/>
        </p:nvSpPr>
        <p:spPr>
          <a:xfrm>
            <a:off x="8247888" y="3337560"/>
            <a:ext cx="2926080" cy="1234440"/>
          </a:xfrm>
          <a:prstGeom prst="rect">
            <a:avLst/>
          </a:prstGeom>
          <a:noFill/>
          <a:ln>
            <a:noFill/>
          </a:ln>
        </p:spPr>
        <p:txBody>
          <a:bodyPr wrap="square" lIns="0" tIns="0" rIns="0" bIns="0" rtlCol="0" anchor="t">
            <a:noAutofit/>
          </a:bodyPr>
          <a:lstStyle/>
          <a:p>
            <a:pPr marL="0" indent="0" algn="ctr">
              <a:spcAft>
                <a:spcPts val="600"/>
              </a:spcAft>
              <a:buNone/>
            </a:pPr>
            <a:r>
              <a:rPr lang="en-GB" sz="1900" b="1" dirty="0">
                <a:solidFill>
                  <a:srgbClr val="333333"/>
                </a:solidFill>
              </a:rPr>
              <a:t>Yes, and I am proficient</a:t>
            </a:r>
            <a:endParaRPr lang="en-GB" sz="1400" dirty="0"/>
          </a:p>
          <a:p>
            <a:pPr marL="0" indent="0" algn="ctr">
              <a:spcAft>
                <a:spcPts val="0"/>
              </a:spcAft>
              <a:buNone/>
            </a:pPr>
            <a:r>
              <a:rPr lang="en-GB" sz="1350" i="1" dirty="0">
                <a:solidFill>
                  <a:srgbClr val="6B6B6B"/>
                </a:solidFill>
              </a:rPr>
              <a:t>you will mostly learn R's quirks</a:t>
            </a:r>
            <a:endParaRPr lang="en-GB" sz="1400" dirty="0"/>
          </a:p>
        </p:txBody>
      </p:sp>
      <p:sp>
        <p:nvSpPr>
          <p:cNvPr id="113" name="Text 113"/>
          <p:cNvSpPr txBox="1"/>
          <p:nvPr/>
        </p:nvSpPr>
        <p:spPr>
          <a:xfrm>
            <a:off x="841248" y="4983480"/>
            <a:ext cx="10515600" cy="365760"/>
          </a:xfrm>
          <a:prstGeom prst="rect">
            <a:avLst/>
          </a:prstGeom>
          <a:noFill/>
          <a:ln>
            <a:noFill/>
          </a:ln>
        </p:spPr>
        <p:txBody>
          <a:bodyPr wrap="square" lIns="0" tIns="0" rIns="0" bIns="0" rtlCol="0" anchor="t">
            <a:noAutofit/>
          </a:bodyPr>
          <a:lstStyle/>
          <a:p>
            <a:pPr marL="0" indent="0" algn="ctr">
              <a:spcAft>
                <a:spcPts val="0"/>
              </a:spcAft>
              <a:buNone/>
            </a:pPr>
            <a:r>
              <a:rPr lang="en-GB" sz="1400" i="1" dirty="0">
                <a:solidFill>
                  <a:srgbClr val="6B6B6B"/>
                </a:solidFill>
              </a:rPr>
              <a:t>For example: Python, bash, MATLAB, Java, C, SQL, Perl...</a:t>
            </a:r>
            <a:endParaRPr lang="en-GB" sz="1400" dirty="0"/>
          </a:p>
        </p:txBody>
      </p:sp>
      <p:pic>
        <p:nvPicPr>
          <p:cNvPr id="114" name="Icon 114" descr="python"/>
          <p:cNvPicPr>
            <a:picLocks noChangeAspect="1"/>
          </p:cNvPicPr>
          <p:nvPr/>
        </p:nvPicPr>
        <p:blipFill>
          <a:blip r:embed="rId5"/>
          <a:stretch>
            <a:fillRect/>
          </a:stretch>
        </p:blipFill>
        <p:spPr>
          <a:xfrm>
            <a:off x="5230368" y="5440680"/>
            <a:ext cx="411480" cy="411480"/>
          </a:xfrm>
          <a:prstGeom prst="rect">
            <a:avLst/>
          </a:prstGeom>
        </p:spPr>
      </p:pic>
      <p:pic>
        <p:nvPicPr>
          <p:cNvPr id="115" name="Icon 115" descr="terminal"/>
          <p:cNvPicPr>
            <a:picLocks noChangeAspect="1"/>
          </p:cNvPicPr>
          <p:nvPr/>
        </p:nvPicPr>
        <p:blipFill>
          <a:blip r:embed="rId6"/>
          <a:stretch>
            <a:fillRect/>
          </a:stretch>
        </p:blipFill>
        <p:spPr>
          <a:xfrm>
            <a:off x="5870448" y="5440680"/>
            <a:ext cx="411480" cy="411480"/>
          </a:xfrm>
          <a:prstGeom prst="rect">
            <a:avLst/>
          </a:prstGeom>
        </p:spPr>
      </p:pic>
      <p:pic>
        <p:nvPicPr>
          <p:cNvPr id="116" name="Icon 116" descr="java"/>
          <p:cNvPicPr>
            <a:picLocks noChangeAspect="1"/>
          </p:cNvPicPr>
          <p:nvPr/>
        </p:nvPicPr>
        <p:blipFill>
          <a:blip r:embed="rId7"/>
          <a:stretch>
            <a:fillRect/>
          </a:stretch>
        </p:blipFill>
        <p:spPr>
          <a:xfrm>
            <a:off x="6510528" y="5440680"/>
            <a:ext cx="411480" cy="411480"/>
          </a:xfrm>
          <a:prstGeom prst="rect">
            <a:avLst/>
          </a:prstGeom>
        </p:spPr>
      </p:pic>
    </p:spTree>
    <p:extLst>
      <p:ext uri="{BB962C8B-B14F-4D97-AF65-F5344CB8AC3E}">
        <p14:creationId xmlns:p14="http://schemas.microsoft.com/office/powerpoint/2010/main" val="3213131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7B939-6101-C121-84F0-68E77C18C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7C394-23BE-CD45-F39E-CBF375F4CADC}"/>
              </a:ext>
            </a:extLst>
          </p:cNvPr>
          <p:cNvSpPr>
            <a:spLocks noGrp="1"/>
          </p:cNvSpPr>
          <p:nvPr>
            <p:ph type="title"/>
          </p:nvPr>
        </p:nvSpPr>
        <p:spPr/>
        <p:txBody>
          <a:bodyPr/>
          <a:lstStyle/>
          <a:p>
            <a:r>
              <a:rPr lang="en-GB" dirty="0">
                <a:ea typeface="Verdana"/>
                <a:cs typeface="Gill Sans"/>
              </a:rPr>
              <a:t>What is your experience with R?</a:t>
            </a:r>
          </a:p>
        </p:txBody>
      </p:sp>
      <p:sp>
        <p:nvSpPr>
          <p:cNvPr id="101" name="Card 101"/>
          <p:cNvSpPr/>
          <p:nvPr/>
        </p:nvSpPr>
        <p:spPr>
          <a:xfrm>
            <a:off x="841248" y="1463040"/>
            <a:ext cx="2388870" cy="3566160"/>
          </a:xfrm>
          <a:prstGeom prst="roundRect">
            <a:avLst>
              <a:gd name="adj" fmla="val 6000"/>
            </a:avLst>
          </a:prstGeom>
          <a:solidFill>
            <a:srgbClr val="F2F2F2"/>
          </a:solidFill>
          <a:ln>
            <a:noFill/>
          </a:ln>
        </p:spPr>
        <p:txBody>
          <a:bodyPr/>
          <a:lstStyle/>
          <a:p>
            <a:endParaRPr lang="fr-FR"/>
          </a:p>
        </p:txBody>
      </p:sp>
      <p:sp>
        <p:nvSpPr>
          <p:cNvPr id="102" name="IconBg 102"/>
          <p:cNvSpPr/>
          <p:nvPr/>
        </p:nvSpPr>
        <p:spPr>
          <a:xfrm>
            <a:off x="1487043" y="1828800"/>
            <a:ext cx="1097280" cy="1097280"/>
          </a:xfrm>
          <a:prstGeom prst="ellipse">
            <a:avLst/>
          </a:prstGeom>
          <a:solidFill>
            <a:srgbClr val="F8C9CC"/>
          </a:solidFill>
          <a:ln>
            <a:noFill/>
          </a:ln>
        </p:spPr>
        <p:txBody>
          <a:bodyPr/>
          <a:lstStyle/>
          <a:p>
            <a:endParaRPr lang="fr-FR"/>
          </a:p>
        </p:txBody>
      </p:sp>
      <p:pic>
        <p:nvPicPr>
          <p:cNvPr id="103" name="Icon 103" descr="neverr"/>
          <p:cNvPicPr>
            <a:picLocks noChangeAspect="1"/>
          </p:cNvPicPr>
          <p:nvPr/>
        </p:nvPicPr>
        <p:blipFill>
          <a:blip r:embed="rId2"/>
          <a:stretch>
            <a:fillRect/>
          </a:stretch>
        </p:blipFill>
        <p:spPr>
          <a:xfrm>
            <a:off x="1750390" y="2092147"/>
            <a:ext cx="570586" cy="570586"/>
          </a:xfrm>
          <a:prstGeom prst="rect">
            <a:avLst/>
          </a:prstGeom>
        </p:spPr>
      </p:pic>
      <p:sp>
        <p:nvSpPr>
          <p:cNvPr id="104" name="Text 104"/>
          <p:cNvSpPr txBox="1"/>
          <p:nvPr/>
        </p:nvSpPr>
        <p:spPr>
          <a:xfrm>
            <a:off x="1024128" y="3200400"/>
            <a:ext cx="2023110" cy="1645920"/>
          </a:xfrm>
          <a:prstGeom prst="rect">
            <a:avLst/>
          </a:prstGeom>
          <a:noFill/>
          <a:ln>
            <a:noFill/>
          </a:ln>
        </p:spPr>
        <p:txBody>
          <a:bodyPr wrap="square" lIns="0" tIns="0" rIns="0" bIns="0" rtlCol="0" anchor="t">
            <a:noAutofit/>
          </a:bodyPr>
          <a:lstStyle/>
          <a:p>
            <a:pPr marL="0" indent="0" algn="ctr">
              <a:spcAft>
                <a:spcPts val="600"/>
              </a:spcAft>
              <a:buNone/>
            </a:pPr>
            <a:r>
              <a:rPr lang="en-GB" sz="1700" b="1" dirty="0">
                <a:solidFill>
                  <a:srgbClr val="333333"/>
                </a:solidFill>
              </a:rPr>
              <a:t>Never tried</a:t>
            </a:r>
            <a:endParaRPr lang="en-GB" sz="1400" dirty="0"/>
          </a:p>
          <a:p>
            <a:pPr marL="0" indent="0" algn="ctr">
              <a:spcAft>
                <a:spcPts val="0"/>
              </a:spcAft>
              <a:buNone/>
            </a:pPr>
            <a:r>
              <a:rPr lang="en-GB" sz="1300" i="1" dirty="0">
                <a:solidFill>
                  <a:srgbClr val="6B6B6B"/>
                </a:solidFill>
              </a:rPr>
              <a:t>I have never used R</a:t>
            </a:r>
            <a:endParaRPr lang="en-GB" sz="1400" dirty="0"/>
          </a:p>
        </p:txBody>
      </p:sp>
      <p:sp>
        <p:nvSpPr>
          <p:cNvPr id="105" name="Card 105"/>
          <p:cNvSpPr/>
          <p:nvPr/>
        </p:nvSpPr>
        <p:spPr>
          <a:xfrm>
            <a:off x="3550158" y="1463040"/>
            <a:ext cx="2388870" cy="3566160"/>
          </a:xfrm>
          <a:prstGeom prst="roundRect">
            <a:avLst>
              <a:gd name="adj" fmla="val 6000"/>
            </a:avLst>
          </a:prstGeom>
          <a:solidFill>
            <a:srgbClr val="F2F2F2"/>
          </a:solidFill>
          <a:ln>
            <a:noFill/>
          </a:ln>
        </p:spPr>
        <p:txBody>
          <a:bodyPr/>
          <a:lstStyle/>
          <a:p>
            <a:endParaRPr lang="fr-FR"/>
          </a:p>
        </p:txBody>
      </p:sp>
      <p:sp>
        <p:nvSpPr>
          <p:cNvPr id="106" name="IconBg 106"/>
          <p:cNvSpPr/>
          <p:nvPr/>
        </p:nvSpPr>
        <p:spPr>
          <a:xfrm>
            <a:off x="4195953" y="1828800"/>
            <a:ext cx="1097280" cy="1097280"/>
          </a:xfrm>
          <a:prstGeom prst="ellipse">
            <a:avLst/>
          </a:prstGeom>
          <a:solidFill>
            <a:srgbClr val="F09096"/>
          </a:solidFill>
          <a:ln>
            <a:noFill/>
          </a:ln>
        </p:spPr>
        <p:txBody>
          <a:bodyPr/>
          <a:lstStyle/>
          <a:p>
            <a:endParaRPr lang="fr-FR"/>
          </a:p>
        </p:txBody>
      </p:sp>
      <p:pic>
        <p:nvPicPr>
          <p:cNvPr id="107" name="Icon 107" descr="keyboard"/>
          <p:cNvPicPr>
            <a:picLocks noChangeAspect="1"/>
          </p:cNvPicPr>
          <p:nvPr/>
        </p:nvPicPr>
        <p:blipFill>
          <a:blip r:embed="rId3"/>
          <a:stretch>
            <a:fillRect/>
          </a:stretch>
        </p:blipFill>
        <p:spPr>
          <a:xfrm>
            <a:off x="4459300" y="2092147"/>
            <a:ext cx="570586" cy="570586"/>
          </a:xfrm>
          <a:prstGeom prst="rect">
            <a:avLst/>
          </a:prstGeom>
        </p:spPr>
      </p:pic>
      <p:sp>
        <p:nvSpPr>
          <p:cNvPr id="108" name="Text 108"/>
          <p:cNvSpPr txBox="1"/>
          <p:nvPr/>
        </p:nvSpPr>
        <p:spPr>
          <a:xfrm>
            <a:off x="3733038" y="3200400"/>
            <a:ext cx="2023110" cy="1645920"/>
          </a:xfrm>
          <a:prstGeom prst="rect">
            <a:avLst/>
          </a:prstGeom>
          <a:noFill/>
          <a:ln>
            <a:noFill/>
          </a:ln>
        </p:spPr>
        <p:txBody>
          <a:bodyPr wrap="square" lIns="0" tIns="0" rIns="0" bIns="0" rtlCol="0" anchor="t">
            <a:noAutofit/>
          </a:bodyPr>
          <a:lstStyle/>
          <a:p>
            <a:pPr marL="0" indent="0" algn="ctr">
              <a:spcAft>
                <a:spcPts val="600"/>
              </a:spcAft>
              <a:buNone/>
            </a:pPr>
            <a:r>
              <a:rPr lang="en-GB" sz="1700" b="1" dirty="0">
                <a:solidFill>
                  <a:srgbClr val="333333"/>
                </a:solidFill>
              </a:rPr>
              <a:t>A few commands</a:t>
            </a:r>
            <a:endParaRPr lang="en-GB" sz="1400" dirty="0"/>
          </a:p>
          <a:p>
            <a:pPr marL="0" indent="0" algn="ctr">
              <a:spcAft>
                <a:spcPts val="0"/>
              </a:spcAft>
              <a:buNone/>
            </a:pPr>
            <a:r>
              <a:rPr lang="en-GB" sz="1300" i="1" dirty="0">
                <a:solidFill>
                  <a:srgbClr val="6B6B6B"/>
                </a:solidFill>
              </a:rPr>
              <a:t>I ran some commands or did a few exercises</a:t>
            </a:r>
            <a:endParaRPr lang="en-GB" sz="1400" dirty="0"/>
          </a:p>
        </p:txBody>
      </p:sp>
      <p:sp>
        <p:nvSpPr>
          <p:cNvPr id="109" name="Card 109"/>
          <p:cNvSpPr/>
          <p:nvPr/>
        </p:nvSpPr>
        <p:spPr>
          <a:xfrm>
            <a:off x="6259068" y="1463040"/>
            <a:ext cx="2388870" cy="3566160"/>
          </a:xfrm>
          <a:prstGeom prst="roundRect">
            <a:avLst>
              <a:gd name="adj" fmla="val 6000"/>
            </a:avLst>
          </a:prstGeom>
          <a:solidFill>
            <a:srgbClr val="F2F2F2"/>
          </a:solidFill>
          <a:ln>
            <a:noFill/>
          </a:ln>
        </p:spPr>
        <p:txBody>
          <a:bodyPr/>
          <a:lstStyle/>
          <a:p>
            <a:endParaRPr lang="fr-FR"/>
          </a:p>
        </p:txBody>
      </p:sp>
      <p:sp>
        <p:nvSpPr>
          <p:cNvPr id="110" name="IconBg 110"/>
          <p:cNvSpPr/>
          <p:nvPr/>
        </p:nvSpPr>
        <p:spPr>
          <a:xfrm>
            <a:off x="6904863" y="1828800"/>
            <a:ext cx="1097280" cy="1097280"/>
          </a:xfrm>
          <a:prstGeom prst="ellipse">
            <a:avLst/>
          </a:prstGeom>
          <a:solidFill>
            <a:srgbClr val="E9525B"/>
          </a:solidFill>
          <a:ln>
            <a:noFill/>
          </a:ln>
        </p:spPr>
        <p:txBody>
          <a:bodyPr/>
          <a:lstStyle/>
          <a:p>
            <a:endParaRPr lang="fr-FR"/>
          </a:p>
        </p:txBody>
      </p:sp>
      <p:pic>
        <p:nvPicPr>
          <p:cNvPr id="111" name="Icon 111" descr="chart"/>
          <p:cNvPicPr>
            <a:picLocks noChangeAspect="1"/>
          </p:cNvPicPr>
          <p:nvPr/>
        </p:nvPicPr>
        <p:blipFill>
          <a:blip r:embed="rId4"/>
          <a:stretch>
            <a:fillRect/>
          </a:stretch>
        </p:blipFill>
        <p:spPr>
          <a:xfrm>
            <a:off x="7168210" y="2092147"/>
            <a:ext cx="570586" cy="570586"/>
          </a:xfrm>
          <a:prstGeom prst="rect">
            <a:avLst/>
          </a:prstGeom>
        </p:spPr>
      </p:pic>
      <p:sp>
        <p:nvSpPr>
          <p:cNvPr id="112" name="Text 112"/>
          <p:cNvSpPr txBox="1"/>
          <p:nvPr/>
        </p:nvSpPr>
        <p:spPr>
          <a:xfrm>
            <a:off x="6441948" y="3200400"/>
            <a:ext cx="2023110" cy="1645920"/>
          </a:xfrm>
          <a:prstGeom prst="rect">
            <a:avLst/>
          </a:prstGeom>
          <a:noFill/>
          <a:ln>
            <a:noFill/>
          </a:ln>
        </p:spPr>
        <p:txBody>
          <a:bodyPr wrap="square" lIns="0" tIns="0" rIns="0" bIns="0" rtlCol="0" anchor="t">
            <a:noAutofit/>
          </a:bodyPr>
          <a:lstStyle/>
          <a:p>
            <a:pPr marL="0" indent="0" algn="ctr">
              <a:spcAft>
                <a:spcPts val="600"/>
              </a:spcAft>
              <a:buNone/>
            </a:pPr>
            <a:r>
              <a:rPr lang="en-GB" sz="1700" b="1" dirty="0">
                <a:solidFill>
                  <a:srgbClr val="333333"/>
                </a:solidFill>
              </a:rPr>
              <a:t>A bit for real</a:t>
            </a:r>
            <a:endParaRPr lang="en-GB" sz="1400" dirty="0"/>
          </a:p>
          <a:p>
            <a:pPr marL="0" indent="0" algn="ctr">
              <a:spcAft>
                <a:spcPts val="0"/>
              </a:spcAft>
              <a:buNone/>
            </a:pPr>
            <a:r>
              <a:rPr lang="en-GB" sz="1300" i="1" dirty="0">
                <a:solidFill>
                  <a:srgbClr val="6B6B6B"/>
                </a:solidFill>
              </a:rPr>
              <a:t>I used R a little for work or a personal project</a:t>
            </a:r>
            <a:endParaRPr lang="en-GB" sz="1400" dirty="0"/>
          </a:p>
        </p:txBody>
      </p:sp>
      <p:sp>
        <p:nvSpPr>
          <p:cNvPr id="113" name="Card 113"/>
          <p:cNvSpPr/>
          <p:nvPr/>
        </p:nvSpPr>
        <p:spPr>
          <a:xfrm>
            <a:off x="8967978" y="1463040"/>
            <a:ext cx="2388870" cy="3566160"/>
          </a:xfrm>
          <a:prstGeom prst="roundRect">
            <a:avLst>
              <a:gd name="adj" fmla="val 6000"/>
            </a:avLst>
          </a:prstGeom>
          <a:solidFill>
            <a:srgbClr val="F2F2F2"/>
          </a:solidFill>
          <a:ln>
            <a:noFill/>
          </a:ln>
        </p:spPr>
        <p:txBody>
          <a:bodyPr/>
          <a:lstStyle/>
          <a:p>
            <a:endParaRPr lang="fr-FR"/>
          </a:p>
        </p:txBody>
      </p:sp>
      <p:sp>
        <p:nvSpPr>
          <p:cNvPr id="114" name="IconBg 114"/>
          <p:cNvSpPr/>
          <p:nvPr/>
        </p:nvSpPr>
        <p:spPr>
          <a:xfrm>
            <a:off x="9613773" y="1828800"/>
            <a:ext cx="1097280" cy="1097280"/>
          </a:xfrm>
          <a:prstGeom prst="ellipse">
            <a:avLst/>
          </a:prstGeom>
          <a:solidFill>
            <a:srgbClr val="E20613"/>
          </a:solidFill>
          <a:ln>
            <a:noFill/>
          </a:ln>
        </p:spPr>
        <p:txBody>
          <a:bodyPr/>
          <a:lstStyle/>
          <a:p>
            <a:endParaRPr lang="fr-FR"/>
          </a:p>
        </p:txBody>
      </p:sp>
      <p:pic>
        <p:nvPicPr>
          <p:cNvPr id="115" name="Icon 115" descr="rocket"/>
          <p:cNvPicPr>
            <a:picLocks noChangeAspect="1"/>
          </p:cNvPicPr>
          <p:nvPr/>
        </p:nvPicPr>
        <p:blipFill>
          <a:blip r:embed="rId5"/>
          <a:stretch>
            <a:fillRect/>
          </a:stretch>
        </p:blipFill>
        <p:spPr>
          <a:xfrm>
            <a:off x="9877120" y="2092147"/>
            <a:ext cx="570586" cy="570586"/>
          </a:xfrm>
          <a:prstGeom prst="rect">
            <a:avLst/>
          </a:prstGeom>
        </p:spPr>
      </p:pic>
      <p:sp>
        <p:nvSpPr>
          <p:cNvPr id="116" name="Text 116"/>
          <p:cNvSpPr txBox="1"/>
          <p:nvPr/>
        </p:nvSpPr>
        <p:spPr>
          <a:xfrm>
            <a:off x="9150858" y="3200400"/>
            <a:ext cx="2023110" cy="1645920"/>
          </a:xfrm>
          <a:prstGeom prst="rect">
            <a:avLst/>
          </a:prstGeom>
          <a:noFill/>
          <a:ln>
            <a:noFill/>
          </a:ln>
        </p:spPr>
        <p:txBody>
          <a:bodyPr wrap="square" lIns="0" tIns="0" rIns="0" bIns="0" rtlCol="0" anchor="t">
            <a:noAutofit/>
          </a:bodyPr>
          <a:lstStyle/>
          <a:p>
            <a:pPr marL="0" indent="0" algn="ctr">
              <a:spcAft>
                <a:spcPts val="600"/>
              </a:spcAft>
              <a:buNone/>
            </a:pPr>
            <a:r>
              <a:rPr lang="en-GB" sz="1700" b="1" dirty="0">
                <a:solidFill>
                  <a:srgbClr val="333333"/>
                </a:solidFill>
              </a:rPr>
              <a:t>Extensively</a:t>
            </a:r>
            <a:endParaRPr lang="en-GB" sz="1400" dirty="0"/>
          </a:p>
          <a:p>
            <a:pPr marL="0" indent="0" algn="ctr">
              <a:spcAft>
                <a:spcPts val="0"/>
              </a:spcAft>
              <a:buNone/>
            </a:pPr>
            <a:r>
              <a:rPr lang="en-GB" sz="1300" i="1" dirty="0">
                <a:solidFill>
                  <a:srgbClr val="6B6B6B"/>
                </a:solidFill>
              </a:rPr>
              <a:t>...wait, why am I even here?</a:t>
            </a:r>
            <a:endParaRPr lang="en-GB" sz="1400" dirty="0"/>
          </a:p>
        </p:txBody>
      </p:sp>
      <p:sp>
        <p:nvSpPr>
          <p:cNvPr id="117" name="Text 117"/>
          <p:cNvSpPr txBox="1"/>
          <p:nvPr/>
        </p:nvSpPr>
        <p:spPr>
          <a:xfrm>
            <a:off x="841248" y="5257800"/>
            <a:ext cx="10515600" cy="365760"/>
          </a:xfrm>
          <a:prstGeom prst="rect">
            <a:avLst/>
          </a:prstGeom>
          <a:noFill/>
          <a:ln>
            <a:noFill/>
          </a:ln>
        </p:spPr>
        <p:txBody>
          <a:bodyPr wrap="square" lIns="0" tIns="0" rIns="0" bIns="0" rtlCol="0" anchor="t">
            <a:noAutofit/>
          </a:bodyPr>
          <a:lstStyle/>
          <a:p>
            <a:pPr marL="0" indent="0" algn="ctr">
              <a:spcAft>
                <a:spcPts val="0"/>
              </a:spcAft>
              <a:buNone/>
            </a:pPr>
            <a:r>
              <a:rPr lang="en-GB" sz="1400" i="1" dirty="0">
                <a:solidFill>
                  <a:srgbClr val="6B6B6B"/>
                </a:solidFill>
              </a:rPr>
              <a:t>Every level is welcome: the exercises have extra tasks for the fast ones.</a:t>
            </a:r>
            <a:endParaRPr lang="en-GB" sz="1400" dirty="0"/>
          </a:p>
        </p:txBody>
      </p:sp>
    </p:spTree>
    <p:extLst>
      <p:ext uri="{BB962C8B-B14F-4D97-AF65-F5344CB8AC3E}">
        <p14:creationId xmlns:p14="http://schemas.microsoft.com/office/powerpoint/2010/main" val="300495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8195-DDC3-1C1D-BB02-AB8733E1EC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7A019C-88F0-505B-130B-6ACA1D5ADE83}"/>
              </a:ext>
            </a:extLst>
          </p:cNvPr>
          <p:cNvSpPr>
            <a:spLocks noGrp="1"/>
          </p:cNvSpPr>
          <p:nvPr>
            <p:ph type="title"/>
          </p:nvPr>
        </p:nvSpPr>
        <p:spPr/>
        <p:txBody>
          <a:bodyPr/>
          <a:lstStyle/>
          <a:p>
            <a:r>
              <a:rPr lang="fr-FR" dirty="0"/>
              <a:t>Why learn R?</a:t>
            </a:r>
            <a:endParaRPr lang="en-GB" dirty="0"/>
          </a:p>
        </p:txBody>
      </p:sp>
      <p:sp>
        <p:nvSpPr>
          <p:cNvPr id="3" name="Text Placeholder 2">
            <a:extLst>
              <a:ext uri="{FF2B5EF4-FFF2-40B4-BE49-F238E27FC236}">
                <a16:creationId xmlns:a16="http://schemas.microsoft.com/office/drawing/2014/main" id="{E42DEAAF-3CBF-A2B9-0C6A-F56C2E9EC5C2}"/>
              </a:ext>
            </a:extLst>
          </p:cNvPr>
          <p:cNvSpPr>
            <a:spLocks noGrp="1"/>
          </p:cNvSpPr>
          <p:nvPr>
            <p:ph type="body" sz="quarter" idx="11"/>
          </p:nvPr>
        </p:nvSpPr>
        <p:spPr>
          <a:xfrm>
            <a:off x="838200" y="1153069"/>
            <a:ext cx="10515600" cy="4351338"/>
          </a:xfrm>
        </p:spPr>
        <p:txBody>
          <a:bodyPr vert="horz" lIns="91440" tIns="45720" rIns="91440" bIns="45720" rtlCol="0" anchor="t">
            <a:noAutofit/>
          </a:bodyPr>
          <a:lstStyle/>
          <a:p>
            <a:pPr marL="342900" indent="-342900">
              <a:buChar char="•"/>
            </a:pPr>
            <a:r>
              <a:rPr lang="de-CH" sz="4000" dirty="0" err="1">
                <a:ea typeface="Tahoma"/>
                <a:cs typeface="Gill Sans Light"/>
              </a:rPr>
              <a:t>Suppose you have made some nice plots to show your collaborators</a:t>
            </a:r>
            <a:endParaRPr lang="en-US" sz="4000" dirty="0"/>
          </a:p>
          <a:p>
            <a:endParaRPr lang="en-GB" sz="4000" dirty="0"/>
          </a:p>
          <a:p>
            <a:endParaRPr lang="en-GB" sz="4000" dirty="0"/>
          </a:p>
          <a:p>
            <a:endParaRPr lang="en-GB" sz="4000" dirty="0"/>
          </a:p>
        </p:txBody>
      </p:sp>
      <p:grpSp>
        <p:nvGrpSpPr>
          <p:cNvPr id="5" name="Groupe 4">
            <a:extLst>
              <a:ext uri="{FF2B5EF4-FFF2-40B4-BE49-F238E27FC236}">
                <a16:creationId xmlns:a16="http://schemas.microsoft.com/office/drawing/2014/main" id="{5F9EF44F-9900-B926-27C9-781924729BAD}"/>
              </a:ext>
            </a:extLst>
          </p:cNvPr>
          <p:cNvGrpSpPr/>
          <p:nvPr/>
        </p:nvGrpSpPr>
        <p:grpSpPr>
          <a:xfrm>
            <a:off x="1479213" y="2454883"/>
            <a:ext cx="8504542" cy="3886200"/>
            <a:chOff x="1628503" y="2566851"/>
            <a:chExt cx="8504542" cy="3886200"/>
          </a:xfrm>
        </p:grpSpPr>
        <p:pic>
          <p:nvPicPr>
            <p:cNvPr id="7" name="Image 6">
              <a:extLst>
                <a:ext uri="{FF2B5EF4-FFF2-40B4-BE49-F238E27FC236}">
                  <a16:creationId xmlns:a16="http://schemas.microsoft.com/office/drawing/2014/main" id="{DDADB862-AB2C-DC17-B57A-E71E703623C5}"/>
                </a:ext>
              </a:extLst>
            </p:cNvPr>
            <p:cNvPicPr>
              <a:picLocks noChangeAspect="1"/>
            </p:cNvPicPr>
            <p:nvPr/>
          </p:nvPicPr>
          <p:blipFill>
            <a:blip r:embed="rId2"/>
            <a:srcRect l="1" r="664"/>
            <a:stretch>
              <a:fillRect/>
            </a:stretch>
          </p:blipFill>
          <p:spPr>
            <a:xfrm>
              <a:off x="1628503" y="2566851"/>
              <a:ext cx="7720770" cy="3886200"/>
            </a:xfrm>
            <a:prstGeom prst="rect">
              <a:avLst/>
            </a:prstGeom>
          </p:spPr>
        </p:pic>
        <p:sp>
          <p:nvSpPr>
            <p:cNvPr id="4" name="Rectangle 3">
              <a:extLst>
                <a:ext uri="{FF2B5EF4-FFF2-40B4-BE49-F238E27FC236}">
                  <a16:creationId xmlns:a16="http://schemas.microsoft.com/office/drawing/2014/main" id="{A1ED3E8A-5AB3-572F-6DE9-B984E18A49EC}"/>
                </a:ext>
              </a:extLst>
            </p:cNvPr>
            <p:cNvSpPr/>
            <p:nvPr/>
          </p:nvSpPr>
          <p:spPr>
            <a:xfrm>
              <a:off x="5803641" y="3097763"/>
              <a:ext cx="4329404" cy="31350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6" name="ZoneTexte 5">
            <a:extLst>
              <a:ext uri="{FF2B5EF4-FFF2-40B4-BE49-F238E27FC236}">
                <a16:creationId xmlns:a16="http://schemas.microsoft.com/office/drawing/2014/main" id="{9D9DD2F5-0C6F-AC4C-BE9A-D60A1E954FB7}"/>
              </a:ext>
            </a:extLst>
          </p:cNvPr>
          <p:cNvSpPr txBox="1"/>
          <p:nvPr/>
        </p:nvSpPr>
        <p:spPr>
          <a:xfrm>
            <a:off x="8045320" y="3601615"/>
            <a:ext cx="2873829" cy="1200329"/>
          </a:xfrm>
          <a:prstGeom prst="rect">
            <a:avLst/>
          </a:prstGeom>
          <a:noFill/>
        </p:spPr>
        <p:txBody>
          <a:bodyPr wrap="square" rtlCol="0">
            <a:spAutoFit/>
          </a:bodyPr>
          <a:lstStyle/>
          <a:p>
            <a:r>
              <a:rPr lang="fr-FR" dirty="0"/>
              <a:t>A tip found online: as a first step, tidy up the columns of your data frame with the sort() function</a:t>
            </a:r>
          </a:p>
        </p:txBody>
      </p:sp>
    </p:spTree>
    <p:extLst>
      <p:ext uri="{BB962C8B-B14F-4D97-AF65-F5344CB8AC3E}">
        <p14:creationId xmlns:p14="http://schemas.microsoft.com/office/powerpoint/2010/main" val="362767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8B524-63EA-3686-FFA4-EAD503ED96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3CA82-C635-4503-E0BC-304B310DA6E8}"/>
              </a:ext>
            </a:extLst>
          </p:cNvPr>
          <p:cNvSpPr>
            <a:spLocks noGrp="1"/>
          </p:cNvSpPr>
          <p:nvPr>
            <p:ph type="title"/>
          </p:nvPr>
        </p:nvSpPr>
        <p:spPr/>
        <p:txBody>
          <a:bodyPr/>
          <a:lstStyle/>
          <a:p>
            <a:r>
              <a:rPr lang="fr-FR" dirty="0"/>
              <a:t>Why learn R?</a:t>
            </a:r>
            <a:endParaRPr lang="en-GB" dirty="0"/>
          </a:p>
        </p:txBody>
      </p:sp>
      <p:sp>
        <p:nvSpPr>
          <p:cNvPr id="3" name="Text Placeholder 2">
            <a:extLst>
              <a:ext uri="{FF2B5EF4-FFF2-40B4-BE49-F238E27FC236}">
                <a16:creationId xmlns:a16="http://schemas.microsoft.com/office/drawing/2014/main" id="{84D7B20E-82A9-10D5-D937-5165F24B4281}"/>
              </a:ext>
            </a:extLst>
          </p:cNvPr>
          <p:cNvSpPr>
            <a:spLocks noGrp="1"/>
          </p:cNvSpPr>
          <p:nvPr>
            <p:ph type="body" sz="quarter" idx="11"/>
          </p:nvPr>
        </p:nvSpPr>
        <p:spPr>
          <a:xfrm>
            <a:off x="838200" y="1153069"/>
            <a:ext cx="10515600" cy="4351338"/>
          </a:xfrm>
        </p:spPr>
        <p:txBody>
          <a:bodyPr vert="horz" lIns="91440" tIns="45720" rIns="91440" bIns="45720" rtlCol="0" anchor="t">
            <a:noAutofit/>
          </a:bodyPr>
          <a:lstStyle/>
          <a:p>
            <a:pPr marL="342900" indent="-342900">
              <a:buChar char="•"/>
            </a:pPr>
            <a:r>
              <a:rPr lang="de-CH" sz="4000" dirty="0" err="1">
                <a:ea typeface="Tahoma"/>
                <a:cs typeface="Gill Sans Light"/>
              </a:rPr>
              <a:t>Suppose you have made some nice plots to show your collaborators</a:t>
            </a:r>
            <a:endParaRPr lang="en-US" sz="4000" dirty="0"/>
          </a:p>
          <a:p>
            <a:endParaRPr lang="en-GB" sz="4000" dirty="0"/>
          </a:p>
          <a:p>
            <a:endParaRPr lang="en-GB" sz="4000" dirty="0"/>
          </a:p>
          <a:p>
            <a:endParaRPr lang="en-GB" sz="4000" dirty="0"/>
          </a:p>
        </p:txBody>
      </p:sp>
      <p:grpSp>
        <p:nvGrpSpPr>
          <p:cNvPr id="5" name="Groupe 4">
            <a:extLst>
              <a:ext uri="{FF2B5EF4-FFF2-40B4-BE49-F238E27FC236}">
                <a16:creationId xmlns:a16="http://schemas.microsoft.com/office/drawing/2014/main" id="{AD709209-516B-AE64-CC8E-DF826BE08B10}"/>
              </a:ext>
            </a:extLst>
          </p:cNvPr>
          <p:cNvGrpSpPr/>
          <p:nvPr/>
        </p:nvGrpSpPr>
        <p:grpSpPr>
          <a:xfrm>
            <a:off x="1479213" y="2454883"/>
            <a:ext cx="8504542" cy="3886200"/>
            <a:chOff x="1628503" y="2566851"/>
            <a:chExt cx="8504542" cy="3886200"/>
          </a:xfrm>
        </p:grpSpPr>
        <p:pic>
          <p:nvPicPr>
            <p:cNvPr id="7" name="Image 6">
              <a:extLst>
                <a:ext uri="{FF2B5EF4-FFF2-40B4-BE49-F238E27FC236}">
                  <a16:creationId xmlns:a16="http://schemas.microsoft.com/office/drawing/2014/main" id="{F2F5C8D7-6374-3FB2-AB4D-46E7B955D7E5}"/>
                </a:ext>
              </a:extLst>
            </p:cNvPr>
            <p:cNvPicPr>
              <a:picLocks noChangeAspect="1"/>
            </p:cNvPicPr>
            <p:nvPr/>
          </p:nvPicPr>
          <p:blipFill>
            <a:blip r:embed="rId2"/>
            <a:srcRect l="1" r="664"/>
            <a:stretch>
              <a:fillRect/>
            </a:stretch>
          </p:blipFill>
          <p:spPr>
            <a:xfrm>
              <a:off x="1628503" y="2566851"/>
              <a:ext cx="7720770" cy="3886200"/>
            </a:xfrm>
            <a:prstGeom prst="rect">
              <a:avLst/>
            </a:prstGeom>
          </p:spPr>
        </p:pic>
        <p:sp>
          <p:nvSpPr>
            <p:cNvPr id="4" name="Rectangle 3">
              <a:extLst>
                <a:ext uri="{FF2B5EF4-FFF2-40B4-BE49-F238E27FC236}">
                  <a16:creationId xmlns:a16="http://schemas.microsoft.com/office/drawing/2014/main" id="{2E4A995A-BB21-A59B-6951-BC6EB65CC5EE}"/>
                </a:ext>
              </a:extLst>
            </p:cNvPr>
            <p:cNvSpPr/>
            <p:nvPr/>
          </p:nvSpPr>
          <p:spPr>
            <a:xfrm>
              <a:off x="5803641" y="3097763"/>
              <a:ext cx="4329404" cy="31350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6" name="ZoneTexte 5">
            <a:extLst>
              <a:ext uri="{FF2B5EF4-FFF2-40B4-BE49-F238E27FC236}">
                <a16:creationId xmlns:a16="http://schemas.microsoft.com/office/drawing/2014/main" id="{B0415080-B361-CB0B-F9E5-F626353212B0}"/>
              </a:ext>
            </a:extLst>
          </p:cNvPr>
          <p:cNvSpPr txBox="1"/>
          <p:nvPr/>
        </p:nvSpPr>
        <p:spPr>
          <a:xfrm>
            <a:off x="7819053" y="2985795"/>
            <a:ext cx="2873829" cy="1200329"/>
          </a:xfrm>
          <a:prstGeom prst="rect">
            <a:avLst/>
          </a:prstGeom>
          <a:noFill/>
        </p:spPr>
        <p:txBody>
          <a:bodyPr wrap="square" rtlCol="0">
            <a:spAutoFit/>
          </a:bodyPr>
          <a:lstStyle/>
          <a:p>
            <a:r>
              <a:rPr lang="fr-FR" dirty="0"/>
              <a:t>A tip found online: as a first step, tidy up the columns of your data frame with the sort() function</a:t>
            </a:r>
          </a:p>
        </p:txBody>
      </p:sp>
      <p:sp>
        <p:nvSpPr>
          <p:cNvPr id="8" name="ZoneTexte 7">
            <a:extLst>
              <a:ext uri="{FF2B5EF4-FFF2-40B4-BE49-F238E27FC236}">
                <a16:creationId xmlns:a16="http://schemas.microsoft.com/office/drawing/2014/main" id="{1C42902A-C8BC-6B27-2C17-27C61D9B965D}"/>
              </a:ext>
            </a:extLst>
          </p:cNvPr>
          <p:cNvSpPr txBox="1"/>
          <p:nvPr/>
        </p:nvSpPr>
        <p:spPr>
          <a:xfrm>
            <a:off x="6544182" y="4612315"/>
            <a:ext cx="5556068" cy="1200329"/>
          </a:xfrm>
          <a:prstGeom prst="rect">
            <a:avLst/>
          </a:prstGeom>
          <a:noFill/>
        </p:spPr>
        <p:txBody>
          <a:bodyPr wrap="square" rtlCol="0">
            <a:spAutoFit/>
          </a:bodyPr>
          <a:lstStyle/>
          <a:p>
            <a:r>
              <a:rPr lang="fr-FR" dirty="0" err="1"/>
              <a:t>tidy</a:t>
            </a:r>
            <a:r>
              <a:rPr lang="fr-FR" dirty="0"/>
              <a:t> &lt;- </a:t>
            </a:r>
            <a:r>
              <a:rPr lang="fr-FR" dirty="0" err="1"/>
              <a:t>students</a:t>
            </a:r>
            <a:endParaRPr lang="fr-FR" dirty="0"/>
          </a:p>
          <a:p>
            <a:r>
              <a:rPr lang="fr-FR" dirty="0" err="1"/>
              <a:t>tidy$sleep</a:t>
            </a:r>
            <a:r>
              <a:rPr lang="fr-FR" dirty="0"/>
              <a:t> &lt;- sort(</a:t>
            </a:r>
            <a:r>
              <a:rPr lang="fr-FR" dirty="0" err="1"/>
              <a:t>tidy$sleep</a:t>
            </a:r>
            <a:r>
              <a:rPr lang="fr-FR" dirty="0"/>
              <a:t>)     # &lt;- looks </a:t>
            </a:r>
            <a:r>
              <a:rPr lang="fr-FR" dirty="0" err="1"/>
              <a:t>harmless</a:t>
            </a:r>
            <a:r>
              <a:rPr lang="fr-FR" dirty="0"/>
              <a:t>...</a:t>
            </a:r>
          </a:p>
          <a:p>
            <a:r>
              <a:rPr lang="fr-FR" dirty="0" err="1"/>
              <a:t>tidy$score</a:t>
            </a:r>
            <a:r>
              <a:rPr lang="fr-FR" dirty="0"/>
              <a:t> &lt;- sort(</a:t>
            </a:r>
            <a:r>
              <a:rPr lang="fr-FR" dirty="0" err="1"/>
              <a:t>tidy$score</a:t>
            </a:r>
            <a:r>
              <a:rPr lang="fr-FR" dirty="0"/>
              <a:t>)     # &lt;- ...but </a:t>
            </a:r>
            <a:r>
              <a:rPr lang="fr-FR" dirty="0" err="1"/>
              <a:t>is</a:t>
            </a:r>
            <a:r>
              <a:rPr lang="fr-FR" dirty="0"/>
              <a:t> </a:t>
            </a:r>
            <a:r>
              <a:rPr lang="fr-FR" dirty="0" err="1"/>
              <a:t>it</a:t>
            </a:r>
            <a:r>
              <a:rPr lang="fr-FR" dirty="0"/>
              <a:t>?</a:t>
            </a:r>
          </a:p>
          <a:p>
            <a:endParaRPr lang="fr-FR" dirty="0"/>
          </a:p>
        </p:txBody>
      </p:sp>
    </p:spTree>
    <p:extLst>
      <p:ext uri="{BB962C8B-B14F-4D97-AF65-F5344CB8AC3E}">
        <p14:creationId xmlns:p14="http://schemas.microsoft.com/office/powerpoint/2010/main" val="3268735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5EE55-9C1F-58B8-6FAA-4B64F422C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A894EE-C7EC-BE94-88D5-EA1CFDA7EE2C}"/>
              </a:ext>
            </a:extLst>
          </p:cNvPr>
          <p:cNvSpPr>
            <a:spLocks noGrp="1"/>
          </p:cNvSpPr>
          <p:nvPr>
            <p:ph type="title"/>
          </p:nvPr>
        </p:nvSpPr>
        <p:spPr/>
        <p:txBody>
          <a:bodyPr/>
          <a:lstStyle/>
          <a:p>
            <a:r>
              <a:rPr lang="fr-FR" dirty="0"/>
              <a:t>Why learn R?</a:t>
            </a:r>
            <a:endParaRPr lang="en-GB" dirty="0"/>
          </a:p>
        </p:txBody>
      </p:sp>
      <p:sp>
        <p:nvSpPr>
          <p:cNvPr id="3" name="Text Placeholder 2">
            <a:extLst>
              <a:ext uri="{FF2B5EF4-FFF2-40B4-BE49-F238E27FC236}">
                <a16:creationId xmlns:a16="http://schemas.microsoft.com/office/drawing/2014/main" id="{29F8EAEA-55B8-1CB0-F5E2-761964AB60FE}"/>
              </a:ext>
            </a:extLst>
          </p:cNvPr>
          <p:cNvSpPr>
            <a:spLocks noGrp="1"/>
          </p:cNvSpPr>
          <p:nvPr>
            <p:ph type="body" sz="quarter" idx="11"/>
          </p:nvPr>
        </p:nvSpPr>
        <p:spPr>
          <a:xfrm>
            <a:off x="838200" y="1153069"/>
            <a:ext cx="10515600" cy="4351338"/>
          </a:xfrm>
        </p:spPr>
        <p:txBody>
          <a:bodyPr vert="horz" lIns="91440" tIns="45720" rIns="91440" bIns="45720" rtlCol="0" anchor="t">
            <a:noAutofit/>
          </a:bodyPr>
          <a:lstStyle/>
          <a:p>
            <a:pPr marL="342900" indent="-342900">
              <a:buChar char="•"/>
            </a:pPr>
            <a:r>
              <a:rPr lang="de-CH" sz="4000" dirty="0" err="1">
                <a:ea typeface="Tahoma"/>
                <a:cs typeface="Gill Sans Light"/>
              </a:rPr>
              <a:t>Suppose you have made some nice plots to show your collaborators</a:t>
            </a:r>
            <a:endParaRPr lang="en-US" sz="4000" dirty="0"/>
          </a:p>
          <a:p>
            <a:endParaRPr lang="en-GB" sz="4000" dirty="0"/>
          </a:p>
          <a:p>
            <a:endParaRPr lang="en-GB" sz="4000" dirty="0"/>
          </a:p>
          <a:p>
            <a:endParaRPr lang="en-GB" sz="4000" dirty="0"/>
          </a:p>
        </p:txBody>
      </p:sp>
      <p:grpSp>
        <p:nvGrpSpPr>
          <p:cNvPr id="5" name="Groupe 4">
            <a:extLst>
              <a:ext uri="{FF2B5EF4-FFF2-40B4-BE49-F238E27FC236}">
                <a16:creationId xmlns:a16="http://schemas.microsoft.com/office/drawing/2014/main" id="{976495BC-718C-DAA0-18FD-13255A1A5716}"/>
              </a:ext>
            </a:extLst>
          </p:cNvPr>
          <p:cNvGrpSpPr/>
          <p:nvPr/>
        </p:nvGrpSpPr>
        <p:grpSpPr>
          <a:xfrm>
            <a:off x="1479213" y="2454883"/>
            <a:ext cx="8504542" cy="3886200"/>
            <a:chOff x="1628503" y="2566851"/>
            <a:chExt cx="8504542" cy="3886200"/>
          </a:xfrm>
        </p:grpSpPr>
        <p:pic>
          <p:nvPicPr>
            <p:cNvPr id="7" name="Image 6">
              <a:extLst>
                <a:ext uri="{FF2B5EF4-FFF2-40B4-BE49-F238E27FC236}">
                  <a16:creationId xmlns:a16="http://schemas.microsoft.com/office/drawing/2014/main" id="{309CB115-4086-5B5A-468A-2800D33392FC}"/>
                </a:ext>
              </a:extLst>
            </p:cNvPr>
            <p:cNvPicPr>
              <a:picLocks noChangeAspect="1"/>
            </p:cNvPicPr>
            <p:nvPr/>
          </p:nvPicPr>
          <p:blipFill>
            <a:blip r:embed="rId2"/>
            <a:srcRect l="1" r="664"/>
            <a:stretch>
              <a:fillRect/>
            </a:stretch>
          </p:blipFill>
          <p:spPr>
            <a:xfrm>
              <a:off x="1628503" y="2566851"/>
              <a:ext cx="7720770" cy="3886200"/>
            </a:xfrm>
            <a:prstGeom prst="rect">
              <a:avLst/>
            </a:prstGeom>
          </p:spPr>
        </p:pic>
        <p:sp>
          <p:nvSpPr>
            <p:cNvPr id="4" name="Rectangle 3">
              <a:extLst>
                <a:ext uri="{FF2B5EF4-FFF2-40B4-BE49-F238E27FC236}">
                  <a16:creationId xmlns:a16="http://schemas.microsoft.com/office/drawing/2014/main" id="{8E9FA1CF-B411-E107-D499-733ECB9A3F89}"/>
                </a:ext>
              </a:extLst>
            </p:cNvPr>
            <p:cNvSpPr/>
            <p:nvPr/>
          </p:nvSpPr>
          <p:spPr>
            <a:xfrm>
              <a:off x="5803641" y="3097763"/>
              <a:ext cx="4329404" cy="31350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0" name="Image 9">
            <a:extLst>
              <a:ext uri="{FF2B5EF4-FFF2-40B4-BE49-F238E27FC236}">
                <a16:creationId xmlns:a16="http://schemas.microsoft.com/office/drawing/2014/main" id="{ADE42381-D516-8F6A-5F34-C7B13AB43D3B}"/>
              </a:ext>
            </a:extLst>
          </p:cNvPr>
          <p:cNvPicPr>
            <a:picLocks noChangeAspect="1"/>
          </p:cNvPicPr>
          <p:nvPr/>
        </p:nvPicPr>
        <p:blipFill>
          <a:blip r:embed="rId3"/>
          <a:stretch>
            <a:fillRect/>
          </a:stretch>
        </p:blipFill>
        <p:spPr>
          <a:xfrm>
            <a:off x="6095999" y="3176108"/>
            <a:ext cx="5600700" cy="2438400"/>
          </a:xfrm>
          <a:prstGeom prst="rect">
            <a:avLst/>
          </a:prstGeom>
        </p:spPr>
      </p:pic>
    </p:spTree>
    <p:extLst>
      <p:ext uri="{BB962C8B-B14F-4D97-AF65-F5344CB8AC3E}">
        <p14:creationId xmlns:p14="http://schemas.microsoft.com/office/powerpoint/2010/main" val="2309579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D1812-9B9D-AE2F-5287-BBBB1C73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F7963-A739-33FE-F8D5-916F8C1AE4F4}"/>
              </a:ext>
            </a:extLst>
          </p:cNvPr>
          <p:cNvSpPr>
            <a:spLocks noGrp="1"/>
          </p:cNvSpPr>
          <p:nvPr>
            <p:ph type="title"/>
          </p:nvPr>
        </p:nvSpPr>
        <p:spPr/>
        <p:txBody>
          <a:bodyPr/>
          <a:lstStyle/>
          <a:p>
            <a:r>
              <a:rPr lang="fr-FR" dirty="0"/>
              <a:t>Why learn R?</a:t>
            </a:r>
            <a:endParaRPr lang="en-GB" dirty="0"/>
          </a:p>
        </p:txBody>
      </p:sp>
      <p:sp>
        <p:nvSpPr>
          <p:cNvPr id="3" name="Text Placeholder 2">
            <a:extLst>
              <a:ext uri="{FF2B5EF4-FFF2-40B4-BE49-F238E27FC236}">
                <a16:creationId xmlns:a16="http://schemas.microsoft.com/office/drawing/2014/main" id="{7C2DED2E-AC27-5CDF-EE6D-7AC1C6C47DA7}"/>
              </a:ext>
            </a:extLst>
          </p:cNvPr>
          <p:cNvSpPr>
            <a:spLocks noGrp="1"/>
          </p:cNvSpPr>
          <p:nvPr>
            <p:ph type="body" sz="quarter" idx="11"/>
          </p:nvPr>
        </p:nvSpPr>
        <p:spPr>
          <a:xfrm>
            <a:off x="838200" y="1153069"/>
            <a:ext cx="10515600" cy="4351338"/>
          </a:xfrm>
        </p:spPr>
        <p:txBody>
          <a:bodyPr vert="horz" lIns="91440" tIns="45720" rIns="91440" bIns="45720" rtlCol="0" anchor="t">
            <a:noAutofit/>
          </a:bodyPr>
          <a:lstStyle/>
          <a:p>
            <a:pPr marL="342900" indent="-342900">
              <a:buChar char="•"/>
            </a:pPr>
            <a:r>
              <a:rPr lang="de-CH" sz="4000" dirty="0">
                <a:ea typeface="Tahoma"/>
                <a:cs typeface="Gill Sans Light"/>
              </a:rPr>
              <a:t>Better make sure you know what your script is doing!</a:t>
            </a:r>
            <a:endParaRPr lang="en-US" sz="4000" dirty="0"/>
          </a:p>
          <a:p>
            <a:endParaRPr lang="en-GB" sz="4000" dirty="0"/>
          </a:p>
          <a:p>
            <a:endParaRPr lang="en-GB" sz="4000" dirty="0"/>
          </a:p>
          <a:p>
            <a:endParaRPr lang="en-GB" sz="4000" dirty="0"/>
          </a:p>
        </p:txBody>
      </p:sp>
      <p:pic>
        <p:nvPicPr>
          <p:cNvPr id="7" name="Image 6">
            <a:extLst>
              <a:ext uri="{FF2B5EF4-FFF2-40B4-BE49-F238E27FC236}">
                <a16:creationId xmlns:a16="http://schemas.microsoft.com/office/drawing/2014/main" id="{0ADBFF7D-99CA-40B2-A2FC-3A747C6B9244}"/>
              </a:ext>
            </a:extLst>
          </p:cNvPr>
          <p:cNvPicPr>
            <a:picLocks noChangeAspect="1"/>
          </p:cNvPicPr>
          <p:nvPr/>
        </p:nvPicPr>
        <p:blipFill>
          <a:blip r:embed="rId2"/>
          <a:stretch>
            <a:fillRect/>
          </a:stretch>
        </p:blipFill>
        <p:spPr>
          <a:xfrm>
            <a:off x="1871098" y="2268272"/>
            <a:ext cx="7772400" cy="3886200"/>
          </a:xfrm>
          <a:prstGeom prst="rect">
            <a:avLst/>
          </a:prstGeom>
        </p:spPr>
      </p:pic>
    </p:spTree>
    <p:extLst>
      <p:ext uri="{BB962C8B-B14F-4D97-AF65-F5344CB8AC3E}">
        <p14:creationId xmlns:p14="http://schemas.microsoft.com/office/powerpoint/2010/main" val="257878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D0F6-E7C8-6380-13B6-8DBC7663813C}"/>
              </a:ext>
            </a:extLst>
          </p:cNvPr>
          <p:cNvSpPr>
            <a:spLocks noGrp="1"/>
          </p:cNvSpPr>
          <p:nvPr>
            <p:ph type="title"/>
          </p:nvPr>
        </p:nvSpPr>
        <p:spPr/>
        <p:txBody>
          <a:bodyPr/>
          <a:lstStyle/>
          <a:p>
            <a:r>
              <a:rPr lang="en-GB" dirty="0">
                <a:ea typeface="Verdana"/>
                <a:cs typeface="Gill Sans"/>
              </a:rPr>
              <a:t>Course Content:</a:t>
            </a:r>
            <a:br>
              <a:rPr lang="en-GB" dirty="0">
                <a:ea typeface="Verdana"/>
                <a:cs typeface="Gill Sans"/>
              </a:rPr>
            </a:br>
            <a:r>
              <a:rPr lang="en-GB" dirty="0">
                <a:ea typeface="Verdana"/>
                <a:cs typeface="Gill Sans"/>
              </a:rPr>
              <a:t>R is vast, it can't be learned overnight.</a:t>
            </a:r>
            <a:br>
              <a:rPr lang="en-GB" dirty="0">
                <a:ea typeface="Verdana"/>
                <a:cs typeface="Gill Sans"/>
              </a:rPr>
            </a:br>
            <a:br>
              <a:rPr lang="en-GB" dirty="0">
                <a:ea typeface="Verdana"/>
                <a:cs typeface="Gill Sans"/>
              </a:rPr>
            </a:br>
            <a:r>
              <a:rPr lang="en-GB" dirty="0">
                <a:ea typeface="Verdana"/>
                <a:cs typeface="Gill Sans"/>
              </a:rPr>
              <a:t>This course will give a </a:t>
            </a:r>
            <a:r>
              <a:rPr lang="en-GB" b="1" dirty="0">
                <a:ea typeface="Verdana"/>
                <a:cs typeface="Gill Sans"/>
              </a:rPr>
              <a:t>basic understanding and concepts of R.</a:t>
            </a:r>
            <a:br>
              <a:rPr lang="en-GB" b="1" dirty="0">
                <a:ea typeface="Verdana"/>
                <a:cs typeface="Gill Sans"/>
              </a:rPr>
            </a:br>
            <a:br>
              <a:rPr lang="en-GB" b="1" dirty="0"/>
            </a:br>
            <a:r>
              <a:rPr lang="en-GB" b="1" dirty="0">
                <a:ea typeface="Verdana"/>
                <a:cs typeface="Gill Sans"/>
              </a:rPr>
              <a:t>This course is the first step in your         journey</a:t>
            </a:r>
            <a:endParaRPr lang="en-GB" b="1" dirty="0"/>
          </a:p>
        </p:txBody>
      </p:sp>
      <p:pic>
        <p:nvPicPr>
          <p:cNvPr id="3" name="Picture 2" descr="A blue and grey logo&#10;&#10;Description automatically generated">
            <a:extLst>
              <a:ext uri="{FF2B5EF4-FFF2-40B4-BE49-F238E27FC236}">
                <a16:creationId xmlns:a16="http://schemas.microsoft.com/office/drawing/2014/main" id="{CFE5D3F6-7503-3294-F737-D9546F0CD36E}"/>
              </a:ext>
            </a:extLst>
          </p:cNvPr>
          <p:cNvPicPr>
            <a:picLocks noChangeAspect="1"/>
          </p:cNvPicPr>
          <p:nvPr/>
        </p:nvPicPr>
        <p:blipFill>
          <a:blip r:embed="rId2"/>
          <a:stretch>
            <a:fillRect/>
          </a:stretch>
        </p:blipFill>
        <p:spPr>
          <a:xfrm>
            <a:off x="8382000" y="4595813"/>
            <a:ext cx="609600" cy="466725"/>
          </a:xfrm>
          <a:prstGeom prst="rect">
            <a:avLst/>
          </a:prstGeom>
        </p:spPr>
      </p:pic>
    </p:spTree>
    <p:extLst>
      <p:ext uri="{BB962C8B-B14F-4D97-AF65-F5344CB8AC3E}">
        <p14:creationId xmlns:p14="http://schemas.microsoft.com/office/powerpoint/2010/main" val="1290475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93E7F-F12D-C5B7-F5D5-A74378DEA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0B53F-4C5E-2DB3-9E06-35F3E1F9C40E}"/>
              </a:ext>
            </a:extLst>
          </p:cNvPr>
          <p:cNvSpPr>
            <a:spLocks noGrp="1"/>
          </p:cNvSpPr>
          <p:nvPr>
            <p:ph type="title"/>
          </p:nvPr>
        </p:nvSpPr>
        <p:spPr/>
        <p:txBody>
          <a:bodyPr/>
          <a:lstStyle/>
          <a:p>
            <a:r>
              <a:rPr lang="en-GB" dirty="0">
                <a:ea typeface="Verdana"/>
                <a:cs typeface="Gill Sans"/>
              </a:rPr>
              <a:t>Course Outline</a:t>
            </a:r>
            <a:endParaRPr lang="en-GB" dirty="0"/>
          </a:p>
        </p:txBody>
      </p:sp>
      <p:sp>
        <p:nvSpPr>
          <p:cNvPr id="3" name="Text Placeholder 2">
            <a:extLst>
              <a:ext uri="{FF2B5EF4-FFF2-40B4-BE49-F238E27FC236}">
                <a16:creationId xmlns:a16="http://schemas.microsoft.com/office/drawing/2014/main" id="{DB82CA07-7015-2FA9-9ED0-2D8EADDC4F95}"/>
              </a:ext>
            </a:extLst>
          </p:cNvPr>
          <p:cNvSpPr>
            <a:spLocks noGrp="1"/>
          </p:cNvSpPr>
          <p:nvPr>
            <p:ph type="body" sz="quarter" idx="11"/>
          </p:nvPr>
        </p:nvSpPr>
        <p:spPr/>
        <p:txBody>
          <a:bodyPr vert="horz" lIns="91440" tIns="45720" rIns="91440" bIns="45720" rtlCol="0" anchor="t">
            <a:normAutofit fontScale="92500" lnSpcReduction="20000"/>
          </a:bodyPr>
          <a:lstStyle/>
          <a:p>
            <a:pPr lvl="1" indent="0">
              <a:buNone/>
            </a:pPr>
            <a:r>
              <a:rPr lang="en-GB" dirty="0">
                <a:ea typeface="Tahoma"/>
                <a:cs typeface="Gill Sans Light"/>
              </a:rPr>
              <a:t>Day 1</a:t>
            </a:r>
          </a:p>
          <a:p>
            <a:pPr marL="815975" lvl="1" indent="-457200">
              <a:buAutoNum type="arabicPeriod"/>
            </a:pPr>
            <a:r>
              <a:rPr lang="en-GB" dirty="0">
                <a:ea typeface="Tahoma"/>
                <a:cs typeface="Gill Sans Light"/>
              </a:rPr>
              <a:t>Getting Familiar with </a:t>
            </a:r>
            <a:r>
              <a:rPr lang="en-GB" b="1" dirty="0">
                <a:ea typeface="Tahoma"/>
                <a:cs typeface="Gill Sans Light"/>
              </a:rPr>
              <a:t>R</a:t>
            </a:r>
            <a:r>
              <a:rPr lang="en-GB" dirty="0">
                <a:ea typeface="Tahoma"/>
                <a:cs typeface="Gill Sans Light"/>
              </a:rPr>
              <a:t> and </a:t>
            </a:r>
            <a:r>
              <a:rPr lang="en-GB" b="1" dirty="0" err="1">
                <a:ea typeface="Tahoma"/>
                <a:cs typeface="Gill Sans Light"/>
              </a:rPr>
              <a:t>Rstudio</a:t>
            </a:r>
            <a:endParaRPr lang="en-GB" b="1" dirty="0">
              <a:ea typeface="Tahoma"/>
              <a:cs typeface="Gill Sans Light"/>
            </a:endParaRPr>
          </a:p>
          <a:p>
            <a:pPr marL="815975" lvl="1" indent="-457200">
              <a:buAutoNum type="arabicPeriod"/>
            </a:pPr>
            <a:r>
              <a:rPr lang="en-GB" dirty="0">
                <a:ea typeface="Tahoma"/>
                <a:cs typeface="Gill Sans Light"/>
              </a:rPr>
              <a:t>Getting started with the </a:t>
            </a:r>
            <a:r>
              <a:rPr lang="en-GB" b="1" dirty="0">
                <a:ea typeface="Tahoma"/>
                <a:cs typeface="Gill Sans Light"/>
              </a:rPr>
              <a:t>R syntax and Objects</a:t>
            </a:r>
          </a:p>
          <a:p>
            <a:pPr marL="815975" lvl="1" indent="-457200">
              <a:buAutoNum type="arabicPeriod"/>
            </a:pPr>
            <a:r>
              <a:rPr lang="en-GB" b="1" dirty="0">
                <a:ea typeface="Tahoma"/>
                <a:cs typeface="Gill Sans Light"/>
              </a:rPr>
              <a:t>Packages and versioning</a:t>
            </a:r>
          </a:p>
          <a:p>
            <a:pPr marL="815975" lvl="1" indent="-457200">
              <a:buAutoNum type="arabicPeriod"/>
            </a:pPr>
            <a:r>
              <a:rPr lang="en-GB" b="1" dirty="0">
                <a:ea typeface="Tahoma"/>
                <a:cs typeface="Gill Sans Light"/>
              </a:rPr>
              <a:t>R </a:t>
            </a:r>
            <a:r>
              <a:rPr lang="en-GB" b="1" dirty="0" err="1">
                <a:ea typeface="Tahoma"/>
                <a:cs typeface="Gill Sans Light"/>
              </a:rPr>
              <a:t>environnement</a:t>
            </a:r>
            <a:endParaRPr lang="en-GB" b="1" dirty="0">
              <a:ea typeface="Tahoma"/>
              <a:cs typeface="Gill Sans Light"/>
            </a:endParaRPr>
          </a:p>
          <a:p>
            <a:pPr marL="815975" lvl="1" indent="-457200">
              <a:buAutoNum type="arabicPeriod"/>
            </a:pPr>
            <a:r>
              <a:rPr lang="en-GB" dirty="0">
                <a:ea typeface="Tahoma"/>
                <a:cs typeface="Gill Sans Light"/>
              </a:rPr>
              <a:t>Formatting your data</a:t>
            </a:r>
          </a:p>
          <a:p>
            <a:pPr marL="815975" lvl="1" indent="-457200">
              <a:buAutoNum type="arabicPeriod"/>
            </a:pPr>
            <a:r>
              <a:rPr lang="en-GB" b="1" dirty="0">
                <a:ea typeface="Tahoma"/>
                <a:cs typeface="Gill Sans Light"/>
              </a:rPr>
              <a:t>Importing/exporting data</a:t>
            </a:r>
            <a:r>
              <a:rPr lang="en-GB" dirty="0">
                <a:ea typeface="Tahoma"/>
                <a:cs typeface="Gill Sans Light"/>
              </a:rPr>
              <a:t> with R (working with files)</a:t>
            </a:r>
          </a:p>
          <a:p>
            <a:pPr lvl="1" indent="0">
              <a:buNone/>
            </a:pPr>
            <a:endParaRPr lang="en-GB" dirty="0"/>
          </a:p>
          <a:p>
            <a:pPr lvl="1" indent="0">
              <a:buNone/>
            </a:pPr>
            <a:r>
              <a:rPr lang="en-GB" dirty="0">
                <a:ea typeface="Tahoma"/>
                <a:cs typeface="Gill Sans Light"/>
              </a:rPr>
              <a:t>Day 2</a:t>
            </a:r>
          </a:p>
          <a:p>
            <a:pPr marL="815975" lvl="1" indent="-457200">
              <a:buAutoNum type="arabicPeriod"/>
            </a:pPr>
            <a:r>
              <a:rPr lang="en-GB" dirty="0">
                <a:ea typeface="Tahoma"/>
                <a:cs typeface="Gill Sans Light"/>
              </a:rPr>
              <a:t>Building </a:t>
            </a:r>
            <a:r>
              <a:rPr lang="en-GB" b="1" dirty="0">
                <a:ea typeface="Tahoma"/>
                <a:cs typeface="Gill Sans Light"/>
              </a:rPr>
              <a:t>Graphics </a:t>
            </a:r>
            <a:r>
              <a:rPr lang="en-GB" dirty="0">
                <a:ea typeface="Tahoma"/>
                <a:cs typeface="Gill Sans Light"/>
              </a:rPr>
              <a:t>in R (basic plotting)</a:t>
            </a:r>
          </a:p>
          <a:p>
            <a:pPr marL="815975" lvl="1" indent="-457200">
              <a:buAutoNum type="arabicPeriod"/>
            </a:pPr>
            <a:r>
              <a:rPr lang="en-GB" dirty="0">
                <a:ea typeface="Tahoma"/>
                <a:cs typeface="Gill Sans Light"/>
              </a:rPr>
              <a:t>R functions</a:t>
            </a:r>
          </a:p>
          <a:p>
            <a:pPr marL="815975" lvl="1" indent="-457200">
              <a:buFontTx/>
              <a:buAutoNum type="arabicPeriod"/>
            </a:pPr>
            <a:r>
              <a:rPr lang="en-GB" dirty="0">
                <a:ea typeface="Tahoma"/>
                <a:cs typeface="Gill Sans Light"/>
              </a:rPr>
              <a:t>Data analysis in R</a:t>
            </a:r>
          </a:p>
          <a:p>
            <a:pPr marL="815975" lvl="1" indent="-457200">
              <a:buFontTx/>
              <a:buAutoNum type="arabicPeriod"/>
            </a:pPr>
            <a:r>
              <a:rPr lang="en-GB" dirty="0">
                <a:ea typeface="Tahoma"/>
                <a:cs typeface="Gill Sans Light"/>
              </a:rPr>
              <a:t>Introduction to R </a:t>
            </a:r>
            <a:r>
              <a:rPr lang="en-GB" dirty="0" err="1">
                <a:ea typeface="Tahoma"/>
                <a:cs typeface="Gill Sans Light"/>
              </a:rPr>
              <a:t>maekdown</a:t>
            </a:r>
            <a:endParaRPr lang="en-GB" dirty="0">
              <a:ea typeface="Tahoma"/>
              <a:cs typeface="Gill Sans Light"/>
            </a:endParaRPr>
          </a:p>
          <a:p>
            <a:pPr marL="815975" lvl="1" indent="-457200">
              <a:buFontTx/>
              <a:buAutoNum type="arabicPeriod"/>
            </a:pPr>
            <a:r>
              <a:rPr lang="en-GB" dirty="0">
                <a:ea typeface="Tahoma"/>
                <a:cs typeface="Gill Sans Light"/>
              </a:rPr>
              <a:t>High-definition figures export</a:t>
            </a:r>
          </a:p>
        </p:txBody>
      </p:sp>
    </p:spTree>
    <p:extLst>
      <p:ext uri="{BB962C8B-B14F-4D97-AF65-F5344CB8AC3E}">
        <p14:creationId xmlns:p14="http://schemas.microsoft.com/office/powerpoint/2010/main" val="3721341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B6247-6B49-BD2B-2949-0F9CAE93E461}"/>
              </a:ext>
            </a:extLst>
          </p:cNvPr>
          <p:cNvSpPr>
            <a:spLocks noGrp="1"/>
          </p:cNvSpPr>
          <p:nvPr>
            <p:ph type="title"/>
          </p:nvPr>
        </p:nvSpPr>
        <p:spPr/>
        <p:txBody>
          <a:bodyPr/>
          <a:lstStyle/>
          <a:p>
            <a:r>
              <a:rPr lang="en-GB" dirty="0">
                <a:solidFill>
                  <a:srgbClr val="1E2232"/>
                </a:solidFill>
                <a:latin typeface="Corbel"/>
                <a:ea typeface="Verdana"/>
                <a:cs typeface="Gill Sans"/>
              </a:rPr>
              <a:t>Getting Familiar with </a:t>
            </a:r>
            <a:r>
              <a:rPr lang="en-GB" b="1" dirty="0">
                <a:solidFill>
                  <a:srgbClr val="1E2232"/>
                </a:solidFill>
                <a:latin typeface="Corbel"/>
                <a:ea typeface="Verdana"/>
                <a:cs typeface="Gill Sans"/>
              </a:rPr>
              <a:t>R</a:t>
            </a:r>
            <a:r>
              <a:rPr lang="en-GB" dirty="0">
                <a:solidFill>
                  <a:srgbClr val="1E2232"/>
                </a:solidFill>
                <a:latin typeface="Corbel"/>
                <a:ea typeface="Verdana"/>
                <a:cs typeface="Gill Sans"/>
              </a:rPr>
              <a:t> and </a:t>
            </a:r>
            <a:r>
              <a:rPr lang="en-GB" b="1" dirty="0" err="1">
                <a:solidFill>
                  <a:srgbClr val="1E2232"/>
                </a:solidFill>
                <a:latin typeface="Corbel"/>
                <a:ea typeface="Verdana"/>
                <a:cs typeface="Gill Sans"/>
              </a:rPr>
              <a:t>Rstudio</a:t>
            </a:r>
            <a:endParaRPr lang="en-GB" b="1"/>
          </a:p>
        </p:txBody>
      </p:sp>
    </p:spTree>
    <p:extLst>
      <p:ext uri="{BB962C8B-B14F-4D97-AF65-F5344CB8AC3E}">
        <p14:creationId xmlns:p14="http://schemas.microsoft.com/office/powerpoint/2010/main" val="3406665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5CB06-7549-2092-9441-35A96C38119E}"/>
              </a:ext>
            </a:extLst>
          </p:cNvPr>
          <p:cNvSpPr>
            <a:spLocks noGrp="1"/>
          </p:cNvSpPr>
          <p:nvPr>
            <p:ph type="title"/>
          </p:nvPr>
        </p:nvSpPr>
        <p:spPr/>
        <p:txBody>
          <a:bodyPr/>
          <a:lstStyle/>
          <a:p>
            <a:r>
              <a:rPr lang="en-GB" err="1">
                <a:ea typeface="Verdana"/>
                <a:cs typeface="Gill Sans"/>
              </a:rPr>
              <a:t>RGui</a:t>
            </a:r>
            <a:r>
              <a:rPr lang="en-GB" dirty="0">
                <a:ea typeface="Verdana"/>
                <a:cs typeface="Gill Sans"/>
              </a:rPr>
              <a:t> (</a:t>
            </a:r>
            <a:r>
              <a:rPr lang="en-GB" b="1" dirty="0">
                <a:ea typeface="Verdana"/>
                <a:cs typeface="Gill Sans"/>
              </a:rPr>
              <a:t>R</a:t>
            </a:r>
            <a:r>
              <a:rPr lang="en-GB" dirty="0">
                <a:ea typeface="Verdana"/>
                <a:cs typeface="Gill Sans"/>
              </a:rPr>
              <a:t> </a:t>
            </a:r>
            <a:r>
              <a:rPr lang="en-GB" b="1" dirty="0">
                <a:ea typeface="Verdana"/>
                <a:cs typeface="Gill Sans"/>
              </a:rPr>
              <a:t>G</a:t>
            </a:r>
            <a:r>
              <a:rPr lang="en-GB" dirty="0">
                <a:ea typeface="Verdana"/>
                <a:cs typeface="Gill Sans"/>
              </a:rPr>
              <a:t>raphical </a:t>
            </a:r>
            <a:r>
              <a:rPr lang="en-GB" b="1" dirty="0">
                <a:ea typeface="Verdana"/>
                <a:cs typeface="Gill Sans"/>
              </a:rPr>
              <a:t>u</a:t>
            </a:r>
            <a:r>
              <a:rPr lang="en-GB" dirty="0">
                <a:ea typeface="Verdana"/>
                <a:cs typeface="Gill Sans"/>
              </a:rPr>
              <a:t>ser </a:t>
            </a:r>
            <a:r>
              <a:rPr lang="en-GB" b="1" dirty="0">
                <a:ea typeface="Verdana"/>
                <a:cs typeface="Gill Sans"/>
              </a:rPr>
              <a:t>i</a:t>
            </a:r>
            <a:r>
              <a:rPr lang="en-GB" dirty="0">
                <a:ea typeface="Verdana"/>
                <a:cs typeface="Gill Sans"/>
              </a:rPr>
              <a:t>nterface)</a:t>
            </a:r>
            <a:endParaRPr lang="en-GB" dirty="0"/>
          </a:p>
        </p:txBody>
      </p:sp>
      <p:sp>
        <p:nvSpPr>
          <p:cNvPr id="3" name="Text Placeholder 2">
            <a:extLst>
              <a:ext uri="{FF2B5EF4-FFF2-40B4-BE49-F238E27FC236}">
                <a16:creationId xmlns:a16="http://schemas.microsoft.com/office/drawing/2014/main" id="{854D4F9F-7E4B-EF26-685B-B5B7F6E83520}"/>
              </a:ext>
            </a:extLst>
          </p:cNvPr>
          <p:cNvSpPr>
            <a:spLocks noGrp="1"/>
          </p:cNvSpPr>
          <p:nvPr>
            <p:ph type="body" sz="quarter" idx="11"/>
          </p:nvPr>
        </p:nvSpPr>
        <p:spPr>
          <a:xfrm>
            <a:off x="838200" y="933450"/>
            <a:ext cx="10515600" cy="4351338"/>
          </a:xfrm>
        </p:spPr>
        <p:txBody>
          <a:bodyPr vert="horz" lIns="91440" tIns="45720" rIns="91440" bIns="45720" rtlCol="0" anchor="t">
            <a:normAutofit/>
          </a:bodyPr>
          <a:lstStyle/>
          <a:p>
            <a:r>
              <a:rPr lang="en-GB" dirty="0">
                <a:ea typeface="Tahoma"/>
                <a:cs typeface="Gill Sans Light"/>
              </a:rPr>
              <a:t>Installed at the same time as the programming language</a:t>
            </a:r>
            <a:endParaRPr lang="en-GB" dirty="0"/>
          </a:p>
        </p:txBody>
      </p:sp>
      <p:pic>
        <p:nvPicPr>
          <p:cNvPr id="4" name="Picture 3" descr="A screenshot of a computer&#10;&#10;Description automatically generated">
            <a:extLst>
              <a:ext uri="{FF2B5EF4-FFF2-40B4-BE49-F238E27FC236}">
                <a16:creationId xmlns:a16="http://schemas.microsoft.com/office/drawing/2014/main" id="{21C839DD-2BB4-D475-CF3E-85B8B82F8AB0}"/>
              </a:ext>
            </a:extLst>
          </p:cNvPr>
          <p:cNvPicPr>
            <a:picLocks noChangeAspect="1"/>
          </p:cNvPicPr>
          <p:nvPr/>
        </p:nvPicPr>
        <p:blipFill>
          <a:blip r:embed="rId2"/>
          <a:stretch>
            <a:fillRect/>
          </a:stretch>
        </p:blipFill>
        <p:spPr>
          <a:xfrm>
            <a:off x="2809875" y="1628775"/>
            <a:ext cx="6886575" cy="4600575"/>
          </a:xfrm>
          <a:prstGeom prst="rect">
            <a:avLst/>
          </a:prstGeom>
        </p:spPr>
      </p:pic>
      <p:pic>
        <p:nvPicPr>
          <p:cNvPr id="5" name="Picture 4" descr="A blue and grey logo&#10;&#10;Description automatically generated">
            <a:extLst>
              <a:ext uri="{FF2B5EF4-FFF2-40B4-BE49-F238E27FC236}">
                <a16:creationId xmlns:a16="http://schemas.microsoft.com/office/drawing/2014/main" id="{A2307C4F-C638-1AA2-BF19-58D660A36D2C}"/>
              </a:ext>
            </a:extLst>
          </p:cNvPr>
          <p:cNvPicPr>
            <a:picLocks noChangeAspect="1"/>
          </p:cNvPicPr>
          <p:nvPr/>
        </p:nvPicPr>
        <p:blipFill>
          <a:blip r:embed="rId3"/>
          <a:stretch>
            <a:fillRect/>
          </a:stretch>
        </p:blipFill>
        <p:spPr>
          <a:xfrm>
            <a:off x="1123950" y="1628775"/>
            <a:ext cx="1285875" cy="1000125"/>
          </a:xfrm>
          <a:prstGeom prst="rect">
            <a:avLst/>
          </a:prstGeom>
        </p:spPr>
      </p:pic>
      <p:sp>
        <p:nvSpPr>
          <p:cNvPr id="401" name="Version 401"/>
          <p:cNvSpPr/>
          <p:nvPr/>
        </p:nvSpPr>
        <p:spPr>
          <a:xfrm>
            <a:off x="411480" y="2880360"/>
            <a:ext cx="2011680" cy="2788920"/>
          </a:xfrm>
          <a:prstGeom prst="roundRect">
            <a:avLst>
              <a:gd name="adj" fmla="val 8000"/>
            </a:avLst>
          </a:prstGeom>
          <a:solidFill>
            <a:srgbClr val="FDECED"/>
          </a:solidFill>
          <a:ln>
            <a:noFill/>
          </a:ln>
        </p:spPr>
        <p:txBody>
          <a:bodyPr wrap="square" lIns="109728" tIns="109728" rIns="109728" bIns="109728" rtlCol="0" anchor="ctr">
            <a:noAutofit/>
          </a:bodyPr>
          <a:lstStyle/>
          <a:p>
            <a:pPr marL="0" indent="0" algn="ctr">
              <a:spcAft>
                <a:spcPts val="0"/>
              </a:spcAft>
              <a:buNone/>
            </a:pPr>
            <a:r>
              <a:rPr lang="en-GB" sz="1200" b="1" dirty="0">
                <a:solidFill>
                  <a:srgbClr val="6B6B6B"/>
                </a:solidFill>
              </a:rPr>
              <a:t>Current version</a:t>
            </a:r>
            <a:endParaRPr lang="en-GB" sz="1400" dirty="0"/>
          </a:p>
          <a:p>
            <a:pPr marL="0" indent="0" algn="ctr">
              <a:spcAft>
                <a:spcPts val="0"/>
              </a:spcAft>
              <a:buNone/>
            </a:pPr>
            <a:r>
              <a:rPr lang="en-GB" sz="2400" b="1" dirty="0">
                <a:solidFill>
                  <a:srgbClr val="E20613"/>
                </a:solidFill>
              </a:rPr>
              <a:t>R 4.6.1</a:t>
            </a:r>
            <a:endParaRPr lang="en-GB" sz="1400" dirty="0"/>
          </a:p>
          <a:p>
            <a:pPr marL="0" indent="0" algn="ctr">
              <a:spcAft>
                <a:spcPts val="1000"/>
              </a:spcAft>
              <a:buNone/>
            </a:pPr>
            <a:r>
              <a:rPr lang="en-GB" sz="1200" dirty="0">
                <a:solidFill>
                  <a:srgbClr val="6B6B6B"/>
                </a:solidFill>
              </a:rPr>
              <a:t>June 2026</a:t>
            </a:r>
            <a:endParaRPr lang="en-GB" sz="1400" dirty="0"/>
          </a:p>
          <a:p>
            <a:pPr marL="0" indent="0" algn="ctr">
              <a:spcAft>
                <a:spcPts val="0"/>
              </a:spcAft>
              <a:buNone/>
            </a:pPr>
            <a:r>
              <a:rPr lang="en-GB" sz="1100" i="1" dirty="0">
                <a:solidFill>
                  <a:srgbClr val="333333"/>
                </a:solidFill>
              </a:rPr>
              <a:t>This screenshot runs R 3.6.1 from 2019. In R years, that is roughly the Jurassic. Yours will look the same, just younger.</a:t>
            </a:r>
            <a:endParaRPr lang="en-GB" sz="1400" dirty="0"/>
          </a:p>
        </p:txBody>
      </p:sp>
    </p:spTree>
    <p:extLst>
      <p:ext uri="{BB962C8B-B14F-4D97-AF65-F5344CB8AC3E}">
        <p14:creationId xmlns:p14="http://schemas.microsoft.com/office/powerpoint/2010/main" val="1198488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C01E0-DEEB-7942-0CF5-2F55635F992F}"/>
              </a:ext>
            </a:extLst>
          </p:cNvPr>
          <p:cNvSpPr>
            <a:spLocks noGrp="1"/>
          </p:cNvSpPr>
          <p:nvPr>
            <p:ph type="title"/>
          </p:nvPr>
        </p:nvSpPr>
        <p:spPr/>
        <p:txBody>
          <a:bodyPr/>
          <a:lstStyle/>
          <a:p>
            <a:r>
              <a:rPr lang="en-GB" dirty="0">
                <a:ea typeface="Verdana"/>
                <a:cs typeface="Gill Sans"/>
              </a:rPr>
              <a:t>R combined with </a:t>
            </a:r>
            <a:r>
              <a:rPr lang="en-GB" dirty="0" err="1">
                <a:ea typeface="Verdana"/>
                <a:cs typeface="Gill Sans"/>
              </a:rPr>
              <a:t>Rstudio</a:t>
            </a:r>
            <a:endParaRPr lang="en-GB" dirty="0" err="1"/>
          </a:p>
        </p:txBody>
      </p:sp>
      <p:sp>
        <p:nvSpPr>
          <p:cNvPr id="3" name="Text Placeholder 2">
            <a:extLst>
              <a:ext uri="{FF2B5EF4-FFF2-40B4-BE49-F238E27FC236}">
                <a16:creationId xmlns:a16="http://schemas.microsoft.com/office/drawing/2014/main" id="{B3057646-C727-EC12-F07F-59862A374D95}"/>
              </a:ext>
            </a:extLst>
          </p:cNvPr>
          <p:cNvSpPr>
            <a:spLocks noGrp="1"/>
          </p:cNvSpPr>
          <p:nvPr>
            <p:ph type="body" sz="quarter" idx="11"/>
          </p:nvPr>
        </p:nvSpPr>
        <p:spPr>
          <a:xfrm>
            <a:off x="838200" y="1304925"/>
            <a:ext cx="10515600" cy="4351338"/>
          </a:xfrm>
        </p:spPr>
        <p:txBody>
          <a:bodyPr vert="horz" lIns="91440" tIns="45720" rIns="91440" bIns="45720" rtlCol="0" anchor="t">
            <a:normAutofit/>
          </a:bodyPr>
          <a:lstStyle/>
          <a:p>
            <a:r>
              <a:rPr lang="en-GB" dirty="0">
                <a:ea typeface="Tahoma"/>
                <a:cs typeface="Gill Sans Light"/>
              </a:rPr>
              <a:t>             </a:t>
            </a:r>
            <a:r>
              <a:rPr lang="en-GB" dirty="0">
                <a:ea typeface="Tahoma"/>
                <a:cs typeface="Gill Sans Light"/>
                <a:hlinkClick r:id="rId2"/>
              </a:rPr>
              <a:t>www.rstudio.com</a:t>
            </a:r>
            <a:endParaRPr lang="en-GB" dirty="0"/>
          </a:p>
          <a:p>
            <a:endParaRPr lang="en-GB" dirty="0"/>
          </a:p>
          <a:p>
            <a:r>
              <a:rPr lang="en-GB" dirty="0">
                <a:ea typeface="Tahoma"/>
                <a:cs typeface="Gill Sans Light"/>
              </a:rPr>
              <a:t>Integrated Development </a:t>
            </a:r>
            <a:r>
              <a:rPr lang="en-GB" dirty="0" err="1">
                <a:ea typeface="Tahoma"/>
                <a:cs typeface="Gill Sans Light"/>
              </a:rPr>
              <a:t>Enviroment</a:t>
            </a:r>
            <a:r>
              <a:rPr lang="en-GB" dirty="0">
                <a:ea typeface="Tahoma"/>
                <a:cs typeface="Gill Sans Light"/>
              </a:rPr>
              <a:t> (IDE) designed to help with R</a:t>
            </a:r>
            <a:endParaRPr lang="en-GB" dirty="0"/>
          </a:p>
          <a:p>
            <a:endParaRPr lang="en-GB" dirty="0"/>
          </a:p>
          <a:p>
            <a:r>
              <a:rPr lang="en-GB" dirty="0">
                <a:ea typeface="Tahoma"/>
                <a:cs typeface="Gill Sans Light"/>
              </a:rPr>
              <a:t>It includes:</a:t>
            </a:r>
            <a:endParaRPr lang="en-GB" dirty="0"/>
          </a:p>
          <a:p>
            <a:pPr marL="342900" indent="-342900">
              <a:buChar char="•"/>
            </a:pPr>
            <a:r>
              <a:rPr lang="en-GB" dirty="0">
                <a:ea typeface="Tahoma"/>
                <a:cs typeface="Gill Sans Light"/>
              </a:rPr>
              <a:t>A </a:t>
            </a:r>
            <a:r>
              <a:rPr lang="en-GB" b="1" dirty="0">
                <a:ea typeface="Tahoma"/>
                <a:cs typeface="Gill Sans Light"/>
              </a:rPr>
              <a:t>console</a:t>
            </a:r>
            <a:endParaRPr lang="en-GB" b="1" dirty="0"/>
          </a:p>
          <a:p>
            <a:pPr marL="342900" indent="-342900">
              <a:buChar char="•"/>
            </a:pPr>
            <a:r>
              <a:rPr lang="en-GB" dirty="0">
                <a:ea typeface="Tahoma"/>
                <a:cs typeface="Gill Sans Light"/>
              </a:rPr>
              <a:t>A </a:t>
            </a:r>
            <a:r>
              <a:rPr lang="en-GB" b="1" dirty="0">
                <a:ea typeface="Tahoma"/>
                <a:cs typeface="Gill Sans Light"/>
              </a:rPr>
              <a:t>syntax highlighting editor</a:t>
            </a:r>
            <a:endParaRPr lang="en-GB" b="1" dirty="0"/>
          </a:p>
          <a:p>
            <a:pPr marL="342900" indent="-342900">
              <a:buChar char="•"/>
            </a:pPr>
            <a:r>
              <a:rPr lang="en-GB" dirty="0">
                <a:ea typeface="Tahoma"/>
                <a:cs typeface="Gill Sans Light"/>
              </a:rPr>
              <a:t>Tools for viewing the </a:t>
            </a:r>
            <a:r>
              <a:rPr lang="en-GB" b="1" dirty="0">
                <a:ea typeface="Tahoma"/>
                <a:cs typeface="Gill Sans Light"/>
              </a:rPr>
              <a:t>workspace</a:t>
            </a:r>
            <a:r>
              <a:rPr lang="en-GB" dirty="0">
                <a:ea typeface="Tahoma"/>
                <a:cs typeface="Gill Sans Light"/>
              </a:rPr>
              <a:t> and </a:t>
            </a:r>
            <a:r>
              <a:rPr lang="en-GB" b="1" dirty="0">
                <a:ea typeface="Tahoma"/>
                <a:cs typeface="Gill Sans Light"/>
              </a:rPr>
              <a:t>history</a:t>
            </a:r>
            <a:endParaRPr lang="en-GB" b="1" dirty="0"/>
          </a:p>
          <a:p>
            <a:pPr marL="342900" indent="-342900">
              <a:buChar char="•"/>
            </a:pPr>
            <a:r>
              <a:rPr lang="en-GB" dirty="0">
                <a:ea typeface="Tahoma"/>
                <a:cs typeface="Gill Sans Light"/>
              </a:rPr>
              <a:t>A file explorer, package explorer, </a:t>
            </a:r>
            <a:r>
              <a:rPr lang="en-GB" b="1" dirty="0">
                <a:ea typeface="Tahoma"/>
                <a:cs typeface="Gill Sans Light"/>
              </a:rPr>
              <a:t>plot</a:t>
            </a:r>
            <a:r>
              <a:rPr lang="en-GB" dirty="0">
                <a:ea typeface="Tahoma"/>
                <a:cs typeface="Gill Sans Light"/>
              </a:rPr>
              <a:t> and </a:t>
            </a:r>
            <a:r>
              <a:rPr lang="en-GB" b="1" dirty="0">
                <a:ea typeface="Tahoma"/>
                <a:cs typeface="Gill Sans Light"/>
              </a:rPr>
              <a:t>help</a:t>
            </a:r>
            <a:r>
              <a:rPr lang="en-GB" dirty="0">
                <a:ea typeface="Tahoma"/>
                <a:cs typeface="Gill Sans Light"/>
              </a:rPr>
              <a:t> display areas</a:t>
            </a:r>
            <a:endParaRPr lang="en-GB" dirty="0"/>
          </a:p>
          <a:p>
            <a:endParaRPr lang="en-GB" dirty="0"/>
          </a:p>
        </p:txBody>
      </p:sp>
      <p:pic>
        <p:nvPicPr>
          <p:cNvPr id="5" name="Image 40" descr="Une image contenant Graphique, Police, capture d’écran, graphisme&#10;&#10;Description générée automatiquement">
            <a:extLst>
              <a:ext uri="{FF2B5EF4-FFF2-40B4-BE49-F238E27FC236}">
                <a16:creationId xmlns:a16="http://schemas.microsoft.com/office/drawing/2014/main" id="{C4E57132-53A1-6893-4B0D-E32E00B6988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837489" y="1046386"/>
            <a:ext cx="1329212" cy="1047171"/>
          </a:xfrm>
          <a:prstGeom prst="rect">
            <a:avLst/>
          </a:prstGeom>
        </p:spPr>
      </p:pic>
      <p:pic>
        <p:nvPicPr>
          <p:cNvPr id="7" name="Image 20" descr="A red and black logo&#10;&#10;Description automatically generated">
            <a:extLst>
              <a:ext uri="{FF2B5EF4-FFF2-40B4-BE49-F238E27FC236}">
                <a16:creationId xmlns:a16="http://schemas.microsoft.com/office/drawing/2014/main" id="{36947CBA-836F-109D-5A0F-722B2484BDBE}"/>
              </a:ext>
            </a:extLst>
          </p:cNvPr>
          <p:cNvPicPr>
            <a:picLocks noChangeAspect="1"/>
          </p:cNvPicPr>
          <p:nvPr/>
        </p:nvPicPr>
        <p:blipFill>
          <a:blip r:embed="rId4"/>
          <a:stretch>
            <a:fillRect/>
          </a:stretch>
        </p:blipFill>
        <p:spPr>
          <a:xfrm>
            <a:off x="635903" y="5660603"/>
            <a:ext cx="1067033" cy="823140"/>
          </a:xfrm>
          <a:prstGeom prst="rect">
            <a:avLst/>
          </a:prstGeom>
        </p:spPr>
      </p:pic>
      <p:sp>
        <p:nvSpPr>
          <p:cNvPr id="8" name="TextBox 7">
            <a:extLst>
              <a:ext uri="{FF2B5EF4-FFF2-40B4-BE49-F238E27FC236}">
                <a16:creationId xmlns:a16="http://schemas.microsoft.com/office/drawing/2014/main" id="{42B527B4-8A5E-3907-EDAB-48712B620C8F}"/>
              </a:ext>
            </a:extLst>
          </p:cNvPr>
          <p:cNvSpPr txBox="1"/>
          <p:nvPr/>
        </p:nvSpPr>
        <p:spPr>
          <a:xfrm>
            <a:off x="1704975" y="5848350"/>
            <a:ext cx="8763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We suggest </a:t>
            </a:r>
            <a:r>
              <a:rPr lang="en-GB" sz="2400" b="1" err="1"/>
              <a:t>Rstudio</a:t>
            </a:r>
            <a:r>
              <a:rPr lang="en-GB" sz="2400" b="1" dirty="0"/>
              <a:t> as the preferred option when working with R</a:t>
            </a:r>
          </a:p>
        </p:txBody>
      </p:sp>
    </p:spTree>
    <p:extLst>
      <p:ext uri="{BB962C8B-B14F-4D97-AF65-F5344CB8AC3E}">
        <p14:creationId xmlns:p14="http://schemas.microsoft.com/office/powerpoint/2010/main" val="872898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57B8D-48BC-875B-F3BD-EBE98933CC51}"/>
              </a:ext>
            </a:extLst>
          </p:cNvPr>
          <p:cNvSpPr>
            <a:spLocks noGrp="1"/>
          </p:cNvSpPr>
          <p:nvPr>
            <p:ph type="title"/>
          </p:nvPr>
        </p:nvSpPr>
        <p:spPr/>
        <p:txBody>
          <a:bodyPr/>
          <a:lstStyle/>
          <a:p>
            <a:r>
              <a:rPr lang="en-GB" dirty="0" err="1">
                <a:ea typeface="Verdana"/>
                <a:cs typeface="Gill Sans"/>
              </a:rPr>
              <a:t>Rstudio</a:t>
            </a:r>
            <a:r>
              <a:rPr lang="en-GB" dirty="0">
                <a:ea typeface="Verdana"/>
                <a:cs typeface="Gill Sans"/>
              </a:rPr>
              <a:t> Interface</a:t>
            </a:r>
            <a:endParaRPr lang="en-GB" dirty="0"/>
          </a:p>
        </p:txBody>
      </p:sp>
      <p:pic>
        <p:nvPicPr>
          <p:cNvPr id="4" name="Image 4">
            <a:extLst>
              <a:ext uri="{FF2B5EF4-FFF2-40B4-BE49-F238E27FC236}">
                <a16:creationId xmlns:a16="http://schemas.microsoft.com/office/drawing/2014/main" id="{28C42889-1B96-E48A-2A2C-BB25DE92B9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6150" y="825533"/>
            <a:ext cx="9361749" cy="5818220"/>
          </a:xfrm>
          <a:prstGeom prst="rect">
            <a:avLst/>
          </a:prstGeom>
        </p:spPr>
      </p:pic>
      <p:sp>
        <p:nvSpPr>
          <p:cNvPr id="5" name="ZoneTexte 9">
            <a:extLst>
              <a:ext uri="{FF2B5EF4-FFF2-40B4-BE49-F238E27FC236}">
                <a16:creationId xmlns:a16="http://schemas.microsoft.com/office/drawing/2014/main" id="{563959AD-8C25-A72B-3CED-AEA5D5EB203A}"/>
              </a:ext>
            </a:extLst>
          </p:cNvPr>
          <p:cNvSpPr txBox="1"/>
          <p:nvPr/>
        </p:nvSpPr>
        <p:spPr>
          <a:xfrm>
            <a:off x="3414955" y="2180741"/>
            <a:ext cx="1239864" cy="3693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Editor</a:t>
            </a:r>
          </a:p>
        </p:txBody>
      </p:sp>
      <p:sp>
        <p:nvSpPr>
          <p:cNvPr id="6" name="ZoneTexte 10">
            <a:extLst>
              <a:ext uri="{FF2B5EF4-FFF2-40B4-BE49-F238E27FC236}">
                <a16:creationId xmlns:a16="http://schemas.microsoft.com/office/drawing/2014/main" id="{1140DD4A-F747-A4E4-557B-4928AEF7FC23}"/>
              </a:ext>
            </a:extLst>
          </p:cNvPr>
          <p:cNvSpPr txBox="1"/>
          <p:nvPr/>
        </p:nvSpPr>
        <p:spPr>
          <a:xfrm>
            <a:off x="7566401" y="1406127"/>
            <a:ext cx="2092271" cy="3693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Workspace, history</a:t>
            </a:r>
          </a:p>
        </p:txBody>
      </p:sp>
      <p:sp>
        <p:nvSpPr>
          <p:cNvPr id="7" name="ZoneTexte 11">
            <a:extLst>
              <a:ext uri="{FF2B5EF4-FFF2-40B4-BE49-F238E27FC236}">
                <a16:creationId xmlns:a16="http://schemas.microsoft.com/office/drawing/2014/main" id="{FDABE8D0-BD74-5E78-1359-7ECD89C02302}"/>
              </a:ext>
            </a:extLst>
          </p:cNvPr>
          <p:cNvSpPr txBox="1"/>
          <p:nvPr/>
        </p:nvSpPr>
        <p:spPr>
          <a:xfrm>
            <a:off x="4037450" y="4897208"/>
            <a:ext cx="2092271" cy="3693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Console, terminal</a:t>
            </a:r>
          </a:p>
        </p:txBody>
      </p:sp>
      <p:sp>
        <p:nvSpPr>
          <p:cNvPr id="8" name="ZoneTexte 12">
            <a:extLst>
              <a:ext uri="{FF2B5EF4-FFF2-40B4-BE49-F238E27FC236}">
                <a16:creationId xmlns:a16="http://schemas.microsoft.com/office/drawing/2014/main" id="{EC07B079-D109-CDAD-8F57-3E441B9D12FC}"/>
              </a:ext>
            </a:extLst>
          </p:cNvPr>
          <p:cNvSpPr txBox="1"/>
          <p:nvPr/>
        </p:nvSpPr>
        <p:spPr>
          <a:xfrm>
            <a:off x="6384637" y="5828236"/>
            <a:ext cx="3473093" cy="369332"/>
          </a:xfrm>
          <a:prstGeom prst="rect">
            <a:avLst/>
          </a:prstGeom>
          <a:noFill/>
        </p:spPr>
        <p:txBody>
          <a:bodyPr wrap="square" rtlCol="0">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rgbClr val="C00000"/>
                </a:solidFill>
              </a:rPr>
              <a:t>File explorer, plots, packages, help</a:t>
            </a:r>
          </a:p>
        </p:txBody>
      </p:sp>
    </p:spTree>
    <p:extLst>
      <p:ext uri="{BB962C8B-B14F-4D97-AF65-F5344CB8AC3E}">
        <p14:creationId xmlns:p14="http://schemas.microsoft.com/office/powerpoint/2010/main" val="1833962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Positron interface</a:t>
            </a:r>
          </a:p>
        </p:txBody>
      </p:sp>
      <p:pic>
        <p:nvPicPr>
          <p:cNvPr id="101" name="Picture 101" descr="Positron screenshot"/>
          <p:cNvPicPr>
            <a:picLocks noChangeAspect="1"/>
          </p:cNvPicPr>
          <p:nvPr/>
        </p:nvPicPr>
        <p:blipFill>
          <a:blip r:embed="rId2"/>
          <a:stretch>
            <a:fillRect/>
          </a:stretch>
        </p:blipFill>
        <p:spPr>
          <a:xfrm>
            <a:off x="1665321" y="1097280"/>
            <a:ext cx="8861054" cy="4892040"/>
          </a:xfrm>
          <a:prstGeom prst="rect">
            <a:avLst/>
          </a:prstGeom>
        </p:spPr>
      </p:pic>
      <p:sp>
        <p:nvSpPr>
          <p:cNvPr id="102" name="Frame 102"/>
          <p:cNvSpPr/>
          <p:nvPr/>
        </p:nvSpPr>
        <p:spPr>
          <a:xfrm>
            <a:off x="1665321" y="1097280"/>
            <a:ext cx="8861054" cy="4892040"/>
          </a:xfrm>
          <a:prstGeom prst="rect">
            <a:avLst/>
          </a:prstGeom>
          <a:noFill/>
          <a:ln w="12700">
            <a:solidFill>
              <a:srgbClr val="9A9A9A"/>
            </a:solidFill>
          </a:ln>
        </p:spPr>
        <p:txBody>
          <a:bodyPr/>
          <a:lstStyle/>
          <a:p>
            <a:endParaRPr lang="fr-FR"/>
          </a:p>
        </p:txBody>
      </p:sp>
      <p:sp>
        <p:nvSpPr>
          <p:cNvPr id="103" name="Callout 103"/>
          <p:cNvSpPr/>
          <p:nvPr/>
        </p:nvSpPr>
        <p:spPr>
          <a:xfrm>
            <a:off x="1919153" y="5077163"/>
            <a:ext cx="813816" cy="347472"/>
          </a:xfrm>
          <a:prstGeom prst="roundRect">
            <a:avLst>
              <a:gd name="adj" fmla="val 50000"/>
            </a:avLst>
          </a:prstGeom>
          <a:solidFill>
            <a:srgbClr val="E20613"/>
          </a:solidFill>
          <a:ln w="19050">
            <a:solidFill>
              <a:srgbClr val="FFFFFF"/>
            </a:solidFill>
          </a:ln>
        </p:spPr>
        <p:txBody>
          <a:bodyPr wrap="square" lIns="27432" tIns="27432" rIns="27432" bIns="27432" rtlCol="0" anchor="ctr">
            <a:noAutofit/>
          </a:bodyPr>
          <a:lstStyle/>
          <a:p>
            <a:pPr marL="0" indent="0" algn="ctr">
              <a:spcAft>
                <a:spcPts val="0"/>
              </a:spcAft>
              <a:buNone/>
            </a:pPr>
            <a:r>
              <a:rPr lang="en-GB" sz="1300" b="1" dirty="0">
                <a:solidFill>
                  <a:srgbClr val="FFFFFF"/>
                </a:solidFill>
              </a:rPr>
              <a:t>Files</a:t>
            </a:r>
            <a:endParaRPr lang="en-GB" sz="1400" dirty="0"/>
          </a:p>
        </p:txBody>
      </p:sp>
      <p:sp>
        <p:nvSpPr>
          <p:cNvPr id="104" name="Callout 104"/>
          <p:cNvSpPr/>
          <p:nvPr/>
        </p:nvSpPr>
        <p:spPr>
          <a:xfrm>
            <a:off x="6900019" y="3092656"/>
            <a:ext cx="903427" cy="347472"/>
          </a:xfrm>
          <a:prstGeom prst="roundRect">
            <a:avLst>
              <a:gd name="adj" fmla="val 50000"/>
            </a:avLst>
          </a:prstGeom>
          <a:solidFill>
            <a:srgbClr val="E20613"/>
          </a:solidFill>
          <a:ln w="19050">
            <a:solidFill>
              <a:srgbClr val="FFFFFF"/>
            </a:solidFill>
          </a:ln>
        </p:spPr>
        <p:txBody>
          <a:bodyPr wrap="square" lIns="27432" tIns="27432" rIns="27432" bIns="27432" rtlCol="0" anchor="ctr">
            <a:noAutofit/>
          </a:bodyPr>
          <a:lstStyle/>
          <a:p>
            <a:pPr marL="0" indent="0" algn="ctr">
              <a:spcAft>
                <a:spcPts val="0"/>
              </a:spcAft>
              <a:buNone/>
            </a:pPr>
            <a:r>
              <a:rPr lang="en-GB" sz="1300" b="1" dirty="0">
                <a:solidFill>
                  <a:srgbClr val="FFFFFF"/>
                </a:solidFill>
              </a:rPr>
              <a:t>Editor</a:t>
            </a:r>
            <a:endParaRPr lang="en-GB" sz="1400" dirty="0"/>
          </a:p>
        </p:txBody>
      </p:sp>
      <p:sp>
        <p:nvSpPr>
          <p:cNvPr id="105" name="Callout 105"/>
          <p:cNvSpPr/>
          <p:nvPr/>
        </p:nvSpPr>
        <p:spPr>
          <a:xfrm>
            <a:off x="5914296" y="5215617"/>
            <a:ext cx="1889150" cy="347472"/>
          </a:xfrm>
          <a:prstGeom prst="roundRect">
            <a:avLst>
              <a:gd name="adj" fmla="val 50000"/>
            </a:avLst>
          </a:prstGeom>
          <a:solidFill>
            <a:srgbClr val="E20613"/>
          </a:solidFill>
          <a:ln w="19050">
            <a:solidFill>
              <a:srgbClr val="FFFFFF"/>
            </a:solidFill>
          </a:ln>
        </p:spPr>
        <p:txBody>
          <a:bodyPr wrap="square" lIns="27432" tIns="27432" rIns="27432" bIns="27432" rtlCol="0" anchor="ctr">
            <a:noAutofit/>
          </a:bodyPr>
          <a:lstStyle/>
          <a:p>
            <a:pPr marL="0" indent="0" algn="ctr">
              <a:spcAft>
                <a:spcPts val="0"/>
              </a:spcAft>
              <a:buNone/>
            </a:pPr>
            <a:r>
              <a:rPr lang="en-GB" sz="1300" b="1" dirty="0">
                <a:solidFill>
                  <a:srgbClr val="FFFFFF"/>
                </a:solidFill>
              </a:rPr>
              <a:t>Console, terminal</a:t>
            </a:r>
            <a:endParaRPr lang="en-GB" sz="1400" dirty="0"/>
          </a:p>
        </p:txBody>
      </p:sp>
      <p:sp>
        <p:nvSpPr>
          <p:cNvPr id="106" name="Callout 106"/>
          <p:cNvSpPr/>
          <p:nvPr/>
        </p:nvSpPr>
        <p:spPr>
          <a:xfrm>
            <a:off x="8126506" y="2446538"/>
            <a:ext cx="2247595" cy="347472"/>
          </a:xfrm>
          <a:prstGeom prst="roundRect">
            <a:avLst>
              <a:gd name="adj" fmla="val 50000"/>
            </a:avLst>
          </a:prstGeom>
          <a:solidFill>
            <a:srgbClr val="E20613"/>
          </a:solidFill>
          <a:ln w="19050">
            <a:solidFill>
              <a:srgbClr val="FFFFFF"/>
            </a:solidFill>
          </a:ln>
        </p:spPr>
        <p:txBody>
          <a:bodyPr wrap="square" lIns="27432" tIns="27432" rIns="27432" bIns="27432" rtlCol="0" anchor="ctr">
            <a:noAutofit/>
          </a:bodyPr>
          <a:lstStyle/>
          <a:p>
            <a:pPr marL="0" indent="0" algn="ctr">
              <a:spcAft>
                <a:spcPts val="0"/>
              </a:spcAft>
              <a:buNone/>
            </a:pPr>
            <a:r>
              <a:rPr lang="en-GB" sz="1300" b="1" dirty="0">
                <a:solidFill>
                  <a:srgbClr val="FFFFFF"/>
                </a:solidFill>
              </a:rPr>
              <a:t>Variables (workspace)</a:t>
            </a:r>
            <a:endParaRPr lang="en-GB" sz="1400" dirty="0"/>
          </a:p>
        </p:txBody>
      </p:sp>
      <p:sp>
        <p:nvSpPr>
          <p:cNvPr id="107" name="Callout 107"/>
          <p:cNvSpPr/>
          <p:nvPr/>
        </p:nvSpPr>
        <p:spPr>
          <a:xfrm>
            <a:off x="8126506" y="3923380"/>
            <a:ext cx="813816" cy="347472"/>
          </a:xfrm>
          <a:prstGeom prst="roundRect">
            <a:avLst>
              <a:gd name="adj" fmla="val 50000"/>
            </a:avLst>
          </a:prstGeom>
          <a:solidFill>
            <a:srgbClr val="E20613"/>
          </a:solidFill>
          <a:ln w="19050">
            <a:solidFill>
              <a:srgbClr val="FFFFFF"/>
            </a:solidFill>
          </a:ln>
        </p:spPr>
        <p:txBody>
          <a:bodyPr wrap="square" lIns="27432" tIns="27432" rIns="27432" bIns="27432" rtlCol="0" anchor="ctr">
            <a:noAutofit/>
          </a:bodyPr>
          <a:lstStyle/>
          <a:p>
            <a:pPr marL="0" indent="0" algn="ctr">
              <a:spcAft>
                <a:spcPts val="0"/>
              </a:spcAft>
              <a:buNone/>
            </a:pPr>
            <a:r>
              <a:rPr lang="en-GB" sz="1300" b="1" dirty="0">
                <a:solidFill>
                  <a:srgbClr val="FFFFFF"/>
                </a:solidFill>
              </a:rPr>
              <a:t>Plots</a:t>
            </a:r>
            <a:endParaRPr lang="en-GB" sz="1400" dirty="0"/>
          </a:p>
        </p:txBody>
      </p:sp>
      <p:sp>
        <p:nvSpPr>
          <p:cNvPr id="108" name="Callout 108"/>
          <p:cNvSpPr/>
          <p:nvPr/>
        </p:nvSpPr>
        <p:spPr>
          <a:xfrm>
            <a:off x="7711506" y="1135840"/>
            <a:ext cx="1799539" cy="347472"/>
          </a:xfrm>
          <a:prstGeom prst="roundRect">
            <a:avLst>
              <a:gd name="adj" fmla="val 50000"/>
            </a:avLst>
          </a:prstGeom>
          <a:solidFill>
            <a:srgbClr val="E20613"/>
          </a:solidFill>
          <a:ln w="19050">
            <a:solidFill>
              <a:srgbClr val="FFFFFF"/>
            </a:solidFill>
          </a:ln>
        </p:spPr>
        <p:txBody>
          <a:bodyPr wrap="square" lIns="27432" tIns="27432" rIns="27432" bIns="27432" rtlCol="0" anchor="ctr">
            <a:noAutofit/>
          </a:bodyPr>
          <a:lstStyle/>
          <a:p>
            <a:pPr marL="0" indent="0" algn="ctr">
              <a:spcAft>
                <a:spcPts val="0"/>
              </a:spcAft>
              <a:buNone/>
            </a:pPr>
            <a:r>
              <a:rPr lang="en-GB" sz="1300" b="1" dirty="0">
                <a:solidFill>
                  <a:srgbClr val="FFFFFF"/>
                </a:solidFill>
              </a:rPr>
              <a:t>R version in use</a:t>
            </a:r>
            <a:endParaRPr lang="en-GB" sz="1400" dirty="0"/>
          </a:p>
        </p:txBody>
      </p:sp>
      <p:sp>
        <p:nvSpPr>
          <p:cNvPr id="109" name="Text 109"/>
          <p:cNvSpPr txBox="1"/>
          <p:nvPr/>
        </p:nvSpPr>
        <p:spPr>
          <a:xfrm>
            <a:off x="841248" y="6053328"/>
            <a:ext cx="10515600" cy="274320"/>
          </a:xfrm>
          <a:prstGeom prst="rect">
            <a:avLst/>
          </a:prstGeom>
          <a:noFill/>
          <a:ln>
            <a:noFill/>
          </a:ln>
        </p:spPr>
        <p:txBody>
          <a:bodyPr wrap="square" lIns="0" tIns="0" rIns="0" bIns="0" rtlCol="0" anchor="t">
            <a:noAutofit/>
          </a:bodyPr>
          <a:lstStyle/>
          <a:p>
            <a:pPr marL="0" indent="0" algn="ctr">
              <a:spcAft>
                <a:spcPts val="0"/>
              </a:spcAft>
              <a:buNone/>
            </a:pPr>
            <a:r>
              <a:rPr lang="en-GB" sz="1100" i="1" dirty="0">
                <a:solidFill>
                  <a:srgbClr val="6B6B6B"/>
                </a:solidFill>
              </a:rPr>
              <a:t>Same building blocks as RStudio, arranged a bit differently. Help, History and Viewer sit in tabs next to Session.</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Positron: an alternative to RStudio</a:t>
            </a:r>
          </a:p>
        </p:txBody>
      </p:sp>
      <p:sp>
        <p:nvSpPr>
          <p:cNvPr id="101" name="Text 101"/>
          <p:cNvSpPr txBox="1"/>
          <p:nvPr/>
        </p:nvSpPr>
        <p:spPr>
          <a:xfrm>
            <a:off x="841248" y="1097280"/>
            <a:ext cx="10515600" cy="548640"/>
          </a:xfrm>
          <a:prstGeom prst="rect">
            <a:avLst/>
          </a:prstGeom>
          <a:noFill/>
          <a:ln>
            <a:noFill/>
          </a:ln>
        </p:spPr>
        <p:txBody>
          <a:bodyPr wrap="square" lIns="0" tIns="0" rIns="0" bIns="0" rtlCol="0" anchor="t">
            <a:noAutofit/>
          </a:bodyPr>
          <a:lstStyle/>
          <a:p>
            <a:pPr marL="0" indent="0" algn="l">
              <a:spcAft>
                <a:spcPts val="0"/>
              </a:spcAft>
              <a:buNone/>
            </a:pPr>
            <a:r>
              <a:rPr lang="en-GB" sz="1700" dirty="0"/>
              <a:t>A free, next-generation IDE released by </a:t>
            </a:r>
            <a:r>
              <a:rPr lang="en-GB" sz="1700" b="1" dirty="0"/>
              <a:t>Posit</a:t>
            </a:r>
            <a:r>
              <a:rPr lang="en-GB" sz="1700" dirty="0"/>
              <a:t> (the company behind RStudio). Stable since summer 2025.</a:t>
            </a:r>
            <a:endParaRPr lang="en-GB" sz="1400" dirty="0"/>
          </a:p>
        </p:txBody>
      </p:sp>
      <p:sp>
        <p:nvSpPr>
          <p:cNvPr id="102" name="Cell 102"/>
          <p:cNvSpPr txBox="1"/>
          <p:nvPr/>
        </p:nvSpPr>
        <p:spPr>
          <a:xfrm>
            <a:off x="841248" y="1737360"/>
            <a:ext cx="1874520" cy="420624"/>
          </a:xfrm>
          <a:prstGeom prst="rect">
            <a:avLst/>
          </a:prstGeom>
          <a:noFill/>
          <a:ln>
            <a:noFill/>
          </a:ln>
        </p:spPr>
        <p:txBody>
          <a:bodyPr wrap="square" lIns="91440" tIns="91440" rIns="91440" bIns="91440" rtlCol="0" anchor="ctr">
            <a:noAutofit/>
          </a:bodyPr>
          <a:lstStyle/>
          <a:p>
            <a:pPr marL="0" indent="0" algn="ctr">
              <a:spcAft>
                <a:spcPts val="0"/>
              </a:spcAft>
              <a:buNone/>
            </a:pPr>
            <a:endParaRPr lang="en-GB" sz="1400" dirty="0"/>
          </a:p>
        </p:txBody>
      </p:sp>
      <p:sp>
        <p:nvSpPr>
          <p:cNvPr id="103" name="Cell 103"/>
          <p:cNvSpPr/>
          <p:nvPr/>
        </p:nvSpPr>
        <p:spPr>
          <a:xfrm>
            <a:off x="2761488" y="1737360"/>
            <a:ext cx="4206240" cy="420624"/>
          </a:xfrm>
          <a:prstGeom prst="rect">
            <a:avLst/>
          </a:prstGeom>
          <a:solidFill>
            <a:srgbClr val="333333"/>
          </a:solidFill>
          <a:ln>
            <a:noFill/>
          </a:ln>
        </p:spPr>
        <p:txBody>
          <a:bodyPr wrap="square" lIns="91440" tIns="91440" rIns="91440" bIns="91440" rtlCol="0" anchor="ctr">
            <a:noAutofit/>
          </a:bodyPr>
          <a:lstStyle/>
          <a:p>
            <a:pPr marL="0" indent="0" algn="ctr">
              <a:spcAft>
                <a:spcPts val="0"/>
              </a:spcAft>
              <a:buNone/>
            </a:pPr>
            <a:r>
              <a:rPr lang="en-GB" sz="1600" b="1" dirty="0">
                <a:solidFill>
                  <a:srgbClr val="FFFFFF"/>
                </a:solidFill>
              </a:rPr>
              <a:t>RStudio</a:t>
            </a:r>
            <a:endParaRPr lang="en-GB" sz="1400" dirty="0"/>
          </a:p>
        </p:txBody>
      </p:sp>
      <p:sp>
        <p:nvSpPr>
          <p:cNvPr id="104" name="Cell 104"/>
          <p:cNvSpPr/>
          <p:nvPr/>
        </p:nvSpPr>
        <p:spPr>
          <a:xfrm>
            <a:off x="7013448" y="1737360"/>
            <a:ext cx="4206240" cy="420624"/>
          </a:xfrm>
          <a:prstGeom prst="rect">
            <a:avLst/>
          </a:prstGeom>
          <a:solidFill>
            <a:srgbClr val="E20613"/>
          </a:solidFill>
          <a:ln>
            <a:noFill/>
          </a:ln>
        </p:spPr>
        <p:txBody>
          <a:bodyPr wrap="square" lIns="91440" tIns="91440" rIns="91440" bIns="91440" rtlCol="0" anchor="ctr">
            <a:noAutofit/>
          </a:bodyPr>
          <a:lstStyle/>
          <a:p>
            <a:pPr marL="0" indent="0" algn="ctr">
              <a:spcAft>
                <a:spcPts val="0"/>
              </a:spcAft>
              <a:buNone/>
            </a:pPr>
            <a:r>
              <a:rPr lang="en-GB" sz="1600" b="1" dirty="0">
                <a:solidFill>
                  <a:srgbClr val="FFFFFF"/>
                </a:solidFill>
              </a:rPr>
              <a:t>Positron</a:t>
            </a:r>
            <a:endParaRPr lang="en-GB" sz="1400" dirty="0"/>
          </a:p>
        </p:txBody>
      </p:sp>
      <p:sp>
        <p:nvSpPr>
          <p:cNvPr id="105" name="Cell 105"/>
          <p:cNvSpPr/>
          <p:nvPr/>
        </p:nvSpPr>
        <p:spPr>
          <a:xfrm>
            <a:off x="841248" y="2194560"/>
            <a:ext cx="187452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b="1" dirty="0">
                <a:solidFill>
                  <a:srgbClr val="333333"/>
                </a:solidFill>
              </a:rPr>
              <a:t>Languages</a:t>
            </a:r>
            <a:endParaRPr lang="en-GB" sz="1400" dirty="0"/>
          </a:p>
        </p:txBody>
      </p:sp>
      <p:sp>
        <p:nvSpPr>
          <p:cNvPr id="106" name="Cell 106"/>
          <p:cNvSpPr/>
          <p:nvPr/>
        </p:nvSpPr>
        <p:spPr>
          <a:xfrm>
            <a:off x="2761488" y="2194560"/>
            <a:ext cx="420624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Built for R (Python possible)</a:t>
            </a:r>
            <a:endParaRPr lang="en-GB" sz="1400" dirty="0"/>
          </a:p>
        </p:txBody>
      </p:sp>
      <p:sp>
        <p:nvSpPr>
          <p:cNvPr id="107" name="Cell 107"/>
          <p:cNvSpPr/>
          <p:nvPr/>
        </p:nvSpPr>
        <p:spPr>
          <a:xfrm>
            <a:off x="7013448" y="2194560"/>
            <a:ext cx="420624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R and Python treated as equals</a:t>
            </a:r>
            <a:endParaRPr lang="en-GB" sz="1400" dirty="0"/>
          </a:p>
        </p:txBody>
      </p:sp>
      <p:sp>
        <p:nvSpPr>
          <p:cNvPr id="108" name="Cell 108"/>
          <p:cNvSpPr txBox="1"/>
          <p:nvPr/>
        </p:nvSpPr>
        <p:spPr>
          <a:xfrm>
            <a:off x="841248" y="2798064"/>
            <a:ext cx="1874520" cy="566928"/>
          </a:xfrm>
          <a:prstGeom prst="rect">
            <a:avLst/>
          </a:prstGeom>
          <a:noFill/>
          <a:ln>
            <a:noFill/>
          </a:ln>
        </p:spPr>
        <p:txBody>
          <a:bodyPr wrap="square" lIns="91440" tIns="91440" rIns="91440" bIns="91440" rtlCol="0" anchor="ctr">
            <a:noAutofit/>
          </a:bodyPr>
          <a:lstStyle/>
          <a:p>
            <a:pPr marL="0" indent="0" algn="l">
              <a:spcAft>
                <a:spcPts val="0"/>
              </a:spcAft>
              <a:buNone/>
            </a:pPr>
            <a:r>
              <a:rPr lang="en-GB" sz="1400" b="1" dirty="0">
                <a:solidFill>
                  <a:srgbClr val="333333"/>
                </a:solidFill>
              </a:rPr>
              <a:t>Based on</a:t>
            </a:r>
            <a:endParaRPr lang="en-GB" sz="1400" dirty="0"/>
          </a:p>
        </p:txBody>
      </p:sp>
      <p:sp>
        <p:nvSpPr>
          <p:cNvPr id="109" name="Cell 109"/>
          <p:cNvSpPr txBox="1"/>
          <p:nvPr/>
        </p:nvSpPr>
        <p:spPr>
          <a:xfrm>
            <a:off x="2761488" y="2798064"/>
            <a:ext cx="4206240" cy="566928"/>
          </a:xfrm>
          <a:prstGeom prst="rect">
            <a:avLst/>
          </a:prstGeom>
          <a:no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Its own interface, 14+ years old</a:t>
            </a:r>
            <a:endParaRPr lang="en-GB" sz="1400" dirty="0"/>
          </a:p>
        </p:txBody>
      </p:sp>
      <p:sp>
        <p:nvSpPr>
          <p:cNvPr id="110" name="Cell 110"/>
          <p:cNvSpPr txBox="1"/>
          <p:nvPr/>
        </p:nvSpPr>
        <p:spPr>
          <a:xfrm>
            <a:off x="7013448" y="2798064"/>
            <a:ext cx="4206240" cy="566928"/>
          </a:xfrm>
          <a:prstGeom prst="rect">
            <a:avLst/>
          </a:prstGeom>
          <a:no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Code OSS, the open-source core of VS Code</a:t>
            </a:r>
            <a:endParaRPr lang="en-GB" sz="1400" dirty="0"/>
          </a:p>
        </p:txBody>
      </p:sp>
      <p:sp>
        <p:nvSpPr>
          <p:cNvPr id="111" name="Cell 111"/>
          <p:cNvSpPr/>
          <p:nvPr/>
        </p:nvSpPr>
        <p:spPr>
          <a:xfrm>
            <a:off x="841248" y="3401568"/>
            <a:ext cx="187452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b="1" dirty="0">
                <a:solidFill>
                  <a:srgbClr val="333333"/>
                </a:solidFill>
              </a:rPr>
              <a:t>Interface</a:t>
            </a:r>
            <a:endParaRPr lang="en-GB" sz="1400" dirty="0"/>
          </a:p>
        </p:txBody>
      </p:sp>
      <p:sp>
        <p:nvSpPr>
          <p:cNvPr id="112" name="Cell 112"/>
          <p:cNvSpPr/>
          <p:nvPr/>
        </p:nvSpPr>
        <p:spPr>
          <a:xfrm>
            <a:off x="2761488" y="3401568"/>
            <a:ext cx="420624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4 panes: editor, console, environment, files/plots/help</a:t>
            </a:r>
            <a:endParaRPr lang="en-GB" sz="1400" dirty="0"/>
          </a:p>
        </p:txBody>
      </p:sp>
      <p:sp>
        <p:nvSpPr>
          <p:cNvPr id="113" name="Cell 113"/>
          <p:cNvSpPr/>
          <p:nvPr/>
        </p:nvSpPr>
        <p:spPr>
          <a:xfrm>
            <a:off x="7013448" y="3401568"/>
            <a:ext cx="420624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Very similar panes, plus a data explorer and extensions</a:t>
            </a:r>
            <a:endParaRPr lang="en-GB" sz="1400" dirty="0"/>
          </a:p>
        </p:txBody>
      </p:sp>
      <p:sp>
        <p:nvSpPr>
          <p:cNvPr id="114" name="Cell 114"/>
          <p:cNvSpPr txBox="1"/>
          <p:nvPr/>
        </p:nvSpPr>
        <p:spPr>
          <a:xfrm>
            <a:off x="841248" y="4005072"/>
            <a:ext cx="1874520" cy="566928"/>
          </a:xfrm>
          <a:prstGeom prst="rect">
            <a:avLst/>
          </a:prstGeom>
          <a:noFill/>
          <a:ln>
            <a:noFill/>
          </a:ln>
        </p:spPr>
        <p:txBody>
          <a:bodyPr wrap="square" lIns="91440" tIns="91440" rIns="91440" bIns="91440" rtlCol="0" anchor="ctr">
            <a:noAutofit/>
          </a:bodyPr>
          <a:lstStyle/>
          <a:p>
            <a:pPr marL="0" indent="0" algn="l">
              <a:spcAft>
                <a:spcPts val="0"/>
              </a:spcAft>
              <a:buNone/>
            </a:pPr>
            <a:r>
              <a:rPr lang="en-GB" sz="1400" b="1" dirty="0">
                <a:solidFill>
                  <a:srgbClr val="333333"/>
                </a:solidFill>
              </a:rPr>
              <a:t>Robustness</a:t>
            </a:r>
            <a:endParaRPr lang="en-GB" sz="1400" dirty="0"/>
          </a:p>
        </p:txBody>
      </p:sp>
      <p:sp>
        <p:nvSpPr>
          <p:cNvPr id="115" name="Cell 115"/>
          <p:cNvSpPr txBox="1"/>
          <p:nvPr/>
        </p:nvSpPr>
        <p:spPr>
          <a:xfrm>
            <a:off x="2761488" y="4005072"/>
            <a:ext cx="4206240" cy="566928"/>
          </a:xfrm>
          <a:prstGeom prst="rect">
            <a:avLst/>
          </a:prstGeom>
          <a:no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A crash in R can freeze the whole IDE</a:t>
            </a:r>
            <a:endParaRPr lang="en-GB" sz="1400" dirty="0"/>
          </a:p>
        </p:txBody>
      </p:sp>
      <p:sp>
        <p:nvSpPr>
          <p:cNvPr id="116" name="Cell 116"/>
          <p:cNvSpPr txBox="1"/>
          <p:nvPr/>
        </p:nvSpPr>
        <p:spPr>
          <a:xfrm>
            <a:off x="7013448" y="4005072"/>
            <a:ext cx="4206240" cy="566928"/>
          </a:xfrm>
          <a:prstGeom prst="rect">
            <a:avLst/>
          </a:prstGeom>
          <a:no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R runs separately: a crash does not kill the IDE</a:t>
            </a:r>
            <a:endParaRPr lang="en-GB" sz="1400" dirty="0"/>
          </a:p>
        </p:txBody>
      </p:sp>
      <p:sp>
        <p:nvSpPr>
          <p:cNvPr id="117" name="Cell 117"/>
          <p:cNvSpPr/>
          <p:nvPr/>
        </p:nvSpPr>
        <p:spPr>
          <a:xfrm>
            <a:off x="841248" y="4608576"/>
            <a:ext cx="187452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b="1" dirty="0">
                <a:solidFill>
                  <a:srgbClr val="333333"/>
                </a:solidFill>
              </a:rPr>
              <a:t>Projects</a:t>
            </a:r>
            <a:endParaRPr lang="en-GB" sz="1400" dirty="0"/>
          </a:p>
        </p:txBody>
      </p:sp>
      <p:sp>
        <p:nvSpPr>
          <p:cNvPr id="118" name="Cell 118"/>
          <p:cNvSpPr/>
          <p:nvPr/>
        </p:nvSpPr>
        <p:spPr>
          <a:xfrm>
            <a:off x="2761488" y="4608576"/>
            <a:ext cx="420624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.Rproj files</a:t>
            </a:r>
            <a:endParaRPr lang="en-GB" sz="1400" dirty="0"/>
          </a:p>
        </p:txBody>
      </p:sp>
      <p:sp>
        <p:nvSpPr>
          <p:cNvPr id="119" name="Cell 119"/>
          <p:cNvSpPr/>
          <p:nvPr/>
        </p:nvSpPr>
        <p:spPr>
          <a:xfrm>
            <a:off x="7013448" y="4608576"/>
            <a:ext cx="4206240" cy="566928"/>
          </a:xfrm>
          <a:prstGeom prst="rect">
            <a:avLst/>
          </a:prstGeom>
          <a:solidFill>
            <a:srgbClr val="F2F2F2"/>
          </a:solidFill>
          <a:ln>
            <a:noFill/>
          </a:ln>
        </p:spPr>
        <p:txBody>
          <a:bodyPr wrap="square" lIns="91440" tIns="91440" rIns="91440" bIns="91440" rtlCol="0" anchor="ctr">
            <a:noAutofit/>
          </a:bodyPr>
          <a:lstStyle/>
          <a:p>
            <a:pPr marL="0" indent="0" algn="l">
              <a:spcAft>
                <a:spcPts val="0"/>
              </a:spcAft>
              <a:buNone/>
            </a:pPr>
            <a:r>
              <a:rPr lang="en-GB" sz="1400" dirty="0">
                <a:solidFill>
                  <a:srgbClr val="333333"/>
                </a:solidFill>
              </a:rPr>
              <a:t>Plain folders (workspaces)</a:t>
            </a:r>
            <a:endParaRPr lang="en-GB" sz="1400" dirty="0"/>
          </a:p>
        </p:txBody>
      </p:sp>
      <p:sp>
        <p:nvSpPr>
          <p:cNvPr id="120" name="Message 120"/>
          <p:cNvSpPr/>
          <p:nvPr/>
        </p:nvSpPr>
        <p:spPr>
          <a:xfrm>
            <a:off x="841248" y="5349240"/>
            <a:ext cx="10515600" cy="685800"/>
          </a:xfrm>
          <a:prstGeom prst="roundRect">
            <a:avLst>
              <a:gd name="adj" fmla="val 12000"/>
            </a:avLst>
          </a:prstGeom>
          <a:solidFill>
            <a:srgbClr val="FDECED"/>
          </a:solidFill>
          <a:ln>
            <a:noFill/>
          </a:ln>
        </p:spPr>
        <p:txBody>
          <a:bodyPr wrap="square" lIns="137160" tIns="137160" rIns="137160" bIns="137160" rtlCol="0" anchor="ctr">
            <a:noAutofit/>
          </a:bodyPr>
          <a:lstStyle/>
          <a:p>
            <a:pPr marL="0" indent="0" algn="l">
              <a:spcAft>
                <a:spcPts val="0"/>
              </a:spcAft>
              <a:buNone/>
            </a:pPr>
            <a:r>
              <a:rPr lang="en-GB" sz="1600" b="1" dirty="0">
                <a:solidFill>
                  <a:srgbClr val="E20613"/>
                </a:solidFill>
              </a:rPr>
              <a:t>In this course we use RStudio. </a:t>
            </a:r>
            <a:r>
              <a:rPr lang="en-GB" sz="1600" dirty="0">
                <a:solidFill>
                  <a:srgbClr val="333333"/>
                </a:solidFill>
              </a:rPr>
              <a:t>Everything you learn here (console, scripts, working directory, packages) transfers directly to Positron. Feel free to use Positron though.</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AB48-4140-4CC1-0FF0-91A5E94AFE39}"/>
              </a:ext>
            </a:extLst>
          </p:cNvPr>
          <p:cNvSpPr>
            <a:spLocks noGrp="1"/>
          </p:cNvSpPr>
          <p:nvPr>
            <p:ph type="title"/>
          </p:nvPr>
        </p:nvSpPr>
        <p:spPr/>
        <p:txBody>
          <a:bodyPr/>
          <a:lstStyle/>
          <a:p>
            <a:r>
              <a:rPr lang="en-GB" dirty="0">
                <a:ea typeface="Verdana"/>
                <a:cs typeface="Gill Sans"/>
              </a:rPr>
              <a:t>Creating an </a:t>
            </a:r>
            <a:r>
              <a:rPr lang="en-GB" b="1" dirty="0">
                <a:ea typeface="Verdana"/>
                <a:cs typeface="Gill Sans"/>
              </a:rPr>
              <a:t>R project</a:t>
            </a:r>
            <a:endParaRPr lang="en-US"/>
          </a:p>
        </p:txBody>
      </p:sp>
      <p:sp>
        <p:nvSpPr>
          <p:cNvPr id="3" name="Text Placeholder 2">
            <a:extLst>
              <a:ext uri="{FF2B5EF4-FFF2-40B4-BE49-F238E27FC236}">
                <a16:creationId xmlns:a16="http://schemas.microsoft.com/office/drawing/2014/main" id="{347637F5-1436-E39F-6C83-FE2168487F96}"/>
              </a:ext>
            </a:extLst>
          </p:cNvPr>
          <p:cNvSpPr>
            <a:spLocks noGrp="1"/>
          </p:cNvSpPr>
          <p:nvPr>
            <p:ph type="body" sz="quarter" idx="11"/>
          </p:nvPr>
        </p:nvSpPr>
        <p:spPr>
          <a:xfrm>
            <a:off x="838200" y="1590675"/>
            <a:ext cx="10515600" cy="3703638"/>
          </a:xfrm>
        </p:spPr>
        <p:txBody>
          <a:bodyPr vert="horz" lIns="91440" tIns="45720" rIns="91440" bIns="45720" rtlCol="0" anchor="t">
            <a:normAutofit/>
          </a:bodyPr>
          <a:lstStyle/>
          <a:p>
            <a:r>
              <a:rPr lang="en-GB" dirty="0" err="1">
                <a:ea typeface="Tahoma"/>
                <a:cs typeface="Gill Sans Light"/>
              </a:rPr>
              <a:t>Rstudio</a:t>
            </a:r>
            <a:r>
              <a:rPr lang="en-GB" dirty="0">
                <a:ea typeface="Tahoma"/>
                <a:cs typeface="Gill Sans Light"/>
              </a:rPr>
              <a:t> allows the organization of your work in </a:t>
            </a:r>
            <a:r>
              <a:rPr lang="en-GB" b="1" dirty="0">
                <a:ea typeface="Tahoma"/>
                <a:cs typeface="Gill Sans Light"/>
              </a:rPr>
              <a:t>projects</a:t>
            </a:r>
            <a:endParaRPr lang="en-GB" b="1" dirty="0"/>
          </a:p>
          <a:p>
            <a:endParaRPr lang="en-GB" b="1" dirty="0"/>
          </a:p>
          <a:p>
            <a:pPr marL="342900" indent="-342900">
              <a:buChar char="•"/>
            </a:pPr>
            <a:r>
              <a:rPr lang="en-GB" b="1" dirty="0">
                <a:ea typeface="Tahoma"/>
                <a:cs typeface="Gill Sans Light"/>
              </a:rPr>
              <a:t>File &gt; New Project  </a:t>
            </a:r>
            <a:r>
              <a:rPr lang="en-GB" dirty="0">
                <a:ea typeface="Tahoma"/>
                <a:cs typeface="Gill Sans Light"/>
              </a:rPr>
              <a:t>or click on "Project" in the upper-right corner</a:t>
            </a:r>
          </a:p>
          <a:p>
            <a:pPr marL="342900" indent="-342900">
              <a:buChar char="•"/>
            </a:pPr>
            <a:r>
              <a:rPr lang="en-GB" dirty="0">
                <a:ea typeface="Tahoma"/>
                <a:cs typeface="Gill Sans Light"/>
              </a:rPr>
              <a:t>Choose </a:t>
            </a:r>
            <a:r>
              <a:rPr lang="en-GB" b="1" dirty="0">
                <a:ea typeface="Tahoma"/>
                <a:cs typeface="Gill Sans Light"/>
              </a:rPr>
              <a:t>New directory</a:t>
            </a:r>
            <a:r>
              <a:rPr lang="en-GB" dirty="0">
                <a:ea typeface="Tahoma"/>
                <a:cs typeface="Gill Sans Light"/>
              </a:rPr>
              <a:t>, then New Project, give an appropriate name and location</a:t>
            </a:r>
          </a:p>
          <a:p>
            <a:pPr marL="342900" indent="-342900">
              <a:buChar char="•"/>
            </a:pPr>
            <a:r>
              <a:rPr lang="en-GB" dirty="0">
                <a:ea typeface="Tahoma"/>
                <a:cs typeface="Gill Sans Light"/>
              </a:rPr>
              <a:t>OR choose </a:t>
            </a:r>
            <a:r>
              <a:rPr lang="en-GB" b="1" dirty="0">
                <a:ea typeface="Tahoma"/>
                <a:cs typeface="Gill Sans Light"/>
              </a:rPr>
              <a:t>Existing Directory</a:t>
            </a:r>
          </a:p>
          <a:p>
            <a:pPr marL="342900" indent="-342900">
              <a:buChar char="•"/>
            </a:pPr>
            <a:endParaRPr lang="en-GB" dirty="0">
              <a:ea typeface="Tahoma"/>
              <a:cs typeface="Gill Sans Light"/>
            </a:endParaRPr>
          </a:p>
          <a:p>
            <a:pPr marL="342900" indent="-342900">
              <a:buChar char="•"/>
            </a:pPr>
            <a:r>
              <a:rPr lang="en-GB" dirty="0">
                <a:ea typeface="Tahoma"/>
                <a:cs typeface="Gill Sans Light"/>
              </a:rPr>
              <a:t>This creates an </a:t>
            </a:r>
            <a:r>
              <a:rPr lang="en-GB" b="1" dirty="0">
                <a:ea typeface="Tahoma"/>
                <a:cs typeface="Gill Sans Light"/>
              </a:rPr>
              <a:t>.</a:t>
            </a:r>
            <a:r>
              <a:rPr lang="en-GB" b="1" err="1">
                <a:ea typeface="Tahoma"/>
                <a:cs typeface="Gill Sans Light"/>
              </a:rPr>
              <a:t>Rproj</a:t>
            </a:r>
            <a:r>
              <a:rPr lang="en-GB" b="1" dirty="0">
                <a:ea typeface="Tahoma"/>
                <a:cs typeface="Gill Sans Light"/>
              </a:rPr>
              <a:t> file</a:t>
            </a:r>
            <a:r>
              <a:rPr lang="en-GB" dirty="0">
                <a:ea typeface="Tahoma"/>
                <a:cs typeface="Gill Sans Light"/>
              </a:rPr>
              <a:t> in the directory</a:t>
            </a:r>
          </a:p>
        </p:txBody>
      </p:sp>
      <p:pic>
        <p:nvPicPr>
          <p:cNvPr id="5" name="Image 20" descr="A red and black logo&#10;&#10;Description automatically generated">
            <a:extLst>
              <a:ext uri="{FF2B5EF4-FFF2-40B4-BE49-F238E27FC236}">
                <a16:creationId xmlns:a16="http://schemas.microsoft.com/office/drawing/2014/main" id="{C0BD3CB4-8384-A070-EA34-47E3E874F74B}"/>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6A5F1825-16C1-7EC8-DD60-F17EDDA2460A}"/>
              </a:ext>
            </a:extLst>
          </p:cNvPr>
          <p:cNvSpPr txBox="1"/>
          <p:nvPr/>
        </p:nvSpPr>
        <p:spPr>
          <a:xfrm>
            <a:off x="1704975" y="5848350"/>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The project directory automatically becomes the "working directory"</a:t>
            </a:r>
          </a:p>
        </p:txBody>
      </p:sp>
    </p:spTree>
    <p:extLst>
      <p:ext uri="{BB962C8B-B14F-4D97-AF65-F5344CB8AC3E}">
        <p14:creationId xmlns:p14="http://schemas.microsoft.com/office/powerpoint/2010/main" val="4139510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8E6118-B132-1100-AEEF-3D662AF6E8F3}"/>
              </a:ext>
            </a:extLst>
          </p:cNvPr>
          <p:cNvSpPr txBox="1">
            <a:spLocks/>
          </p:cNvSpPr>
          <p:nvPr/>
        </p:nvSpPr>
        <p:spPr>
          <a:xfrm>
            <a:off x="838200" y="1123950"/>
            <a:ext cx="10515600" cy="5313363"/>
          </a:xfrm>
          <a:prstGeom prst="rect">
            <a:avLst/>
          </a:prstGeom>
        </p:spPr>
        <p:txBody>
          <a:bodyPr vert="horz" lIns="91440" tIns="45720" rIns="91440" bIns="45720" rtlCol="0" anchor="t">
            <a:normAutofit fontScale="85000" lnSpcReduction="20000"/>
          </a:bodyPr>
          <a:lst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2"/>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2"/>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GB" b="1" dirty="0">
                <a:ea typeface="Tahoma"/>
                <a:cs typeface="Gill Sans Light"/>
              </a:rPr>
              <a:t>Outside </a:t>
            </a:r>
            <a:r>
              <a:rPr lang="en-GB" b="1" dirty="0" err="1">
                <a:ea typeface="Tahoma"/>
                <a:cs typeface="Gill Sans Light"/>
              </a:rPr>
              <a:t>Rstudio</a:t>
            </a:r>
            <a:r>
              <a:rPr lang="en-GB" b="1" dirty="0">
                <a:ea typeface="Tahoma"/>
                <a:cs typeface="Gill Sans Light"/>
              </a:rPr>
              <a:t> : prepare the course data for the exercises</a:t>
            </a:r>
            <a:endParaRPr lang="en-GB" dirty="0"/>
          </a:p>
          <a:p>
            <a:pPr marL="457200" lvl="1" indent="0">
              <a:buNone/>
            </a:pPr>
            <a:r>
              <a:rPr lang="en-GB" b="1" dirty="0">
                <a:ea typeface="Tahoma"/>
                <a:cs typeface="Gill Sans Light"/>
              </a:rPr>
              <a:t>Download the course material</a:t>
            </a:r>
            <a:r>
              <a:rPr lang="en-GB" dirty="0">
                <a:ea typeface="Tahoma"/>
                <a:cs typeface="Gill Sans Light"/>
              </a:rPr>
              <a:t> from : </a:t>
            </a:r>
            <a:endParaRPr lang="en-GB" dirty="0"/>
          </a:p>
          <a:p>
            <a:pPr marL="457200" lvl="1" indent="0">
              <a:buNone/>
            </a:pPr>
            <a:r>
              <a:rPr lang="en-GB" dirty="0">
                <a:ea typeface="+mn-lt"/>
                <a:cs typeface="+mn-lt"/>
                <a:hlinkClick r:id="rId3"/>
              </a:rPr>
              <a:t>https://github.com/sib-swiss/first-steps-with-R-training</a:t>
            </a:r>
            <a:endParaRPr lang="en-GB"/>
          </a:p>
          <a:p>
            <a:pPr marL="457200" lvl="1" indent="0">
              <a:buNone/>
            </a:pPr>
            <a:r>
              <a:rPr lang="en-GB" dirty="0">
                <a:ea typeface="Tahoma"/>
                <a:cs typeface="Gill Sans Light"/>
              </a:rPr>
              <a:t>Either use git clone OR click </a:t>
            </a:r>
            <a:r>
              <a:rPr lang="en-GB" b="1" dirty="0">
                <a:ea typeface="Tahoma"/>
                <a:cs typeface="Gill Sans Light"/>
              </a:rPr>
              <a:t>Download ZIP</a:t>
            </a: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endParaRPr lang="en-GB" dirty="0">
              <a:ea typeface="Tahoma"/>
              <a:cs typeface="Gill Sans Light"/>
            </a:endParaRPr>
          </a:p>
          <a:p>
            <a:pPr marL="457200" lvl="1" indent="0">
              <a:buNone/>
            </a:pPr>
            <a:r>
              <a:rPr lang="en-GB" dirty="0">
                <a:ea typeface="Tahoma"/>
                <a:cs typeface="Gill Sans Light"/>
              </a:rPr>
              <a:t>and </a:t>
            </a:r>
            <a:r>
              <a:rPr lang="en-GB" b="1" dirty="0">
                <a:ea typeface="Tahoma"/>
                <a:cs typeface="Gill Sans Light"/>
              </a:rPr>
              <a:t>UNZIP</a:t>
            </a:r>
            <a:r>
              <a:rPr lang="en-GB" dirty="0">
                <a:ea typeface="Tahoma"/>
                <a:cs typeface="Gill Sans Light"/>
              </a:rPr>
              <a:t> and then move the folder where you want it</a:t>
            </a:r>
            <a:endParaRPr lang="en-GB" b="1" dirty="0">
              <a:ea typeface="Tahoma"/>
              <a:cs typeface="Gill Sans Light"/>
            </a:endParaRPr>
          </a:p>
          <a:p>
            <a:pPr marL="457200" lvl="1" indent="0">
              <a:buNone/>
            </a:pPr>
            <a:endParaRPr lang="en-GB" dirty="0">
              <a:ea typeface="Tahoma"/>
              <a:cs typeface="Gill Sans Light"/>
            </a:endParaRPr>
          </a:p>
          <a:p>
            <a:pPr marL="457200" indent="-457200">
              <a:buAutoNum type="arabicPeriod"/>
            </a:pPr>
            <a:r>
              <a:rPr lang="en-GB" b="1" dirty="0">
                <a:ea typeface="Tahoma"/>
                <a:cs typeface="Gill Sans Light"/>
              </a:rPr>
              <a:t>Inside </a:t>
            </a:r>
            <a:r>
              <a:rPr lang="en-GB" b="1" err="1">
                <a:ea typeface="Tahoma"/>
                <a:cs typeface="Gill Sans Light"/>
              </a:rPr>
              <a:t>Rstudio</a:t>
            </a:r>
            <a:r>
              <a:rPr lang="en-GB" b="1" dirty="0">
                <a:ea typeface="Tahoma"/>
                <a:cs typeface="Gill Sans Light"/>
              </a:rPr>
              <a:t>: project setup</a:t>
            </a:r>
          </a:p>
          <a:p>
            <a:pPr lvl="1" indent="0">
              <a:buNone/>
            </a:pPr>
            <a:r>
              <a:rPr lang="en-GB" dirty="0">
                <a:ea typeface="Tahoma"/>
                <a:cs typeface="Gill Sans Light"/>
              </a:rPr>
              <a:t>In </a:t>
            </a:r>
            <a:r>
              <a:rPr lang="en-GB" dirty="0" err="1">
                <a:ea typeface="Tahoma"/>
                <a:cs typeface="Gill Sans Light"/>
              </a:rPr>
              <a:t>Rstudio</a:t>
            </a:r>
            <a:r>
              <a:rPr lang="en-GB" dirty="0">
                <a:ea typeface="Tahoma"/>
                <a:cs typeface="Gill Sans Light"/>
              </a:rPr>
              <a:t>, create a new project set in the folder of the course material you just recovered.</a:t>
            </a:r>
          </a:p>
        </p:txBody>
      </p:sp>
      <p:sp>
        <p:nvSpPr>
          <p:cNvPr id="8" name="Title 1">
            <a:extLst>
              <a:ext uri="{FF2B5EF4-FFF2-40B4-BE49-F238E27FC236}">
                <a16:creationId xmlns:a16="http://schemas.microsoft.com/office/drawing/2014/main" id="{1C7404FA-C47F-D097-1FBE-368DB25D80E4}"/>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- 1</a:t>
            </a:r>
            <a:endParaRPr lang="en-US" dirty="0"/>
          </a:p>
        </p:txBody>
      </p:sp>
      <p:pic>
        <p:nvPicPr>
          <p:cNvPr id="9" name="Picture 8" descr="Graphical user interface, text, application, email&#10;&#10;Description automatically generated">
            <a:extLst>
              <a:ext uri="{FF2B5EF4-FFF2-40B4-BE49-F238E27FC236}">
                <a16:creationId xmlns:a16="http://schemas.microsoft.com/office/drawing/2014/main" id="{188B1A54-080F-1512-851D-D40614276D5D}"/>
              </a:ext>
            </a:extLst>
          </p:cNvPr>
          <p:cNvPicPr>
            <a:picLocks noChangeAspect="1"/>
          </p:cNvPicPr>
          <p:nvPr/>
        </p:nvPicPr>
        <p:blipFill>
          <a:blip r:embed="rId4"/>
          <a:stretch>
            <a:fillRect/>
          </a:stretch>
        </p:blipFill>
        <p:spPr>
          <a:xfrm>
            <a:off x="2005013" y="2343150"/>
            <a:ext cx="5210175" cy="2247900"/>
          </a:xfrm>
          <a:prstGeom prst="rect">
            <a:avLst/>
          </a:prstGeom>
        </p:spPr>
      </p:pic>
    </p:spTree>
    <p:extLst>
      <p:ext uri="{BB962C8B-B14F-4D97-AF65-F5344CB8AC3E}">
        <p14:creationId xmlns:p14="http://schemas.microsoft.com/office/powerpoint/2010/main" val="33427529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8D28B-4D1E-DA4E-334B-4F7DC4F630B5}"/>
              </a:ext>
            </a:extLst>
          </p:cNvPr>
          <p:cNvSpPr>
            <a:spLocks noGrp="1"/>
          </p:cNvSpPr>
          <p:nvPr>
            <p:ph type="title"/>
          </p:nvPr>
        </p:nvSpPr>
        <p:spPr/>
        <p:txBody>
          <a:bodyPr/>
          <a:lstStyle/>
          <a:p>
            <a:r>
              <a:rPr lang="en-GB" dirty="0">
                <a:ea typeface="Verdana"/>
                <a:cs typeface="Gill Sans"/>
              </a:rPr>
              <a:t>Console: the command line</a:t>
            </a:r>
            <a:endParaRPr lang="en-GB" dirty="0"/>
          </a:p>
        </p:txBody>
      </p:sp>
      <p:pic>
        <p:nvPicPr>
          <p:cNvPr id="4" name="Image 4">
            <a:extLst>
              <a:ext uri="{FF2B5EF4-FFF2-40B4-BE49-F238E27FC236}">
                <a16:creationId xmlns:a16="http://schemas.microsoft.com/office/drawing/2014/main" id="{41508109-352A-65D1-461D-2536249A848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63647" r="46328"/>
          <a:stretch/>
        </p:blipFill>
        <p:spPr>
          <a:xfrm>
            <a:off x="251164" y="1045468"/>
            <a:ext cx="10928206" cy="4597059"/>
          </a:xfrm>
          <a:prstGeom prst="rect">
            <a:avLst/>
          </a:prstGeom>
        </p:spPr>
      </p:pic>
      <p:sp>
        <p:nvSpPr>
          <p:cNvPr id="5" name="Oval 4">
            <a:extLst>
              <a:ext uri="{FF2B5EF4-FFF2-40B4-BE49-F238E27FC236}">
                <a16:creationId xmlns:a16="http://schemas.microsoft.com/office/drawing/2014/main" id="{3351A8E7-8C51-D354-C9C7-19137300AC22}"/>
              </a:ext>
            </a:extLst>
          </p:cNvPr>
          <p:cNvSpPr/>
          <p:nvPr/>
        </p:nvSpPr>
        <p:spPr>
          <a:xfrm>
            <a:off x="140254" y="5107779"/>
            <a:ext cx="697001" cy="603134"/>
          </a:xfrm>
          <a:prstGeom prst="ellipse">
            <a:avLst/>
          </a:prstGeom>
          <a:noFill/>
          <a:ln>
            <a:solidFill>
              <a:srgbClr val="E600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Image 20" descr="A red and black logo&#10;&#10;Description automatically generated">
            <a:extLst>
              <a:ext uri="{FF2B5EF4-FFF2-40B4-BE49-F238E27FC236}">
                <a16:creationId xmlns:a16="http://schemas.microsoft.com/office/drawing/2014/main" id="{374F4DED-639A-5623-0B36-CAE5177E5E38}"/>
              </a:ext>
            </a:extLst>
          </p:cNvPr>
          <p:cNvPicPr>
            <a:picLocks noChangeAspect="1"/>
          </p:cNvPicPr>
          <p:nvPr/>
        </p:nvPicPr>
        <p:blipFill>
          <a:blip r:embed="rId3"/>
          <a:stretch>
            <a:fillRect/>
          </a:stretch>
        </p:blipFill>
        <p:spPr>
          <a:xfrm>
            <a:off x="635903" y="5660603"/>
            <a:ext cx="1067033" cy="823140"/>
          </a:xfrm>
          <a:prstGeom prst="rect">
            <a:avLst/>
          </a:prstGeom>
        </p:spPr>
      </p:pic>
      <p:sp>
        <p:nvSpPr>
          <p:cNvPr id="9" name="TextBox 8">
            <a:extLst>
              <a:ext uri="{FF2B5EF4-FFF2-40B4-BE49-F238E27FC236}">
                <a16:creationId xmlns:a16="http://schemas.microsoft.com/office/drawing/2014/main" id="{F858ADC8-DBA9-C696-4ED8-087A8011A35F}"/>
              </a:ext>
            </a:extLst>
          </p:cNvPr>
          <p:cNvSpPr txBox="1"/>
          <p:nvPr/>
        </p:nvSpPr>
        <p:spPr>
          <a:xfrm>
            <a:off x="1704975" y="5848350"/>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The "&gt;" indicates R is ready for a new command</a:t>
            </a:r>
          </a:p>
        </p:txBody>
      </p:sp>
    </p:spTree>
    <p:extLst>
      <p:ext uri="{BB962C8B-B14F-4D97-AF65-F5344CB8AC3E}">
        <p14:creationId xmlns:p14="http://schemas.microsoft.com/office/powerpoint/2010/main" val="5765299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ADFB-5A54-8745-6706-B6636413A30E}"/>
              </a:ext>
            </a:extLst>
          </p:cNvPr>
          <p:cNvSpPr>
            <a:spLocks noGrp="1"/>
          </p:cNvSpPr>
          <p:nvPr>
            <p:ph type="title"/>
          </p:nvPr>
        </p:nvSpPr>
        <p:spPr/>
        <p:txBody>
          <a:bodyPr/>
          <a:lstStyle/>
          <a:p>
            <a:r>
              <a:rPr lang="en-GB" dirty="0">
                <a:ea typeface="Verdana"/>
                <a:cs typeface="Gill Sans"/>
              </a:rPr>
              <a:t>Try it out:</a:t>
            </a:r>
            <a:endParaRPr lang="en-GB" dirty="0"/>
          </a:p>
        </p:txBody>
      </p:sp>
      <p:sp>
        <p:nvSpPr>
          <p:cNvPr id="3" name="Text Placeholder 2">
            <a:extLst>
              <a:ext uri="{FF2B5EF4-FFF2-40B4-BE49-F238E27FC236}">
                <a16:creationId xmlns:a16="http://schemas.microsoft.com/office/drawing/2014/main" id="{6C02066B-ADB9-A6FB-DFAB-EB1E6FEA3E43}"/>
              </a:ext>
            </a:extLst>
          </p:cNvPr>
          <p:cNvSpPr>
            <a:spLocks noGrp="1"/>
          </p:cNvSpPr>
          <p:nvPr>
            <p:ph type="body" sz="quarter" idx="11"/>
          </p:nvPr>
        </p:nvSpPr>
        <p:spPr/>
        <p:txBody>
          <a:bodyPr vert="horz" lIns="91440" tIns="45720" rIns="91440" bIns="45720" rtlCol="0" anchor="t">
            <a:normAutofit lnSpcReduction="10000"/>
          </a:bodyPr>
          <a:lstStyle/>
          <a:p>
            <a:r>
              <a:rPr lang="en-GB" dirty="0">
                <a:ea typeface="Tahoma"/>
                <a:cs typeface="Gill Sans Light"/>
              </a:rPr>
              <a:t>Type the following at the command prompt:</a:t>
            </a:r>
            <a:endParaRPr lang="en-GB" dirty="0"/>
          </a:p>
          <a:p>
            <a:endParaRPr lang="en-GB" dirty="0"/>
          </a:p>
          <a:p>
            <a:r>
              <a:rPr lang="en-GB" dirty="0">
                <a:ea typeface="Tahoma"/>
                <a:cs typeface="Gill Sans Light"/>
              </a:rPr>
              <a:t>Simple calculation:</a:t>
            </a:r>
          </a:p>
          <a:p>
            <a:r>
              <a:rPr lang="en-GB" dirty="0">
                <a:latin typeface="Courier New"/>
                <a:ea typeface="Tahoma"/>
                <a:cs typeface="Gill Sans Light"/>
              </a:rPr>
              <a:t>1+1</a:t>
            </a:r>
          </a:p>
          <a:p>
            <a:r>
              <a:rPr lang="en-GB" dirty="0">
                <a:ea typeface="Tahoma"/>
                <a:cs typeface="Gill Sans Light"/>
              </a:rPr>
              <a:t>Pre-defined function:</a:t>
            </a:r>
            <a:endParaRPr lang="en-GB" dirty="0"/>
          </a:p>
          <a:p>
            <a:r>
              <a:rPr lang="en-GB" dirty="0">
                <a:latin typeface="Courier New"/>
                <a:ea typeface="Tahoma"/>
                <a:cs typeface="Gill Sans Light"/>
              </a:rPr>
              <a:t>abs(-11)</a:t>
            </a:r>
          </a:p>
          <a:p>
            <a:r>
              <a:rPr lang="en-GB" dirty="0">
                <a:ea typeface="Tahoma"/>
                <a:cs typeface="Gill Sans Light"/>
              </a:rPr>
              <a:t>Assigning a value to a variable</a:t>
            </a:r>
            <a:endParaRPr lang="en-GB" dirty="0"/>
          </a:p>
          <a:p>
            <a:r>
              <a:rPr lang="en-GB" dirty="0">
                <a:latin typeface="Courier New"/>
                <a:ea typeface="Tahoma"/>
                <a:cs typeface="Gill Sans Light"/>
              </a:rPr>
              <a:t>x &lt;- 128.5</a:t>
            </a:r>
            <a:endParaRPr lang="en-GB" dirty="0">
              <a:latin typeface="Courier New"/>
            </a:endParaRPr>
          </a:p>
          <a:p>
            <a:r>
              <a:rPr lang="en-GB" dirty="0">
                <a:ea typeface="Tahoma"/>
                <a:cs typeface="Gill Sans Light"/>
              </a:rPr>
              <a:t>Displaying a variable's content</a:t>
            </a:r>
            <a:endParaRPr lang="en-GB" dirty="0"/>
          </a:p>
          <a:p>
            <a:r>
              <a:rPr lang="en-GB" dirty="0">
                <a:latin typeface="Courier New"/>
                <a:ea typeface="Tahoma"/>
                <a:cs typeface="Gill Sans Light"/>
              </a:rPr>
              <a:t>x</a:t>
            </a:r>
          </a:p>
        </p:txBody>
      </p:sp>
      <p:pic>
        <p:nvPicPr>
          <p:cNvPr id="5" name="Image 20" descr="A red and black logo&#10;&#10;Description automatically generated">
            <a:extLst>
              <a:ext uri="{FF2B5EF4-FFF2-40B4-BE49-F238E27FC236}">
                <a16:creationId xmlns:a16="http://schemas.microsoft.com/office/drawing/2014/main" id="{E2E3D8FF-6269-81BD-8EA9-9AA934470870}"/>
              </a:ext>
            </a:extLst>
          </p:cNvPr>
          <p:cNvPicPr>
            <a:picLocks noChangeAspect="1"/>
          </p:cNvPicPr>
          <p:nvPr/>
        </p:nvPicPr>
        <p:blipFill>
          <a:blip r:embed="rId2"/>
          <a:stretch>
            <a:fillRect/>
          </a:stretch>
        </p:blipFill>
        <p:spPr>
          <a:xfrm>
            <a:off x="6627128" y="3060278"/>
            <a:ext cx="1103819" cy="851715"/>
          </a:xfrm>
          <a:prstGeom prst="rect">
            <a:avLst/>
          </a:prstGeom>
        </p:spPr>
      </p:pic>
      <p:sp>
        <p:nvSpPr>
          <p:cNvPr id="6" name="TextBox 5">
            <a:extLst>
              <a:ext uri="{FF2B5EF4-FFF2-40B4-BE49-F238E27FC236}">
                <a16:creationId xmlns:a16="http://schemas.microsoft.com/office/drawing/2014/main" id="{6C5DEA25-31D3-13E6-9B45-094DAEDFEEA7}"/>
              </a:ext>
            </a:extLst>
          </p:cNvPr>
          <p:cNvSpPr txBox="1"/>
          <p:nvPr/>
        </p:nvSpPr>
        <p:spPr>
          <a:xfrm>
            <a:off x="7715250" y="3124200"/>
            <a:ext cx="33147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After each command,</a:t>
            </a:r>
          </a:p>
          <a:p>
            <a:r>
              <a:rPr lang="en-GB" dirty="0"/>
              <a:t>Hit the return key to execute it</a:t>
            </a:r>
          </a:p>
        </p:txBody>
      </p:sp>
    </p:spTree>
    <p:extLst>
      <p:ext uri="{BB962C8B-B14F-4D97-AF65-F5344CB8AC3E}">
        <p14:creationId xmlns:p14="http://schemas.microsoft.com/office/powerpoint/2010/main" val="3671658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What is a programming language?</a:t>
            </a:r>
          </a:p>
        </p:txBody>
      </p:sp>
      <p:sp>
        <p:nvSpPr>
          <p:cNvPr id="101" name="Intro 101"/>
          <p:cNvSpPr txBox="1"/>
          <p:nvPr/>
        </p:nvSpPr>
        <p:spPr>
          <a:xfrm>
            <a:off x="841248" y="1188720"/>
            <a:ext cx="5120640" cy="4480560"/>
          </a:xfrm>
          <a:prstGeom prst="rect">
            <a:avLst/>
          </a:prstGeom>
          <a:noFill/>
          <a:ln>
            <a:noFill/>
          </a:ln>
        </p:spPr>
        <p:txBody>
          <a:bodyPr wrap="square" lIns="0" tIns="0" rIns="0" bIns="0" rtlCol="0" anchor="t">
            <a:noAutofit/>
          </a:bodyPr>
          <a:lstStyle/>
          <a:p>
            <a:pPr marL="0" indent="0" algn="l">
              <a:spcAft>
                <a:spcPts val="1000"/>
              </a:spcAft>
              <a:buNone/>
            </a:pPr>
            <a:r>
              <a:rPr lang="en-GB" sz="1700" dirty="0"/>
              <a:t>A </a:t>
            </a:r>
            <a:r>
              <a:rPr lang="en-GB" sz="1700" b="1" dirty="0"/>
              <a:t>programming language</a:t>
            </a:r>
            <a:r>
              <a:rPr lang="en-GB" sz="1700" dirty="0"/>
              <a:t> is a set of words and rules to give </a:t>
            </a:r>
            <a:r>
              <a:rPr lang="en-GB" sz="1700" b="1" dirty="0"/>
              <a:t>precise, unambiguous instructions</a:t>
            </a:r>
            <a:r>
              <a:rPr lang="en-GB" sz="1700" dirty="0"/>
              <a:t> to a computer.</a:t>
            </a:r>
            <a:endParaRPr lang="en-GB" sz="1400" dirty="0"/>
          </a:p>
          <a:p>
            <a:pPr marL="0" indent="0" algn="l">
              <a:spcAft>
                <a:spcPts val="1000"/>
              </a:spcAft>
              <a:buNone/>
            </a:pPr>
            <a:r>
              <a:rPr lang="en-GB" sz="1700" dirty="0"/>
              <a:t>R is an </a:t>
            </a:r>
            <a:r>
              <a:rPr lang="en-GB" sz="1700" b="1" dirty="0"/>
              <a:t>interpreted</a:t>
            </a:r>
            <a:r>
              <a:rPr lang="en-GB" sz="1700" dirty="0"/>
              <a:t> language: each command is read and executed right away by the R interpreter. </a:t>
            </a:r>
          </a:p>
          <a:p>
            <a:pPr marL="0" indent="0" algn="l">
              <a:spcAft>
                <a:spcPts val="1000"/>
              </a:spcAft>
              <a:buNone/>
            </a:pPr>
            <a:r>
              <a:rPr lang="en-GB" sz="1700" i="1" dirty="0">
                <a:solidFill>
                  <a:srgbClr val="E20613"/>
                </a:solidFill>
              </a:rPr>
              <a:t>The computer does exactly what you write, not what you meant.</a:t>
            </a:r>
            <a:endParaRPr lang="en-GB" sz="1400" dirty="0"/>
          </a:p>
          <a:p>
            <a:pPr marL="0" indent="0" algn="l">
              <a:spcAft>
                <a:spcPts val="0"/>
              </a:spcAft>
              <a:buNone/>
            </a:pPr>
            <a:r>
              <a:rPr lang="en-GB" sz="1700" b="1" dirty="0"/>
              <a:t>How do we write complex programs? </a:t>
            </a:r>
            <a:r>
              <a:rPr lang="en-GB" sz="1700" dirty="0"/>
              <a:t>By stacking simple building blocks: each level reuses the ones below it, so you never have to think about everything at once.</a:t>
            </a:r>
            <a:endParaRPr lang="en-GB" sz="1400" dirty="0"/>
          </a:p>
        </p:txBody>
      </p:sp>
      <p:cxnSp>
        <p:nvCxnSpPr>
          <p:cNvPr id="108" name="Arrow 108"/>
          <p:cNvCxnSpPr/>
          <p:nvPr/>
        </p:nvCxnSpPr>
        <p:spPr>
          <a:xfrm flipV="1">
            <a:off x="11475720" y="1234440"/>
            <a:ext cx="0" cy="4251960"/>
          </a:xfrm>
          <a:prstGeom prst="line">
            <a:avLst/>
          </a:prstGeom>
          <a:ln w="25400">
            <a:solidFill>
              <a:srgbClr val="6B6B6B"/>
            </a:solidFill>
            <a:tailEnd type="triangle" w="med" len="med"/>
          </a:ln>
        </p:spPr>
      </p:cxnSp>
      <p:sp>
        <p:nvSpPr>
          <p:cNvPr id="109" name="Text 109"/>
          <p:cNvSpPr txBox="1"/>
          <p:nvPr/>
        </p:nvSpPr>
        <p:spPr>
          <a:xfrm>
            <a:off x="11064240" y="914400"/>
            <a:ext cx="822960" cy="274320"/>
          </a:xfrm>
          <a:prstGeom prst="rect">
            <a:avLst/>
          </a:prstGeom>
          <a:noFill/>
          <a:ln>
            <a:noFill/>
          </a:ln>
        </p:spPr>
        <p:txBody>
          <a:bodyPr wrap="square" lIns="0" tIns="0" rIns="0" bIns="0" rtlCol="0" anchor="t">
            <a:noAutofit/>
          </a:bodyPr>
          <a:lstStyle/>
          <a:p>
            <a:pPr marL="0" indent="0" algn="ctr">
              <a:spcAft>
                <a:spcPts val="0"/>
              </a:spcAft>
              <a:buNone/>
            </a:pPr>
            <a:r>
              <a:rPr lang="en-GB" sz="1000" i="1" dirty="0">
                <a:solidFill>
                  <a:srgbClr val="6B6B6B"/>
                </a:solidFill>
              </a:rPr>
              <a:t>complex</a:t>
            </a:r>
            <a:endParaRPr lang="en-GB" sz="1400" dirty="0"/>
          </a:p>
        </p:txBody>
      </p:sp>
      <p:sp>
        <p:nvSpPr>
          <p:cNvPr id="110" name="Text 110"/>
          <p:cNvSpPr txBox="1"/>
          <p:nvPr/>
        </p:nvSpPr>
        <p:spPr>
          <a:xfrm>
            <a:off x="11064240" y="5532120"/>
            <a:ext cx="822960" cy="274320"/>
          </a:xfrm>
          <a:prstGeom prst="rect">
            <a:avLst/>
          </a:prstGeom>
          <a:noFill/>
          <a:ln>
            <a:noFill/>
          </a:ln>
        </p:spPr>
        <p:txBody>
          <a:bodyPr wrap="square" lIns="0" tIns="0" rIns="0" bIns="0" rtlCol="0" anchor="t">
            <a:noAutofit/>
          </a:bodyPr>
          <a:lstStyle/>
          <a:p>
            <a:pPr marL="0" indent="0" algn="ctr">
              <a:spcAft>
                <a:spcPts val="0"/>
              </a:spcAft>
              <a:buNone/>
            </a:pPr>
            <a:r>
              <a:rPr lang="en-GB" sz="1000" i="1" dirty="0">
                <a:solidFill>
                  <a:srgbClr val="6B6B6B"/>
                </a:solidFill>
              </a:rPr>
              <a:t>simple</a:t>
            </a:r>
            <a:endParaRPr lang="en-GB" sz="1400" dirty="0"/>
          </a:p>
        </p:txBody>
      </p:sp>
      <p:sp>
        <p:nvSpPr>
          <p:cNvPr id="111" name="Text 111"/>
          <p:cNvSpPr txBox="1"/>
          <p:nvPr/>
        </p:nvSpPr>
        <p:spPr>
          <a:xfrm>
            <a:off x="6309360" y="5760720"/>
            <a:ext cx="4846320" cy="365760"/>
          </a:xfrm>
          <a:prstGeom prst="rect">
            <a:avLst/>
          </a:prstGeom>
          <a:noFill/>
          <a:ln>
            <a:noFill/>
          </a:ln>
        </p:spPr>
        <p:txBody>
          <a:bodyPr wrap="square" lIns="0" tIns="0" rIns="0" bIns="0" rtlCol="0" anchor="t">
            <a:noAutofit/>
          </a:bodyPr>
          <a:lstStyle/>
          <a:p>
            <a:pPr marL="0" indent="0" algn="ctr">
              <a:spcAft>
                <a:spcPts val="0"/>
              </a:spcAft>
              <a:buNone/>
            </a:pPr>
            <a:r>
              <a:rPr lang="en-GB" sz="1500" i="1" dirty="0">
                <a:solidFill>
                  <a:srgbClr val="6B6B6B"/>
                </a:solidFill>
              </a:rPr>
              <a:t>Today we climb the first steps of this ladder.</a:t>
            </a:r>
            <a:endParaRPr lang="en-GB" sz="1400" dirty="0"/>
          </a:p>
        </p:txBody>
      </p:sp>
      <p:sp>
        <p:nvSpPr>
          <p:cNvPr id="301" name="Block 301"/>
          <p:cNvSpPr/>
          <p:nvPr/>
        </p:nvSpPr>
        <p:spPr>
          <a:xfrm>
            <a:off x="7040880" y="1188720"/>
            <a:ext cx="3383280" cy="749808"/>
          </a:xfrm>
          <a:prstGeom prst="roundRect">
            <a:avLst>
              <a:gd name="adj" fmla="val 15000"/>
            </a:avLst>
          </a:prstGeom>
          <a:solidFill>
            <a:srgbClr val="E20613"/>
          </a:solidFill>
          <a:ln>
            <a:noFill/>
          </a:ln>
        </p:spPr>
        <p:txBody>
          <a:bodyPr wrap="square" lIns="36576" tIns="36576" rIns="36576" bIns="36576" rtlCol="0" anchor="ctr">
            <a:noAutofit/>
          </a:bodyPr>
          <a:lstStyle/>
          <a:p>
            <a:pPr marL="0" indent="0" algn="ctr">
              <a:spcAft>
                <a:spcPts val="0"/>
              </a:spcAft>
              <a:buNone/>
            </a:pPr>
            <a:r>
              <a:rPr lang="en-GB" sz="1500" b="1" dirty="0">
                <a:solidFill>
                  <a:srgbClr val="FFFFFF"/>
                </a:solidFill>
              </a:rPr>
              <a:t>Projects &amp; packages</a:t>
            </a:r>
            <a:endParaRPr lang="en-GB" sz="1400" dirty="0"/>
          </a:p>
          <a:p>
            <a:pPr marL="0" indent="0" algn="ctr">
              <a:spcAft>
                <a:spcPts val="0"/>
              </a:spcAft>
              <a:buNone/>
            </a:pPr>
            <a:r>
              <a:rPr lang="en-GB" sz="1150" dirty="0">
                <a:solidFill>
                  <a:srgbClr val="FFFFFF"/>
                </a:solidFill>
              </a:rPr>
              <a:t>share and reuse whole toolboxes</a:t>
            </a:r>
            <a:endParaRPr lang="en-GB" sz="1400" dirty="0"/>
          </a:p>
        </p:txBody>
      </p:sp>
      <p:sp>
        <p:nvSpPr>
          <p:cNvPr id="302" name="Block 302"/>
          <p:cNvSpPr/>
          <p:nvPr/>
        </p:nvSpPr>
        <p:spPr>
          <a:xfrm>
            <a:off x="6789420" y="2057400"/>
            <a:ext cx="3886200" cy="749808"/>
          </a:xfrm>
          <a:prstGeom prst="roundRect">
            <a:avLst>
              <a:gd name="adj" fmla="val 15000"/>
            </a:avLst>
          </a:prstGeom>
          <a:solidFill>
            <a:srgbClr val="E9525B"/>
          </a:solidFill>
          <a:ln>
            <a:noFill/>
          </a:ln>
        </p:spPr>
        <p:txBody>
          <a:bodyPr wrap="square" lIns="36576" tIns="36576" rIns="36576" bIns="36576" rtlCol="0" anchor="ctr">
            <a:noAutofit/>
          </a:bodyPr>
          <a:lstStyle/>
          <a:p>
            <a:pPr marL="0" indent="0" algn="ctr">
              <a:spcAft>
                <a:spcPts val="0"/>
              </a:spcAft>
              <a:buNone/>
            </a:pPr>
            <a:r>
              <a:rPr lang="en-GB" sz="1500" b="1" dirty="0">
                <a:solidFill>
                  <a:srgbClr val="FFFFFF"/>
                </a:solidFill>
              </a:rPr>
              <a:t>Scripts</a:t>
            </a:r>
            <a:endParaRPr lang="en-GB" sz="1400" dirty="0"/>
          </a:p>
          <a:p>
            <a:pPr marL="0" indent="0" algn="ctr">
              <a:spcAft>
                <a:spcPts val="0"/>
              </a:spcAft>
              <a:buNone/>
            </a:pPr>
            <a:r>
              <a:rPr lang="en-GB" sz="1150" dirty="0">
                <a:solidFill>
                  <a:srgbClr val="FFFFFF"/>
                </a:solidFill>
              </a:rPr>
              <a:t>analysis.R: a recorded, re-runnable sequence</a:t>
            </a:r>
            <a:endParaRPr lang="en-GB" sz="1400" dirty="0"/>
          </a:p>
        </p:txBody>
      </p:sp>
      <p:sp>
        <p:nvSpPr>
          <p:cNvPr id="303" name="Block 303"/>
          <p:cNvSpPr/>
          <p:nvPr/>
        </p:nvSpPr>
        <p:spPr>
          <a:xfrm>
            <a:off x="6537960" y="2926080"/>
            <a:ext cx="2139696" cy="749808"/>
          </a:xfrm>
          <a:prstGeom prst="roundRect">
            <a:avLst>
              <a:gd name="adj" fmla="val 15000"/>
            </a:avLst>
          </a:prstGeom>
          <a:solidFill>
            <a:srgbClr val="F8C9CC"/>
          </a:solidFill>
          <a:ln>
            <a:noFill/>
          </a:ln>
        </p:spPr>
        <p:txBody>
          <a:bodyPr wrap="square" lIns="36576" tIns="36576" rIns="36576" bIns="36576" rtlCol="0" anchor="ctr">
            <a:noAutofit/>
          </a:bodyPr>
          <a:lstStyle/>
          <a:p>
            <a:pPr marL="0" indent="0" algn="ctr">
              <a:spcAft>
                <a:spcPts val="0"/>
              </a:spcAft>
              <a:buNone/>
            </a:pPr>
            <a:r>
              <a:rPr lang="en-GB" sz="1500" b="1" dirty="0">
                <a:solidFill>
                  <a:srgbClr val="333333"/>
                </a:solidFill>
              </a:rPr>
              <a:t>Functions</a:t>
            </a:r>
            <a:endParaRPr lang="en-GB" sz="1400" dirty="0"/>
          </a:p>
          <a:p>
            <a:pPr marL="0" indent="0" algn="ctr">
              <a:spcAft>
                <a:spcPts val="0"/>
              </a:spcAft>
              <a:buNone/>
            </a:pPr>
            <a:r>
              <a:rPr lang="en-GB" sz="1100" dirty="0">
                <a:solidFill>
                  <a:srgbClr val="333333"/>
                </a:solidFill>
              </a:rPr>
              <a:t>mean(x), log2(x)</a:t>
            </a:r>
            <a:endParaRPr lang="en-GB" sz="1400" dirty="0"/>
          </a:p>
        </p:txBody>
      </p:sp>
      <p:sp>
        <p:nvSpPr>
          <p:cNvPr id="304" name="Block 304"/>
          <p:cNvSpPr/>
          <p:nvPr/>
        </p:nvSpPr>
        <p:spPr>
          <a:xfrm>
            <a:off x="8787384" y="2926080"/>
            <a:ext cx="2139696" cy="749808"/>
          </a:xfrm>
          <a:prstGeom prst="roundRect">
            <a:avLst>
              <a:gd name="adj" fmla="val 15000"/>
            </a:avLst>
          </a:prstGeom>
          <a:solidFill>
            <a:srgbClr val="F8C9CC"/>
          </a:solidFill>
          <a:ln>
            <a:noFill/>
          </a:ln>
        </p:spPr>
        <p:txBody>
          <a:bodyPr wrap="square" lIns="36576" tIns="36576" rIns="36576" bIns="36576" rtlCol="0" anchor="ctr">
            <a:noAutofit/>
          </a:bodyPr>
          <a:lstStyle/>
          <a:p>
            <a:pPr marL="0" indent="0" algn="ctr">
              <a:spcAft>
                <a:spcPts val="0"/>
              </a:spcAft>
              <a:buNone/>
            </a:pPr>
            <a:r>
              <a:rPr lang="en-GB" sz="1500" b="1" dirty="0">
                <a:solidFill>
                  <a:srgbClr val="333333"/>
                </a:solidFill>
              </a:rPr>
              <a:t>Control flow</a:t>
            </a:r>
            <a:endParaRPr lang="en-GB" sz="1400" dirty="0"/>
          </a:p>
          <a:p>
            <a:pPr marL="0" indent="0" algn="ctr">
              <a:spcAft>
                <a:spcPts val="0"/>
              </a:spcAft>
              <a:buNone/>
            </a:pPr>
            <a:r>
              <a:rPr lang="en-GB" sz="1100" dirty="0">
                <a:solidFill>
                  <a:srgbClr val="333333"/>
                </a:solidFill>
              </a:rPr>
              <a:t>if / else, for: decide, repeat</a:t>
            </a:r>
            <a:endParaRPr lang="en-GB" sz="1400" dirty="0"/>
          </a:p>
        </p:txBody>
      </p:sp>
      <p:sp>
        <p:nvSpPr>
          <p:cNvPr id="305" name="Block 305"/>
          <p:cNvSpPr/>
          <p:nvPr/>
        </p:nvSpPr>
        <p:spPr>
          <a:xfrm>
            <a:off x="6286500" y="3794760"/>
            <a:ext cx="4892040" cy="749808"/>
          </a:xfrm>
          <a:prstGeom prst="roundRect">
            <a:avLst>
              <a:gd name="adj" fmla="val 15000"/>
            </a:avLst>
          </a:prstGeom>
          <a:solidFill>
            <a:srgbClr val="E0E0E0"/>
          </a:solidFill>
          <a:ln>
            <a:noFill/>
          </a:ln>
        </p:spPr>
        <p:txBody>
          <a:bodyPr wrap="square" lIns="36576" tIns="36576" rIns="36576" bIns="36576" rtlCol="0" anchor="ctr">
            <a:noAutofit/>
          </a:bodyPr>
          <a:lstStyle/>
          <a:p>
            <a:pPr marL="0" indent="0" algn="ctr">
              <a:spcAft>
                <a:spcPts val="0"/>
              </a:spcAft>
              <a:buNone/>
            </a:pPr>
            <a:r>
              <a:rPr lang="en-GB" sz="1500" b="1" dirty="0">
                <a:solidFill>
                  <a:srgbClr val="333333"/>
                </a:solidFill>
              </a:rPr>
              <a:t>Variables &amp; operators</a:t>
            </a:r>
            <a:endParaRPr lang="en-GB" sz="1400" dirty="0"/>
          </a:p>
          <a:p>
            <a:pPr marL="0" indent="0" algn="ctr">
              <a:spcAft>
                <a:spcPts val="0"/>
              </a:spcAft>
              <a:buNone/>
            </a:pPr>
            <a:r>
              <a:rPr lang="en-GB" sz="1150" dirty="0">
                <a:solidFill>
                  <a:srgbClr val="333333"/>
                </a:solidFill>
              </a:rPr>
              <a:t>x &lt;- 2 * y</a:t>
            </a:r>
            <a:endParaRPr lang="en-GB" sz="1400" dirty="0"/>
          </a:p>
        </p:txBody>
      </p:sp>
      <p:sp>
        <p:nvSpPr>
          <p:cNvPr id="306" name="Block 306"/>
          <p:cNvSpPr/>
          <p:nvPr/>
        </p:nvSpPr>
        <p:spPr>
          <a:xfrm>
            <a:off x="6035040" y="4663440"/>
            <a:ext cx="5394960" cy="749808"/>
          </a:xfrm>
          <a:prstGeom prst="roundRect">
            <a:avLst>
              <a:gd name="adj" fmla="val 15000"/>
            </a:avLst>
          </a:prstGeom>
          <a:solidFill>
            <a:srgbClr val="F2F2F2"/>
          </a:solidFill>
          <a:ln>
            <a:noFill/>
          </a:ln>
        </p:spPr>
        <p:txBody>
          <a:bodyPr wrap="square" lIns="36576" tIns="36576" rIns="36576" bIns="36576" rtlCol="0" anchor="ctr">
            <a:noAutofit/>
          </a:bodyPr>
          <a:lstStyle/>
          <a:p>
            <a:pPr marL="0" indent="0" algn="ctr">
              <a:spcAft>
                <a:spcPts val="0"/>
              </a:spcAft>
              <a:buNone/>
            </a:pPr>
            <a:r>
              <a:rPr lang="en-GB" sz="1500" b="1" dirty="0">
                <a:solidFill>
                  <a:srgbClr val="333333"/>
                </a:solidFill>
              </a:rPr>
              <a:t>Values &amp; types</a:t>
            </a:r>
            <a:endParaRPr lang="en-GB" sz="1400" dirty="0"/>
          </a:p>
          <a:p>
            <a:pPr marL="0" indent="0" algn="ctr">
              <a:spcAft>
                <a:spcPts val="0"/>
              </a:spcAft>
              <a:buNone/>
            </a:pPr>
            <a:r>
              <a:rPr lang="en-GB" sz="1150" dirty="0">
                <a:solidFill>
                  <a:srgbClr val="333333"/>
                </a:solidFill>
              </a:rPr>
              <a:t>42,  "WT",  TRUE</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R key concepts: a first glimpse</a:t>
            </a:r>
          </a:p>
        </p:txBody>
      </p:sp>
      <p:sp>
        <p:nvSpPr>
          <p:cNvPr id="101" name="Text 101"/>
          <p:cNvSpPr txBox="1"/>
          <p:nvPr/>
        </p:nvSpPr>
        <p:spPr>
          <a:xfrm>
            <a:off x="841248" y="1097280"/>
            <a:ext cx="10515600" cy="457200"/>
          </a:xfrm>
          <a:prstGeom prst="rect">
            <a:avLst/>
          </a:prstGeom>
          <a:noFill/>
          <a:ln>
            <a:noFill/>
          </a:ln>
        </p:spPr>
        <p:txBody>
          <a:bodyPr wrap="square" lIns="0" tIns="0" rIns="0" bIns="0" rtlCol="0" anchor="t">
            <a:noAutofit/>
          </a:bodyPr>
          <a:lstStyle/>
          <a:p>
            <a:pPr marL="0" indent="0" algn="l">
              <a:spcAft>
                <a:spcPts val="0"/>
              </a:spcAft>
              <a:buNone/>
            </a:pPr>
            <a:r>
              <a:rPr lang="en-GB" sz="1600" dirty="0">
                <a:solidFill>
                  <a:srgbClr val="333333"/>
                </a:solidFill>
              </a:rPr>
              <a:t>You just met four building blocks of R. A first glimpse only: we come back to each of them in detail later.</a:t>
            </a:r>
            <a:endParaRPr lang="en-GB" sz="1400" dirty="0"/>
          </a:p>
        </p:txBody>
      </p:sp>
      <p:sp>
        <p:nvSpPr>
          <p:cNvPr id="102" name="Card 102"/>
          <p:cNvSpPr/>
          <p:nvPr/>
        </p:nvSpPr>
        <p:spPr>
          <a:xfrm>
            <a:off x="841248" y="1783080"/>
            <a:ext cx="5097780" cy="1783080"/>
          </a:xfrm>
          <a:prstGeom prst="roundRect">
            <a:avLst>
              <a:gd name="adj" fmla="val 6000"/>
            </a:avLst>
          </a:prstGeom>
          <a:solidFill>
            <a:srgbClr val="F2F2F2"/>
          </a:solidFill>
          <a:ln>
            <a:noFill/>
          </a:ln>
        </p:spPr>
        <p:txBody>
          <a:bodyPr/>
          <a:lstStyle/>
          <a:p>
            <a:endParaRPr lang="fr-FR"/>
          </a:p>
        </p:txBody>
      </p:sp>
      <p:sp>
        <p:nvSpPr>
          <p:cNvPr id="103" name="Code 103"/>
          <p:cNvSpPr/>
          <p:nvPr/>
        </p:nvSpPr>
        <p:spPr>
          <a:xfrm>
            <a:off x="1069848" y="2057400"/>
            <a:ext cx="2377440" cy="1234440"/>
          </a:xfrm>
          <a:prstGeom prst="roundRect">
            <a:avLst>
              <a:gd name="adj" fmla="val 8000"/>
            </a:avLst>
          </a:prstGeom>
          <a:solidFill>
            <a:srgbClr val="FFFFFF"/>
          </a:solidFill>
          <a:ln w="12700">
            <a:solidFill>
              <a:srgbClr val="BFBFBF"/>
            </a:solidFill>
          </a:ln>
        </p:spPr>
        <p:txBody>
          <a:bodyPr wrap="square" lIns="45720" tIns="45720" rIns="45720" bIns="45720" rtlCol="0" anchor="ctr">
            <a:noAutofit/>
          </a:bodyPr>
          <a:lstStyle/>
          <a:p>
            <a:pPr marL="0" indent="0" algn="ctr">
              <a:spcAft>
                <a:spcPts val="0"/>
              </a:spcAft>
              <a:buNone/>
            </a:pPr>
            <a:r>
              <a:rPr lang="en-GB" sz="2000" b="1" dirty="0">
                <a:solidFill>
                  <a:srgbClr val="333333"/>
                </a:solidFill>
                <a:latin typeface="Courier New"/>
                <a:cs typeface="Courier New"/>
              </a:rPr>
              <a:t>1 + 1</a:t>
            </a:r>
            <a:endParaRPr lang="en-GB" sz="1400" dirty="0"/>
          </a:p>
        </p:txBody>
      </p:sp>
      <p:sp>
        <p:nvSpPr>
          <p:cNvPr id="104" name="Text 104"/>
          <p:cNvSpPr txBox="1"/>
          <p:nvPr/>
        </p:nvSpPr>
        <p:spPr>
          <a:xfrm>
            <a:off x="3675888" y="2057400"/>
            <a:ext cx="2080260" cy="1234440"/>
          </a:xfrm>
          <a:prstGeom prst="rect">
            <a:avLst/>
          </a:prstGeom>
          <a:noFill/>
          <a:ln>
            <a:noFill/>
          </a:ln>
        </p:spPr>
        <p:txBody>
          <a:bodyPr wrap="square" lIns="0" tIns="0" rIns="0" bIns="0" rtlCol="0" anchor="ctr">
            <a:noAutofit/>
          </a:bodyPr>
          <a:lstStyle/>
          <a:p>
            <a:pPr marL="0" indent="0" algn="l">
              <a:spcAft>
                <a:spcPts val="400"/>
              </a:spcAft>
              <a:buNone/>
            </a:pPr>
            <a:r>
              <a:rPr lang="en-GB" sz="1900" b="1" dirty="0">
                <a:solidFill>
                  <a:srgbClr val="E20613"/>
                </a:solidFill>
              </a:rPr>
              <a:t>Operator</a:t>
            </a:r>
            <a:endParaRPr lang="en-GB" sz="1400" dirty="0"/>
          </a:p>
          <a:p>
            <a:pPr marL="0" indent="0" algn="l">
              <a:spcAft>
                <a:spcPts val="400"/>
              </a:spcAft>
              <a:buNone/>
            </a:pPr>
            <a:r>
              <a:rPr lang="en-GB" sz="1400" dirty="0">
                <a:solidFill>
                  <a:srgbClr val="333333"/>
                </a:solidFill>
              </a:rPr>
              <a:t>does arithmetic or comparisons</a:t>
            </a:r>
            <a:endParaRPr lang="en-GB" sz="1400" dirty="0"/>
          </a:p>
          <a:p>
            <a:pPr marL="0" indent="0" algn="l">
              <a:spcAft>
                <a:spcPts val="0"/>
              </a:spcAft>
              <a:buNone/>
            </a:pPr>
            <a:r>
              <a:rPr lang="en-GB" sz="1250" i="1" dirty="0">
                <a:solidFill>
                  <a:srgbClr val="6B6B6B"/>
                </a:solidFill>
                <a:latin typeface="Courier New"/>
                <a:cs typeface="Courier New"/>
              </a:rPr>
              <a:t>+  -  *  /  ^</a:t>
            </a:r>
            <a:endParaRPr lang="en-GB" sz="1400" dirty="0"/>
          </a:p>
        </p:txBody>
      </p:sp>
      <p:sp>
        <p:nvSpPr>
          <p:cNvPr id="105" name="Card 105"/>
          <p:cNvSpPr/>
          <p:nvPr/>
        </p:nvSpPr>
        <p:spPr>
          <a:xfrm>
            <a:off x="6259068" y="1783080"/>
            <a:ext cx="5097780" cy="1783080"/>
          </a:xfrm>
          <a:prstGeom prst="roundRect">
            <a:avLst>
              <a:gd name="adj" fmla="val 6000"/>
            </a:avLst>
          </a:prstGeom>
          <a:solidFill>
            <a:srgbClr val="F2F2F2"/>
          </a:solidFill>
          <a:ln>
            <a:noFill/>
          </a:ln>
        </p:spPr>
        <p:txBody>
          <a:bodyPr/>
          <a:lstStyle/>
          <a:p>
            <a:endParaRPr lang="fr-FR"/>
          </a:p>
        </p:txBody>
      </p:sp>
      <p:sp>
        <p:nvSpPr>
          <p:cNvPr id="106" name="Code 106"/>
          <p:cNvSpPr/>
          <p:nvPr/>
        </p:nvSpPr>
        <p:spPr>
          <a:xfrm>
            <a:off x="6487668" y="2057400"/>
            <a:ext cx="2377440" cy="1234440"/>
          </a:xfrm>
          <a:prstGeom prst="roundRect">
            <a:avLst>
              <a:gd name="adj" fmla="val 8000"/>
            </a:avLst>
          </a:prstGeom>
          <a:solidFill>
            <a:srgbClr val="FFFFFF"/>
          </a:solidFill>
          <a:ln w="12700">
            <a:solidFill>
              <a:srgbClr val="BFBFBF"/>
            </a:solidFill>
          </a:ln>
        </p:spPr>
        <p:txBody>
          <a:bodyPr wrap="square" lIns="45720" tIns="45720" rIns="45720" bIns="45720" rtlCol="0" anchor="ctr">
            <a:noAutofit/>
          </a:bodyPr>
          <a:lstStyle/>
          <a:p>
            <a:pPr marL="0" indent="0" algn="ctr">
              <a:spcAft>
                <a:spcPts val="0"/>
              </a:spcAft>
              <a:buNone/>
            </a:pPr>
            <a:r>
              <a:rPr lang="en-GB" sz="2000" b="1" dirty="0">
                <a:solidFill>
                  <a:srgbClr val="333333"/>
                </a:solidFill>
                <a:latin typeface="Courier New"/>
                <a:cs typeface="Courier New"/>
              </a:rPr>
              <a:t>abs(-11)</a:t>
            </a:r>
            <a:endParaRPr lang="en-GB" sz="1400" dirty="0"/>
          </a:p>
        </p:txBody>
      </p:sp>
      <p:sp>
        <p:nvSpPr>
          <p:cNvPr id="107" name="Text 107"/>
          <p:cNvSpPr txBox="1"/>
          <p:nvPr/>
        </p:nvSpPr>
        <p:spPr>
          <a:xfrm>
            <a:off x="9093708" y="2057400"/>
            <a:ext cx="2080260" cy="1234440"/>
          </a:xfrm>
          <a:prstGeom prst="rect">
            <a:avLst/>
          </a:prstGeom>
          <a:noFill/>
          <a:ln>
            <a:noFill/>
          </a:ln>
        </p:spPr>
        <p:txBody>
          <a:bodyPr wrap="square" lIns="0" tIns="0" rIns="0" bIns="0" rtlCol="0" anchor="ctr">
            <a:noAutofit/>
          </a:bodyPr>
          <a:lstStyle/>
          <a:p>
            <a:pPr marL="0" indent="0" algn="l">
              <a:spcAft>
                <a:spcPts val="400"/>
              </a:spcAft>
              <a:buNone/>
            </a:pPr>
            <a:r>
              <a:rPr lang="en-GB" sz="1900" b="1" dirty="0">
                <a:solidFill>
                  <a:srgbClr val="E20613"/>
                </a:solidFill>
              </a:rPr>
              <a:t>Function</a:t>
            </a:r>
            <a:endParaRPr lang="en-GB" sz="1400" dirty="0"/>
          </a:p>
          <a:p>
            <a:pPr marL="0" indent="0" algn="l">
              <a:spcAft>
                <a:spcPts val="400"/>
              </a:spcAft>
              <a:buNone/>
            </a:pPr>
            <a:r>
              <a:rPr lang="en-GB" sz="1400" dirty="0">
                <a:solidFill>
                  <a:srgbClr val="333333"/>
                </a:solidFill>
              </a:rPr>
              <a:t>ready-made code: name + parentheses</a:t>
            </a:r>
            <a:endParaRPr lang="en-GB" sz="1400" dirty="0"/>
          </a:p>
          <a:p>
            <a:pPr marL="0" indent="0" algn="l">
              <a:spcAft>
                <a:spcPts val="0"/>
              </a:spcAft>
              <a:buNone/>
            </a:pPr>
            <a:r>
              <a:rPr lang="en-GB" sz="1250" i="1" dirty="0">
                <a:solidFill>
                  <a:srgbClr val="6B6B6B"/>
                </a:solidFill>
              </a:rPr>
              <a:t>returns 11</a:t>
            </a:r>
            <a:endParaRPr lang="en-GB" sz="1400" dirty="0"/>
          </a:p>
        </p:txBody>
      </p:sp>
      <p:sp>
        <p:nvSpPr>
          <p:cNvPr id="108" name="Card 108"/>
          <p:cNvSpPr/>
          <p:nvPr/>
        </p:nvSpPr>
        <p:spPr>
          <a:xfrm>
            <a:off x="841248" y="3840480"/>
            <a:ext cx="5097780" cy="1783080"/>
          </a:xfrm>
          <a:prstGeom prst="roundRect">
            <a:avLst>
              <a:gd name="adj" fmla="val 6000"/>
            </a:avLst>
          </a:prstGeom>
          <a:solidFill>
            <a:srgbClr val="F2F2F2"/>
          </a:solidFill>
          <a:ln>
            <a:noFill/>
          </a:ln>
        </p:spPr>
        <p:txBody>
          <a:bodyPr/>
          <a:lstStyle/>
          <a:p>
            <a:endParaRPr lang="fr-FR"/>
          </a:p>
        </p:txBody>
      </p:sp>
      <p:sp>
        <p:nvSpPr>
          <p:cNvPr id="109" name="Code 109"/>
          <p:cNvSpPr/>
          <p:nvPr/>
        </p:nvSpPr>
        <p:spPr>
          <a:xfrm>
            <a:off x="1069848" y="4114800"/>
            <a:ext cx="2377440" cy="1234440"/>
          </a:xfrm>
          <a:prstGeom prst="roundRect">
            <a:avLst>
              <a:gd name="adj" fmla="val 8000"/>
            </a:avLst>
          </a:prstGeom>
          <a:solidFill>
            <a:srgbClr val="FFFFFF"/>
          </a:solidFill>
          <a:ln w="12700">
            <a:solidFill>
              <a:srgbClr val="BFBFBF"/>
            </a:solidFill>
          </a:ln>
        </p:spPr>
        <p:txBody>
          <a:bodyPr wrap="square" lIns="45720" tIns="45720" rIns="45720" bIns="45720" rtlCol="0" anchor="ctr">
            <a:noAutofit/>
          </a:bodyPr>
          <a:lstStyle/>
          <a:p>
            <a:pPr marL="0" indent="0" algn="ctr">
              <a:spcAft>
                <a:spcPts val="0"/>
              </a:spcAft>
              <a:buNone/>
            </a:pPr>
            <a:r>
              <a:rPr lang="en-GB" sz="2000" b="1" dirty="0">
                <a:solidFill>
                  <a:srgbClr val="333333"/>
                </a:solidFill>
                <a:latin typeface="Courier New"/>
                <a:cs typeface="Courier New"/>
              </a:rPr>
              <a:t>x &lt;- 128.5</a:t>
            </a:r>
            <a:endParaRPr lang="en-GB" sz="1400" dirty="0"/>
          </a:p>
        </p:txBody>
      </p:sp>
      <p:sp>
        <p:nvSpPr>
          <p:cNvPr id="110" name="Text 110"/>
          <p:cNvSpPr txBox="1"/>
          <p:nvPr/>
        </p:nvSpPr>
        <p:spPr>
          <a:xfrm>
            <a:off x="3675888" y="4114800"/>
            <a:ext cx="2080260" cy="1234440"/>
          </a:xfrm>
          <a:prstGeom prst="rect">
            <a:avLst/>
          </a:prstGeom>
          <a:noFill/>
          <a:ln>
            <a:noFill/>
          </a:ln>
        </p:spPr>
        <p:txBody>
          <a:bodyPr wrap="square" lIns="0" tIns="0" rIns="0" bIns="0" rtlCol="0" anchor="ctr">
            <a:noAutofit/>
          </a:bodyPr>
          <a:lstStyle/>
          <a:p>
            <a:pPr marL="0" indent="0" algn="l">
              <a:spcAft>
                <a:spcPts val="400"/>
              </a:spcAft>
              <a:buNone/>
            </a:pPr>
            <a:r>
              <a:rPr lang="en-GB" sz="1900" b="1" dirty="0">
                <a:solidFill>
                  <a:srgbClr val="E20613"/>
                </a:solidFill>
              </a:rPr>
              <a:t>Variable</a:t>
            </a:r>
            <a:endParaRPr lang="en-GB" sz="1400" dirty="0"/>
          </a:p>
          <a:p>
            <a:pPr marL="0" indent="0" algn="l">
              <a:spcAft>
                <a:spcPts val="400"/>
              </a:spcAft>
              <a:buNone/>
            </a:pPr>
            <a:r>
              <a:rPr lang="en-GB" sz="1400" dirty="0">
                <a:solidFill>
                  <a:srgbClr val="333333"/>
                </a:solidFill>
              </a:rPr>
              <a:t>stores a value under a name</a:t>
            </a:r>
            <a:endParaRPr lang="en-GB" sz="1400" dirty="0"/>
          </a:p>
          <a:p>
            <a:pPr marL="0" indent="0" algn="l">
              <a:spcAft>
                <a:spcPts val="0"/>
              </a:spcAft>
              <a:buNone/>
            </a:pPr>
            <a:r>
              <a:rPr lang="en-GB" sz="1250" i="1" dirty="0">
                <a:solidFill>
                  <a:srgbClr val="6B6B6B"/>
                </a:solidFill>
              </a:rPr>
              <a:t>x now contains 128.5</a:t>
            </a:r>
            <a:endParaRPr lang="en-GB" sz="1400" dirty="0"/>
          </a:p>
        </p:txBody>
      </p:sp>
      <p:sp>
        <p:nvSpPr>
          <p:cNvPr id="111" name="Card 111"/>
          <p:cNvSpPr/>
          <p:nvPr/>
        </p:nvSpPr>
        <p:spPr>
          <a:xfrm>
            <a:off x="6259068" y="3840480"/>
            <a:ext cx="5097780" cy="1783080"/>
          </a:xfrm>
          <a:prstGeom prst="roundRect">
            <a:avLst>
              <a:gd name="adj" fmla="val 6000"/>
            </a:avLst>
          </a:prstGeom>
          <a:solidFill>
            <a:srgbClr val="F2F2F2"/>
          </a:solidFill>
          <a:ln>
            <a:noFill/>
          </a:ln>
        </p:spPr>
        <p:txBody>
          <a:bodyPr/>
          <a:lstStyle/>
          <a:p>
            <a:endParaRPr lang="fr-FR"/>
          </a:p>
        </p:txBody>
      </p:sp>
      <p:sp>
        <p:nvSpPr>
          <p:cNvPr id="112" name="Code 112"/>
          <p:cNvSpPr/>
          <p:nvPr/>
        </p:nvSpPr>
        <p:spPr>
          <a:xfrm>
            <a:off x="6487668" y="4114800"/>
            <a:ext cx="2377440" cy="1234440"/>
          </a:xfrm>
          <a:prstGeom prst="roundRect">
            <a:avLst>
              <a:gd name="adj" fmla="val 8000"/>
            </a:avLst>
          </a:prstGeom>
          <a:solidFill>
            <a:srgbClr val="FFFFFF"/>
          </a:solidFill>
          <a:ln w="12700">
            <a:solidFill>
              <a:srgbClr val="BFBFBF"/>
            </a:solidFill>
          </a:ln>
        </p:spPr>
        <p:txBody>
          <a:bodyPr wrap="square" lIns="45720" tIns="45720" rIns="45720" bIns="45720" rtlCol="0" anchor="ctr">
            <a:noAutofit/>
          </a:bodyPr>
          <a:lstStyle/>
          <a:p>
            <a:pPr marL="0" indent="0" algn="ctr">
              <a:spcAft>
                <a:spcPts val="0"/>
              </a:spcAft>
              <a:buNone/>
            </a:pPr>
            <a:r>
              <a:rPr lang="en-GB" sz="2000" b="1" dirty="0">
                <a:solidFill>
                  <a:srgbClr val="333333"/>
                </a:solidFill>
                <a:latin typeface="Courier New"/>
                <a:cs typeface="Courier New"/>
              </a:rPr>
              <a:t># my note</a:t>
            </a:r>
            <a:endParaRPr lang="en-GB" sz="1400" dirty="0"/>
          </a:p>
        </p:txBody>
      </p:sp>
      <p:sp>
        <p:nvSpPr>
          <p:cNvPr id="113" name="Text 113"/>
          <p:cNvSpPr txBox="1"/>
          <p:nvPr/>
        </p:nvSpPr>
        <p:spPr>
          <a:xfrm>
            <a:off x="9093708" y="4114800"/>
            <a:ext cx="2080260" cy="1234440"/>
          </a:xfrm>
          <a:prstGeom prst="rect">
            <a:avLst/>
          </a:prstGeom>
          <a:noFill/>
          <a:ln>
            <a:noFill/>
          </a:ln>
        </p:spPr>
        <p:txBody>
          <a:bodyPr wrap="square" lIns="0" tIns="0" rIns="0" bIns="0" rtlCol="0" anchor="ctr">
            <a:noAutofit/>
          </a:bodyPr>
          <a:lstStyle/>
          <a:p>
            <a:pPr marL="0" indent="0" algn="l">
              <a:spcAft>
                <a:spcPts val="400"/>
              </a:spcAft>
              <a:buNone/>
            </a:pPr>
            <a:r>
              <a:rPr lang="en-GB" sz="1900" b="1" dirty="0">
                <a:solidFill>
                  <a:srgbClr val="E20613"/>
                </a:solidFill>
              </a:rPr>
              <a:t>Comment</a:t>
            </a:r>
            <a:endParaRPr lang="en-GB" sz="1400" dirty="0"/>
          </a:p>
          <a:p>
            <a:pPr marL="0" indent="0" algn="l">
              <a:spcAft>
                <a:spcPts val="400"/>
              </a:spcAft>
              <a:buNone/>
            </a:pPr>
            <a:r>
              <a:rPr lang="en-GB" sz="1400" dirty="0">
                <a:solidFill>
                  <a:srgbClr val="333333"/>
                </a:solidFill>
              </a:rPr>
              <a:t>ignored by R, written for humans</a:t>
            </a:r>
            <a:endParaRPr lang="en-GB" sz="1400" dirty="0"/>
          </a:p>
          <a:p>
            <a:pPr marL="0" indent="0" algn="l">
              <a:spcAft>
                <a:spcPts val="0"/>
              </a:spcAft>
              <a:buNone/>
            </a:pPr>
            <a:r>
              <a:rPr lang="en-GB" sz="1250" i="1" dirty="0">
                <a:solidFill>
                  <a:srgbClr val="6B6B6B"/>
                </a:solidFill>
              </a:rPr>
              <a:t>explain your code!</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C8B3D-C64B-E013-5113-D16CD14D6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57DF1-C837-13A7-6D2E-5534D708D0A7}"/>
              </a:ext>
            </a:extLst>
          </p:cNvPr>
          <p:cNvSpPr>
            <a:spLocks noGrp="1"/>
          </p:cNvSpPr>
          <p:nvPr>
            <p:ph type="title"/>
          </p:nvPr>
        </p:nvSpPr>
        <p:spPr/>
        <p:txBody>
          <a:bodyPr/>
          <a:lstStyle/>
          <a:p>
            <a:r>
              <a:rPr lang="en-GB" dirty="0">
                <a:ea typeface="Verdana"/>
                <a:cs typeface="Gill Sans"/>
              </a:rPr>
              <a:t>R key concepts: the working directory</a:t>
            </a:r>
          </a:p>
        </p:txBody>
      </p:sp>
      <p:sp>
        <p:nvSpPr>
          <p:cNvPr id="101" name="Text 101"/>
          <p:cNvSpPr txBox="1"/>
          <p:nvPr/>
        </p:nvSpPr>
        <p:spPr>
          <a:xfrm>
            <a:off x="841248" y="1143000"/>
            <a:ext cx="5486400" cy="2011680"/>
          </a:xfrm>
          <a:prstGeom prst="rect">
            <a:avLst/>
          </a:prstGeom>
          <a:noFill/>
          <a:ln>
            <a:noFill/>
          </a:ln>
        </p:spPr>
        <p:txBody>
          <a:bodyPr wrap="square" lIns="0" tIns="0" rIns="0" bIns="0" rtlCol="0" anchor="t">
            <a:noAutofit/>
          </a:bodyPr>
          <a:lstStyle/>
          <a:p>
            <a:pPr marL="0" indent="0" algn="l">
              <a:spcAft>
                <a:spcPts val="1000"/>
              </a:spcAft>
              <a:buNone/>
            </a:pPr>
            <a:r>
              <a:rPr lang="en-GB" sz="1700" dirty="0"/>
              <a:t>The </a:t>
            </a:r>
            <a:r>
              <a:rPr lang="en-GB" sz="1700" b="1" dirty="0"/>
              <a:t>working directory</a:t>
            </a:r>
            <a:r>
              <a:rPr lang="en-GB" sz="1700" dirty="0"/>
              <a:t> is the folder where R reads and writes files by default.</a:t>
            </a:r>
            <a:endParaRPr lang="en-GB" sz="1400" dirty="0"/>
          </a:p>
          <a:p>
            <a:pPr marL="0" indent="0" algn="l">
              <a:spcAft>
                <a:spcPts val="0"/>
              </a:spcAft>
              <a:buNone/>
            </a:pPr>
            <a:r>
              <a:rPr lang="en-GB" sz="1600" dirty="0">
                <a:solidFill>
                  <a:srgbClr val="333333"/>
                </a:solidFill>
              </a:rPr>
              <a:t>In an RStudio project, it is automatically the project folder, so you rarely need to change it.</a:t>
            </a:r>
            <a:endParaRPr lang="en-GB" sz="1400" dirty="0"/>
          </a:p>
        </p:txBody>
      </p:sp>
      <p:sp>
        <p:nvSpPr>
          <p:cNvPr id="102" name="Text 102"/>
          <p:cNvSpPr txBox="1"/>
          <p:nvPr/>
        </p:nvSpPr>
        <p:spPr>
          <a:xfrm>
            <a:off x="841248" y="3200400"/>
            <a:ext cx="5486400" cy="320040"/>
          </a:xfrm>
          <a:prstGeom prst="rect">
            <a:avLst/>
          </a:prstGeom>
          <a:noFill/>
          <a:ln>
            <a:noFill/>
          </a:ln>
        </p:spPr>
        <p:txBody>
          <a:bodyPr wrap="square" lIns="0" tIns="0" rIns="0" bIns="0" rtlCol="0" anchor="t">
            <a:noAutofit/>
          </a:bodyPr>
          <a:lstStyle/>
          <a:p>
            <a:pPr marL="0" indent="0" algn="l">
              <a:spcAft>
                <a:spcPts val="0"/>
              </a:spcAft>
              <a:buNone/>
            </a:pPr>
            <a:r>
              <a:rPr lang="en-GB" sz="1500" b="1" dirty="0">
                <a:solidFill>
                  <a:srgbClr val="E20613"/>
                </a:solidFill>
              </a:rPr>
              <a:t>Where am I?</a:t>
            </a:r>
            <a:endParaRPr lang="en-GB" sz="1400" dirty="0"/>
          </a:p>
        </p:txBody>
      </p:sp>
      <p:sp>
        <p:nvSpPr>
          <p:cNvPr id="103" name="Code 103"/>
          <p:cNvSpPr/>
          <p:nvPr/>
        </p:nvSpPr>
        <p:spPr>
          <a:xfrm>
            <a:off x="841248" y="3566160"/>
            <a:ext cx="5486400" cy="77724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500" dirty="0">
                <a:solidFill>
                  <a:srgbClr val="333333"/>
                </a:solidFill>
                <a:latin typeface="Courier New"/>
                <a:cs typeface="Courier New"/>
              </a:rPr>
              <a:t>getwd()</a:t>
            </a:r>
            <a:endParaRPr lang="en-GB" sz="1500" dirty="0"/>
          </a:p>
          <a:p>
            <a:pPr marL="0" indent="0" algn="l">
              <a:spcAft>
                <a:spcPts val="0"/>
              </a:spcAft>
              <a:buNone/>
            </a:pPr>
            <a:r>
              <a:rPr lang="en-GB" sz="1500" dirty="0">
                <a:solidFill>
                  <a:srgbClr val="6B6B6B"/>
                </a:solidFill>
                <a:latin typeface="Courier New"/>
                <a:cs typeface="Courier New"/>
              </a:rPr>
              <a:t>[1] "C:/Users/Leo/Rcourse"</a:t>
            </a:r>
            <a:endParaRPr lang="en-GB" sz="1500" dirty="0"/>
          </a:p>
        </p:txBody>
      </p:sp>
      <p:sp>
        <p:nvSpPr>
          <p:cNvPr id="104" name="Text 104"/>
          <p:cNvSpPr txBox="1"/>
          <p:nvPr/>
        </p:nvSpPr>
        <p:spPr>
          <a:xfrm>
            <a:off x="841248" y="4526280"/>
            <a:ext cx="5486400" cy="320040"/>
          </a:xfrm>
          <a:prstGeom prst="rect">
            <a:avLst/>
          </a:prstGeom>
          <a:noFill/>
          <a:ln>
            <a:noFill/>
          </a:ln>
        </p:spPr>
        <p:txBody>
          <a:bodyPr wrap="square" lIns="0" tIns="0" rIns="0" bIns="0" rtlCol="0" anchor="t">
            <a:noAutofit/>
          </a:bodyPr>
          <a:lstStyle/>
          <a:p>
            <a:pPr marL="0" indent="0" algn="l">
              <a:spcAft>
                <a:spcPts val="0"/>
              </a:spcAft>
              <a:buNone/>
            </a:pPr>
            <a:r>
              <a:rPr lang="en-GB" sz="1500" b="1" dirty="0">
                <a:solidFill>
                  <a:srgbClr val="6B6B6B"/>
                </a:solidFill>
              </a:rPr>
              <a:t>Move elsewhere (rarely needed)</a:t>
            </a:r>
            <a:endParaRPr lang="en-GB" sz="1400" dirty="0"/>
          </a:p>
        </p:txBody>
      </p:sp>
      <p:sp>
        <p:nvSpPr>
          <p:cNvPr id="105" name="Code 105"/>
          <p:cNvSpPr/>
          <p:nvPr/>
        </p:nvSpPr>
        <p:spPr>
          <a:xfrm>
            <a:off x="841248" y="4892040"/>
            <a:ext cx="5486400" cy="45720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500" dirty="0">
                <a:solidFill>
                  <a:srgbClr val="333333"/>
                </a:solidFill>
                <a:latin typeface="Courier New"/>
                <a:cs typeface="Courier New"/>
              </a:rPr>
              <a:t>setwd("D:/cool_R_project/")</a:t>
            </a:r>
            <a:endParaRPr lang="en-GB" sz="1500" dirty="0"/>
          </a:p>
        </p:txBody>
      </p:sp>
      <p:sp>
        <p:nvSpPr>
          <p:cNvPr id="106" name="Panel 106"/>
          <p:cNvSpPr/>
          <p:nvPr/>
        </p:nvSpPr>
        <p:spPr>
          <a:xfrm>
            <a:off x="6903720" y="1188720"/>
            <a:ext cx="4434840" cy="4160520"/>
          </a:xfrm>
          <a:prstGeom prst="roundRect">
            <a:avLst>
              <a:gd name="adj" fmla="val 5000"/>
            </a:avLst>
          </a:prstGeom>
          <a:solidFill>
            <a:srgbClr val="F4F4F4"/>
          </a:solidFill>
          <a:ln>
            <a:noFill/>
          </a:ln>
        </p:spPr>
        <p:txBody>
          <a:bodyPr/>
          <a:lstStyle/>
          <a:p>
            <a:endParaRPr lang="fr-FR"/>
          </a:p>
        </p:txBody>
      </p:sp>
      <p:sp>
        <p:nvSpPr>
          <p:cNvPr id="107" name="Text 107"/>
          <p:cNvSpPr txBox="1"/>
          <p:nvPr/>
        </p:nvSpPr>
        <p:spPr>
          <a:xfrm>
            <a:off x="7178040" y="1325880"/>
            <a:ext cx="3977640" cy="365760"/>
          </a:xfrm>
          <a:prstGeom prst="rect">
            <a:avLst/>
          </a:prstGeom>
          <a:noFill/>
          <a:ln>
            <a:noFill/>
          </a:ln>
        </p:spPr>
        <p:txBody>
          <a:bodyPr wrap="square" lIns="0" tIns="0" rIns="0" bIns="0" rtlCol="0" anchor="t">
            <a:noAutofit/>
          </a:bodyPr>
          <a:lstStyle/>
          <a:p>
            <a:pPr marL="0" indent="0" algn="l">
              <a:spcAft>
                <a:spcPts val="0"/>
              </a:spcAft>
              <a:buNone/>
            </a:pPr>
            <a:r>
              <a:rPr lang="en-GB" sz="1400" b="1" dirty="0">
                <a:solidFill>
                  <a:srgbClr val="6B6B6B"/>
                </a:solidFill>
              </a:rPr>
              <a:t>Your computer</a:t>
            </a:r>
            <a:endParaRPr lang="en-GB" sz="1400" dirty="0"/>
          </a:p>
        </p:txBody>
      </p:sp>
      <p:sp>
        <p:nvSpPr>
          <p:cNvPr id="108" name="Text 108"/>
          <p:cNvSpPr txBox="1"/>
          <p:nvPr/>
        </p:nvSpPr>
        <p:spPr>
          <a:xfrm>
            <a:off x="7178040" y="1783080"/>
            <a:ext cx="3977640" cy="2743200"/>
          </a:xfrm>
          <a:prstGeom prst="rect">
            <a:avLst/>
          </a:prstGeom>
          <a:noFill/>
          <a:ln>
            <a:noFill/>
          </a:ln>
        </p:spPr>
        <p:txBody>
          <a:bodyPr wrap="square" lIns="0" tIns="0" rIns="0" bIns="0" rtlCol="0" anchor="t">
            <a:noAutofit/>
          </a:bodyPr>
          <a:lstStyle/>
          <a:p>
            <a:pPr marL="0" indent="0" algn="l">
              <a:spcAft>
                <a:spcPts val="500"/>
              </a:spcAft>
              <a:buNone/>
            </a:pPr>
            <a:r>
              <a:rPr lang="en-GB" sz="1400" dirty="0">
                <a:solidFill>
                  <a:srgbClr val="333333"/>
                </a:solidFill>
                <a:latin typeface="Courier New"/>
                <a:cs typeface="Courier New"/>
              </a:rPr>
              <a:t>C:/Users/Leo/</a:t>
            </a:r>
            <a:endParaRPr lang="en-GB" sz="1400" dirty="0"/>
          </a:p>
          <a:p>
            <a:pPr marL="0" indent="0" algn="l">
              <a:spcAft>
                <a:spcPts val="500"/>
              </a:spcAft>
              <a:buNone/>
            </a:pPr>
            <a:r>
              <a:rPr lang="en-GB" sz="1400" dirty="0">
                <a:solidFill>
                  <a:srgbClr val="333333"/>
                </a:solidFill>
                <a:latin typeface="Courier New"/>
                <a:cs typeface="Courier New"/>
              </a:rPr>
              <a:t>├─ Documents/</a:t>
            </a:r>
            <a:endParaRPr lang="en-GB" sz="1400" dirty="0"/>
          </a:p>
          <a:p>
            <a:pPr marL="0" indent="0" algn="l">
              <a:spcAft>
                <a:spcPts val="500"/>
              </a:spcAft>
              <a:buNone/>
            </a:pPr>
            <a:r>
              <a:rPr lang="en-GB" sz="1400" b="1" dirty="0">
                <a:solidFill>
                  <a:srgbClr val="E20613"/>
                </a:solidFill>
                <a:latin typeface="Courier New"/>
                <a:cs typeface="Courier New"/>
              </a:rPr>
              <a:t>└─ Rcourse/</a:t>
            </a:r>
            <a:endParaRPr lang="en-GB" sz="1400" dirty="0"/>
          </a:p>
          <a:p>
            <a:pPr marL="0" indent="0" algn="l">
              <a:spcAft>
                <a:spcPts val="500"/>
              </a:spcAft>
              <a:buNone/>
            </a:pPr>
            <a:r>
              <a:rPr lang="en-GB" sz="1400" dirty="0">
                <a:solidFill>
                  <a:srgbClr val="333333"/>
                </a:solidFill>
                <a:latin typeface="Courier New"/>
                <a:cs typeface="Courier New"/>
              </a:rPr>
              <a:t>   ├─ Rcourse.Rproj</a:t>
            </a:r>
            <a:endParaRPr lang="en-GB" sz="1400" dirty="0"/>
          </a:p>
          <a:p>
            <a:pPr marL="0" indent="0" algn="l">
              <a:spcAft>
                <a:spcPts val="500"/>
              </a:spcAft>
              <a:buNone/>
            </a:pPr>
            <a:r>
              <a:rPr lang="en-GB" sz="1400" dirty="0">
                <a:solidFill>
                  <a:srgbClr val="333333"/>
                </a:solidFill>
                <a:latin typeface="Courier New"/>
                <a:cs typeface="Courier New"/>
              </a:rPr>
              <a:t>   ├─ course_datasets/</a:t>
            </a:r>
            <a:endParaRPr lang="en-GB" sz="1400" dirty="0"/>
          </a:p>
          <a:p>
            <a:pPr marL="0" indent="0" algn="l">
              <a:spcAft>
                <a:spcPts val="500"/>
              </a:spcAft>
              <a:buNone/>
            </a:pPr>
            <a:r>
              <a:rPr lang="en-GB" sz="1400" dirty="0">
                <a:solidFill>
                  <a:srgbClr val="333333"/>
                </a:solidFill>
                <a:latin typeface="Courier New"/>
                <a:cs typeface="Courier New"/>
              </a:rPr>
              <a:t>   │  └─ mice_data.csv</a:t>
            </a:r>
            <a:endParaRPr lang="en-GB" sz="1400" dirty="0"/>
          </a:p>
          <a:p>
            <a:pPr marL="0" indent="0" algn="l">
              <a:spcAft>
                <a:spcPts val="500"/>
              </a:spcAft>
              <a:buNone/>
            </a:pPr>
            <a:r>
              <a:rPr lang="en-GB" sz="1400" dirty="0">
                <a:solidFill>
                  <a:srgbClr val="333333"/>
                </a:solidFill>
                <a:latin typeface="Courier New"/>
                <a:cs typeface="Courier New"/>
              </a:rPr>
              <a:t>   └─ ex1.R</a:t>
            </a:r>
            <a:endParaRPr lang="en-GB" sz="1400" dirty="0"/>
          </a:p>
        </p:txBody>
      </p:sp>
      <p:sp>
        <p:nvSpPr>
          <p:cNvPr id="109" name="Here 109"/>
          <p:cNvSpPr/>
          <p:nvPr/>
        </p:nvSpPr>
        <p:spPr>
          <a:xfrm>
            <a:off x="9829800" y="2395728"/>
            <a:ext cx="1325880" cy="347472"/>
          </a:xfrm>
          <a:prstGeom prst="roundRect">
            <a:avLst>
              <a:gd name="adj" fmla="val 50000"/>
            </a:avLst>
          </a:prstGeom>
          <a:solidFill>
            <a:srgbClr val="E20613"/>
          </a:solidFill>
          <a:ln>
            <a:noFill/>
          </a:ln>
        </p:spPr>
        <p:txBody>
          <a:bodyPr wrap="square" lIns="18288" tIns="18288" rIns="18288" bIns="18288" rtlCol="0" anchor="ctr">
            <a:noAutofit/>
          </a:bodyPr>
          <a:lstStyle/>
          <a:p>
            <a:pPr marL="0" indent="0" algn="ctr">
              <a:spcAft>
                <a:spcPts val="0"/>
              </a:spcAft>
              <a:buNone/>
            </a:pPr>
            <a:r>
              <a:rPr lang="en-GB" sz="1150" b="1" dirty="0">
                <a:solidFill>
                  <a:srgbClr val="FFFFFF"/>
                </a:solidFill>
              </a:rPr>
              <a:t>← you are here</a:t>
            </a:r>
            <a:endParaRPr lang="en-GB" sz="1400" dirty="0"/>
          </a:p>
        </p:txBody>
      </p:sp>
      <p:sp>
        <p:nvSpPr>
          <p:cNvPr id="110" name="Text 110"/>
          <p:cNvSpPr txBox="1"/>
          <p:nvPr/>
        </p:nvSpPr>
        <p:spPr>
          <a:xfrm>
            <a:off x="7178040" y="4480560"/>
            <a:ext cx="3977640" cy="777240"/>
          </a:xfrm>
          <a:prstGeom prst="rect">
            <a:avLst/>
          </a:prstGeom>
          <a:noFill/>
          <a:ln>
            <a:noFill/>
          </a:ln>
        </p:spPr>
        <p:txBody>
          <a:bodyPr wrap="square" lIns="0" tIns="0" rIns="0" bIns="0" rtlCol="0" anchor="t">
            <a:noAutofit/>
          </a:bodyPr>
          <a:lstStyle/>
          <a:p>
            <a:pPr marL="0" indent="0" algn="l">
              <a:spcAft>
                <a:spcPts val="0"/>
              </a:spcAft>
              <a:buNone/>
            </a:pPr>
            <a:r>
              <a:rPr lang="en-GB" sz="1250" dirty="0">
                <a:solidFill>
                  <a:srgbClr val="6B6B6B"/>
                </a:solidFill>
              </a:rPr>
              <a:t>So R finds </a:t>
            </a:r>
            <a:r>
              <a:rPr lang="en-GB" sz="1150" dirty="0">
                <a:solidFill>
                  <a:srgbClr val="333333"/>
                </a:solidFill>
                <a:latin typeface="Courier New"/>
                <a:cs typeface="Courier New"/>
              </a:rPr>
              <a:t>"course_datasets/mice_data.csv"</a:t>
            </a:r>
            <a:r>
              <a:rPr lang="en-GB" sz="1250" dirty="0">
                <a:solidFill>
                  <a:srgbClr val="6B6B6B"/>
                </a:solidFill>
              </a:rPr>
              <a:t> without the full path.</a:t>
            </a:r>
            <a:endParaRPr lang="en-GB" sz="1400" dirty="0"/>
          </a:p>
        </p:txBody>
      </p:sp>
    </p:spTree>
    <p:extLst>
      <p:ext uri="{BB962C8B-B14F-4D97-AF65-F5344CB8AC3E}">
        <p14:creationId xmlns:p14="http://schemas.microsoft.com/office/powerpoint/2010/main" val="3476038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4C55C-3E96-5269-14B6-70078FF006D4}"/>
              </a:ext>
            </a:extLst>
          </p:cNvPr>
          <p:cNvSpPr>
            <a:spLocks noGrp="1"/>
          </p:cNvSpPr>
          <p:nvPr>
            <p:ph type="title"/>
          </p:nvPr>
        </p:nvSpPr>
        <p:spPr/>
        <p:txBody>
          <a:bodyPr/>
          <a:lstStyle/>
          <a:p>
            <a:r>
              <a:rPr lang="en-GB" dirty="0">
                <a:ea typeface="Verdana"/>
                <a:cs typeface="Gill Sans"/>
              </a:rPr>
              <a:t>Editor: writing code in a file</a:t>
            </a:r>
            <a:endParaRPr lang="en-GB" dirty="0"/>
          </a:p>
        </p:txBody>
      </p:sp>
      <p:pic>
        <p:nvPicPr>
          <p:cNvPr id="4" name="Picture 3" descr="A screenshot of a computer program&#10;&#10;Description automatically generated">
            <a:extLst>
              <a:ext uri="{FF2B5EF4-FFF2-40B4-BE49-F238E27FC236}">
                <a16:creationId xmlns:a16="http://schemas.microsoft.com/office/drawing/2014/main" id="{9798722A-FA78-1F1B-A01C-F34DFF766D20}"/>
              </a:ext>
            </a:extLst>
          </p:cNvPr>
          <p:cNvPicPr>
            <a:picLocks noChangeAspect="1"/>
          </p:cNvPicPr>
          <p:nvPr/>
        </p:nvPicPr>
        <p:blipFill>
          <a:blip r:embed="rId2"/>
          <a:stretch>
            <a:fillRect/>
          </a:stretch>
        </p:blipFill>
        <p:spPr>
          <a:xfrm>
            <a:off x="785813" y="747713"/>
            <a:ext cx="8010525" cy="5934075"/>
          </a:xfrm>
          <a:prstGeom prst="rect">
            <a:avLst/>
          </a:prstGeom>
        </p:spPr>
      </p:pic>
    </p:spTree>
    <p:extLst>
      <p:ext uri="{BB962C8B-B14F-4D97-AF65-F5344CB8AC3E}">
        <p14:creationId xmlns:p14="http://schemas.microsoft.com/office/powerpoint/2010/main" val="1645997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7C537-9715-0306-EB61-95DD00B146E1}"/>
              </a:ext>
            </a:extLst>
          </p:cNvPr>
          <p:cNvSpPr>
            <a:spLocks noGrp="1"/>
          </p:cNvSpPr>
          <p:nvPr>
            <p:ph type="title"/>
          </p:nvPr>
        </p:nvSpPr>
        <p:spPr/>
        <p:txBody>
          <a:bodyPr/>
          <a:lstStyle/>
          <a:p>
            <a:r>
              <a:rPr lang="en-GB" dirty="0">
                <a:ea typeface="Verdana"/>
                <a:cs typeface="Gill Sans"/>
              </a:rPr>
              <a:t>R scripts</a:t>
            </a:r>
            <a:endParaRPr lang="en-US" dirty="0"/>
          </a:p>
        </p:txBody>
      </p:sp>
      <p:sp>
        <p:nvSpPr>
          <p:cNvPr id="3" name="Text Placeholder 2">
            <a:extLst>
              <a:ext uri="{FF2B5EF4-FFF2-40B4-BE49-F238E27FC236}">
                <a16:creationId xmlns:a16="http://schemas.microsoft.com/office/drawing/2014/main" id="{5881270C-8749-89DB-F688-008E42DE7424}"/>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A script is a </a:t>
            </a:r>
            <a:r>
              <a:rPr lang="en-GB" b="1" dirty="0">
                <a:ea typeface="Tahoma"/>
                <a:cs typeface="Gill Sans Light"/>
              </a:rPr>
              <a:t>normal text file which contains commands</a:t>
            </a:r>
            <a:r>
              <a:rPr lang="en-GB" dirty="0">
                <a:ea typeface="Tahoma"/>
                <a:cs typeface="Gill Sans Light"/>
              </a:rPr>
              <a:t> meant to be executed one after the other.</a:t>
            </a:r>
          </a:p>
          <a:p>
            <a:r>
              <a:rPr lang="en-GB" dirty="0">
                <a:ea typeface="Tahoma"/>
                <a:cs typeface="Gill Sans Light"/>
              </a:rPr>
              <a:t>Write your code into a script and save it</a:t>
            </a:r>
            <a:endParaRPr lang="en-GB" dirty="0"/>
          </a:p>
          <a:p>
            <a:pPr marL="342900" indent="-342900">
              <a:buChar char="•"/>
            </a:pPr>
            <a:r>
              <a:rPr lang="en-GB" dirty="0">
                <a:ea typeface="Tahoma"/>
                <a:cs typeface="Gill Sans Light"/>
              </a:rPr>
              <a:t>to document your analysis as you do it</a:t>
            </a:r>
          </a:p>
          <a:p>
            <a:pPr marL="342900" indent="-342900">
              <a:buChar char="•"/>
            </a:pPr>
            <a:r>
              <a:rPr lang="en-GB" dirty="0">
                <a:ea typeface="Tahoma"/>
                <a:cs typeface="Gill Sans Light"/>
              </a:rPr>
              <a:t>to be able to re-use that code later and create variations</a:t>
            </a:r>
          </a:p>
          <a:p>
            <a:pPr marL="342900" indent="-342900">
              <a:buChar char="•"/>
            </a:pPr>
            <a:r>
              <a:rPr lang="en-GB" dirty="0">
                <a:ea typeface="Tahoma"/>
                <a:cs typeface="Gill Sans Light"/>
              </a:rPr>
              <a:t>for easy execution</a:t>
            </a:r>
          </a:p>
          <a:p>
            <a:pPr marL="342900" indent="-342900">
              <a:buChar char="•"/>
            </a:pPr>
            <a:endParaRPr lang="en-GB" dirty="0"/>
          </a:p>
          <a:p>
            <a:pPr marL="342900" indent="-342900">
              <a:buChar char="•"/>
            </a:pPr>
            <a:r>
              <a:rPr lang="en-GB" dirty="0">
                <a:ea typeface="Tahoma"/>
                <a:cs typeface="Gill Sans Light"/>
              </a:rPr>
              <a:t>In </a:t>
            </a:r>
            <a:r>
              <a:rPr lang="en-GB" dirty="0" err="1">
                <a:ea typeface="Tahoma"/>
                <a:cs typeface="Gill Sans Light"/>
              </a:rPr>
              <a:t>Rstudio</a:t>
            </a:r>
            <a:r>
              <a:rPr lang="en-GB" dirty="0">
                <a:ea typeface="Tahoma"/>
                <a:cs typeface="Gill Sans Light"/>
              </a:rPr>
              <a:t> : </a:t>
            </a:r>
            <a:r>
              <a:rPr lang="en-GB" b="1" dirty="0">
                <a:ea typeface="Tahoma"/>
                <a:cs typeface="Gill Sans Light"/>
              </a:rPr>
              <a:t>File &gt; New File &gt; </a:t>
            </a:r>
            <a:r>
              <a:rPr lang="en-GB" b="1" dirty="0" err="1">
                <a:ea typeface="Tahoma"/>
                <a:cs typeface="Gill Sans Light"/>
              </a:rPr>
              <a:t>Rscript</a:t>
            </a:r>
            <a:r>
              <a:rPr lang="en-GB" dirty="0">
                <a:ea typeface="Tahoma"/>
                <a:cs typeface="Gill Sans Light"/>
              </a:rPr>
              <a:t> or </a:t>
            </a:r>
            <a:r>
              <a:rPr lang="en-GB" b="1" dirty="0" err="1">
                <a:ea typeface="Tahoma"/>
                <a:cs typeface="Gill Sans Light"/>
              </a:rPr>
              <a:t>Ctrl+Shift+N</a:t>
            </a:r>
            <a:endParaRPr lang="en-GB" b="1" dirty="0">
              <a:ea typeface="Tahoma"/>
              <a:cs typeface="Gill Sans Light"/>
            </a:endParaRPr>
          </a:p>
          <a:p>
            <a:pPr marL="342900" indent="-342900">
              <a:buChar char="•"/>
            </a:pPr>
            <a:r>
              <a:rPr lang="en-GB" b="1" dirty="0">
                <a:ea typeface="Tahoma"/>
                <a:cs typeface="Gill Sans Light"/>
              </a:rPr>
              <a:t>Save often!</a:t>
            </a:r>
            <a:r>
              <a:rPr lang="en-GB" dirty="0">
                <a:ea typeface="Tahoma"/>
                <a:cs typeface="Gill Sans Light"/>
              </a:rPr>
              <a:t> (File &gt; Save or </a:t>
            </a:r>
            <a:r>
              <a:rPr lang="en-GB" dirty="0" err="1">
                <a:ea typeface="Tahoma"/>
                <a:cs typeface="Gill Sans Light"/>
              </a:rPr>
              <a:t>Ctrl+S</a:t>
            </a:r>
            <a:r>
              <a:rPr lang="en-GB" dirty="0">
                <a:ea typeface="Tahoma"/>
                <a:cs typeface="Gill Sans Light"/>
              </a:rPr>
              <a:t>)</a:t>
            </a:r>
            <a:endParaRPr lang="en-GB" dirty="0"/>
          </a:p>
        </p:txBody>
      </p:sp>
    </p:spTree>
    <p:extLst>
      <p:ext uri="{BB962C8B-B14F-4D97-AF65-F5344CB8AC3E}">
        <p14:creationId xmlns:p14="http://schemas.microsoft.com/office/powerpoint/2010/main" val="848923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Console or script: what is the difference?</a:t>
            </a:r>
          </a:p>
        </p:txBody>
      </p:sp>
      <p:sp>
        <p:nvSpPr>
          <p:cNvPr id="101" name="Card 101"/>
          <p:cNvSpPr/>
          <p:nvPr/>
        </p:nvSpPr>
        <p:spPr>
          <a:xfrm>
            <a:off x="841248" y="1188720"/>
            <a:ext cx="3337560" cy="3246120"/>
          </a:xfrm>
          <a:prstGeom prst="roundRect">
            <a:avLst>
              <a:gd name="adj" fmla="val 6000"/>
            </a:avLst>
          </a:prstGeom>
          <a:solidFill>
            <a:srgbClr val="F2F2F2"/>
          </a:solidFill>
          <a:ln>
            <a:noFill/>
          </a:ln>
        </p:spPr>
        <p:txBody>
          <a:bodyPr/>
          <a:lstStyle/>
          <a:p>
            <a:endParaRPr lang="en-CH"/>
          </a:p>
        </p:txBody>
      </p:sp>
      <p:sp>
        <p:nvSpPr>
          <p:cNvPr id="102" name="Text 102"/>
          <p:cNvSpPr txBox="1"/>
          <p:nvPr/>
        </p:nvSpPr>
        <p:spPr>
          <a:xfrm>
            <a:off x="1024128" y="1298448"/>
            <a:ext cx="2971800" cy="685800"/>
          </a:xfrm>
          <a:prstGeom prst="rect">
            <a:avLst/>
          </a:prstGeom>
          <a:noFill/>
          <a:ln>
            <a:noFill/>
          </a:ln>
        </p:spPr>
        <p:txBody>
          <a:bodyPr wrap="square" lIns="0" tIns="0" rIns="0" bIns="0" rtlCol="0" anchor="t">
            <a:noAutofit/>
          </a:bodyPr>
          <a:lstStyle/>
          <a:p>
            <a:pPr marL="0" indent="0" algn="l">
              <a:spcAft>
                <a:spcPts val="0"/>
              </a:spcAft>
              <a:buNone/>
            </a:pPr>
            <a:r>
              <a:rPr lang="en-GB" sz="1900" b="1" dirty="0">
                <a:solidFill>
                  <a:srgbClr val="333333"/>
                </a:solidFill>
              </a:rPr>
              <a:t>R console</a:t>
            </a:r>
            <a:endParaRPr lang="en-GB" sz="1400" dirty="0"/>
          </a:p>
          <a:p>
            <a:pPr marL="0" indent="0" algn="l">
              <a:spcAft>
                <a:spcPts val="0"/>
              </a:spcAft>
              <a:buNone/>
            </a:pPr>
            <a:r>
              <a:rPr lang="en-GB" sz="1200" i="1" dirty="0">
                <a:solidFill>
                  <a:srgbClr val="6B6B6B"/>
                </a:solidFill>
              </a:rPr>
              <a:t>in a terminal or RGui</a:t>
            </a:r>
            <a:endParaRPr lang="en-GB" sz="1400" dirty="0"/>
          </a:p>
        </p:txBody>
      </p:sp>
      <p:sp>
        <p:nvSpPr>
          <p:cNvPr id="103" name="Text 103"/>
          <p:cNvSpPr txBox="1"/>
          <p:nvPr/>
        </p:nvSpPr>
        <p:spPr>
          <a:xfrm>
            <a:off x="1024128" y="2057400"/>
            <a:ext cx="2971800" cy="2331720"/>
          </a:xfrm>
          <a:prstGeom prst="rect">
            <a:avLst/>
          </a:prstGeom>
          <a:noFill/>
          <a:ln>
            <a:noFill/>
          </a:ln>
        </p:spPr>
        <p:txBody>
          <a:bodyPr wrap="square" lIns="0" tIns="0" rIns="0" bIns="0" rtlCol="0" anchor="t">
            <a:noAutofit/>
          </a:bodyPr>
          <a:lstStyle/>
          <a:p>
            <a:pPr marL="0" indent="0" algn="l">
              <a:spcAft>
                <a:spcPts val="700"/>
              </a:spcAft>
              <a:buNone/>
            </a:pPr>
            <a:r>
              <a:rPr lang="en-GB" sz="1400" b="1" dirty="0"/>
              <a:t>How: </a:t>
            </a:r>
            <a:r>
              <a:rPr lang="en-GB" sz="1400" dirty="0"/>
              <a:t>Type a command, press Enter: it runs immediately. Tab completion works; plots and help open in separate windows.</a:t>
            </a:r>
          </a:p>
          <a:p>
            <a:pPr marL="0" indent="0" algn="l">
              <a:spcAft>
                <a:spcPts val="700"/>
              </a:spcAft>
              <a:buNone/>
            </a:pPr>
            <a:r>
              <a:rPr lang="en-GB" sz="1400" b="1" dirty="0"/>
              <a:t>Code saved? </a:t>
            </a:r>
            <a:r>
              <a:rPr lang="en-GB" sz="1400" dirty="0"/>
              <a:t>No, only a command history.</a:t>
            </a:r>
          </a:p>
          <a:p>
            <a:pPr marL="0" indent="0" algn="l">
              <a:spcAft>
                <a:spcPts val="0"/>
              </a:spcAft>
              <a:buNone/>
            </a:pPr>
            <a:r>
              <a:rPr lang="en-GB" sz="1400" b="1" dirty="0"/>
              <a:t>Best for: </a:t>
            </a:r>
            <a:r>
              <a:rPr lang="en-GB" sz="1400" dirty="0"/>
              <a:t>Quick checks; working on a remote server (HPC).</a:t>
            </a:r>
          </a:p>
        </p:txBody>
      </p:sp>
      <p:sp>
        <p:nvSpPr>
          <p:cNvPr id="104" name="Card 104"/>
          <p:cNvSpPr/>
          <p:nvPr/>
        </p:nvSpPr>
        <p:spPr>
          <a:xfrm>
            <a:off x="4430268" y="1188720"/>
            <a:ext cx="3337560" cy="3246120"/>
          </a:xfrm>
          <a:prstGeom prst="roundRect">
            <a:avLst>
              <a:gd name="adj" fmla="val 6000"/>
            </a:avLst>
          </a:prstGeom>
          <a:solidFill>
            <a:srgbClr val="F2F2F2"/>
          </a:solidFill>
          <a:ln>
            <a:noFill/>
          </a:ln>
        </p:spPr>
        <p:txBody>
          <a:bodyPr/>
          <a:lstStyle/>
          <a:p>
            <a:endParaRPr lang="en-CH"/>
          </a:p>
        </p:txBody>
      </p:sp>
      <p:sp>
        <p:nvSpPr>
          <p:cNvPr id="105" name="Text 105"/>
          <p:cNvSpPr txBox="1"/>
          <p:nvPr/>
        </p:nvSpPr>
        <p:spPr>
          <a:xfrm>
            <a:off x="4613148" y="1298448"/>
            <a:ext cx="2971800" cy="685800"/>
          </a:xfrm>
          <a:prstGeom prst="rect">
            <a:avLst/>
          </a:prstGeom>
          <a:noFill/>
          <a:ln>
            <a:noFill/>
          </a:ln>
        </p:spPr>
        <p:txBody>
          <a:bodyPr wrap="square" lIns="0" tIns="0" rIns="0" bIns="0" rtlCol="0" anchor="t">
            <a:noAutofit/>
          </a:bodyPr>
          <a:lstStyle/>
          <a:p>
            <a:pPr marL="0" indent="0" algn="l">
              <a:spcAft>
                <a:spcPts val="0"/>
              </a:spcAft>
              <a:buNone/>
            </a:pPr>
            <a:r>
              <a:rPr lang="en-GB" sz="1900" b="1" dirty="0">
                <a:solidFill>
                  <a:srgbClr val="333333"/>
                </a:solidFill>
              </a:rPr>
              <a:t>Console in RStudio</a:t>
            </a:r>
            <a:endParaRPr lang="en-GB" sz="1400" dirty="0"/>
          </a:p>
          <a:p>
            <a:pPr marL="0" indent="0" algn="l">
              <a:spcAft>
                <a:spcPts val="0"/>
              </a:spcAft>
              <a:buNone/>
            </a:pPr>
            <a:r>
              <a:rPr lang="en-GB" sz="1200" i="1" dirty="0">
                <a:solidFill>
                  <a:srgbClr val="6B6B6B"/>
                </a:solidFill>
              </a:rPr>
              <a:t>bottom-left pane</a:t>
            </a:r>
            <a:endParaRPr lang="en-GB" sz="1400" dirty="0"/>
          </a:p>
        </p:txBody>
      </p:sp>
      <p:sp>
        <p:nvSpPr>
          <p:cNvPr id="106" name="Text 106"/>
          <p:cNvSpPr txBox="1"/>
          <p:nvPr/>
        </p:nvSpPr>
        <p:spPr>
          <a:xfrm>
            <a:off x="4613148" y="2057400"/>
            <a:ext cx="2971800" cy="2331720"/>
          </a:xfrm>
          <a:prstGeom prst="rect">
            <a:avLst/>
          </a:prstGeom>
          <a:noFill/>
          <a:ln>
            <a:noFill/>
          </a:ln>
        </p:spPr>
        <p:txBody>
          <a:bodyPr wrap="square" lIns="0" tIns="0" rIns="0" bIns="0" rtlCol="0" anchor="t">
            <a:noAutofit/>
          </a:bodyPr>
          <a:lstStyle/>
          <a:p>
            <a:pPr marL="0" indent="0" algn="l">
              <a:spcAft>
                <a:spcPts val="700"/>
              </a:spcAft>
              <a:buNone/>
            </a:pPr>
            <a:r>
              <a:rPr lang="en-GB" sz="1400" b="1" dirty="0"/>
              <a:t>How: </a:t>
            </a:r>
            <a:r>
              <a:rPr lang="en-GB" sz="1400" dirty="0"/>
              <a:t>Same R, same behaviour, but everything in one window: richer autocompletion, plus Environment, Plots and Help panes.</a:t>
            </a:r>
          </a:p>
          <a:p>
            <a:pPr marL="0" indent="0" algn="l">
              <a:spcAft>
                <a:spcPts val="700"/>
              </a:spcAft>
              <a:buNone/>
            </a:pPr>
            <a:r>
              <a:rPr lang="en-GB" sz="1400" b="1" dirty="0"/>
              <a:t>Code saved? </a:t>
            </a:r>
            <a:r>
              <a:rPr lang="en-GB" sz="1400" dirty="0"/>
              <a:t>No, only the History pane.</a:t>
            </a:r>
          </a:p>
          <a:p>
            <a:pPr marL="0" indent="0" algn="l">
              <a:spcAft>
                <a:spcPts val="0"/>
              </a:spcAft>
              <a:buNone/>
            </a:pPr>
            <a:r>
              <a:rPr lang="en-GB" sz="1400" b="1" dirty="0"/>
              <a:t>Best for: </a:t>
            </a:r>
            <a:r>
              <a:rPr lang="en-GB" sz="1400" dirty="0"/>
              <a:t>Trying things out; inspecting objects.</a:t>
            </a:r>
          </a:p>
        </p:txBody>
      </p:sp>
      <p:sp>
        <p:nvSpPr>
          <p:cNvPr id="107" name="Card 107"/>
          <p:cNvSpPr/>
          <p:nvPr/>
        </p:nvSpPr>
        <p:spPr>
          <a:xfrm>
            <a:off x="8019288" y="1188720"/>
            <a:ext cx="3337560" cy="3246120"/>
          </a:xfrm>
          <a:prstGeom prst="roundRect">
            <a:avLst>
              <a:gd name="adj" fmla="val 6000"/>
            </a:avLst>
          </a:prstGeom>
          <a:solidFill>
            <a:srgbClr val="FDECED"/>
          </a:solidFill>
          <a:ln w="25400">
            <a:solidFill>
              <a:srgbClr val="E20613"/>
            </a:solidFill>
          </a:ln>
        </p:spPr>
        <p:txBody>
          <a:bodyPr/>
          <a:lstStyle/>
          <a:p>
            <a:endParaRPr lang="en-CH"/>
          </a:p>
        </p:txBody>
      </p:sp>
      <p:sp>
        <p:nvSpPr>
          <p:cNvPr id="108" name="Text 108"/>
          <p:cNvSpPr txBox="1"/>
          <p:nvPr/>
        </p:nvSpPr>
        <p:spPr>
          <a:xfrm>
            <a:off x="8202168" y="1298448"/>
            <a:ext cx="2971800" cy="685800"/>
          </a:xfrm>
          <a:prstGeom prst="rect">
            <a:avLst/>
          </a:prstGeom>
          <a:noFill/>
          <a:ln>
            <a:noFill/>
          </a:ln>
        </p:spPr>
        <p:txBody>
          <a:bodyPr wrap="square" lIns="0" tIns="0" rIns="0" bIns="0" rtlCol="0" anchor="t">
            <a:noAutofit/>
          </a:bodyPr>
          <a:lstStyle/>
          <a:p>
            <a:pPr marL="0" indent="0" algn="l">
              <a:spcAft>
                <a:spcPts val="0"/>
              </a:spcAft>
              <a:buNone/>
            </a:pPr>
            <a:r>
              <a:rPr lang="en-GB" sz="1900" b="1" dirty="0">
                <a:solidFill>
                  <a:srgbClr val="E20613"/>
                </a:solidFill>
              </a:rPr>
              <a:t>Script + console</a:t>
            </a:r>
            <a:endParaRPr lang="en-GB" sz="1400" dirty="0"/>
          </a:p>
          <a:p>
            <a:pPr marL="0" indent="0" algn="l">
              <a:spcAft>
                <a:spcPts val="0"/>
              </a:spcAft>
              <a:buNone/>
            </a:pPr>
            <a:r>
              <a:rPr lang="en-GB" sz="1200" i="1" dirty="0">
                <a:solidFill>
                  <a:srgbClr val="6B6B6B"/>
                </a:solidFill>
              </a:rPr>
              <a:t>editor pane, .R file</a:t>
            </a:r>
            <a:endParaRPr lang="en-GB" sz="1400" dirty="0"/>
          </a:p>
        </p:txBody>
      </p:sp>
      <p:sp>
        <p:nvSpPr>
          <p:cNvPr id="109" name="Text 109"/>
          <p:cNvSpPr txBox="1"/>
          <p:nvPr/>
        </p:nvSpPr>
        <p:spPr>
          <a:xfrm>
            <a:off x="8202168" y="2057400"/>
            <a:ext cx="2971800" cy="2331720"/>
          </a:xfrm>
          <a:prstGeom prst="rect">
            <a:avLst/>
          </a:prstGeom>
          <a:noFill/>
          <a:ln>
            <a:noFill/>
          </a:ln>
        </p:spPr>
        <p:txBody>
          <a:bodyPr wrap="square" lIns="0" tIns="0" rIns="0" bIns="0" rtlCol="0" anchor="t">
            <a:noAutofit/>
          </a:bodyPr>
          <a:lstStyle/>
          <a:p>
            <a:pPr marL="0" indent="0" algn="l">
              <a:spcAft>
                <a:spcPts val="700"/>
              </a:spcAft>
              <a:buNone/>
            </a:pPr>
            <a:r>
              <a:rPr lang="en-GB" sz="1400" b="1" dirty="0"/>
              <a:t>How: </a:t>
            </a:r>
            <a:r>
              <a:rPr lang="en-GB" sz="1400" dirty="0"/>
              <a:t>Write code in a text file, then send it to the console with Ctrl+Enter or Run.</a:t>
            </a:r>
          </a:p>
          <a:p>
            <a:pPr marL="0" indent="0" algn="l">
              <a:spcAft>
                <a:spcPts val="700"/>
              </a:spcAft>
              <a:buNone/>
            </a:pPr>
            <a:r>
              <a:rPr lang="en-GB" sz="1400" b="1" dirty="0"/>
              <a:t>Code saved? </a:t>
            </a:r>
            <a:r>
              <a:rPr lang="en-GB" sz="1400" dirty="0"/>
              <a:t>Yes: the file is your record.</a:t>
            </a:r>
          </a:p>
          <a:p>
            <a:pPr marL="0" indent="0" algn="l">
              <a:spcAft>
                <a:spcPts val="0"/>
              </a:spcAft>
              <a:buNone/>
            </a:pPr>
            <a:r>
              <a:rPr lang="en-GB" sz="1400" b="1" dirty="0"/>
              <a:t>Best for: </a:t>
            </a:r>
            <a:r>
              <a:rPr lang="en-GB" sz="1400" dirty="0"/>
              <a:t>Your real analysis: reproducible, commented, shareable.</a:t>
            </a:r>
          </a:p>
        </p:txBody>
      </p:sp>
      <p:sp>
        <p:nvSpPr>
          <p:cNvPr id="110" name="Flow 110"/>
          <p:cNvSpPr/>
          <p:nvPr/>
        </p:nvSpPr>
        <p:spPr>
          <a:xfrm>
            <a:off x="841248" y="4846320"/>
            <a:ext cx="3108960" cy="640080"/>
          </a:xfrm>
          <a:prstGeom prst="roundRect">
            <a:avLst/>
          </a:prstGeom>
          <a:solidFill>
            <a:srgbClr val="E20613"/>
          </a:solidFill>
          <a:ln>
            <a:noFill/>
          </a:ln>
        </p:spPr>
        <p:txBody>
          <a:bodyPr wrap="square" lIns="36576" tIns="36576" rIns="36576" bIns="36576" rtlCol="0" anchor="ctr">
            <a:noAutofit/>
          </a:bodyPr>
          <a:lstStyle/>
          <a:p>
            <a:pPr marL="0" indent="0" algn="ctr">
              <a:spcAft>
                <a:spcPts val="0"/>
              </a:spcAft>
              <a:buNone/>
            </a:pPr>
            <a:r>
              <a:rPr lang="en-GB" sz="1400" b="1" dirty="0">
                <a:solidFill>
                  <a:srgbClr val="FFFFFF"/>
                </a:solidFill>
              </a:rPr>
              <a:t>Script (.R file)</a:t>
            </a:r>
            <a:endParaRPr lang="en-GB" sz="1400" dirty="0"/>
          </a:p>
          <a:p>
            <a:pPr marL="0" indent="0" algn="ctr">
              <a:spcAft>
                <a:spcPts val="0"/>
              </a:spcAft>
              <a:buNone/>
            </a:pPr>
            <a:r>
              <a:rPr lang="en-GB" sz="1150" dirty="0">
                <a:solidFill>
                  <a:srgbClr val="FFFFFF"/>
                </a:solidFill>
              </a:rPr>
              <a:t>where code is kept</a:t>
            </a:r>
            <a:endParaRPr lang="en-GB" sz="1400" dirty="0"/>
          </a:p>
        </p:txBody>
      </p:sp>
      <p:cxnSp>
        <p:nvCxnSpPr>
          <p:cNvPr id="111" name="Arrow 111"/>
          <p:cNvCxnSpPr/>
          <p:nvPr/>
        </p:nvCxnSpPr>
        <p:spPr>
          <a:xfrm>
            <a:off x="3995928" y="5166360"/>
            <a:ext cx="1371600" cy="0"/>
          </a:xfrm>
          <a:prstGeom prst="line">
            <a:avLst/>
          </a:prstGeom>
          <a:ln w="25400">
            <a:solidFill>
              <a:srgbClr val="333333"/>
            </a:solidFill>
            <a:tailEnd type="triangle" w="med" len="med"/>
          </a:ln>
        </p:spPr>
      </p:cxnSp>
      <p:sp>
        <p:nvSpPr>
          <p:cNvPr id="112" name="Text 112"/>
          <p:cNvSpPr txBox="1"/>
          <p:nvPr/>
        </p:nvSpPr>
        <p:spPr>
          <a:xfrm>
            <a:off x="3995928" y="4800600"/>
            <a:ext cx="1371600" cy="320040"/>
          </a:xfrm>
          <a:prstGeom prst="rect">
            <a:avLst/>
          </a:prstGeom>
          <a:noFill/>
          <a:ln>
            <a:noFill/>
          </a:ln>
        </p:spPr>
        <p:txBody>
          <a:bodyPr wrap="square" lIns="0" tIns="0" rIns="0" bIns="0" rtlCol="0" anchor="t">
            <a:noAutofit/>
          </a:bodyPr>
          <a:lstStyle/>
          <a:p>
            <a:pPr marL="0" indent="0" algn="ctr">
              <a:spcAft>
                <a:spcPts val="0"/>
              </a:spcAft>
              <a:buNone/>
            </a:pPr>
            <a:r>
              <a:rPr lang="en-GB" sz="1200" b="1" dirty="0">
                <a:solidFill>
                  <a:srgbClr val="333333"/>
                </a:solidFill>
                <a:latin typeface="Courier New"/>
                <a:cs typeface="Courier New"/>
              </a:rPr>
              <a:t>Ctrl+Enter</a:t>
            </a:r>
            <a:endParaRPr lang="en-GB" sz="1400" dirty="0"/>
          </a:p>
        </p:txBody>
      </p:sp>
      <p:sp>
        <p:nvSpPr>
          <p:cNvPr id="113" name="Flow 113"/>
          <p:cNvSpPr/>
          <p:nvPr/>
        </p:nvSpPr>
        <p:spPr>
          <a:xfrm>
            <a:off x="5413248" y="4846320"/>
            <a:ext cx="2743200" cy="640080"/>
          </a:xfrm>
          <a:prstGeom prst="roundRect">
            <a:avLst/>
          </a:prstGeom>
          <a:solidFill>
            <a:srgbClr val="333333"/>
          </a:solidFill>
          <a:ln>
            <a:noFill/>
          </a:ln>
        </p:spPr>
        <p:txBody>
          <a:bodyPr wrap="square" lIns="36576" tIns="36576" rIns="36576" bIns="36576" rtlCol="0" anchor="ctr">
            <a:noAutofit/>
          </a:bodyPr>
          <a:lstStyle/>
          <a:p>
            <a:pPr marL="0" indent="0" algn="ctr">
              <a:spcAft>
                <a:spcPts val="0"/>
              </a:spcAft>
              <a:buNone/>
            </a:pPr>
            <a:r>
              <a:rPr lang="en-GB" sz="1400" b="1" dirty="0">
                <a:solidFill>
                  <a:srgbClr val="FFFFFF"/>
                </a:solidFill>
              </a:rPr>
              <a:t>Console</a:t>
            </a:r>
            <a:endParaRPr lang="en-GB" sz="1400" dirty="0"/>
          </a:p>
          <a:p>
            <a:pPr marL="0" indent="0" algn="ctr">
              <a:spcAft>
                <a:spcPts val="0"/>
              </a:spcAft>
              <a:buNone/>
            </a:pPr>
            <a:r>
              <a:rPr lang="en-GB" sz="1150" dirty="0">
                <a:solidFill>
                  <a:srgbClr val="FFFFFF"/>
                </a:solidFill>
              </a:rPr>
              <a:t>where code runs</a:t>
            </a:r>
            <a:endParaRPr lang="en-GB" sz="1400" dirty="0"/>
          </a:p>
        </p:txBody>
      </p:sp>
      <p:cxnSp>
        <p:nvCxnSpPr>
          <p:cNvPr id="114" name="Arrow 114"/>
          <p:cNvCxnSpPr/>
          <p:nvPr/>
        </p:nvCxnSpPr>
        <p:spPr>
          <a:xfrm>
            <a:off x="8202168" y="5166360"/>
            <a:ext cx="411480" cy="0"/>
          </a:xfrm>
          <a:prstGeom prst="line">
            <a:avLst/>
          </a:prstGeom>
          <a:ln w="25400">
            <a:solidFill>
              <a:srgbClr val="333333"/>
            </a:solidFill>
            <a:tailEnd type="triangle" w="med" len="med"/>
          </a:ln>
        </p:spPr>
      </p:cxnSp>
      <p:sp>
        <p:nvSpPr>
          <p:cNvPr id="115" name="Flow 115"/>
          <p:cNvSpPr/>
          <p:nvPr/>
        </p:nvSpPr>
        <p:spPr>
          <a:xfrm>
            <a:off x="8659368" y="4846320"/>
            <a:ext cx="2697480" cy="640080"/>
          </a:xfrm>
          <a:prstGeom prst="roundRect">
            <a:avLst/>
          </a:prstGeom>
          <a:solidFill>
            <a:srgbClr val="F2F2F2"/>
          </a:solidFill>
          <a:ln w="12700">
            <a:solidFill>
              <a:srgbClr val="BFBFBF"/>
            </a:solidFill>
          </a:ln>
        </p:spPr>
        <p:txBody>
          <a:bodyPr wrap="square" lIns="36576" tIns="36576" rIns="36576" bIns="36576" rtlCol="0" anchor="ctr">
            <a:noAutofit/>
          </a:bodyPr>
          <a:lstStyle/>
          <a:p>
            <a:pPr marL="0" indent="0" algn="ctr">
              <a:spcAft>
                <a:spcPts val="0"/>
              </a:spcAft>
              <a:buNone/>
            </a:pPr>
            <a:r>
              <a:rPr lang="en-GB" sz="1400" b="1" dirty="0">
                <a:solidFill>
                  <a:srgbClr val="333333"/>
                </a:solidFill>
              </a:rPr>
              <a:t>Results</a:t>
            </a:r>
            <a:endParaRPr lang="en-GB" sz="1400" dirty="0"/>
          </a:p>
          <a:p>
            <a:pPr marL="0" indent="0" algn="ctr">
              <a:spcAft>
                <a:spcPts val="0"/>
              </a:spcAft>
              <a:buNone/>
            </a:pPr>
            <a:r>
              <a:rPr lang="en-GB" sz="1150" dirty="0">
                <a:solidFill>
                  <a:srgbClr val="333333"/>
                </a:solidFill>
              </a:rPr>
              <a:t>output, objects, plots</a:t>
            </a:r>
            <a:endParaRPr lang="en-GB" sz="1400" dirty="0"/>
          </a:p>
        </p:txBody>
      </p:sp>
      <p:sp>
        <p:nvSpPr>
          <p:cNvPr id="116" name="Text 116"/>
          <p:cNvSpPr txBox="1"/>
          <p:nvPr/>
        </p:nvSpPr>
        <p:spPr>
          <a:xfrm>
            <a:off x="841248" y="5669280"/>
            <a:ext cx="10515600" cy="411480"/>
          </a:xfrm>
          <a:prstGeom prst="rect">
            <a:avLst/>
          </a:prstGeom>
          <a:noFill/>
          <a:ln>
            <a:noFill/>
          </a:ln>
        </p:spPr>
        <p:txBody>
          <a:bodyPr wrap="square" lIns="0" tIns="0" rIns="0" bIns="0" rtlCol="0" anchor="t">
            <a:noAutofit/>
          </a:bodyPr>
          <a:lstStyle/>
          <a:p>
            <a:pPr marL="0" indent="0" algn="ctr">
              <a:spcAft>
                <a:spcPts val="0"/>
              </a:spcAft>
              <a:buNone/>
            </a:pPr>
            <a:r>
              <a:rPr lang="en-GB" sz="1400" i="1" dirty="0">
                <a:solidFill>
                  <a:srgbClr val="6B6B6B"/>
                </a:solidFill>
              </a:rPr>
              <a:t>There is only one R: the console is where code runs, the script is where your work is kept.</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B4B02-A26E-BDFF-5A9C-0CF48E5A75B3}"/>
              </a:ext>
            </a:extLst>
          </p:cNvPr>
          <p:cNvSpPr>
            <a:spLocks noGrp="1"/>
          </p:cNvSpPr>
          <p:nvPr>
            <p:ph type="title"/>
          </p:nvPr>
        </p:nvSpPr>
        <p:spPr/>
        <p:txBody>
          <a:bodyPr/>
          <a:lstStyle/>
          <a:p>
            <a:r>
              <a:rPr lang="en-GB" dirty="0">
                <a:ea typeface="Verdana"/>
                <a:cs typeface="Gill Sans"/>
              </a:rPr>
              <a:t>Sending code from the editor to the console</a:t>
            </a:r>
            <a:endParaRPr lang="en-US" dirty="0"/>
          </a:p>
        </p:txBody>
      </p:sp>
      <p:sp>
        <p:nvSpPr>
          <p:cNvPr id="3" name="Text Placeholder 2">
            <a:extLst>
              <a:ext uri="{FF2B5EF4-FFF2-40B4-BE49-F238E27FC236}">
                <a16:creationId xmlns:a16="http://schemas.microsoft.com/office/drawing/2014/main" id="{757B6DAC-8A05-86E6-EFB0-C5146B4ABC76}"/>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err="1">
                <a:ea typeface="Tahoma"/>
                <a:cs typeface="Gill Sans Light"/>
              </a:rPr>
              <a:t>Ctrl+Enter</a:t>
            </a:r>
            <a:r>
              <a:rPr lang="en-GB" dirty="0">
                <a:ea typeface="Tahoma"/>
                <a:cs typeface="Gill Sans Light"/>
              </a:rPr>
              <a:t> (Windows and Linux)</a:t>
            </a:r>
            <a:endParaRPr lang="en-US" dirty="0"/>
          </a:p>
          <a:p>
            <a:pPr marL="342900" indent="-342900">
              <a:buChar char="•"/>
            </a:pPr>
            <a:r>
              <a:rPr lang="en-GB" dirty="0" err="1">
                <a:ea typeface="Tahoma"/>
                <a:cs typeface="Gill Sans Light"/>
              </a:rPr>
              <a:t>Cmd+return</a:t>
            </a:r>
            <a:r>
              <a:rPr lang="en-GB" dirty="0">
                <a:ea typeface="Tahoma"/>
                <a:cs typeface="Gill Sans Light"/>
              </a:rPr>
              <a:t> (Mac)</a:t>
            </a:r>
          </a:p>
          <a:p>
            <a:pPr marL="342900" indent="-342900">
              <a:buChar char="•"/>
            </a:pPr>
            <a:r>
              <a:rPr lang="en-GB" dirty="0">
                <a:ea typeface="Tahoma"/>
                <a:cs typeface="Gill Sans Light"/>
              </a:rPr>
              <a:t>click the "Run" button </a:t>
            </a:r>
          </a:p>
          <a:p>
            <a:pPr marL="342900" indent="-342900">
              <a:buChar char="•"/>
            </a:pPr>
            <a:endParaRPr lang="en-GB" dirty="0"/>
          </a:p>
          <a:p>
            <a:r>
              <a:rPr lang="en-GB" dirty="0">
                <a:ea typeface="Tahoma"/>
                <a:cs typeface="Gill Sans Light"/>
              </a:rPr>
              <a:t>By default, the current line is executed,</a:t>
            </a:r>
          </a:p>
          <a:p>
            <a:r>
              <a:rPr lang="en-GB" dirty="0">
                <a:ea typeface="Tahoma"/>
                <a:cs typeface="Gill Sans Light"/>
              </a:rPr>
              <a:t>if something is selected, then this is executed (e.g., part of a line, or multiple lines)</a:t>
            </a:r>
            <a:endParaRPr lang="en-GB" dirty="0"/>
          </a:p>
        </p:txBody>
      </p:sp>
    </p:spTree>
    <p:extLst>
      <p:ext uri="{BB962C8B-B14F-4D97-AF65-F5344CB8AC3E}">
        <p14:creationId xmlns:p14="http://schemas.microsoft.com/office/powerpoint/2010/main" val="3550585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6D7D7-1E3B-2D23-B105-1B70AFF16038}"/>
              </a:ext>
            </a:extLst>
          </p:cNvPr>
          <p:cNvSpPr>
            <a:spLocks noGrp="1"/>
          </p:cNvSpPr>
          <p:nvPr>
            <p:ph type="title"/>
          </p:nvPr>
        </p:nvSpPr>
        <p:spPr/>
        <p:txBody>
          <a:bodyPr/>
          <a:lstStyle/>
          <a:p>
            <a:r>
              <a:rPr lang="en-GB" dirty="0">
                <a:ea typeface="Verdana"/>
                <a:cs typeface="Gill Sans"/>
              </a:rPr>
              <a:t>Most of your code should be in scripts</a:t>
            </a:r>
            <a:br>
              <a:rPr lang="en-GB" dirty="0">
                <a:ea typeface="Verdana"/>
                <a:cs typeface="Gill Sans"/>
              </a:rPr>
            </a:br>
            <a:br>
              <a:rPr lang="en-GB" dirty="0">
                <a:ea typeface="Verdana"/>
                <a:cs typeface="Gill Sans"/>
              </a:rPr>
            </a:br>
            <a:r>
              <a:rPr lang="en-GB" dirty="0">
                <a:ea typeface="Verdana"/>
                <a:cs typeface="Gill Sans"/>
              </a:rPr>
              <a:t>Code in scripts is "just text",</a:t>
            </a:r>
            <a:br>
              <a:rPr lang="en-GB" dirty="0">
                <a:ea typeface="Verdana"/>
                <a:cs typeface="Gill Sans"/>
              </a:rPr>
            </a:br>
            <a:r>
              <a:rPr lang="en-GB" dirty="0">
                <a:ea typeface="Verdana"/>
                <a:cs typeface="Gill Sans"/>
              </a:rPr>
              <a:t>it gets executed when you send it to the console</a:t>
            </a:r>
            <a:br>
              <a:rPr lang="en-GB" dirty="0">
                <a:ea typeface="Verdana"/>
                <a:cs typeface="Gill Sans"/>
              </a:rPr>
            </a:br>
            <a:br>
              <a:rPr lang="en-GB" dirty="0"/>
            </a:br>
            <a:r>
              <a:rPr lang="en-GB" dirty="0">
                <a:ea typeface="Verdana"/>
                <a:cs typeface="Gill Sans"/>
              </a:rPr>
              <a:t>It is possible to run an individual code line, </a:t>
            </a:r>
            <a:br>
              <a:rPr lang="en-GB" dirty="0">
                <a:ea typeface="Verdana"/>
                <a:cs typeface="Gill Sans"/>
              </a:rPr>
            </a:br>
            <a:r>
              <a:rPr lang="en-GB" dirty="0">
                <a:ea typeface="Verdana"/>
                <a:cs typeface="Gill Sans"/>
              </a:rPr>
              <a:t>a block of code</a:t>
            </a:r>
            <a:br>
              <a:rPr lang="en-GB" dirty="0">
                <a:ea typeface="Verdana"/>
                <a:cs typeface="Gill Sans"/>
              </a:rPr>
            </a:br>
            <a:r>
              <a:rPr lang="en-GB" dirty="0">
                <a:ea typeface="Verdana"/>
                <a:cs typeface="Gill Sans"/>
              </a:rPr>
              <a:t>or an entire script at once</a:t>
            </a:r>
            <a:endParaRPr lang="en-GB" dirty="0"/>
          </a:p>
        </p:txBody>
      </p:sp>
    </p:spTree>
    <p:extLst>
      <p:ext uri="{BB962C8B-B14F-4D97-AF65-F5344CB8AC3E}">
        <p14:creationId xmlns:p14="http://schemas.microsoft.com/office/powerpoint/2010/main" val="3456246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79B4C-033C-C634-3AA4-344524164831}"/>
              </a:ext>
            </a:extLst>
          </p:cNvPr>
          <p:cNvSpPr>
            <a:spLocks noGrp="1"/>
          </p:cNvSpPr>
          <p:nvPr>
            <p:ph type="title"/>
          </p:nvPr>
        </p:nvSpPr>
        <p:spPr/>
        <p:txBody>
          <a:bodyPr/>
          <a:lstStyle/>
          <a:p>
            <a:r>
              <a:rPr lang="en-GB" dirty="0">
                <a:ea typeface="Verdana"/>
                <a:cs typeface="Gill Sans"/>
              </a:rPr>
              <a:t>Workspace: R's short-term memory</a:t>
            </a:r>
          </a:p>
        </p:txBody>
      </p:sp>
      <p:sp>
        <p:nvSpPr>
          <p:cNvPr id="101" name="Text 101"/>
          <p:cNvSpPr txBox="1"/>
          <p:nvPr/>
        </p:nvSpPr>
        <p:spPr>
          <a:xfrm>
            <a:off x="841248" y="1097280"/>
            <a:ext cx="5120640" cy="1463040"/>
          </a:xfrm>
          <a:prstGeom prst="rect">
            <a:avLst/>
          </a:prstGeom>
          <a:noFill/>
          <a:ln>
            <a:noFill/>
          </a:ln>
        </p:spPr>
        <p:txBody>
          <a:bodyPr wrap="square" lIns="0" tIns="0" rIns="0" bIns="0" rtlCol="0" anchor="t">
            <a:noAutofit/>
          </a:bodyPr>
          <a:lstStyle/>
          <a:p>
            <a:pPr marL="0" indent="0" algn="l">
              <a:spcAft>
                <a:spcPts val="600"/>
              </a:spcAft>
              <a:buNone/>
            </a:pPr>
            <a:r>
              <a:rPr lang="en-GB" sz="1600" dirty="0"/>
              <a:t>The </a:t>
            </a:r>
            <a:r>
              <a:rPr lang="en-GB" sz="1600" b="1" dirty="0"/>
              <a:t>workspace</a:t>
            </a:r>
            <a:r>
              <a:rPr lang="en-GB" sz="1600" dirty="0"/>
              <a:t> (or global environment) is R's short-term memory: every object you create during the session lives there.</a:t>
            </a:r>
            <a:endParaRPr lang="en-GB" sz="1400" dirty="0"/>
          </a:p>
          <a:p>
            <a:pPr marL="0" indent="0" algn="l">
              <a:spcAft>
                <a:spcPts val="0"/>
              </a:spcAft>
              <a:buNone/>
            </a:pPr>
            <a:r>
              <a:rPr lang="en-GB" sz="1400" i="1" dirty="0">
                <a:solidFill>
                  <a:srgbClr val="6B6B6B"/>
                </a:solidFill>
              </a:rPr>
              <a:t>It disappears when R closes, unless you save it.</a:t>
            </a:r>
            <a:endParaRPr lang="en-GB" sz="1400" dirty="0"/>
          </a:p>
        </p:txBody>
      </p:sp>
      <p:sp>
        <p:nvSpPr>
          <p:cNvPr id="102" name="Cmd 102"/>
          <p:cNvSpPr/>
          <p:nvPr/>
        </p:nvSpPr>
        <p:spPr>
          <a:xfrm>
            <a:off x="841248" y="2743200"/>
            <a:ext cx="5120640" cy="868680"/>
          </a:xfrm>
          <a:prstGeom prst="roundRect">
            <a:avLst>
              <a:gd name="adj" fmla="val 10000"/>
            </a:avLst>
          </a:prstGeom>
          <a:solidFill>
            <a:srgbClr val="F2F2F2"/>
          </a:solidFill>
          <a:ln>
            <a:noFill/>
          </a:ln>
        </p:spPr>
        <p:txBody>
          <a:bodyPr/>
          <a:lstStyle/>
          <a:p>
            <a:endParaRPr lang="fr-FR"/>
          </a:p>
        </p:txBody>
      </p:sp>
      <p:sp>
        <p:nvSpPr>
          <p:cNvPr id="103" name="IconBg 103"/>
          <p:cNvSpPr/>
          <p:nvPr/>
        </p:nvSpPr>
        <p:spPr>
          <a:xfrm>
            <a:off x="1024128" y="2880360"/>
            <a:ext cx="594360" cy="594360"/>
          </a:xfrm>
          <a:prstGeom prst="ellipse">
            <a:avLst/>
          </a:prstGeom>
          <a:solidFill>
            <a:srgbClr val="E20613"/>
          </a:solidFill>
          <a:ln>
            <a:noFill/>
          </a:ln>
        </p:spPr>
        <p:txBody>
          <a:bodyPr/>
          <a:lstStyle/>
          <a:p>
            <a:endParaRPr lang="fr-FR"/>
          </a:p>
        </p:txBody>
      </p:sp>
      <p:pic>
        <p:nvPicPr>
          <p:cNvPr id="104" name="Icon 104" descr="list"/>
          <p:cNvPicPr>
            <a:picLocks noChangeAspect="1"/>
          </p:cNvPicPr>
          <p:nvPr/>
        </p:nvPicPr>
        <p:blipFill>
          <a:blip r:embed="rId2"/>
          <a:stretch>
            <a:fillRect/>
          </a:stretch>
        </p:blipFill>
        <p:spPr>
          <a:xfrm>
            <a:off x="1166774" y="3023006"/>
            <a:ext cx="309067" cy="309067"/>
          </a:xfrm>
          <a:prstGeom prst="rect">
            <a:avLst/>
          </a:prstGeom>
        </p:spPr>
      </p:pic>
      <p:sp>
        <p:nvSpPr>
          <p:cNvPr id="105" name="Text 105"/>
          <p:cNvSpPr txBox="1"/>
          <p:nvPr/>
        </p:nvSpPr>
        <p:spPr>
          <a:xfrm>
            <a:off x="1801368" y="2834640"/>
            <a:ext cx="4023360" cy="685800"/>
          </a:xfrm>
          <a:prstGeom prst="rect">
            <a:avLst/>
          </a:prstGeom>
          <a:noFill/>
          <a:ln>
            <a:noFill/>
          </a:ln>
        </p:spPr>
        <p:txBody>
          <a:bodyPr wrap="square" lIns="0" tIns="0" rIns="0" bIns="0" rtlCol="0" anchor="ctr">
            <a:noAutofit/>
          </a:bodyPr>
          <a:lstStyle/>
          <a:p>
            <a:pPr marL="0" indent="0" algn="l">
              <a:spcAft>
                <a:spcPts val="200"/>
              </a:spcAft>
              <a:buNone/>
            </a:pPr>
            <a:r>
              <a:rPr lang="en-GB" sz="1400" b="1" dirty="0">
                <a:solidFill>
                  <a:srgbClr val="333333"/>
                </a:solidFill>
              </a:rPr>
              <a:t>List what is in memory</a:t>
            </a:r>
            <a:endParaRPr lang="en-GB" sz="1400" dirty="0"/>
          </a:p>
          <a:p>
            <a:pPr marL="0" indent="0" algn="l">
              <a:spcAft>
                <a:spcPts val="0"/>
              </a:spcAft>
              <a:buNone/>
            </a:pPr>
            <a:r>
              <a:rPr lang="en-GB" sz="1600" b="1" dirty="0">
                <a:solidFill>
                  <a:srgbClr val="E20613"/>
                </a:solidFill>
                <a:latin typeface="Courier New"/>
                <a:cs typeface="Courier New"/>
              </a:rPr>
              <a:t>ls()</a:t>
            </a:r>
            <a:endParaRPr lang="en-GB" sz="1400" dirty="0"/>
          </a:p>
        </p:txBody>
      </p:sp>
      <p:sp>
        <p:nvSpPr>
          <p:cNvPr id="106" name="Cmd 106"/>
          <p:cNvSpPr/>
          <p:nvPr/>
        </p:nvSpPr>
        <p:spPr>
          <a:xfrm>
            <a:off x="841248" y="3749040"/>
            <a:ext cx="5120640" cy="868680"/>
          </a:xfrm>
          <a:prstGeom prst="roundRect">
            <a:avLst>
              <a:gd name="adj" fmla="val 10000"/>
            </a:avLst>
          </a:prstGeom>
          <a:solidFill>
            <a:srgbClr val="F2F2F2"/>
          </a:solidFill>
          <a:ln>
            <a:noFill/>
          </a:ln>
        </p:spPr>
        <p:txBody>
          <a:bodyPr/>
          <a:lstStyle/>
          <a:p>
            <a:endParaRPr lang="fr-FR"/>
          </a:p>
        </p:txBody>
      </p:sp>
      <p:sp>
        <p:nvSpPr>
          <p:cNvPr id="107" name="IconBg 107"/>
          <p:cNvSpPr/>
          <p:nvPr/>
        </p:nvSpPr>
        <p:spPr>
          <a:xfrm>
            <a:off x="1024128" y="3886200"/>
            <a:ext cx="594360" cy="594360"/>
          </a:xfrm>
          <a:prstGeom prst="ellipse">
            <a:avLst/>
          </a:prstGeom>
          <a:solidFill>
            <a:srgbClr val="E20613"/>
          </a:solidFill>
          <a:ln>
            <a:noFill/>
          </a:ln>
        </p:spPr>
        <p:txBody>
          <a:bodyPr/>
          <a:lstStyle/>
          <a:p>
            <a:endParaRPr lang="fr-FR"/>
          </a:p>
        </p:txBody>
      </p:sp>
      <p:pic>
        <p:nvPicPr>
          <p:cNvPr id="108" name="Icon 108" descr="trash"/>
          <p:cNvPicPr>
            <a:picLocks noChangeAspect="1"/>
          </p:cNvPicPr>
          <p:nvPr/>
        </p:nvPicPr>
        <p:blipFill>
          <a:blip r:embed="rId3"/>
          <a:stretch>
            <a:fillRect/>
          </a:stretch>
        </p:blipFill>
        <p:spPr>
          <a:xfrm>
            <a:off x="1166774" y="4028846"/>
            <a:ext cx="309067" cy="309067"/>
          </a:xfrm>
          <a:prstGeom prst="rect">
            <a:avLst/>
          </a:prstGeom>
        </p:spPr>
      </p:pic>
      <p:sp>
        <p:nvSpPr>
          <p:cNvPr id="109" name="Text 109"/>
          <p:cNvSpPr txBox="1"/>
          <p:nvPr/>
        </p:nvSpPr>
        <p:spPr>
          <a:xfrm>
            <a:off x="1801368" y="3840480"/>
            <a:ext cx="4023360" cy="685800"/>
          </a:xfrm>
          <a:prstGeom prst="rect">
            <a:avLst/>
          </a:prstGeom>
          <a:noFill/>
          <a:ln>
            <a:noFill/>
          </a:ln>
        </p:spPr>
        <p:txBody>
          <a:bodyPr wrap="square" lIns="0" tIns="0" rIns="0" bIns="0" rtlCol="0" anchor="ctr">
            <a:noAutofit/>
          </a:bodyPr>
          <a:lstStyle/>
          <a:p>
            <a:pPr marL="0" indent="0" algn="l">
              <a:spcAft>
                <a:spcPts val="200"/>
              </a:spcAft>
              <a:buNone/>
            </a:pPr>
            <a:r>
              <a:rPr lang="en-GB" sz="1400" b="1" dirty="0">
                <a:solidFill>
                  <a:srgbClr val="333333"/>
                </a:solidFill>
              </a:rPr>
              <a:t>Remove one object</a:t>
            </a:r>
            <a:endParaRPr lang="en-GB" sz="1400" dirty="0"/>
          </a:p>
          <a:p>
            <a:pPr marL="0" indent="0" algn="l">
              <a:spcAft>
                <a:spcPts val="0"/>
              </a:spcAft>
              <a:buNone/>
            </a:pPr>
            <a:r>
              <a:rPr lang="en-GB" sz="1600" b="1" dirty="0">
                <a:solidFill>
                  <a:srgbClr val="E20613"/>
                </a:solidFill>
                <a:latin typeface="Courier New"/>
                <a:cs typeface="Courier New"/>
              </a:rPr>
              <a:t>rm(x)</a:t>
            </a:r>
            <a:endParaRPr lang="en-GB" sz="1400" dirty="0"/>
          </a:p>
        </p:txBody>
      </p:sp>
      <p:sp>
        <p:nvSpPr>
          <p:cNvPr id="110" name="Cmd 110"/>
          <p:cNvSpPr/>
          <p:nvPr/>
        </p:nvSpPr>
        <p:spPr>
          <a:xfrm>
            <a:off x="841248" y="4754880"/>
            <a:ext cx="5120640" cy="868680"/>
          </a:xfrm>
          <a:prstGeom prst="roundRect">
            <a:avLst>
              <a:gd name="adj" fmla="val 10000"/>
            </a:avLst>
          </a:prstGeom>
          <a:solidFill>
            <a:srgbClr val="F2F2F2"/>
          </a:solidFill>
          <a:ln>
            <a:noFill/>
          </a:ln>
        </p:spPr>
        <p:txBody>
          <a:bodyPr/>
          <a:lstStyle/>
          <a:p>
            <a:endParaRPr lang="fr-FR"/>
          </a:p>
        </p:txBody>
      </p:sp>
      <p:sp>
        <p:nvSpPr>
          <p:cNvPr id="111" name="IconBg 111"/>
          <p:cNvSpPr/>
          <p:nvPr/>
        </p:nvSpPr>
        <p:spPr>
          <a:xfrm>
            <a:off x="1024128" y="4892040"/>
            <a:ext cx="594360" cy="594360"/>
          </a:xfrm>
          <a:prstGeom prst="ellipse">
            <a:avLst/>
          </a:prstGeom>
          <a:solidFill>
            <a:srgbClr val="E20613"/>
          </a:solidFill>
          <a:ln>
            <a:noFill/>
          </a:ln>
        </p:spPr>
        <p:txBody>
          <a:bodyPr/>
          <a:lstStyle/>
          <a:p>
            <a:endParaRPr lang="fr-FR"/>
          </a:p>
        </p:txBody>
      </p:sp>
      <p:pic>
        <p:nvPicPr>
          <p:cNvPr id="112" name="Icon 112" descr="broom"/>
          <p:cNvPicPr>
            <a:picLocks noChangeAspect="1"/>
          </p:cNvPicPr>
          <p:nvPr/>
        </p:nvPicPr>
        <p:blipFill>
          <a:blip r:embed="rId4"/>
          <a:stretch>
            <a:fillRect/>
          </a:stretch>
        </p:blipFill>
        <p:spPr>
          <a:xfrm>
            <a:off x="1166774" y="5034686"/>
            <a:ext cx="309067" cy="309067"/>
          </a:xfrm>
          <a:prstGeom prst="rect">
            <a:avLst/>
          </a:prstGeom>
        </p:spPr>
      </p:pic>
      <p:sp>
        <p:nvSpPr>
          <p:cNvPr id="113" name="Text 113"/>
          <p:cNvSpPr txBox="1"/>
          <p:nvPr/>
        </p:nvSpPr>
        <p:spPr>
          <a:xfrm>
            <a:off x="1801368" y="4846320"/>
            <a:ext cx="4023360" cy="685800"/>
          </a:xfrm>
          <a:prstGeom prst="rect">
            <a:avLst/>
          </a:prstGeom>
          <a:noFill/>
          <a:ln>
            <a:noFill/>
          </a:ln>
        </p:spPr>
        <p:txBody>
          <a:bodyPr wrap="square" lIns="0" tIns="0" rIns="0" bIns="0" rtlCol="0" anchor="ctr">
            <a:noAutofit/>
          </a:bodyPr>
          <a:lstStyle/>
          <a:p>
            <a:pPr marL="0" indent="0" algn="l">
              <a:spcAft>
                <a:spcPts val="200"/>
              </a:spcAft>
              <a:buNone/>
            </a:pPr>
            <a:r>
              <a:rPr lang="en-GB" sz="1400" b="1" dirty="0">
                <a:solidFill>
                  <a:srgbClr val="333333"/>
                </a:solidFill>
              </a:rPr>
              <a:t>Clear everything</a:t>
            </a:r>
            <a:endParaRPr lang="en-GB" sz="1400" dirty="0"/>
          </a:p>
          <a:p>
            <a:pPr marL="0" indent="0" algn="l">
              <a:spcAft>
                <a:spcPts val="0"/>
              </a:spcAft>
              <a:buNone/>
            </a:pPr>
            <a:r>
              <a:rPr lang="en-GB" sz="1600" b="1" dirty="0">
                <a:solidFill>
                  <a:srgbClr val="E20613"/>
                </a:solidFill>
                <a:latin typeface="Courier New"/>
                <a:cs typeface="Courier New"/>
              </a:rPr>
              <a:t>rm(list = ls())</a:t>
            </a:r>
            <a:endParaRPr lang="en-GB" sz="1400" dirty="0"/>
          </a:p>
        </p:txBody>
      </p:sp>
      <p:pic>
        <p:nvPicPr>
          <p:cNvPr id="114" name="Picture 114" descr="RStudio Environment pane"/>
          <p:cNvPicPr>
            <a:picLocks noChangeAspect="1"/>
          </p:cNvPicPr>
          <p:nvPr/>
        </p:nvPicPr>
        <p:blipFill>
          <a:blip r:embed="rId5"/>
          <a:stretch>
            <a:fillRect/>
          </a:stretch>
        </p:blipFill>
        <p:spPr>
          <a:xfrm>
            <a:off x="6236208" y="1188720"/>
            <a:ext cx="5120640" cy="3311347"/>
          </a:xfrm>
          <a:prstGeom prst="rect">
            <a:avLst/>
          </a:prstGeom>
        </p:spPr>
      </p:pic>
      <p:sp>
        <p:nvSpPr>
          <p:cNvPr id="115" name="Frame 115"/>
          <p:cNvSpPr/>
          <p:nvPr/>
        </p:nvSpPr>
        <p:spPr>
          <a:xfrm>
            <a:off x="6236208" y="1188720"/>
            <a:ext cx="5120640" cy="3311347"/>
          </a:xfrm>
          <a:prstGeom prst="rect">
            <a:avLst/>
          </a:prstGeom>
          <a:noFill/>
          <a:ln w="12700">
            <a:solidFill>
              <a:srgbClr val="BFBFBF"/>
            </a:solidFill>
          </a:ln>
        </p:spPr>
        <p:txBody>
          <a:bodyPr/>
          <a:lstStyle/>
          <a:p>
            <a:endParaRPr lang="fr-FR"/>
          </a:p>
        </p:txBody>
      </p:sp>
      <p:sp>
        <p:nvSpPr>
          <p:cNvPr id="116" name="Note 116"/>
          <p:cNvSpPr/>
          <p:nvPr/>
        </p:nvSpPr>
        <p:spPr>
          <a:xfrm>
            <a:off x="6236208" y="4682947"/>
            <a:ext cx="5120640" cy="868680"/>
          </a:xfrm>
          <a:prstGeom prst="roundRect">
            <a:avLst>
              <a:gd name="adj" fmla="val 10000"/>
            </a:avLst>
          </a:prstGeom>
          <a:solidFill>
            <a:srgbClr val="FDECED"/>
          </a:solidFill>
          <a:ln>
            <a:noFill/>
          </a:ln>
        </p:spPr>
        <p:txBody>
          <a:bodyPr wrap="square" lIns="137160" tIns="137160" rIns="137160" bIns="137160" rtlCol="0" anchor="ctr">
            <a:noAutofit/>
          </a:bodyPr>
          <a:lstStyle/>
          <a:p>
            <a:pPr marL="0" indent="0" algn="l">
              <a:spcAft>
                <a:spcPts val="0"/>
              </a:spcAft>
              <a:buNone/>
            </a:pPr>
            <a:r>
              <a:rPr lang="en-GB" sz="1400" b="1" dirty="0">
                <a:solidFill>
                  <a:srgbClr val="E20613"/>
                </a:solidFill>
              </a:rPr>
              <a:t>In RStudio: </a:t>
            </a:r>
            <a:r>
              <a:rPr lang="en-GB" sz="1400" dirty="0">
                <a:solidFill>
                  <a:srgbClr val="333333"/>
                </a:solidFill>
              </a:rPr>
              <a:t>the Environment pane shows the same objects as ls(). The broom icon clears the workspace.</a:t>
            </a:r>
            <a:endParaRPr lang="en-GB" sz="1400" dirty="0"/>
          </a:p>
        </p:txBody>
      </p:sp>
    </p:spTree>
    <p:extLst>
      <p:ext uri="{BB962C8B-B14F-4D97-AF65-F5344CB8AC3E}">
        <p14:creationId xmlns:p14="http://schemas.microsoft.com/office/powerpoint/2010/main" val="1336061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D1A8D-DBEF-986A-E451-F99EEE3846F6}"/>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7DC49575-C7A6-64FE-96CA-4E7A32F3E4FF}"/>
              </a:ext>
            </a:extLst>
          </p:cNvPr>
          <p:cNvSpPr txBox="1">
            <a:spLocks/>
          </p:cNvSpPr>
          <p:nvPr/>
        </p:nvSpPr>
        <p:spPr>
          <a:xfrm>
            <a:off x="838200" y="1123950"/>
            <a:ext cx="10515600" cy="5313363"/>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2"/>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2"/>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AutoNum type="arabicPeriod"/>
            </a:pPr>
            <a:r>
              <a:rPr lang="en-GB" b="1" dirty="0">
                <a:ea typeface="Tahoma"/>
                <a:cs typeface="Gill Sans Light"/>
              </a:rPr>
              <a:t>Prepare your first script</a:t>
            </a:r>
          </a:p>
          <a:p>
            <a:pPr marL="815975" lvl="1" indent="-457200">
              <a:buAutoNum type="arabicPeriod"/>
            </a:pPr>
            <a:r>
              <a:rPr lang="en-GB" dirty="0">
                <a:ea typeface="Tahoma"/>
                <a:cs typeface="Gill Sans Light"/>
              </a:rPr>
              <a:t>Open a script file and save it.</a:t>
            </a:r>
          </a:p>
          <a:p>
            <a:pPr marL="815975" lvl="1" indent="-457200">
              <a:buAutoNum type="arabicPeriod"/>
            </a:pPr>
            <a:r>
              <a:rPr lang="en-GB" dirty="0">
                <a:ea typeface="Tahoma"/>
                <a:cs typeface="Gill Sans Light"/>
              </a:rPr>
              <a:t>Type or paste the following code</a:t>
            </a:r>
          </a:p>
          <a:p>
            <a:pPr lvl="1" indent="0">
              <a:buNone/>
            </a:pPr>
            <a:r>
              <a:rPr lang="en-GB" dirty="0">
                <a:ea typeface="Tahoma"/>
                <a:cs typeface="Gill Sans Light"/>
              </a:rPr>
              <a:t># First steps with R, ex1</a:t>
            </a:r>
          </a:p>
          <a:p>
            <a:pPr lvl="1" indent="0">
              <a:buNone/>
            </a:pPr>
            <a:r>
              <a:rPr lang="en-GB" dirty="0">
                <a:ea typeface="Tahoma"/>
                <a:cs typeface="Gill Sans Light"/>
              </a:rPr>
              <a:t>w &lt;- 3</a:t>
            </a:r>
          </a:p>
          <a:p>
            <a:pPr lvl="1" indent="0">
              <a:buNone/>
            </a:pPr>
            <a:r>
              <a:rPr lang="en-GB" dirty="0">
                <a:ea typeface="Tahoma"/>
                <a:cs typeface="Gill Sans Light"/>
              </a:rPr>
              <a:t>h&lt;- 0.5</a:t>
            </a:r>
          </a:p>
          <a:p>
            <a:pPr lvl="1" indent="0">
              <a:buNone/>
            </a:pPr>
            <a:r>
              <a:rPr lang="en-GB" dirty="0">
                <a:ea typeface="Tahoma"/>
                <a:cs typeface="Gill Sans Light"/>
              </a:rPr>
              <a:t>area &lt;- w*h</a:t>
            </a:r>
          </a:p>
          <a:p>
            <a:pPr lvl="1" indent="0">
              <a:buNone/>
            </a:pPr>
            <a:r>
              <a:rPr lang="en-GB" dirty="0">
                <a:ea typeface="Tahoma"/>
                <a:cs typeface="Gill Sans Light"/>
              </a:rPr>
              <a:t>area</a:t>
            </a:r>
          </a:p>
          <a:p>
            <a:pPr indent="-457200">
              <a:buAutoNum type="arabicPeriod"/>
            </a:pPr>
            <a:r>
              <a:rPr lang="en-GB" b="1" dirty="0">
                <a:ea typeface="Tahoma"/>
                <a:cs typeface="Gill Sans Light"/>
              </a:rPr>
              <a:t>Look at the script</a:t>
            </a:r>
            <a:r>
              <a:rPr lang="en-GB" dirty="0">
                <a:ea typeface="Tahoma"/>
                <a:cs typeface="Gill Sans Light"/>
              </a:rPr>
              <a:t> (before running it) can you understand each line? What do you expect it to print to the console?</a:t>
            </a:r>
            <a:endParaRPr lang="en-GB"/>
          </a:p>
          <a:p>
            <a:pPr lvl="4" indent="-457200">
              <a:buAutoNum type="arabicPeriod"/>
            </a:pPr>
            <a:endParaRPr lang="en-GB" dirty="0">
              <a:ea typeface="Tahoma"/>
              <a:cs typeface="Gill Sans Light"/>
            </a:endParaRPr>
          </a:p>
          <a:p>
            <a:pPr indent="-457200">
              <a:buAutoNum type="arabicPeriod"/>
            </a:pPr>
            <a:r>
              <a:rPr lang="en-GB" b="1" dirty="0">
                <a:ea typeface="Tahoma"/>
                <a:cs typeface="Gill Sans Light"/>
              </a:rPr>
              <a:t>Run the script</a:t>
            </a:r>
            <a:r>
              <a:rPr lang="en-GB" dirty="0">
                <a:ea typeface="Tahoma"/>
                <a:cs typeface="Gill Sans Light"/>
              </a:rPr>
              <a:t> and explore </a:t>
            </a:r>
            <a:r>
              <a:rPr lang="en-GB" dirty="0" err="1">
                <a:ea typeface="Tahoma"/>
                <a:cs typeface="Gill Sans Light"/>
              </a:rPr>
              <a:t>Rstudio's</a:t>
            </a:r>
            <a:r>
              <a:rPr lang="en-GB" dirty="0">
                <a:ea typeface="Tahoma"/>
                <a:cs typeface="Gill Sans Light"/>
              </a:rPr>
              <a:t> feature: </a:t>
            </a:r>
            <a:endParaRPr lang="en-GB" dirty="0"/>
          </a:p>
          <a:p>
            <a:pPr marL="0" lvl="2" indent="0">
              <a:buNone/>
            </a:pPr>
            <a:r>
              <a:rPr lang="en-GB" dirty="0">
                <a:ea typeface="Tahoma"/>
                <a:cs typeface="Gill Sans Light"/>
              </a:rPr>
              <a:t>    Run the script line-by-line or Run all lines at once by selecting them</a:t>
            </a:r>
            <a:endParaRPr lang="en-GB"/>
          </a:p>
          <a:p>
            <a:pPr marL="457200" lvl="1" indent="-457200">
              <a:buAutoNum type="arabicPeriod"/>
            </a:pPr>
            <a:endParaRPr lang="en-GB" dirty="0"/>
          </a:p>
        </p:txBody>
      </p:sp>
      <p:sp>
        <p:nvSpPr>
          <p:cNvPr id="8" name="Title 1">
            <a:extLst>
              <a:ext uri="{FF2B5EF4-FFF2-40B4-BE49-F238E27FC236}">
                <a16:creationId xmlns:a16="http://schemas.microsoft.com/office/drawing/2014/main" id="{1ACBEB6F-46A3-5D99-E3B6-81ADAB819D3D}"/>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- 2</a:t>
            </a:r>
            <a:endParaRPr lang="en-US" dirty="0"/>
          </a:p>
        </p:txBody>
      </p:sp>
    </p:spTree>
    <p:extLst>
      <p:ext uri="{BB962C8B-B14F-4D97-AF65-F5344CB8AC3E}">
        <p14:creationId xmlns:p14="http://schemas.microsoft.com/office/powerpoint/2010/main" val="3221409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3C699-F785-ED22-E6C7-B38D4A2A4AA8}"/>
              </a:ext>
            </a:extLst>
          </p:cNvPr>
          <p:cNvSpPr>
            <a:spLocks noGrp="1"/>
          </p:cNvSpPr>
          <p:nvPr>
            <p:ph type="title"/>
          </p:nvPr>
        </p:nvSpPr>
        <p:spPr/>
        <p:txBody>
          <a:bodyPr/>
          <a:lstStyle/>
          <a:p>
            <a:r>
              <a:rPr lang="en-GB" dirty="0">
                <a:ea typeface="Verdana"/>
                <a:cs typeface="Gill Sans"/>
              </a:rPr>
              <a:t>Closing or Switching Projects</a:t>
            </a:r>
            <a:endParaRPr lang="en-GB" dirty="0"/>
          </a:p>
        </p:txBody>
      </p:sp>
      <p:sp>
        <p:nvSpPr>
          <p:cNvPr id="3" name="Text Placeholder 2">
            <a:extLst>
              <a:ext uri="{FF2B5EF4-FFF2-40B4-BE49-F238E27FC236}">
                <a16:creationId xmlns:a16="http://schemas.microsoft.com/office/drawing/2014/main" id="{673BD03B-396E-D553-947F-BC6063BBB173}"/>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Closing a project: File &gt; Close</a:t>
            </a:r>
            <a:endParaRPr lang="en-GB" dirty="0"/>
          </a:p>
          <a:p>
            <a:pPr marL="342900" indent="-342900">
              <a:buChar char="•"/>
            </a:pPr>
            <a:r>
              <a:rPr lang="en-GB" dirty="0">
                <a:ea typeface="Tahoma"/>
                <a:cs typeface="Gill Sans Light"/>
              </a:rPr>
              <a:t>Switch to another project: File &gt; Open Projects...</a:t>
            </a:r>
            <a:endParaRPr lang="en-GB" dirty="0"/>
          </a:p>
          <a:p>
            <a:pPr marL="342900" indent="-342900">
              <a:buChar char="•"/>
            </a:pPr>
            <a:r>
              <a:rPr lang="en-GB" dirty="0">
                <a:ea typeface="Tahoma"/>
                <a:cs typeface="Gill Sans Light"/>
              </a:rPr>
              <a:t>Open another project but leave the current one open: File &gt; Open Project in New Session</a:t>
            </a:r>
          </a:p>
          <a:p>
            <a:endParaRPr lang="en-GB" dirty="0"/>
          </a:p>
          <a:p>
            <a:r>
              <a:rPr lang="en-GB" dirty="0">
                <a:ea typeface="Tahoma"/>
                <a:cs typeface="Gill Sans Light"/>
              </a:rPr>
              <a:t>In your computer's file explorer, </a:t>
            </a:r>
            <a:r>
              <a:rPr lang="en-GB" b="1" dirty="0">
                <a:ea typeface="Tahoma"/>
                <a:cs typeface="Gill Sans Light"/>
              </a:rPr>
              <a:t>double-clicking a .</a:t>
            </a:r>
            <a:r>
              <a:rPr lang="en-GB" b="1" dirty="0" err="1">
                <a:ea typeface="Tahoma"/>
                <a:cs typeface="Gill Sans Light"/>
              </a:rPr>
              <a:t>Rproj</a:t>
            </a:r>
            <a:r>
              <a:rPr lang="en-GB" b="1" dirty="0">
                <a:ea typeface="Tahoma"/>
                <a:cs typeface="Gill Sans Light"/>
              </a:rPr>
              <a:t> file </a:t>
            </a:r>
            <a:r>
              <a:rPr lang="en-GB" dirty="0">
                <a:ea typeface="Tahoma"/>
                <a:cs typeface="Gill Sans Light"/>
              </a:rPr>
              <a:t>with open a project</a:t>
            </a:r>
          </a:p>
          <a:p>
            <a:pPr marL="342900" indent="-342900">
              <a:buChar char="•"/>
            </a:pPr>
            <a:r>
              <a:rPr lang="en-GB" dirty="0">
                <a:ea typeface="Tahoma"/>
                <a:cs typeface="Gill Sans Light"/>
              </a:rPr>
              <a:t>When closing or switching project, the workspace and history are cleared</a:t>
            </a:r>
            <a:endParaRPr lang="en-GB" dirty="0"/>
          </a:p>
          <a:p>
            <a:pPr lvl="1" indent="0">
              <a:buNone/>
            </a:pPr>
            <a:r>
              <a:rPr lang="en-GB" dirty="0">
                <a:ea typeface="Tahoma"/>
                <a:cs typeface="Gill Sans Light"/>
              </a:rPr>
              <a:t>(Tools &gt; Global Options &gt; General to change this </a:t>
            </a:r>
            <a:r>
              <a:rPr lang="en-GB" dirty="0" err="1">
                <a:ea typeface="Tahoma"/>
                <a:cs typeface="Gill Sans Light"/>
              </a:rPr>
              <a:t>behavior</a:t>
            </a:r>
            <a:r>
              <a:rPr lang="en-GB" dirty="0">
                <a:ea typeface="Tahoma"/>
                <a:cs typeface="Gill Sans Light"/>
              </a:rPr>
              <a:t>)</a:t>
            </a:r>
          </a:p>
        </p:txBody>
      </p:sp>
    </p:spTree>
    <p:extLst>
      <p:ext uri="{BB962C8B-B14F-4D97-AF65-F5344CB8AC3E}">
        <p14:creationId xmlns:p14="http://schemas.microsoft.com/office/powerpoint/2010/main" val="25705222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3C699-F785-ED22-E6C7-B38D4A2A4AA8}"/>
              </a:ext>
            </a:extLst>
          </p:cNvPr>
          <p:cNvSpPr>
            <a:spLocks noGrp="1"/>
          </p:cNvSpPr>
          <p:nvPr>
            <p:ph type="title"/>
          </p:nvPr>
        </p:nvSpPr>
        <p:spPr/>
        <p:txBody>
          <a:bodyPr/>
          <a:lstStyle/>
          <a:p>
            <a:r>
              <a:rPr lang="en-GB" dirty="0">
                <a:ea typeface="Verdana"/>
                <a:cs typeface="Gill Sans"/>
              </a:rPr>
              <a:t>Closing or Switching Projects</a:t>
            </a:r>
            <a:endParaRPr lang="en-GB" dirty="0"/>
          </a:p>
        </p:txBody>
      </p:sp>
      <p:sp>
        <p:nvSpPr>
          <p:cNvPr id="3" name="Text Placeholder 2">
            <a:extLst>
              <a:ext uri="{FF2B5EF4-FFF2-40B4-BE49-F238E27FC236}">
                <a16:creationId xmlns:a16="http://schemas.microsoft.com/office/drawing/2014/main" id="{673BD03B-396E-D553-947F-BC6063BBB173}"/>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Closing a project: File &gt; Close</a:t>
            </a:r>
            <a:endParaRPr lang="en-GB" dirty="0"/>
          </a:p>
          <a:p>
            <a:pPr marL="342900" indent="-342900">
              <a:buChar char="•"/>
            </a:pPr>
            <a:r>
              <a:rPr lang="en-GB" dirty="0">
                <a:ea typeface="Tahoma"/>
                <a:cs typeface="Gill Sans Light"/>
              </a:rPr>
              <a:t>Switch to another project: File &gt; Open Projects...</a:t>
            </a:r>
            <a:endParaRPr lang="en-GB" dirty="0"/>
          </a:p>
          <a:p>
            <a:pPr marL="342900" indent="-342900">
              <a:buChar char="•"/>
            </a:pPr>
            <a:r>
              <a:rPr lang="en-GB" dirty="0">
                <a:ea typeface="Tahoma"/>
                <a:cs typeface="Gill Sans Light"/>
              </a:rPr>
              <a:t>Open another project but leave the current one open: File &gt; Open Project in New Session</a:t>
            </a:r>
          </a:p>
          <a:p>
            <a:endParaRPr lang="en-GB" dirty="0"/>
          </a:p>
          <a:p>
            <a:r>
              <a:rPr lang="en-GB" dirty="0">
                <a:ea typeface="Tahoma"/>
                <a:cs typeface="Gill Sans Light"/>
              </a:rPr>
              <a:t>In your computer's file explorer, </a:t>
            </a:r>
            <a:r>
              <a:rPr lang="en-GB" b="1" dirty="0">
                <a:ea typeface="Tahoma"/>
                <a:cs typeface="Gill Sans Light"/>
              </a:rPr>
              <a:t>double-clicking a .</a:t>
            </a:r>
            <a:r>
              <a:rPr lang="en-GB" b="1" dirty="0" err="1">
                <a:ea typeface="Tahoma"/>
                <a:cs typeface="Gill Sans Light"/>
              </a:rPr>
              <a:t>Rproj</a:t>
            </a:r>
            <a:r>
              <a:rPr lang="en-GB" b="1" dirty="0">
                <a:ea typeface="Tahoma"/>
                <a:cs typeface="Gill Sans Light"/>
              </a:rPr>
              <a:t> file </a:t>
            </a:r>
            <a:r>
              <a:rPr lang="en-GB" dirty="0">
                <a:ea typeface="Tahoma"/>
                <a:cs typeface="Gill Sans Light"/>
              </a:rPr>
              <a:t>with open a project</a:t>
            </a:r>
          </a:p>
          <a:p>
            <a:pPr marL="342900" indent="-342900">
              <a:buChar char="•"/>
            </a:pPr>
            <a:r>
              <a:rPr lang="en-GB" dirty="0">
                <a:ea typeface="Tahoma"/>
                <a:cs typeface="Gill Sans Light"/>
              </a:rPr>
              <a:t>When closing or switching project, the workspace and history are cleared</a:t>
            </a:r>
            <a:endParaRPr lang="en-GB" dirty="0"/>
          </a:p>
          <a:p>
            <a:pPr lvl="1" indent="0">
              <a:buNone/>
            </a:pPr>
            <a:r>
              <a:rPr lang="en-GB" dirty="0">
                <a:ea typeface="Tahoma"/>
                <a:cs typeface="Gill Sans Light"/>
              </a:rPr>
              <a:t>(Tools &gt; Global Options &gt; General to change this </a:t>
            </a:r>
            <a:r>
              <a:rPr lang="en-GB" dirty="0" err="1">
                <a:ea typeface="Tahoma"/>
                <a:cs typeface="Gill Sans Light"/>
              </a:rPr>
              <a:t>behavior</a:t>
            </a:r>
            <a:r>
              <a:rPr lang="en-GB" dirty="0">
                <a:ea typeface="Tahoma"/>
                <a:cs typeface="Gill Sans Light"/>
              </a:rPr>
              <a:t>)</a:t>
            </a:r>
          </a:p>
        </p:txBody>
      </p:sp>
      <p:pic>
        <p:nvPicPr>
          <p:cNvPr id="5" name="Image 20" descr="A red and black logo&#10;&#10;Description automatically generated">
            <a:extLst>
              <a:ext uri="{FF2B5EF4-FFF2-40B4-BE49-F238E27FC236}">
                <a16:creationId xmlns:a16="http://schemas.microsoft.com/office/drawing/2014/main" id="{47A7FC59-5D4E-8508-5904-F9E614D5BC1A}"/>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6BC78B38-03CD-9615-70CA-6BAF53CFF5AD}"/>
              </a:ext>
            </a:extLst>
          </p:cNvPr>
          <p:cNvSpPr txBox="1"/>
          <p:nvPr/>
        </p:nvSpPr>
        <p:spPr>
          <a:xfrm>
            <a:off x="1704975" y="5821973"/>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history and workspace can be saved in an .</a:t>
            </a:r>
            <a:r>
              <a:rPr lang="en-GB" sz="2400" b="1" dirty="0" err="1"/>
              <a:t>Rhistory</a:t>
            </a:r>
            <a:r>
              <a:rPr lang="en-GB" sz="2400" b="1" dirty="0"/>
              <a:t> and .</a:t>
            </a:r>
            <a:r>
              <a:rPr lang="en-GB" sz="2400" b="1" dirty="0" err="1"/>
              <a:t>Rdata</a:t>
            </a:r>
            <a:r>
              <a:rPr lang="en-GB" sz="2400" b="1" dirty="0"/>
              <a:t> file </a:t>
            </a:r>
          </a:p>
        </p:txBody>
      </p:sp>
    </p:spTree>
    <p:extLst>
      <p:ext uri="{BB962C8B-B14F-4D97-AF65-F5344CB8AC3E}">
        <p14:creationId xmlns:p14="http://schemas.microsoft.com/office/powerpoint/2010/main" val="394169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Projects in Positron: just folders</a:t>
            </a:r>
          </a:p>
        </p:txBody>
      </p:sp>
      <p:sp>
        <p:nvSpPr>
          <p:cNvPr id="101" name="Text 101"/>
          <p:cNvSpPr txBox="1"/>
          <p:nvPr/>
        </p:nvSpPr>
        <p:spPr>
          <a:xfrm>
            <a:off x="841248" y="1097280"/>
            <a:ext cx="10515600" cy="685800"/>
          </a:xfrm>
          <a:prstGeom prst="rect">
            <a:avLst/>
          </a:prstGeom>
          <a:noFill/>
          <a:ln>
            <a:noFill/>
          </a:ln>
        </p:spPr>
        <p:txBody>
          <a:bodyPr wrap="square" lIns="0" tIns="0" rIns="0" bIns="0" rtlCol="0" anchor="t">
            <a:noAutofit/>
          </a:bodyPr>
          <a:lstStyle/>
          <a:p>
            <a:pPr marL="0" indent="0" algn="l">
              <a:spcAft>
                <a:spcPts val="0"/>
              </a:spcAft>
              <a:buNone/>
            </a:pPr>
            <a:r>
              <a:rPr lang="en-GB" sz="1600" dirty="0"/>
              <a:t>Positron has no .Rproj file: a project is simply a </a:t>
            </a:r>
            <a:r>
              <a:rPr lang="en-GB" sz="1600" b="1" dirty="0"/>
              <a:t>folder</a:t>
            </a:r>
            <a:r>
              <a:rPr lang="en-GB" sz="1600" dirty="0"/>
              <a:t> (called a workspace). The folder you open becomes the working directory.</a:t>
            </a:r>
            <a:endParaRPr lang="en-GB" sz="1400" dirty="0"/>
          </a:p>
        </p:txBody>
      </p:sp>
      <p:sp>
        <p:nvSpPr>
          <p:cNvPr id="102" name="Cell 102"/>
          <p:cNvSpPr txBox="1"/>
          <p:nvPr/>
        </p:nvSpPr>
        <p:spPr>
          <a:xfrm>
            <a:off x="841248" y="1874520"/>
            <a:ext cx="1371600" cy="374904"/>
          </a:xfrm>
          <a:prstGeom prst="rect">
            <a:avLst/>
          </a:prstGeom>
          <a:noFill/>
          <a:ln>
            <a:noFill/>
          </a:ln>
        </p:spPr>
        <p:txBody>
          <a:bodyPr wrap="square" lIns="73152" tIns="73152" rIns="73152" bIns="73152" rtlCol="0" anchor="ctr">
            <a:noAutofit/>
          </a:bodyPr>
          <a:lstStyle/>
          <a:p>
            <a:pPr marL="0" indent="0" algn="ctr">
              <a:spcAft>
                <a:spcPts val="0"/>
              </a:spcAft>
              <a:buNone/>
            </a:pPr>
            <a:endParaRPr lang="en-GB" sz="1400" dirty="0"/>
          </a:p>
        </p:txBody>
      </p:sp>
      <p:sp>
        <p:nvSpPr>
          <p:cNvPr id="103" name="Cell 103"/>
          <p:cNvSpPr/>
          <p:nvPr/>
        </p:nvSpPr>
        <p:spPr>
          <a:xfrm>
            <a:off x="2258568" y="1874520"/>
            <a:ext cx="2560320" cy="374904"/>
          </a:xfrm>
          <a:prstGeom prst="rect">
            <a:avLst/>
          </a:prstGeom>
          <a:solidFill>
            <a:srgbClr val="333333"/>
          </a:solidFill>
          <a:ln>
            <a:noFill/>
          </a:ln>
        </p:spPr>
        <p:txBody>
          <a:bodyPr wrap="square" lIns="73152" tIns="73152" rIns="73152" bIns="73152" rtlCol="0" anchor="ctr">
            <a:noAutofit/>
          </a:bodyPr>
          <a:lstStyle/>
          <a:p>
            <a:pPr marL="0" indent="0" algn="ctr">
              <a:spcAft>
                <a:spcPts val="0"/>
              </a:spcAft>
              <a:buNone/>
            </a:pPr>
            <a:r>
              <a:rPr lang="en-GB" sz="1500" b="1" dirty="0">
                <a:solidFill>
                  <a:srgbClr val="FFFFFF"/>
                </a:solidFill>
              </a:rPr>
              <a:t>RStudio</a:t>
            </a:r>
            <a:endParaRPr lang="en-GB" sz="1400" dirty="0"/>
          </a:p>
        </p:txBody>
      </p:sp>
      <p:sp>
        <p:nvSpPr>
          <p:cNvPr id="104" name="Cell 104"/>
          <p:cNvSpPr/>
          <p:nvPr/>
        </p:nvSpPr>
        <p:spPr>
          <a:xfrm>
            <a:off x="4864608" y="1874520"/>
            <a:ext cx="2971800" cy="374904"/>
          </a:xfrm>
          <a:prstGeom prst="rect">
            <a:avLst/>
          </a:prstGeom>
          <a:solidFill>
            <a:srgbClr val="E20613"/>
          </a:solidFill>
          <a:ln>
            <a:noFill/>
          </a:ln>
        </p:spPr>
        <p:txBody>
          <a:bodyPr wrap="square" lIns="73152" tIns="73152" rIns="73152" bIns="73152" rtlCol="0" anchor="ctr">
            <a:noAutofit/>
          </a:bodyPr>
          <a:lstStyle/>
          <a:p>
            <a:pPr marL="0" indent="0" algn="ctr">
              <a:spcAft>
                <a:spcPts val="0"/>
              </a:spcAft>
              <a:buNone/>
            </a:pPr>
            <a:r>
              <a:rPr lang="en-GB" sz="1500" b="1" dirty="0">
                <a:solidFill>
                  <a:srgbClr val="FFFFFF"/>
                </a:solidFill>
              </a:rPr>
              <a:t>Positron</a:t>
            </a:r>
            <a:endParaRPr lang="en-GB" sz="1400" dirty="0"/>
          </a:p>
        </p:txBody>
      </p:sp>
      <p:sp>
        <p:nvSpPr>
          <p:cNvPr id="105" name="Cell 105"/>
          <p:cNvSpPr/>
          <p:nvPr/>
        </p:nvSpPr>
        <p:spPr>
          <a:xfrm>
            <a:off x="841248" y="2286000"/>
            <a:ext cx="137160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b="1" dirty="0">
                <a:solidFill>
                  <a:srgbClr val="333333"/>
                </a:solidFill>
              </a:rPr>
              <a:t>Create</a:t>
            </a:r>
            <a:endParaRPr lang="en-GB" sz="1400" dirty="0"/>
          </a:p>
        </p:txBody>
      </p:sp>
      <p:sp>
        <p:nvSpPr>
          <p:cNvPr id="106" name="Cell 106"/>
          <p:cNvSpPr/>
          <p:nvPr/>
        </p:nvSpPr>
        <p:spPr>
          <a:xfrm>
            <a:off x="2258568" y="2286000"/>
            <a:ext cx="256032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File &gt; New Project</a:t>
            </a:r>
            <a:endParaRPr lang="en-GB" sz="1400" dirty="0"/>
          </a:p>
        </p:txBody>
      </p:sp>
      <p:sp>
        <p:nvSpPr>
          <p:cNvPr id="107" name="Cell 107"/>
          <p:cNvSpPr/>
          <p:nvPr/>
        </p:nvSpPr>
        <p:spPr>
          <a:xfrm>
            <a:off x="4864608" y="2286000"/>
            <a:ext cx="297180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File &gt; New Folder (from a template)</a:t>
            </a:r>
            <a:endParaRPr lang="en-GB" sz="1400" dirty="0"/>
          </a:p>
        </p:txBody>
      </p:sp>
      <p:sp>
        <p:nvSpPr>
          <p:cNvPr id="108" name="Cell 108"/>
          <p:cNvSpPr txBox="1"/>
          <p:nvPr/>
        </p:nvSpPr>
        <p:spPr>
          <a:xfrm>
            <a:off x="841248" y="2926080"/>
            <a:ext cx="1371600" cy="603504"/>
          </a:xfrm>
          <a:prstGeom prst="rect">
            <a:avLst/>
          </a:prstGeom>
          <a:noFill/>
          <a:ln>
            <a:noFill/>
          </a:ln>
        </p:spPr>
        <p:txBody>
          <a:bodyPr wrap="square" lIns="73152" tIns="73152" rIns="73152" bIns="73152" rtlCol="0" anchor="ctr">
            <a:noAutofit/>
          </a:bodyPr>
          <a:lstStyle/>
          <a:p>
            <a:pPr marL="0" indent="0" algn="l">
              <a:spcAft>
                <a:spcPts val="0"/>
              </a:spcAft>
              <a:buNone/>
            </a:pPr>
            <a:r>
              <a:rPr lang="en-GB" sz="1250" b="1" dirty="0">
                <a:solidFill>
                  <a:srgbClr val="333333"/>
                </a:solidFill>
              </a:rPr>
              <a:t>Open</a:t>
            </a:r>
            <a:endParaRPr lang="en-GB" sz="1400" dirty="0"/>
          </a:p>
        </p:txBody>
      </p:sp>
      <p:sp>
        <p:nvSpPr>
          <p:cNvPr id="109" name="Cell 109"/>
          <p:cNvSpPr txBox="1"/>
          <p:nvPr/>
        </p:nvSpPr>
        <p:spPr>
          <a:xfrm>
            <a:off x="2258568" y="2926080"/>
            <a:ext cx="2560320" cy="603504"/>
          </a:xfrm>
          <a:prstGeom prst="rect">
            <a:avLst/>
          </a:prstGeom>
          <a:no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File &gt; Open Project, or double-click the .Rproj file</a:t>
            </a:r>
            <a:endParaRPr lang="en-GB" sz="1400" dirty="0"/>
          </a:p>
        </p:txBody>
      </p:sp>
      <p:sp>
        <p:nvSpPr>
          <p:cNvPr id="110" name="Cell 110"/>
          <p:cNvSpPr txBox="1"/>
          <p:nvPr/>
        </p:nvSpPr>
        <p:spPr>
          <a:xfrm>
            <a:off x="4864608" y="2926080"/>
            <a:ext cx="2971800" cy="603504"/>
          </a:xfrm>
          <a:prstGeom prst="rect">
            <a:avLst/>
          </a:prstGeom>
          <a:no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File &gt; Open Folder, or right-click a folder &gt; Open with Positron (Windows)</a:t>
            </a:r>
            <a:endParaRPr lang="en-GB" sz="1400" dirty="0"/>
          </a:p>
        </p:txBody>
      </p:sp>
      <p:sp>
        <p:nvSpPr>
          <p:cNvPr id="111" name="Cell 111"/>
          <p:cNvSpPr/>
          <p:nvPr/>
        </p:nvSpPr>
        <p:spPr>
          <a:xfrm>
            <a:off x="841248" y="3566160"/>
            <a:ext cx="137160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b="1" dirty="0">
                <a:solidFill>
                  <a:srgbClr val="333333"/>
                </a:solidFill>
              </a:rPr>
              <a:t>Switch</a:t>
            </a:r>
            <a:endParaRPr lang="en-GB" sz="1400" dirty="0"/>
          </a:p>
        </p:txBody>
      </p:sp>
      <p:sp>
        <p:nvSpPr>
          <p:cNvPr id="112" name="Cell 112"/>
          <p:cNvSpPr/>
          <p:nvPr/>
        </p:nvSpPr>
        <p:spPr>
          <a:xfrm>
            <a:off x="2258568" y="3566160"/>
            <a:ext cx="256032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File &gt; Open Projects...</a:t>
            </a:r>
            <a:endParaRPr lang="en-GB" sz="1400" dirty="0"/>
          </a:p>
        </p:txBody>
      </p:sp>
      <p:sp>
        <p:nvSpPr>
          <p:cNvPr id="113" name="Cell 113"/>
          <p:cNvSpPr/>
          <p:nvPr/>
        </p:nvSpPr>
        <p:spPr>
          <a:xfrm>
            <a:off x="4864608" y="3566160"/>
            <a:ext cx="297180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File &gt; Open Recent</a:t>
            </a:r>
            <a:endParaRPr lang="en-GB" sz="1400" dirty="0"/>
          </a:p>
        </p:txBody>
      </p:sp>
      <p:sp>
        <p:nvSpPr>
          <p:cNvPr id="114" name="Cell 114"/>
          <p:cNvSpPr txBox="1"/>
          <p:nvPr/>
        </p:nvSpPr>
        <p:spPr>
          <a:xfrm>
            <a:off x="841248" y="4206240"/>
            <a:ext cx="1371600" cy="603504"/>
          </a:xfrm>
          <a:prstGeom prst="rect">
            <a:avLst/>
          </a:prstGeom>
          <a:noFill/>
          <a:ln>
            <a:noFill/>
          </a:ln>
        </p:spPr>
        <p:txBody>
          <a:bodyPr wrap="square" lIns="73152" tIns="73152" rIns="73152" bIns="73152" rtlCol="0" anchor="ctr">
            <a:noAutofit/>
          </a:bodyPr>
          <a:lstStyle/>
          <a:p>
            <a:pPr marL="0" indent="0" algn="l">
              <a:spcAft>
                <a:spcPts val="0"/>
              </a:spcAft>
              <a:buNone/>
            </a:pPr>
            <a:r>
              <a:rPr lang="en-GB" sz="1250" b="1" dirty="0">
                <a:solidFill>
                  <a:srgbClr val="333333"/>
                </a:solidFill>
              </a:rPr>
              <a:t>Two at once</a:t>
            </a:r>
            <a:endParaRPr lang="en-GB" sz="1400" dirty="0"/>
          </a:p>
        </p:txBody>
      </p:sp>
      <p:sp>
        <p:nvSpPr>
          <p:cNvPr id="115" name="Cell 115"/>
          <p:cNvSpPr txBox="1"/>
          <p:nvPr/>
        </p:nvSpPr>
        <p:spPr>
          <a:xfrm>
            <a:off x="2258568" y="4206240"/>
            <a:ext cx="2560320" cy="603504"/>
          </a:xfrm>
          <a:prstGeom prst="rect">
            <a:avLst/>
          </a:prstGeom>
          <a:no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Open Project in New Session</a:t>
            </a:r>
            <a:endParaRPr lang="en-GB" sz="1400" dirty="0"/>
          </a:p>
        </p:txBody>
      </p:sp>
      <p:sp>
        <p:nvSpPr>
          <p:cNvPr id="116" name="Cell 116"/>
          <p:cNvSpPr txBox="1"/>
          <p:nvPr/>
        </p:nvSpPr>
        <p:spPr>
          <a:xfrm>
            <a:off x="4864608" y="4206240"/>
            <a:ext cx="2971800" cy="603504"/>
          </a:xfrm>
          <a:prstGeom prst="rect">
            <a:avLst/>
          </a:prstGeom>
          <a:no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Open the other folder in a new window</a:t>
            </a:r>
            <a:endParaRPr lang="en-GB" sz="1400" dirty="0"/>
          </a:p>
        </p:txBody>
      </p:sp>
      <p:sp>
        <p:nvSpPr>
          <p:cNvPr id="117" name="Cell 117"/>
          <p:cNvSpPr/>
          <p:nvPr/>
        </p:nvSpPr>
        <p:spPr>
          <a:xfrm>
            <a:off x="841248" y="4846320"/>
            <a:ext cx="137160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b="1" dirty="0">
                <a:solidFill>
                  <a:srgbClr val="333333"/>
                </a:solidFill>
              </a:rPr>
              <a:t>Settings</a:t>
            </a:r>
            <a:endParaRPr lang="en-GB" sz="1400" dirty="0"/>
          </a:p>
        </p:txBody>
      </p:sp>
      <p:sp>
        <p:nvSpPr>
          <p:cNvPr id="118" name="Cell 118"/>
          <p:cNvSpPr/>
          <p:nvPr/>
        </p:nvSpPr>
        <p:spPr>
          <a:xfrm>
            <a:off x="2258568" y="4846320"/>
            <a:ext cx="256032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stored in the .Rproj file</a:t>
            </a:r>
            <a:endParaRPr lang="en-GB" sz="1400" dirty="0"/>
          </a:p>
        </p:txBody>
      </p:sp>
      <p:sp>
        <p:nvSpPr>
          <p:cNvPr id="119" name="Cell 119"/>
          <p:cNvSpPr/>
          <p:nvPr/>
        </p:nvSpPr>
        <p:spPr>
          <a:xfrm>
            <a:off x="4864608" y="4846320"/>
            <a:ext cx="2971800" cy="603504"/>
          </a:xfrm>
          <a:prstGeom prst="rect">
            <a:avLst/>
          </a:prstGeom>
          <a:solidFill>
            <a:srgbClr val="F2F2F2"/>
          </a:solidFill>
          <a:ln>
            <a:noFill/>
          </a:ln>
        </p:spPr>
        <p:txBody>
          <a:bodyPr wrap="square" lIns="73152" tIns="73152" rIns="73152" bIns="73152" rtlCol="0" anchor="ctr">
            <a:noAutofit/>
          </a:bodyPr>
          <a:lstStyle/>
          <a:p>
            <a:pPr marL="0" indent="0" algn="l">
              <a:spcAft>
                <a:spcPts val="0"/>
              </a:spcAft>
              <a:buNone/>
            </a:pPr>
            <a:r>
              <a:rPr lang="en-GB" sz="1250" dirty="0">
                <a:solidFill>
                  <a:srgbClr val="333333"/>
                </a:solidFill>
              </a:rPr>
              <a:t>stored in .vscode/settings.json</a:t>
            </a:r>
            <a:endParaRPr lang="en-GB" sz="1400" dirty="0"/>
          </a:p>
        </p:txBody>
      </p:sp>
      <p:sp>
        <p:nvSpPr>
          <p:cNvPr id="120" name="Panel 120"/>
          <p:cNvSpPr/>
          <p:nvPr/>
        </p:nvSpPr>
        <p:spPr>
          <a:xfrm>
            <a:off x="8183880" y="1874520"/>
            <a:ext cx="3154680" cy="3611880"/>
          </a:xfrm>
          <a:prstGeom prst="roundRect">
            <a:avLst>
              <a:gd name="adj" fmla="val 5000"/>
            </a:avLst>
          </a:prstGeom>
          <a:solidFill>
            <a:srgbClr val="F4F4F4"/>
          </a:solidFill>
          <a:ln>
            <a:noFill/>
          </a:ln>
        </p:spPr>
        <p:txBody>
          <a:bodyPr/>
          <a:lstStyle/>
          <a:p>
            <a:endParaRPr lang="fr-FR"/>
          </a:p>
        </p:txBody>
      </p:sp>
      <p:sp>
        <p:nvSpPr>
          <p:cNvPr id="121" name="Text 121"/>
          <p:cNvSpPr txBox="1"/>
          <p:nvPr/>
        </p:nvSpPr>
        <p:spPr>
          <a:xfrm>
            <a:off x="8366760" y="1965960"/>
            <a:ext cx="2880360" cy="365760"/>
          </a:xfrm>
          <a:prstGeom prst="rect">
            <a:avLst/>
          </a:prstGeom>
          <a:noFill/>
          <a:ln>
            <a:noFill/>
          </a:ln>
        </p:spPr>
        <p:txBody>
          <a:bodyPr wrap="square" lIns="0" tIns="0" rIns="0" bIns="0" rtlCol="0" anchor="t">
            <a:noAutofit/>
          </a:bodyPr>
          <a:lstStyle/>
          <a:p>
            <a:pPr marL="0" indent="0" algn="l">
              <a:spcAft>
                <a:spcPts val="0"/>
              </a:spcAft>
              <a:buNone/>
            </a:pPr>
            <a:r>
              <a:rPr lang="en-GB" sz="1400" b="1" dirty="0">
                <a:solidFill>
                  <a:srgbClr val="E20613"/>
                </a:solidFill>
              </a:rPr>
              <a:t>One folder, both IDEs</a:t>
            </a:r>
            <a:endParaRPr lang="en-GB" sz="1400" dirty="0"/>
          </a:p>
        </p:txBody>
      </p:sp>
      <p:sp>
        <p:nvSpPr>
          <p:cNvPr id="122" name="Text 122"/>
          <p:cNvSpPr txBox="1"/>
          <p:nvPr/>
        </p:nvSpPr>
        <p:spPr>
          <a:xfrm>
            <a:off x="8366760" y="2377440"/>
            <a:ext cx="2880360" cy="2377440"/>
          </a:xfrm>
          <a:prstGeom prst="rect">
            <a:avLst/>
          </a:prstGeom>
          <a:noFill/>
          <a:ln>
            <a:noFill/>
          </a:ln>
        </p:spPr>
        <p:txBody>
          <a:bodyPr wrap="square" lIns="0" tIns="0" rIns="0" bIns="0" rtlCol="0" anchor="t">
            <a:noAutofit/>
          </a:bodyPr>
          <a:lstStyle/>
          <a:p>
            <a:pPr marL="0" indent="0" algn="l">
              <a:spcAft>
                <a:spcPts val="300"/>
              </a:spcAft>
              <a:buNone/>
            </a:pPr>
            <a:r>
              <a:rPr lang="en-GB" sz="1300" b="1" dirty="0">
                <a:solidFill>
                  <a:srgbClr val="333333"/>
                </a:solidFill>
                <a:latin typeface="Courier New"/>
                <a:cs typeface="Courier New"/>
              </a:rPr>
              <a:t>Rcourse/</a:t>
            </a:r>
            <a:endParaRPr lang="en-GB" sz="1400" dirty="0"/>
          </a:p>
          <a:p>
            <a:pPr marL="0" indent="0" algn="l">
              <a:spcAft>
                <a:spcPts val="300"/>
              </a:spcAft>
              <a:buNone/>
            </a:pPr>
            <a:r>
              <a:rPr lang="en-GB" sz="1300" dirty="0">
                <a:solidFill>
                  <a:srgbClr val="333333"/>
                </a:solidFill>
                <a:latin typeface="Courier New"/>
                <a:cs typeface="Courier New"/>
              </a:rPr>
              <a:t>├─ data/</a:t>
            </a:r>
            <a:endParaRPr lang="en-GB" sz="1400" dirty="0"/>
          </a:p>
          <a:p>
            <a:pPr marL="0" indent="0" algn="l">
              <a:spcAft>
                <a:spcPts val="300"/>
              </a:spcAft>
              <a:buNone/>
            </a:pPr>
            <a:r>
              <a:rPr lang="en-GB" sz="1300" dirty="0">
                <a:solidFill>
                  <a:srgbClr val="333333"/>
                </a:solidFill>
                <a:latin typeface="Courier New"/>
                <a:cs typeface="Courier New"/>
              </a:rPr>
              <a:t>├─ scripts/</a:t>
            </a:r>
            <a:endParaRPr lang="en-GB" sz="1400" dirty="0"/>
          </a:p>
          <a:p>
            <a:pPr marL="0" indent="0" algn="l">
              <a:spcAft>
                <a:spcPts val="300"/>
              </a:spcAft>
              <a:buNone/>
            </a:pPr>
            <a:r>
              <a:rPr lang="en-GB" sz="1300" dirty="0">
                <a:solidFill>
                  <a:srgbClr val="333333"/>
                </a:solidFill>
                <a:latin typeface="Courier New"/>
                <a:cs typeface="Courier New"/>
              </a:rPr>
              <a:t>│  └─ ex1.R</a:t>
            </a:r>
            <a:endParaRPr lang="en-GB" sz="1400" dirty="0"/>
          </a:p>
          <a:p>
            <a:pPr marL="0" indent="0" algn="l">
              <a:spcAft>
                <a:spcPts val="300"/>
              </a:spcAft>
              <a:buNone/>
            </a:pPr>
            <a:r>
              <a:rPr lang="en-GB" sz="1300" dirty="0">
                <a:solidFill>
                  <a:srgbClr val="6B6B6B"/>
                </a:solidFill>
                <a:latin typeface="Courier New"/>
                <a:cs typeface="Courier New"/>
              </a:rPr>
              <a:t>├─ Rcourse.Rproj</a:t>
            </a:r>
            <a:r>
              <a:rPr lang="en-GB" sz="1100" i="1" dirty="0">
                <a:solidFill>
                  <a:srgbClr val="E20613"/>
                </a:solidFill>
              </a:rPr>
              <a:t>  RStudio</a:t>
            </a:r>
            <a:endParaRPr lang="en-GB" sz="1400" dirty="0"/>
          </a:p>
          <a:p>
            <a:pPr marL="0" indent="0" algn="l">
              <a:spcAft>
                <a:spcPts val="300"/>
              </a:spcAft>
              <a:buNone/>
            </a:pPr>
            <a:r>
              <a:rPr lang="en-GB" sz="1300" dirty="0">
                <a:solidFill>
                  <a:srgbClr val="6B6B6B"/>
                </a:solidFill>
                <a:latin typeface="Courier New"/>
                <a:cs typeface="Courier New"/>
              </a:rPr>
              <a:t>└─ .vscode/</a:t>
            </a:r>
            <a:r>
              <a:rPr lang="en-GB" sz="1100" i="1" dirty="0">
                <a:solidFill>
                  <a:srgbClr val="E20613"/>
                </a:solidFill>
              </a:rPr>
              <a:t>  Positron</a:t>
            </a:r>
            <a:endParaRPr lang="en-GB" sz="1400" dirty="0"/>
          </a:p>
          <a:p>
            <a:pPr marL="0" indent="0" algn="l">
              <a:spcAft>
                <a:spcPts val="300"/>
              </a:spcAft>
              <a:buNone/>
            </a:pPr>
            <a:r>
              <a:rPr lang="en-GB" sz="1300" dirty="0">
                <a:solidFill>
                  <a:srgbClr val="6B6B6B"/>
                </a:solidFill>
                <a:latin typeface="Courier New"/>
                <a:cs typeface="Courier New"/>
              </a:rPr>
              <a:t>   └─ settings.json</a:t>
            </a:r>
            <a:endParaRPr lang="en-GB" sz="1400" dirty="0"/>
          </a:p>
        </p:txBody>
      </p:sp>
      <p:sp>
        <p:nvSpPr>
          <p:cNvPr id="123" name="Text 123"/>
          <p:cNvSpPr txBox="1"/>
          <p:nvPr/>
        </p:nvSpPr>
        <p:spPr>
          <a:xfrm>
            <a:off x="8366760" y="4572000"/>
            <a:ext cx="2834640" cy="868680"/>
          </a:xfrm>
          <a:prstGeom prst="rect">
            <a:avLst/>
          </a:prstGeom>
          <a:noFill/>
          <a:ln>
            <a:noFill/>
          </a:ln>
        </p:spPr>
        <p:txBody>
          <a:bodyPr wrap="square" lIns="0" tIns="0" rIns="0" bIns="0" rtlCol="0" anchor="t">
            <a:noAutofit/>
          </a:bodyPr>
          <a:lstStyle/>
          <a:p>
            <a:pPr marL="0" indent="0" algn="l">
              <a:spcAft>
                <a:spcPts val="0"/>
              </a:spcAft>
              <a:buNone/>
            </a:pPr>
            <a:r>
              <a:rPr lang="en-GB" sz="1200" i="1" dirty="0">
                <a:solidFill>
                  <a:srgbClr val="6B6B6B"/>
                </a:solidFill>
              </a:rPr>
              <a:t>Positron ignores the .Rproj file, so both IDEs can open the same folder.</a:t>
            </a:r>
            <a:endParaRPr lang="en-GB" sz="1400" dirty="0"/>
          </a:p>
        </p:txBody>
      </p:sp>
      <p:sp>
        <p:nvSpPr>
          <p:cNvPr id="124" name="Message 124"/>
          <p:cNvSpPr/>
          <p:nvPr/>
        </p:nvSpPr>
        <p:spPr>
          <a:xfrm>
            <a:off x="841248" y="5577840"/>
            <a:ext cx="10515600" cy="502920"/>
          </a:xfrm>
          <a:prstGeom prst="roundRect">
            <a:avLst>
              <a:gd name="adj" fmla="val 12000"/>
            </a:avLst>
          </a:prstGeom>
          <a:solidFill>
            <a:srgbClr val="FDECED"/>
          </a:solidFill>
          <a:ln>
            <a:noFill/>
          </a:ln>
        </p:spPr>
        <p:txBody>
          <a:bodyPr wrap="square" lIns="137160" tIns="137160" rIns="137160" bIns="137160" rtlCol="0" anchor="ctr">
            <a:noAutofit/>
          </a:bodyPr>
          <a:lstStyle/>
          <a:p>
            <a:pPr marL="0" indent="0" algn="l">
              <a:spcAft>
                <a:spcPts val="0"/>
              </a:spcAft>
              <a:buNone/>
            </a:pPr>
            <a:r>
              <a:rPr lang="en-GB" sz="1400" b="1" dirty="0">
                <a:solidFill>
                  <a:srgbClr val="E20613"/>
                </a:solidFill>
              </a:rPr>
              <a:t>Same rule as in RStudio: </a:t>
            </a:r>
            <a:r>
              <a:rPr lang="en-GB" sz="1400" dirty="0">
                <a:solidFill>
                  <a:srgbClr val="333333"/>
                </a:solidFill>
              </a:rPr>
              <a:t>one folder per analysis, open the folder, and use relative paths inside it.</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DE29A-E0A6-1616-A738-E15FECB90B1C}"/>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439EC832-8064-70BF-AD3D-4720FA89F094}"/>
              </a:ext>
            </a:extLst>
          </p:cNvPr>
          <p:cNvSpPr txBox="1">
            <a:spLocks/>
          </p:cNvSpPr>
          <p:nvPr/>
        </p:nvSpPr>
        <p:spPr>
          <a:xfrm>
            <a:off x="838200" y="1123950"/>
            <a:ext cx="10515600" cy="5313363"/>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2"/>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2"/>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Tx/>
              <a:buAutoNum type="arabicPeriod"/>
            </a:pPr>
            <a:r>
              <a:rPr lang="en-GB" dirty="0">
                <a:ea typeface="Tahoma"/>
                <a:cs typeface="Gill Sans Light"/>
              </a:rPr>
              <a:t>Look at your project option (Tools &gt; Project Options). If needed, modify them to save your workspace and history and to restore them at startup.</a:t>
            </a:r>
          </a:p>
          <a:p>
            <a:pPr marL="457200" indent="-457200">
              <a:buFontTx/>
              <a:buAutoNum type="arabicPeriod"/>
            </a:pPr>
            <a:r>
              <a:rPr lang="en-GB" dirty="0">
                <a:ea typeface="Tahoma"/>
                <a:cs typeface="Gill Sans Light"/>
              </a:rPr>
              <a:t>Check that it works: </a:t>
            </a:r>
          </a:p>
          <a:p>
            <a:pPr marL="815975" lvl="1" indent="-457200">
              <a:buFontTx/>
              <a:buAutoNum type="arabicPeriod"/>
            </a:pPr>
            <a:r>
              <a:rPr lang="en-GB" dirty="0">
                <a:ea typeface="Tahoma"/>
                <a:cs typeface="Gill Sans Light"/>
              </a:rPr>
              <a:t>Close </a:t>
            </a:r>
            <a:r>
              <a:rPr lang="en-GB" dirty="0" err="1">
                <a:ea typeface="Tahoma"/>
                <a:cs typeface="Gill Sans Light"/>
              </a:rPr>
              <a:t>Rstudio</a:t>
            </a:r>
          </a:p>
          <a:p>
            <a:pPr marL="815975" lvl="1" indent="-457200">
              <a:buFontTx/>
              <a:buAutoNum type="arabicPeriod"/>
            </a:pPr>
            <a:r>
              <a:rPr lang="en-GB" dirty="0">
                <a:ea typeface="Tahoma"/>
                <a:cs typeface="Gill Sans Light"/>
              </a:rPr>
              <a:t>Double-click the .</a:t>
            </a:r>
            <a:r>
              <a:rPr lang="en-GB" dirty="0" err="1">
                <a:ea typeface="Tahoma"/>
                <a:cs typeface="Gill Sans Light"/>
              </a:rPr>
              <a:t>Rproj</a:t>
            </a:r>
            <a:r>
              <a:rPr lang="en-GB" dirty="0">
                <a:ea typeface="Tahoma"/>
                <a:cs typeface="Gill Sans Light"/>
              </a:rPr>
              <a:t> file</a:t>
            </a:r>
          </a:p>
          <a:p>
            <a:pPr marL="815975" lvl="1" indent="-457200">
              <a:buFontTx/>
              <a:buAutoNum type="arabicPeriod"/>
            </a:pPr>
            <a:r>
              <a:rPr lang="en-GB" dirty="0">
                <a:ea typeface="Tahoma"/>
                <a:cs typeface="Gill Sans Light"/>
              </a:rPr>
              <a:t>Does the project open? Is your workspace empty?</a:t>
            </a:r>
          </a:p>
          <a:p>
            <a:pPr marL="457200" indent="-457200">
              <a:buFontTx/>
              <a:buAutoNum type="arabicPeriod"/>
            </a:pPr>
            <a:r>
              <a:rPr lang="en-GB" dirty="0">
                <a:ea typeface="Tahoma"/>
                <a:cs typeface="Gill Sans Light"/>
              </a:rPr>
              <a:t>Check other behaviours:</a:t>
            </a:r>
          </a:p>
          <a:p>
            <a:pPr marL="815975" lvl="1" indent="-457200">
              <a:buFontTx/>
              <a:buAutoNum type="arabicPeriod"/>
            </a:pPr>
            <a:r>
              <a:rPr lang="en-GB" dirty="0">
                <a:ea typeface="Tahoma"/>
                <a:cs typeface="Gill Sans Light"/>
              </a:rPr>
              <a:t>Close your project</a:t>
            </a:r>
            <a:endParaRPr lang="en-GB" dirty="0"/>
          </a:p>
          <a:p>
            <a:pPr marL="815975" lvl="1" indent="-457200">
              <a:buFontTx/>
              <a:buAutoNum type="arabicPeriod"/>
            </a:pPr>
            <a:r>
              <a:rPr lang="en-GB" dirty="0">
                <a:ea typeface="Tahoma"/>
                <a:cs typeface="Gill Sans Light"/>
              </a:rPr>
              <a:t>Open your project again from </a:t>
            </a:r>
            <a:r>
              <a:rPr lang="en-GB" dirty="0" err="1">
                <a:ea typeface="Tahoma"/>
                <a:cs typeface="Gill Sans Light"/>
              </a:rPr>
              <a:t>Rstudio</a:t>
            </a:r>
          </a:p>
          <a:p>
            <a:pPr marL="457200" lvl="1" indent="-457200">
              <a:buAutoNum type="arabicPeriod"/>
            </a:pPr>
            <a:endParaRPr lang="en-GB"/>
          </a:p>
        </p:txBody>
      </p:sp>
      <p:sp>
        <p:nvSpPr>
          <p:cNvPr id="8" name="Title 1">
            <a:extLst>
              <a:ext uri="{FF2B5EF4-FFF2-40B4-BE49-F238E27FC236}">
                <a16:creationId xmlns:a16="http://schemas.microsoft.com/office/drawing/2014/main" id="{9803D3A5-3615-A939-E4EA-AF2160F11729}"/>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- 2bis</a:t>
            </a:r>
            <a:endParaRPr lang="en-US" dirty="0"/>
          </a:p>
        </p:txBody>
      </p:sp>
    </p:spTree>
    <p:extLst>
      <p:ext uri="{BB962C8B-B14F-4D97-AF65-F5344CB8AC3E}">
        <p14:creationId xmlns:p14="http://schemas.microsoft.com/office/powerpoint/2010/main" val="15497825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0745B-DF0B-39E5-1148-62C1B152D7CC}"/>
              </a:ext>
            </a:extLst>
          </p:cNvPr>
          <p:cNvSpPr>
            <a:spLocks noGrp="1"/>
          </p:cNvSpPr>
          <p:nvPr>
            <p:ph type="title"/>
          </p:nvPr>
        </p:nvSpPr>
        <p:spPr/>
        <p:txBody>
          <a:bodyPr/>
          <a:lstStyle/>
          <a:p>
            <a:r>
              <a:rPr lang="en-GB" dirty="0">
                <a:ea typeface="Verdana"/>
                <a:cs typeface="Gill Sans"/>
              </a:rPr>
              <a:t>Saving the Workspace (.</a:t>
            </a:r>
            <a:r>
              <a:rPr lang="en-GB" dirty="0" err="1">
                <a:ea typeface="Verdana"/>
                <a:cs typeface="Gill Sans"/>
              </a:rPr>
              <a:t>Rdata</a:t>
            </a:r>
            <a:r>
              <a:rPr lang="en-GB" dirty="0">
                <a:ea typeface="Verdana"/>
                <a:cs typeface="Gill Sans"/>
              </a:rPr>
              <a:t> file)</a:t>
            </a:r>
            <a:endParaRPr lang="en-GB" dirty="0"/>
          </a:p>
        </p:txBody>
      </p:sp>
      <p:sp>
        <p:nvSpPr>
          <p:cNvPr id="3" name="Text Placeholder 2">
            <a:extLst>
              <a:ext uri="{FF2B5EF4-FFF2-40B4-BE49-F238E27FC236}">
                <a16:creationId xmlns:a16="http://schemas.microsoft.com/office/drawing/2014/main" id="{64AAABF1-F95F-7C91-3DA3-28E20B384380}"/>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You have the option of saving one or several variable to a file for later use</a:t>
            </a:r>
            <a:endParaRPr lang="en-US" dirty="0"/>
          </a:p>
          <a:p>
            <a:endParaRPr lang="en-GB" sz="2000" dirty="0">
              <a:latin typeface="Courier New"/>
            </a:endParaRPr>
          </a:p>
          <a:p>
            <a:r>
              <a:rPr lang="en-GB" sz="2000" dirty="0" err="1">
                <a:latin typeface="Courier New"/>
                <a:ea typeface="Tahoma"/>
                <a:cs typeface="Gill Sans Light"/>
              </a:rPr>
              <a:t>save.image</a:t>
            </a:r>
            <a:r>
              <a:rPr lang="en-GB" sz="2000" dirty="0">
                <a:latin typeface="Courier New"/>
                <a:ea typeface="Tahoma"/>
                <a:cs typeface="Gill Sans Light"/>
              </a:rPr>
              <a:t>("</a:t>
            </a:r>
            <a:r>
              <a:rPr lang="en-GB" sz="2000" dirty="0" err="1">
                <a:latin typeface="Courier New"/>
                <a:ea typeface="Tahoma"/>
                <a:cs typeface="Gill Sans Light"/>
              </a:rPr>
              <a:t>my_workspace.RData</a:t>
            </a:r>
            <a:r>
              <a:rPr lang="en-GB" sz="2000" dirty="0">
                <a:latin typeface="Courier New"/>
                <a:ea typeface="Tahoma"/>
                <a:cs typeface="Gill Sans Light"/>
              </a:rPr>
              <a:t>") # saves the entire workspace</a:t>
            </a:r>
            <a:endParaRPr lang="en-GB" sz="2000" dirty="0">
              <a:latin typeface="Courier New"/>
            </a:endParaRPr>
          </a:p>
          <a:p>
            <a:r>
              <a:rPr lang="en-GB" sz="2000" dirty="0">
                <a:latin typeface="Courier New"/>
                <a:ea typeface="Tahoma"/>
                <a:cs typeface="Gill Sans Light"/>
              </a:rPr>
              <a:t>save(</a:t>
            </a:r>
            <a:r>
              <a:rPr lang="en-GB" sz="2000" err="1">
                <a:latin typeface="Courier New"/>
                <a:ea typeface="Tahoma"/>
                <a:cs typeface="Gill Sans Light"/>
              </a:rPr>
              <a:t>x,y,file</a:t>
            </a:r>
            <a:r>
              <a:rPr lang="en-GB" sz="2000" dirty="0">
                <a:latin typeface="Courier New"/>
                <a:ea typeface="Tahoma"/>
                <a:cs typeface="Gill Sans Light"/>
              </a:rPr>
              <a:t>="</a:t>
            </a:r>
            <a:r>
              <a:rPr lang="en-GB" sz="2000" err="1">
                <a:latin typeface="Courier New"/>
                <a:ea typeface="Tahoma"/>
                <a:cs typeface="Gill Sans Light"/>
              </a:rPr>
              <a:t>precious_objects.RData</a:t>
            </a:r>
            <a:r>
              <a:rPr lang="en-GB" sz="2000" dirty="0">
                <a:latin typeface="Courier New"/>
                <a:ea typeface="Tahoma"/>
                <a:cs typeface="Gill Sans Light"/>
              </a:rPr>
              <a:t>") # saves specific objects</a:t>
            </a:r>
            <a:endParaRPr lang="en-GB" sz="2000" dirty="0">
              <a:latin typeface="Courier New"/>
            </a:endParaRPr>
          </a:p>
          <a:p>
            <a:endParaRPr lang="en-GB" dirty="0">
              <a:latin typeface="Courier New"/>
            </a:endParaRPr>
          </a:p>
          <a:p>
            <a:r>
              <a:rPr lang="en-GB" dirty="0">
                <a:latin typeface="Corbel"/>
                <a:ea typeface="Tahoma"/>
                <a:cs typeface="Gill Sans Light"/>
              </a:rPr>
              <a:t>You can use load() to read the objects in any R session:</a:t>
            </a:r>
          </a:p>
          <a:p>
            <a:r>
              <a:rPr lang="en-GB" dirty="0">
                <a:latin typeface="Courier New"/>
                <a:ea typeface="Tahoma"/>
                <a:cs typeface="Gill Sans Light"/>
              </a:rPr>
              <a:t>load("</a:t>
            </a:r>
            <a:r>
              <a:rPr lang="en-GB" err="1">
                <a:latin typeface="Courier New"/>
                <a:ea typeface="Tahoma"/>
                <a:cs typeface="Gill Sans Light"/>
              </a:rPr>
              <a:t>precious_objects.RData</a:t>
            </a:r>
            <a:r>
              <a:rPr lang="en-GB" dirty="0">
                <a:latin typeface="Courier New"/>
                <a:ea typeface="Tahoma"/>
                <a:cs typeface="Gill Sans Light"/>
              </a:rPr>
              <a:t>")</a:t>
            </a:r>
            <a:endParaRPr lang="en-GB" dirty="0">
              <a:latin typeface="Courier New"/>
            </a:endParaRPr>
          </a:p>
          <a:p>
            <a:endParaRPr lang="en-GB" dirty="0">
              <a:latin typeface="Corbel"/>
            </a:endParaRPr>
          </a:p>
          <a:p>
            <a:endParaRPr lang="en-GB" dirty="0">
              <a:latin typeface="Corbel"/>
            </a:endParaRPr>
          </a:p>
        </p:txBody>
      </p:sp>
      <p:pic>
        <p:nvPicPr>
          <p:cNvPr id="5" name="Image 20" descr="A red and black logo&#10;&#10;Description automatically generated">
            <a:extLst>
              <a:ext uri="{FF2B5EF4-FFF2-40B4-BE49-F238E27FC236}">
                <a16:creationId xmlns:a16="http://schemas.microsoft.com/office/drawing/2014/main" id="{885362B8-3B72-F871-69BB-A1C059F588FC}"/>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1F03FE50-D376-61C9-D20B-7E27311D822B}"/>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This is useful to save intermediate results files</a:t>
            </a:r>
          </a:p>
          <a:p>
            <a:r>
              <a:rPr lang="en-GB" sz="2400" b="1" dirty="0"/>
              <a:t>Or to pass a bunch of R objects to someone else</a:t>
            </a:r>
          </a:p>
        </p:txBody>
      </p:sp>
    </p:spTree>
    <p:extLst>
      <p:ext uri="{BB962C8B-B14F-4D97-AF65-F5344CB8AC3E}">
        <p14:creationId xmlns:p14="http://schemas.microsoft.com/office/powerpoint/2010/main" val="31359555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F3594-B925-A69C-6416-A29209BA10D1}"/>
              </a:ext>
            </a:extLst>
          </p:cNvPr>
          <p:cNvSpPr>
            <a:spLocks noGrp="1"/>
          </p:cNvSpPr>
          <p:nvPr>
            <p:ph type="title"/>
          </p:nvPr>
        </p:nvSpPr>
        <p:spPr/>
        <p:txBody>
          <a:bodyPr/>
          <a:lstStyle/>
          <a:p>
            <a:r>
              <a:rPr lang="en-GB" dirty="0">
                <a:ea typeface="Verdana"/>
                <a:cs typeface="Gill Sans"/>
              </a:rPr>
              <a:t>Packages</a:t>
            </a:r>
          </a:p>
        </p:txBody>
      </p:sp>
      <p:sp>
        <p:nvSpPr>
          <p:cNvPr id="101" name="Explain 101"/>
          <p:cNvSpPr txBox="1"/>
          <p:nvPr/>
        </p:nvSpPr>
        <p:spPr>
          <a:xfrm>
            <a:off x="841248" y="1143000"/>
            <a:ext cx="5760720" cy="3840480"/>
          </a:xfrm>
          <a:prstGeom prst="rect">
            <a:avLst/>
          </a:prstGeom>
          <a:noFill/>
          <a:ln>
            <a:noFill/>
          </a:ln>
        </p:spPr>
        <p:txBody>
          <a:bodyPr wrap="square" lIns="0" tIns="0" rIns="0" bIns="0" rtlCol="0" anchor="t">
            <a:noAutofit/>
          </a:bodyPr>
          <a:lstStyle/>
          <a:p>
            <a:pPr marL="0" indent="0" algn="l">
              <a:spcAft>
                <a:spcPts val="600"/>
              </a:spcAft>
              <a:buNone/>
            </a:pPr>
            <a:r>
              <a:rPr lang="en-GB" sz="1600" dirty="0"/>
              <a:t>A </a:t>
            </a:r>
            <a:r>
              <a:rPr lang="en-GB" sz="1600" b="1" dirty="0"/>
              <a:t>package</a:t>
            </a:r>
            <a:r>
              <a:rPr lang="en-GB" sz="1600" dirty="0"/>
              <a:t> is a bundle of R code that someone wrote, documented and shared, so that others can reuse it.</a:t>
            </a:r>
            <a:endParaRPr lang="en-GB" sz="1400" dirty="0"/>
          </a:p>
          <a:p>
            <a:pPr marL="285750" indent="-285750" algn="l">
              <a:spcAft>
                <a:spcPts val="300"/>
              </a:spcAft>
              <a:buFont typeface="Arial"/>
              <a:buChar char="•"/>
            </a:pPr>
            <a:r>
              <a:rPr lang="en-GB" sz="1500" dirty="0"/>
              <a:t>Installing a package adds new functions (and sometimes datasets) to R.</a:t>
            </a:r>
            <a:endParaRPr lang="en-GB" sz="1400" dirty="0"/>
          </a:p>
          <a:p>
            <a:pPr marL="285750" indent="-285750" algn="l">
              <a:spcAft>
                <a:spcPts val="800"/>
              </a:spcAft>
              <a:buFont typeface="Arial"/>
              <a:buChar char="•"/>
            </a:pPr>
            <a:r>
              <a:rPr lang="en-GB" sz="1500" dirty="0"/>
              <a:t>Base R comes with only a small set of packages; thousands more are developed by the community.</a:t>
            </a:r>
            <a:endParaRPr lang="en-GB" sz="1400" dirty="0"/>
          </a:p>
          <a:p>
            <a:pPr marL="0" indent="0" algn="l">
              <a:spcAft>
                <a:spcPts val="800"/>
              </a:spcAft>
              <a:buNone/>
            </a:pPr>
            <a:r>
              <a:rPr lang="en-GB" sz="1400" i="1" dirty="0">
                <a:solidFill>
                  <a:srgbClr val="6B6B6B"/>
                </a:solidFill>
              </a:rPr>
              <a:t>Analogy: R is a smartphone, packages are its apps. You install an app once, and open it each time you want to use it.</a:t>
            </a:r>
            <a:endParaRPr lang="en-GB" sz="1400" dirty="0"/>
          </a:p>
          <a:p>
            <a:pPr marL="0" indent="0" algn="l">
              <a:spcAft>
                <a:spcPts val="300"/>
              </a:spcAft>
              <a:buNone/>
            </a:pPr>
            <a:r>
              <a:rPr lang="en-GB" sz="1500" b="1" dirty="0"/>
              <a:t>Two main repositories for life sciences</a:t>
            </a:r>
            <a:endParaRPr lang="en-GB" sz="1400" dirty="0"/>
          </a:p>
          <a:p>
            <a:pPr marL="285750" indent="-285750" algn="l">
              <a:spcAft>
                <a:spcPts val="300"/>
              </a:spcAft>
              <a:buFont typeface="Arial"/>
              <a:buChar char="•"/>
            </a:pPr>
            <a:r>
              <a:rPr lang="en-GB" sz="1400" b="1" dirty="0"/>
              <a:t>CRAN</a:t>
            </a:r>
            <a:r>
              <a:rPr lang="en-GB" sz="1400" dirty="0"/>
              <a:t> (</a:t>
            </a:r>
            <a:r>
              <a:rPr lang="en-GB" sz="1400" dirty="0">
                <a:solidFill>
                  <a:srgbClr val="3368ED"/>
                </a:solidFill>
                <a:hlinkClick r:id="rId2"/>
              </a:rPr>
              <a:t>cran.r-project.org</a:t>
            </a:r>
            <a:r>
              <a:rPr lang="en-GB" sz="1400" dirty="0"/>
              <a:t>): the main R repository</a:t>
            </a:r>
          </a:p>
          <a:p>
            <a:pPr marL="285750" indent="-285750" algn="l">
              <a:spcAft>
                <a:spcPts val="0"/>
              </a:spcAft>
              <a:buFont typeface="Arial"/>
              <a:buChar char="•"/>
            </a:pPr>
            <a:r>
              <a:rPr lang="en-GB" sz="1400" b="1" dirty="0"/>
              <a:t>Bioconductor</a:t>
            </a:r>
            <a:r>
              <a:rPr lang="en-GB" sz="1400" dirty="0"/>
              <a:t> (bioconductor.org): bioinformatics, -omics analysis. Installed with BiocManager::install(), not install.packages()</a:t>
            </a:r>
          </a:p>
        </p:txBody>
      </p:sp>
      <p:sp>
        <p:nvSpPr>
          <p:cNvPr id="102" name="Package 102"/>
          <p:cNvSpPr/>
          <p:nvPr/>
        </p:nvSpPr>
        <p:spPr>
          <a:xfrm>
            <a:off x="6949440" y="1188720"/>
            <a:ext cx="4389120" cy="3657600"/>
          </a:xfrm>
          <a:prstGeom prst="roundRect">
            <a:avLst>
              <a:gd name="adj" fmla="val 5000"/>
            </a:avLst>
          </a:prstGeom>
          <a:noFill/>
          <a:ln w="28575">
            <a:solidFill>
              <a:srgbClr val="E20613"/>
            </a:solidFill>
          </a:ln>
        </p:spPr>
        <p:txBody>
          <a:bodyPr/>
          <a:lstStyle/>
          <a:p>
            <a:endParaRPr lang="en-CH"/>
          </a:p>
        </p:txBody>
      </p:sp>
      <p:sp>
        <p:nvSpPr>
          <p:cNvPr id="103" name="Text 103"/>
          <p:cNvSpPr txBox="1"/>
          <p:nvPr/>
        </p:nvSpPr>
        <p:spPr>
          <a:xfrm>
            <a:off x="7178040" y="1280160"/>
            <a:ext cx="3931920" cy="411480"/>
          </a:xfrm>
          <a:prstGeom prst="rect">
            <a:avLst/>
          </a:prstGeom>
          <a:noFill/>
          <a:ln>
            <a:noFill/>
          </a:ln>
        </p:spPr>
        <p:txBody>
          <a:bodyPr wrap="square" lIns="0" tIns="0" rIns="0" bIns="0" rtlCol="0" anchor="t">
            <a:noAutofit/>
          </a:bodyPr>
          <a:lstStyle/>
          <a:p>
            <a:pPr marL="0" indent="0" algn="l">
              <a:spcAft>
                <a:spcPts val="0"/>
              </a:spcAft>
              <a:buNone/>
            </a:pPr>
            <a:r>
              <a:rPr lang="en-GB" sz="1500" b="1" dirty="0">
                <a:solidFill>
                  <a:srgbClr val="E20613"/>
                </a:solidFill>
              </a:rPr>
              <a:t>Inside a package, e.g. </a:t>
            </a:r>
            <a:r>
              <a:rPr lang="en-GB" sz="1500" b="1" dirty="0">
                <a:solidFill>
                  <a:srgbClr val="E20613"/>
                </a:solidFill>
                <a:latin typeface="Courier New"/>
                <a:cs typeface="Courier New"/>
              </a:rPr>
              <a:t>readxl</a:t>
            </a:r>
            <a:endParaRPr lang="en-GB" sz="1400" dirty="0"/>
          </a:p>
        </p:txBody>
      </p:sp>
      <p:sp>
        <p:nvSpPr>
          <p:cNvPr id="104" name="Item 104"/>
          <p:cNvSpPr/>
          <p:nvPr/>
        </p:nvSpPr>
        <p:spPr>
          <a:xfrm>
            <a:off x="7178040" y="1737360"/>
            <a:ext cx="3931920" cy="676656"/>
          </a:xfrm>
          <a:prstGeom prst="roundRect">
            <a:avLst>
              <a:gd name="adj" fmla="val 12000"/>
            </a:avLst>
          </a:prstGeom>
          <a:solidFill>
            <a:srgbClr val="F2F2F2"/>
          </a:solidFill>
          <a:ln>
            <a:noFill/>
          </a:ln>
        </p:spPr>
        <p:txBody>
          <a:bodyPr wrap="square" lIns="109728" tIns="109728" rIns="109728" bIns="109728" rtlCol="0" anchor="ctr">
            <a:noAutofit/>
          </a:bodyPr>
          <a:lstStyle/>
          <a:p>
            <a:pPr marL="0" indent="0" algn="l">
              <a:spcAft>
                <a:spcPts val="0"/>
              </a:spcAft>
              <a:buNone/>
            </a:pPr>
            <a:r>
              <a:rPr lang="en-GB" sz="1400" b="1" dirty="0"/>
              <a:t>Functions</a:t>
            </a:r>
            <a:endParaRPr lang="en-GB" sz="1400" dirty="0"/>
          </a:p>
          <a:p>
            <a:pPr marL="0" indent="0" algn="l">
              <a:spcAft>
                <a:spcPts val="0"/>
              </a:spcAft>
              <a:buNone/>
            </a:pPr>
            <a:r>
              <a:rPr lang="en-GB" sz="1200" dirty="0">
                <a:solidFill>
                  <a:srgbClr val="6B6B6B"/>
                </a:solidFill>
              </a:rPr>
              <a:t>read_excel(), excel_sheets()</a:t>
            </a:r>
            <a:endParaRPr lang="en-GB" sz="1400" dirty="0"/>
          </a:p>
        </p:txBody>
      </p:sp>
      <p:sp>
        <p:nvSpPr>
          <p:cNvPr id="105" name="Item 105"/>
          <p:cNvSpPr/>
          <p:nvPr/>
        </p:nvSpPr>
        <p:spPr>
          <a:xfrm>
            <a:off x="7178040" y="2496312"/>
            <a:ext cx="3931920" cy="676656"/>
          </a:xfrm>
          <a:prstGeom prst="roundRect">
            <a:avLst>
              <a:gd name="adj" fmla="val 12000"/>
            </a:avLst>
          </a:prstGeom>
          <a:solidFill>
            <a:srgbClr val="F2F2F2"/>
          </a:solidFill>
          <a:ln>
            <a:noFill/>
          </a:ln>
        </p:spPr>
        <p:txBody>
          <a:bodyPr wrap="square" lIns="109728" tIns="109728" rIns="109728" bIns="109728" rtlCol="0" anchor="ctr">
            <a:noAutofit/>
          </a:bodyPr>
          <a:lstStyle/>
          <a:p>
            <a:pPr marL="0" indent="0" algn="l">
              <a:spcAft>
                <a:spcPts val="0"/>
              </a:spcAft>
              <a:buNone/>
            </a:pPr>
            <a:r>
              <a:rPr lang="en-GB" sz="1400" b="1" dirty="0"/>
              <a:t>Documentation</a:t>
            </a:r>
            <a:endParaRPr lang="en-GB" sz="1400" dirty="0"/>
          </a:p>
          <a:p>
            <a:pPr marL="0" indent="0" algn="l">
              <a:spcAft>
                <a:spcPts val="0"/>
              </a:spcAft>
              <a:buNone/>
            </a:pPr>
            <a:r>
              <a:rPr lang="en-GB" sz="1200" dirty="0">
                <a:solidFill>
                  <a:srgbClr val="6B6B6B"/>
                </a:solidFill>
              </a:rPr>
              <a:t>?read_excel, examples, tutorials</a:t>
            </a:r>
            <a:endParaRPr lang="en-GB" sz="1400" dirty="0"/>
          </a:p>
        </p:txBody>
      </p:sp>
      <p:sp>
        <p:nvSpPr>
          <p:cNvPr id="106" name="Item 106"/>
          <p:cNvSpPr/>
          <p:nvPr/>
        </p:nvSpPr>
        <p:spPr>
          <a:xfrm>
            <a:off x="7178040" y="3255264"/>
            <a:ext cx="3931920" cy="676656"/>
          </a:xfrm>
          <a:prstGeom prst="roundRect">
            <a:avLst>
              <a:gd name="adj" fmla="val 12000"/>
            </a:avLst>
          </a:prstGeom>
          <a:solidFill>
            <a:srgbClr val="F2F2F2"/>
          </a:solidFill>
          <a:ln>
            <a:noFill/>
          </a:ln>
        </p:spPr>
        <p:txBody>
          <a:bodyPr wrap="square" lIns="109728" tIns="109728" rIns="109728" bIns="109728" rtlCol="0" anchor="ctr">
            <a:noAutofit/>
          </a:bodyPr>
          <a:lstStyle/>
          <a:p>
            <a:pPr marL="0" indent="0" algn="l">
              <a:spcAft>
                <a:spcPts val="0"/>
              </a:spcAft>
              <a:buNone/>
            </a:pPr>
            <a:r>
              <a:rPr lang="en-GB" sz="1400" b="1" dirty="0"/>
              <a:t>Example data</a:t>
            </a:r>
            <a:endParaRPr lang="en-GB" sz="1400" dirty="0"/>
          </a:p>
          <a:p>
            <a:pPr marL="0" indent="0" algn="l">
              <a:spcAft>
                <a:spcPts val="0"/>
              </a:spcAft>
              <a:buNone/>
            </a:pPr>
            <a:r>
              <a:rPr lang="en-GB" sz="1200" dirty="0">
                <a:solidFill>
                  <a:srgbClr val="6B6B6B"/>
                </a:solidFill>
              </a:rPr>
              <a:t>small files to try the functions</a:t>
            </a:r>
            <a:endParaRPr lang="en-GB" sz="1400" dirty="0"/>
          </a:p>
        </p:txBody>
      </p:sp>
      <p:sp>
        <p:nvSpPr>
          <p:cNvPr id="107" name="Item 107"/>
          <p:cNvSpPr/>
          <p:nvPr/>
        </p:nvSpPr>
        <p:spPr>
          <a:xfrm>
            <a:off x="7178040" y="4014216"/>
            <a:ext cx="3931920" cy="676656"/>
          </a:xfrm>
          <a:prstGeom prst="roundRect">
            <a:avLst>
              <a:gd name="adj" fmla="val 12000"/>
            </a:avLst>
          </a:prstGeom>
          <a:solidFill>
            <a:srgbClr val="F2F2F2"/>
          </a:solidFill>
          <a:ln>
            <a:noFill/>
          </a:ln>
        </p:spPr>
        <p:txBody>
          <a:bodyPr wrap="square" lIns="109728" tIns="109728" rIns="109728" bIns="109728" rtlCol="0" anchor="ctr">
            <a:noAutofit/>
          </a:bodyPr>
          <a:lstStyle/>
          <a:p>
            <a:pPr marL="0" indent="0" algn="l">
              <a:spcAft>
                <a:spcPts val="0"/>
              </a:spcAft>
              <a:buNone/>
            </a:pPr>
            <a:r>
              <a:rPr lang="en-GB" sz="1400" b="1" dirty="0"/>
              <a:t>Dependencies</a:t>
            </a:r>
            <a:endParaRPr lang="en-GB" sz="1400" dirty="0"/>
          </a:p>
          <a:p>
            <a:pPr marL="0" indent="0" algn="l">
              <a:spcAft>
                <a:spcPts val="0"/>
              </a:spcAft>
              <a:buNone/>
            </a:pPr>
            <a:r>
              <a:rPr lang="en-GB" sz="1200" dirty="0">
                <a:solidFill>
                  <a:srgbClr val="6B6B6B"/>
                </a:solidFill>
              </a:rPr>
              <a:t>other packages it needs to work</a:t>
            </a:r>
            <a:endParaRPr lang="en-GB" sz="1400" dirty="0"/>
          </a:p>
        </p:txBody>
      </p:sp>
      <p:sp>
        <p:nvSpPr>
          <p:cNvPr id="108" name="Step 108"/>
          <p:cNvSpPr/>
          <p:nvPr/>
        </p:nvSpPr>
        <p:spPr>
          <a:xfrm>
            <a:off x="841248" y="5257800"/>
            <a:ext cx="2377440" cy="731520"/>
          </a:xfrm>
          <a:prstGeom prst="roundRect">
            <a:avLst/>
          </a:prstGeom>
          <a:solidFill>
            <a:srgbClr val="F2F2F2"/>
          </a:solidFill>
          <a:ln>
            <a:noFill/>
          </a:ln>
        </p:spPr>
        <p:txBody>
          <a:bodyPr wrap="square" lIns="36576" tIns="36576" rIns="36576" bIns="36576" rtlCol="0" anchor="ctr">
            <a:noAutofit/>
          </a:bodyPr>
          <a:lstStyle/>
          <a:p>
            <a:pPr marL="0" indent="0" algn="ctr">
              <a:spcAft>
                <a:spcPts val="0"/>
              </a:spcAft>
              <a:buNone/>
            </a:pPr>
            <a:r>
              <a:rPr lang="en-GB" sz="1400" b="1" dirty="0">
                <a:solidFill>
                  <a:srgbClr val="333333"/>
                </a:solidFill>
              </a:rPr>
              <a:t>Repository</a:t>
            </a:r>
            <a:endParaRPr lang="en-GB" sz="1400" dirty="0"/>
          </a:p>
          <a:p>
            <a:pPr marL="0" indent="0" algn="ctr">
              <a:spcAft>
                <a:spcPts val="0"/>
              </a:spcAft>
              <a:buNone/>
            </a:pPr>
            <a:r>
              <a:rPr lang="en-GB" sz="1150" dirty="0">
                <a:solidFill>
                  <a:srgbClr val="333333"/>
                </a:solidFill>
              </a:rPr>
              <a:t>CRAN / Bioconductor</a:t>
            </a:r>
            <a:endParaRPr lang="en-GB" sz="1400" dirty="0"/>
          </a:p>
        </p:txBody>
      </p:sp>
      <p:sp>
        <p:nvSpPr>
          <p:cNvPr id="109" name="Step 109"/>
          <p:cNvSpPr/>
          <p:nvPr/>
        </p:nvSpPr>
        <p:spPr>
          <a:xfrm>
            <a:off x="4910328" y="5257800"/>
            <a:ext cx="2377440" cy="731520"/>
          </a:xfrm>
          <a:prstGeom prst="roundRect">
            <a:avLst/>
          </a:prstGeom>
          <a:solidFill>
            <a:srgbClr val="F2F2F2"/>
          </a:solidFill>
          <a:ln>
            <a:noFill/>
          </a:ln>
        </p:spPr>
        <p:txBody>
          <a:bodyPr wrap="square" lIns="36576" tIns="36576" rIns="36576" bIns="36576" rtlCol="0" anchor="ctr">
            <a:noAutofit/>
          </a:bodyPr>
          <a:lstStyle/>
          <a:p>
            <a:pPr marL="0" indent="0" algn="ctr">
              <a:spcAft>
                <a:spcPts val="0"/>
              </a:spcAft>
              <a:buNone/>
            </a:pPr>
            <a:r>
              <a:rPr lang="en-GB" sz="1400" b="1" dirty="0">
                <a:solidFill>
                  <a:srgbClr val="333333"/>
                </a:solidFill>
              </a:rPr>
              <a:t>Your computer</a:t>
            </a:r>
            <a:endParaRPr lang="en-GB" sz="1400" dirty="0"/>
          </a:p>
          <a:p>
            <a:pPr marL="0" indent="0" algn="ctr">
              <a:spcAft>
                <a:spcPts val="0"/>
              </a:spcAft>
              <a:buNone/>
            </a:pPr>
            <a:r>
              <a:rPr lang="en-GB" sz="1150" dirty="0">
                <a:solidFill>
                  <a:srgbClr val="333333"/>
                </a:solidFill>
              </a:rPr>
              <a:t>package library folder</a:t>
            </a:r>
            <a:endParaRPr lang="en-GB" sz="1400" dirty="0"/>
          </a:p>
        </p:txBody>
      </p:sp>
      <p:sp>
        <p:nvSpPr>
          <p:cNvPr id="110" name="Step 110"/>
          <p:cNvSpPr/>
          <p:nvPr/>
        </p:nvSpPr>
        <p:spPr>
          <a:xfrm>
            <a:off x="8979408" y="5257800"/>
            <a:ext cx="2377440" cy="731520"/>
          </a:xfrm>
          <a:prstGeom prst="roundRect">
            <a:avLst/>
          </a:prstGeom>
          <a:solidFill>
            <a:srgbClr val="E20613"/>
          </a:solidFill>
          <a:ln>
            <a:noFill/>
          </a:ln>
        </p:spPr>
        <p:txBody>
          <a:bodyPr wrap="square" lIns="36576" tIns="36576" rIns="36576" bIns="36576" rtlCol="0" anchor="ctr">
            <a:noAutofit/>
          </a:bodyPr>
          <a:lstStyle/>
          <a:p>
            <a:pPr marL="0" indent="0" algn="ctr">
              <a:spcAft>
                <a:spcPts val="0"/>
              </a:spcAft>
              <a:buNone/>
            </a:pPr>
            <a:r>
              <a:rPr lang="en-GB" sz="1400" b="1" dirty="0">
                <a:solidFill>
                  <a:srgbClr val="FFFFFF"/>
                </a:solidFill>
              </a:rPr>
              <a:t>Your R session</a:t>
            </a:r>
            <a:endParaRPr lang="en-GB" sz="1400" dirty="0"/>
          </a:p>
          <a:p>
            <a:pPr marL="0" indent="0" algn="ctr">
              <a:spcAft>
                <a:spcPts val="0"/>
              </a:spcAft>
              <a:buNone/>
            </a:pPr>
            <a:r>
              <a:rPr lang="en-GB" sz="1150" dirty="0">
                <a:solidFill>
                  <a:srgbClr val="FFFFFF"/>
                </a:solidFill>
              </a:rPr>
              <a:t>functions ready to use</a:t>
            </a:r>
            <a:endParaRPr lang="en-GB" sz="1400" dirty="0"/>
          </a:p>
        </p:txBody>
      </p:sp>
      <p:cxnSp>
        <p:nvCxnSpPr>
          <p:cNvPr id="111" name="Arrow 111"/>
          <p:cNvCxnSpPr/>
          <p:nvPr/>
        </p:nvCxnSpPr>
        <p:spPr>
          <a:xfrm>
            <a:off x="3264408" y="5623560"/>
            <a:ext cx="1600200" cy="0"/>
          </a:xfrm>
          <a:prstGeom prst="line">
            <a:avLst/>
          </a:prstGeom>
          <a:ln w="25400">
            <a:solidFill>
              <a:srgbClr val="333333"/>
            </a:solidFill>
            <a:tailEnd type="triangle" w="med" len="med"/>
          </a:ln>
        </p:spPr>
      </p:cxnSp>
      <p:sp>
        <p:nvSpPr>
          <p:cNvPr id="301" name="Text 301"/>
          <p:cNvSpPr txBox="1"/>
          <p:nvPr/>
        </p:nvSpPr>
        <p:spPr>
          <a:xfrm>
            <a:off x="2967228" y="5138928"/>
            <a:ext cx="2194560" cy="457200"/>
          </a:xfrm>
          <a:prstGeom prst="rect">
            <a:avLst/>
          </a:prstGeom>
          <a:noFill/>
          <a:ln>
            <a:noFill/>
          </a:ln>
        </p:spPr>
        <p:txBody>
          <a:bodyPr wrap="square" lIns="0" tIns="0" rIns="0" bIns="0" rtlCol="0" anchor="b">
            <a:noAutofit/>
          </a:bodyPr>
          <a:lstStyle/>
          <a:p>
            <a:pPr marL="0" indent="0" algn="ctr">
              <a:spcAft>
                <a:spcPts val="0"/>
              </a:spcAft>
              <a:buNone/>
            </a:pPr>
            <a:r>
              <a:rPr lang="en-GB" sz="950" b="1" dirty="0">
                <a:latin typeface="Courier New"/>
                <a:cs typeface="Courier New"/>
              </a:rPr>
              <a:t>install.packages()</a:t>
            </a:r>
            <a:endParaRPr lang="en-GB" sz="1400" dirty="0"/>
          </a:p>
          <a:p>
            <a:pPr marL="0" indent="0" algn="ctr">
              <a:spcAft>
                <a:spcPts val="0"/>
              </a:spcAft>
              <a:buNone/>
            </a:pPr>
            <a:r>
              <a:rPr lang="en-GB" sz="950" b="1" dirty="0">
                <a:solidFill>
                  <a:srgbClr val="E20613"/>
                </a:solidFill>
                <a:latin typeface="Courier New"/>
                <a:cs typeface="Courier New"/>
              </a:rPr>
              <a:t>BiocManager::install()</a:t>
            </a:r>
            <a:endParaRPr lang="en-GB" sz="1400" dirty="0"/>
          </a:p>
        </p:txBody>
      </p:sp>
      <p:sp>
        <p:nvSpPr>
          <p:cNvPr id="113" name="Text 113"/>
          <p:cNvSpPr txBox="1"/>
          <p:nvPr/>
        </p:nvSpPr>
        <p:spPr>
          <a:xfrm>
            <a:off x="3172968" y="5669280"/>
            <a:ext cx="1783080" cy="274320"/>
          </a:xfrm>
          <a:prstGeom prst="rect">
            <a:avLst/>
          </a:prstGeom>
          <a:noFill/>
          <a:ln>
            <a:noFill/>
          </a:ln>
        </p:spPr>
        <p:txBody>
          <a:bodyPr wrap="square" lIns="0" tIns="0" rIns="0" bIns="0" rtlCol="0" anchor="t">
            <a:noAutofit/>
          </a:bodyPr>
          <a:lstStyle/>
          <a:p>
            <a:pPr marL="0" indent="0" algn="ctr">
              <a:spcAft>
                <a:spcPts val="0"/>
              </a:spcAft>
              <a:buNone/>
            </a:pPr>
            <a:r>
              <a:rPr lang="en-GB" sz="1100" i="1" dirty="0">
                <a:solidFill>
                  <a:srgbClr val="6B6B6B"/>
                </a:solidFill>
              </a:rPr>
              <a:t>once</a:t>
            </a:r>
            <a:endParaRPr lang="en-GB" sz="1400" dirty="0"/>
          </a:p>
        </p:txBody>
      </p:sp>
      <p:cxnSp>
        <p:nvCxnSpPr>
          <p:cNvPr id="114" name="Arrow 114"/>
          <p:cNvCxnSpPr/>
          <p:nvPr/>
        </p:nvCxnSpPr>
        <p:spPr>
          <a:xfrm>
            <a:off x="7333488" y="5623560"/>
            <a:ext cx="1600200" cy="0"/>
          </a:xfrm>
          <a:prstGeom prst="line">
            <a:avLst/>
          </a:prstGeom>
          <a:ln w="25400">
            <a:solidFill>
              <a:srgbClr val="333333"/>
            </a:solidFill>
            <a:tailEnd type="triangle" w="med" len="med"/>
          </a:ln>
        </p:spPr>
      </p:cxnSp>
      <p:sp>
        <p:nvSpPr>
          <p:cNvPr id="115" name="Text 115"/>
          <p:cNvSpPr txBox="1"/>
          <p:nvPr/>
        </p:nvSpPr>
        <p:spPr>
          <a:xfrm>
            <a:off x="7242048" y="5276088"/>
            <a:ext cx="1783080" cy="320040"/>
          </a:xfrm>
          <a:prstGeom prst="rect">
            <a:avLst/>
          </a:prstGeom>
          <a:noFill/>
          <a:ln>
            <a:noFill/>
          </a:ln>
        </p:spPr>
        <p:txBody>
          <a:bodyPr wrap="square" lIns="0" tIns="0" rIns="0" bIns="0" rtlCol="0" anchor="t">
            <a:noAutofit/>
          </a:bodyPr>
          <a:lstStyle/>
          <a:p>
            <a:pPr marL="0" indent="0" algn="ctr">
              <a:spcAft>
                <a:spcPts val="0"/>
              </a:spcAft>
              <a:buNone/>
            </a:pPr>
            <a:r>
              <a:rPr lang="en-GB" sz="1200" b="1" dirty="0">
                <a:latin typeface="Courier New"/>
                <a:cs typeface="Courier New"/>
              </a:rPr>
              <a:t>library()</a:t>
            </a:r>
            <a:endParaRPr lang="en-GB" sz="1400" dirty="0"/>
          </a:p>
        </p:txBody>
      </p:sp>
      <p:sp>
        <p:nvSpPr>
          <p:cNvPr id="116" name="Text 116"/>
          <p:cNvSpPr txBox="1"/>
          <p:nvPr/>
        </p:nvSpPr>
        <p:spPr>
          <a:xfrm>
            <a:off x="7242048" y="5669280"/>
            <a:ext cx="1783080" cy="274320"/>
          </a:xfrm>
          <a:prstGeom prst="rect">
            <a:avLst/>
          </a:prstGeom>
          <a:noFill/>
          <a:ln>
            <a:noFill/>
          </a:ln>
        </p:spPr>
        <p:txBody>
          <a:bodyPr wrap="square" lIns="0" tIns="0" rIns="0" bIns="0" rtlCol="0" anchor="t">
            <a:noAutofit/>
          </a:bodyPr>
          <a:lstStyle/>
          <a:p>
            <a:pPr marL="0" indent="0" algn="ctr">
              <a:spcAft>
                <a:spcPts val="0"/>
              </a:spcAft>
              <a:buNone/>
            </a:pPr>
            <a:r>
              <a:rPr lang="en-GB" sz="1100" i="1" dirty="0">
                <a:solidFill>
                  <a:srgbClr val="6B6B6B"/>
                </a:solidFill>
              </a:rPr>
              <a:t>every session</a:t>
            </a:r>
            <a:endParaRPr lang="en-GB" sz="1400" dirty="0"/>
          </a:p>
        </p:txBody>
      </p:sp>
    </p:spTree>
    <p:extLst>
      <p:ext uri="{BB962C8B-B14F-4D97-AF65-F5344CB8AC3E}">
        <p14:creationId xmlns:p14="http://schemas.microsoft.com/office/powerpoint/2010/main" val="487781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8C35-57A2-E1BC-B1B9-145A5121E7FC}"/>
              </a:ext>
            </a:extLst>
          </p:cNvPr>
          <p:cNvSpPr>
            <a:spLocks noGrp="1"/>
          </p:cNvSpPr>
          <p:nvPr>
            <p:ph type="title"/>
          </p:nvPr>
        </p:nvSpPr>
        <p:spPr/>
        <p:txBody>
          <a:bodyPr/>
          <a:lstStyle/>
          <a:p>
            <a:r>
              <a:rPr lang="en-GB" dirty="0">
                <a:ea typeface="Verdana"/>
                <a:cs typeface="Gill Sans"/>
              </a:rPr>
              <a:t>Installing / loading packages</a:t>
            </a:r>
            <a:endParaRPr lang="en-GB" dirty="0"/>
          </a:p>
        </p:txBody>
      </p:sp>
      <p:sp>
        <p:nvSpPr>
          <p:cNvPr id="3" name="Text Placeholder 2">
            <a:extLst>
              <a:ext uri="{FF2B5EF4-FFF2-40B4-BE49-F238E27FC236}">
                <a16:creationId xmlns:a16="http://schemas.microsoft.com/office/drawing/2014/main" id="{09504A6D-7D97-70BF-8ECE-831A455D61CC}"/>
              </a:ext>
            </a:extLst>
          </p:cNvPr>
          <p:cNvSpPr>
            <a:spLocks noGrp="1"/>
          </p:cNvSpPr>
          <p:nvPr>
            <p:ph type="body" sz="quarter" idx="11"/>
          </p:nvPr>
        </p:nvSpPr>
        <p:spPr/>
        <p:txBody>
          <a:bodyPr vert="horz" lIns="91440" tIns="45720" rIns="91440" bIns="45720" rtlCol="0" anchor="t">
            <a:normAutofit/>
          </a:bodyPr>
          <a:lstStyle/>
          <a:p>
            <a:r>
              <a:rPr lang="en-GB" sz="2000" err="1">
                <a:latin typeface="Courier New"/>
                <a:ea typeface="Tahoma"/>
                <a:cs typeface="Gill Sans Light"/>
              </a:rPr>
              <a:t>install.packages</a:t>
            </a:r>
            <a:r>
              <a:rPr lang="en-GB" sz="2000" dirty="0">
                <a:latin typeface="Courier New"/>
                <a:ea typeface="Tahoma"/>
                <a:cs typeface="Gill Sans Light"/>
              </a:rPr>
              <a:t>("</a:t>
            </a:r>
            <a:r>
              <a:rPr lang="en-GB" sz="2000" err="1">
                <a:latin typeface="Courier New"/>
                <a:ea typeface="Tahoma"/>
                <a:cs typeface="Gill Sans Light"/>
              </a:rPr>
              <a:t>stringi</a:t>
            </a:r>
            <a:r>
              <a:rPr lang="en-GB" sz="2000" dirty="0">
                <a:latin typeface="Courier New"/>
                <a:ea typeface="Tahoma"/>
                <a:cs typeface="Gill Sans Light"/>
              </a:rPr>
              <a:t>") # looks for and installs </a:t>
            </a:r>
            <a:r>
              <a:rPr lang="en-GB" sz="2000">
                <a:latin typeface="Courier New"/>
                <a:ea typeface="Tahoma"/>
                <a:cs typeface="Gill Sans Light"/>
              </a:rPr>
              <a:t>the package named </a:t>
            </a:r>
            <a:r>
              <a:rPr lang="en-GB" sz="2000" err="1">
                <a:latin typeface="Courier New"/>
                <a:ea typeface="Tahoma"/>
                <a:cs typeface="Gill Sans Light"/>
              </a:rPr>
              <a:t>stringi</a:t>
            </a:r>
            <a:endParaRPr lang="en-GB" sz="2000" err="1">
              <a:latin typeface="Courier New"/>
            </a:endParaRPr>
          </a:p>
          <a:p>
            <a:endParaRPr lang="en-GB" dirty="0"/>
          </a:p>
          <a:p>
            <a:r>
              <a:rPr lang="en-GB" b="1" dirty="0">
                <a:ea typeface="Tahoma"/>
                <a:cs typeface="Gill Sans Light"/>
              </a:rPr>
              <a:t>Installation is done only once </a:t>
            </a:r>
            <a:r>
              <a:rPr lang="en-GB" dirty="0">
                <a:ea typeface="Tahoma"/>
                <a:cs typeface="Gill Sans Light"/>
              </a:rPr>
              <a:t>per computer (or if you reinstall/upgrade R version)</a:t>
            </a:r>
            <a:endParaRPr lang="en-GB" dirty="0"/>
          </a:p>
          <a:p>
            <a:endParaRPr lang="en-GB" dirty="0">
              <a:latin typeface="Courier New"/>
            </a:endParaRPr>
          </a:p>
          <a:p>
            <a:r>
              <a:rPr lang="en-GB" sz="2000" dirty="0">
                <a:latin typeface="Courier New"/>
                <a:ea typeface="Tahoma"/>
                <a:cs typeface="Gill Sans Light"/>
              </a:rPr>
              <a:t>Library(</a:t>
            </a:r>
            <a:r>
              <a:rPr lang="en-GB" sz="2000" err="1">
                <a:latin typeface="Courier New"/>
                <a:ea typeface="Tahoma"/>
                <a:cs typeface="Gill Sans Light"/>
              </a:rPr>
              <a:t>stringi</a:t>
            </a:r>
            <a:r>
              <a:rPr lang="en-GB" sz="2000" dirty="0">
                <a:latin typeface="Courier New"/>
                <a:ea typeface="Tahoma"/>
                <a:cs typeface="Gill Sans Light"/>
              </a:rPr>
              <a:t>) # loads library </a:t>
            </a:r>
            <a:r>
              <a:rPr lang="en-GB" sz="2000" err="1">
                <a:latin typeface="Courier New"/>
                <a:ea typeface="Tahoma"/>
                <a:cs typeface="Gill Sans Light"/>
              </a:rPr>
              <a:t>stringi</a:t>
            </a:r>
            <a:endParaRPr lang="en-GB" sz="2000" dirty="0" err="1">
              <a:latin typeface="Courier New"/>
            </a:endParaRPr>
          </a:p>
          <a:p>
            <a:r>
              <a:rPr lang="en-GB" sz="2000">
                <a:latin typeface="Courier New"/>
                <a:ea typeface="Tahoma"/>
                <a:cs typeface="Gill Sans Light"/>
              </a:rPr>
              <a:t>#                   -&gt; makes its content available in the R session</a:t>
            </a:r>
            <a:endParaRPr lang="en-GB" sz="2000">
              <a:latin typeface="Courier New"/>
            </a:endParaRPr>
          </a:p>
          <a:p>
            <a:endParaRPr lang="en-GB" dirty="0"/>
          </a:p>
          <a:p>
            <a:r>
              <a:rPr lang="en-GB" b="1" dirty="0">
                <a:ea typeface="Tahoma"/>
                <a:cs typeface="Gill Sans Light"/>
              </a:rPr>
              <a:t>Loading is done at each session</a:t>
            </a:r>
            <a:r>
              <a:rPr lang="en-GB" dirty="0">
                <a:ea typeface="Tahoma"/>
                <a:cs typeface="Gill Sans Light"/>
              </a:rPr>
              <a:t>, usually at the beginning of a script</a:t>
            </a:r>
            <a:endParaRPr lang="en-GB" dirty="0"/>
          </a:p>
        </p:txBody>
      </p:sp>
    </p:spTree>
    <p:extLst>
      <p:ext uri="{BB962C8B-B14F-4D97-AF65-F5344CB8AC3E}">
        <p14:creationId xmlns:p14="http://schemas.microsoft.com/office/powerpoint/2010/main" val="36689009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A0D4-88D8-19F0-F2E9-419CFD3E56F2}"/>
              </a:ext>
            </a:extLst>
          </p:cNvPr>
          <p:cNvSpPr>
            <a:spLocks noGrp="1"/>
          </p:cNvSpPr>
          <p:nvPr>
            <p:ph type="title"/>
          </p:nvPr>
        </p:nvSpPr>
        <p:spPr/>
        <p:txBody>
          <a:bodyPr/>
          <a:lstStyle/>
          <a:p>
            <a:r>
              <a:rPr lang="en-GB" dirty="0">
                <a:ea typeface="Verdana"/>
                <a:cs typeface="Gill Sans"/>
              </a:rPr>
              <a:t>Session information</a:t>
            </a:r>
            <a:endParaRPr lang="en-GB" dirty="0"/>
          </a:p>
        </p:txBody>
      </p:sp>
      <p:sp>
        <p:nvSpPr>
          <p:cNvPr id="3" name="Text Placeholder 2">
            <a:extLst>
              <a:ext uri="{FF2B5EF4-FFF2-40B4-BE49-F238E27FC236}">
                <a16:creationId xmlns:a16="http://schemas.microsoft.com/office/drawing/2014/main" id="{0B993D3B-9204-D924-CB83-1CD83A44F033}"/>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Getting precise information about your session can be useful for debugging</a:t>
            </a:r>
            <a:endParaRPr lang="en-US" dirty="0"/>
          </a:p>
          <a:p>
            <a:pPr marL="342900" indent="-342900">
              <a:buChar char="•"/>
            </a:pPr>
            <a:r>
              <a:rPr lang="en-GB" dirty="0">
                <a:ea typeface="Tahoma"/>
                <a:cs typeface="Gill Sans Light"/>
              </a:rPr>
              <a:t>This information  is usually required to get help online</a:t>
            </a:r>
          </a:p>
          <a:p>
            <a:pPr marL="342900" indent="-342900">
              <a:buChar char="•"/>
            </a:pPr>
            <a:endParaRPr lang="en-GB" dirty="0">
              <a:ea typeface="Tahoma"/>
              <a:cs typeface="Gill Sans Light"/>
            </a:endParaRPr>
          </a:p>
          <a:p>
            <a:pPr marL="342900" indent="-342900">
              <a:buChar char="•"/>
            </a:pPr>
            <a:r>
              <a:rPr lang="en-GB" err="1">
                <a:latin typeface="Courier New"/>
                <a:ea typeface="Tahoma"/>
                <a:cs typeface="Gill Sans Light"/>
              </a:rPr>
              <a:t>R.version.string</a:t>
            </a:r>
            <a:r>
              <a:rPr lang="en-GB" dirty="0">
                <a:ea typeface="Tahoma"/>
                <a:cs typeface="Gill Sans Light"/>
              </a:rPr>
              <a:t> : prints the </a:t>
            </a:r>
            <a:r>
              <a:rPr lang="en-GB" err="1">
                <a:ea typeface="Tahoma"/>
                <a:cs typeface="Gill Sans Light"/>
              </a:rPr>
              <a:t>curretnly</a:t>
            </a:r>
            <a:r>
              <a:rPr lang="en-GB" dirty="0">
                <a:ea typeface="Tahoma"/>
                <a:cs typeface="Gill Sans Light"/>
              </a:rPr>
              <a:t> used R version</a:t>
            </a:r>
          </a:p>
          <a:p>
            <a:pPr marL="342900" indent="-342900">
              <a:buChar char="•"/>
            </a:pPr>
            <a:r>
              <a:rPr lang="en-GB" err="1">
                <a:latin typeface="Courier New"/>
                <a:ea typeface="Tahoma"/>
                <a:cs typeface="Gill Sans Light"/>
              </a:rPr>
              <a:t>sessionInfo</a:t>
            </a:r>
            <a:r>
              <a:rPr lang="en-GB" dirty="0">
                <a:latin typeface="Courier New"/>
                <a:ea typeface="Tahoma"/>
                <a:cs typeface="Gill Sans Light"/>
              </a:rPr>
              <a:t>() </a:t>
            </a:r>
            <a:r>
              <a:rPr lang="en-GB" dirty="0">
                <a:ea typeface="Tahoma"/>
                <a:cs typeface="Gill Sans Light"/>
              </a:rPr>
              <a:t> : prints version information about R and loaded libraries</a:t>
            </a:r>
          </a:p>
        </p:txBody>
      </p:sp>
    </p:spTree>
    <p:extLst>
      <p:ext uri="{BB962C8B-B14F-4D97-AF65-F5344CB8AC3E}">
        <p14:creationId xmlns:p14="http://schemas.microsoft.com/office/powerpoint/2010/main" val="1363248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AE6E93-DC0A-C53A-FD86-9C7676371238}"/>
              </a:ext>
            </a:extLst>
          </p:cNvPr>
          <p:cNvSpPr>
            <a:spLocks noGrp="1"/>
          </p:cNvSpPr>
          <p:nvPr>
            <p:ph type="title"/>
          </p:nvPr>
        </p:nvSpPr>
        <p:spPr/>
        <p:txBody>
          <a:bodyPr/>
          <a:lstStyle/>
          <a:p>
            <a:r>
              <a:rPr lang="fr-FR" dirty="0" err="1"/>
              <a:t>Reproducible</a:t>
            </a:r>
            <a:r>
              <a:rPr lang="fr-FR" dirty="0"/>
              <a:t> environnements </a:t>
            </a:r>
            <a:r>
              <a:rPr lang="fr-FR" dirty="0" err="1"/>
              <a:t>with</a:t>
            </a:r>
            <a:r>
              <a:rPr lang="fr-FR" dirty="0"/>
              <a:t> </a:t>
            </a:r>
            <a:r>
              <a:rPr lang="fr-FR" dirty="0" err="1"/>
              <a:t>Renv</a:t>
            </a:r>
            <a:endParaRPr lang="fr-FR" dirty="0"/>
          </a:p>
        </p:txBody>
      </p:sp>
      <p:sp>
        <p:nvSpPr>
          <p:cNvPr id="4" name="Text 5">
            <a:extLst>
              <a:ext uri="{FF2B5EF4-FFF2-40B4-BE49-F238E27FC236}">
                <a16:creationId xmlns:a16="http://schemas.microsoft.com/office/drawing/2014/main" id="{26A9B0FC-9522-80D5-AEA6-8BCD6A742C91}"/>
              </a:ext>
            </a:extLst>
          </p:cNvPr>
          <p:cNvSpPr txBox="1"/>
          <p:nvPr/>
        </p:nvSpPr>
        <p:spPr>
          <a:xfrm>
            <a:off x="1822269" y="1261872"/>
            <a:ext cx="3520440" cy="347472"/>
          </a:xfrm>
          <a:prstGeom prst="rect">
            <a:avLst/>
          </a:prstGeom>
          <a:noFill/>
          <a:ln/>
        </p:spPr>
        <p:txBody>
          <a:bodyPr wrap="square" lIns="0" tIns="0" rIns="0" bIns="0" rtlCol="0" anchor="ctr"/>
          <a:lstStyle/>
          <a:p>
            <a:pPr marL="0" indent="0">
              <a:buNone/>
            </a:pPr>
            <a:r>
              <a:rPr lang="en-US" b="1" dirty="0">
                <a:solidFill>
                  <a:srgbClr val="C0392B"/>
                </a:solidFill>
                <a:latin typeface="Calibri" pitchFamily="34" charset="0"/>
                <a:ea typeface="Calibri" pitchFamily="34" charset="-122"/>
                <a:cs typeface="Calibri" pitchFamily="34" charset="-120"/>
              </a:rPr>
              <a:t>The Problem</a:t>
            </a:r>
            <a:endParaRPr lang="en-US" dirty="0"/>
          </a:p>
        </p:txBody>
      </p:sp>
      <p:sp>
        <p:nvSpPr>
          <p:cNvPr id="5" name="Shape 6">
            <a:extLst>
              <a:ext uri="{FF2B5EF4-FFF2-40B4-BE49-F238E27FC236}">
                <a16:creationId xmlns:a16="http://schemas.microsoft.com/office/drawing/2014/main" id="{7F90CA26-AEAD-41A0-66BD-820420719C48}"/>
              </a:ext>
            </a:extLst>
          </p:cNvPr>
          <p:cNvSpPr/>
          <p:nvPr/>
        </p:nvSpPr>
        <p:spPr>
          <a:xfrm>
            <a:off x="1822269" y="1664208"/>
            <a:ext cx="3520440" cy="658368"/>
          </a:xfrm>
          <a:prstGeom prst="rect">
            <a:avLst/>
          </a:prstGeom>
          <a:solidFill>
            <a:srgbClr val="FFFFFF"/>
          </a:solidFill>
          <a:ln w="9525">
            <a:solidFill>
              <a:srgbClr val="DCDFE3"/>
            </a:solidFill>
            <a:prstDash val="solid"/>
          </a:ln>
        </p:spPr>
        <p:txBody>
          <a:bodyPr/>
          <a:lstStyle/>
          <a:p>
            <a:endParaRPr lang="fr-FR" sz="1600"/>
          </a:p>
        </p:txBody>
      </p:sp>
      <p:sp>
        <p:nvSpPr>
          <p:cNvPr id="6" name="Text 7">
            <a:extLst>
              <a:ext uri="{FF2B5EF4-FFF2-40B4-BE49-F238E27FC236}">
                <a16:creationId xmlns:a16="http://schemas.microsoft.com/office/drawing/2014/main" id="{0DA98A14-D71E-1938-9F40-2096810680D6}"/>
              </a:ext>
            </a:extLst>
          </p:cNvPr>
          <p:cNvSpPr txBox="1"/>
          <p:nvPr/>
        </p:nvSpPr>
        <p:spPr>
          <a:xfrm>
            <a:off x="1913709" y="1691640"/>
            <a:ext cx="3337560" cy="594360"/>
          </a:xfrm>
          <a:prstGeom prst="rect">
            <a:avLst/>
          </a:prstGeom>
          <a:noFill/>
          <a:ln/>
        </p:spPr>
        <p:txBody>
          <a:bodyPr wrap="square" lIns="0" tIns="0" rIns="0" bIns="0" rtlCol="0" anchor="ctr"/>
          <a:lstStyle/>
          <a:p>
            <a:pPr marL="0" indent="0">
              <a:buNone/>
            </a:pPr>
            <a:r>
              <a:rPr lang="en-US" sz="1600" i="1" dirty="0">
                <a:solidFill>
                  <a:srgbClr val="C0392B"/>
                </a:solidFill>
                <a:latin typeface="Calibri" pitchFamily="34" charset="0"/>
                <a:ea typeface="Calibri" pitchFamily="34" charset="-122"/>
                <a:cs typeface="Calibri" pitchFamily="34" charset="-120"/>
              </a:rPr>
              <a:t>"It works on my machine…"</a:t>
            </a:r>
            <a:endParaRPr lang="en-US" sz="1600" dirty="0"/>
          </a:p>
        </p:txBody>
      </p:sp>
      <p:sp>
        <p:nvSpPr>
          <p:cNvPr id="7" name="Text 8">
            <a:extLst>
              <a:ext uri="{FF2B5EF4-FFF2-40B4-BE49-F238E27FC236}">
                <a16:creationId xmlns:a16="http://schemas.microsoft.com/office/drawing/2014/main" id="{DAD18424-CDC9-F6E4-28A8-B6184C93CBFD}"/>
              </a:ext>
            </a:extLst>
          </p:cNvPr>
          <p:cNvSpPr txBox="1"/>
          <p:nvPr/>
        </p:nvSpPr>
        <p:spPr>
          <a:xfrm>
            <a:off x="1822269" y="2423160"/>
            <a:ext cx="3520440" cy="1965960"/>
          </a:xfrm>
          <a:prstGeom prst="rect">
            <a:avLst/>
          </a:prstGeom>
          <a:noFill/>
          <a:ln/>
        </p:spPr>
        <p:txBody>
          <a:bodyPr wrap="square" lIns="0" tIns="0" rIns="0" bIns="0" rtlCol="0" anchor="t"/>
          <a:lstStyle/>
          <a:p>
            <a:pPr marL="0" indent="0">
              <a:lnSpc>
                <a:spcPct val="125000"/>
              </a:lnSpc>
              <a:buNone/>
            </a:pPr>
            <a:r>
              <a:rPr lang="en-US" sz="1600" dirty="0">
                <a:solidFill>
                  <a:srgbClr val="2C3E50"/>
                </a:solidFill>
                <a:latin typeface="Calibri" pitchFamily="34" charset="0"/>
                <a:ea typeface="Calibri" pitchFamily="34" charset="-122"/>
                <a:cs typeface="Calibri" pitchFamily="34" charset="-120"/>
              </a:rPr>
              <a:t>R packages update constantly.
The same code can give </a:t>
            </a:r>
            <a:r>
              <a:rPr lang="en-US" sz="1600" b="1" dirty="0">
                <a:solidFill>
                  <a:srgbClr val="2C3E50"/>
                </a:solidFill>
                <a:latin typeface="Calibri" pitchFamily="34" charset="0"/>
                <a:ea typeface="Calibri" pitchFamily="34" charset="-122"/>
                <a:cs typeface="Calibri" pitchFamily="34" charset="-120"/>
              </a:rPr>
              <a:t>different results</a:t>
            </a:r>
            <a:endParaRPr lang="en-US" sz="1600" dirty="0"/>
          </a:p>
          <a:p>
            <a:pPr marL="0" indent="0">
              <a:lnSpc>
                <a:spcPct val="125000"/>
              </a:lnSpc>
              <a:buNone/>
            </a:pPr>
            <a:r>
              <a:rPr lang="en-US" sz="1600" dirty="0">
                <a:solidFill>
                  <a:srgbClr val="2C3E50"/>
                </a:solidFill>
                <a:latin typeface="Calibri" pitchFamily="34" charset="0"/>
                <a:ea typeface="Calibri" pitchFamily="34" charset="-122"/>
                <a:cs typeface="Calibri" pitchFamily="34" charset="-120"/>
              </a:rPr>
              <a:t>depending on </a:t>
            </a:r>
            <a:endParaRPr lang="en-US" sz="1600" dirty="0"/>
          </a:p>
          <a:p>
            <a:pPr marL="0" indent="0">
              <a:lnSpc>
                <a:spcPct val="125000"/>
              </a:lnSpc>
              <a:buNone/>
            </a:pPr>
            <a:r>
              <a:rPr lang="en-US" sz="1600" b="1" dirty="0">
                <a:solidFill>
                  <a:srgbClr val="2C3E50"/>
                </a:solidFill>
                <a:latin typeface="Calibri" pitchFamily="34" charset="0"/>
                <a:ea typeface="Calibri" pitchFamily="34" charset="-122"/>
                <a:cs typeface="Calibri" pitchFamily="34" charset="-120"/>
              </a:rPr>
              <a:t>when</a:t>
            </a:r>
            <a:r>
              <a:rPr lang="en-US" sz="1600" dirty="0">
                <a:solidFill>
                  <a:srgbClr val="2C3E50"/>
                </a:solidFill>
                <a:latin typeface="Calibri" pitchFamily="34" charset="0"/>
                <a:ea typeface="Calibri" pitchFamily="34" charset="-122"/>
                <a:cs typeface="Calibri" pitchFamily="34" charset="-120"/>
              </a:rPr>
              <a:t> and </a:t>
            </a:r>
            <a:r>
              <a:rPr lang="en-US" sz="1600" b="1" dirty="0">
                <a:solidFill>
                  <a:srgbClr val="2C3E50"/>
                </a:solidFill>
                <a:latin typeface="Calibri" pitchFamily="34" charset="0"/>
                <a:ea typeface="Calibri" pitchFamily="34" charset="-122"/>
                <a:cs typeface="Calibri" pitchFamily="34" charset="-120"/>
              </a:rPr>
              <a:t>where</a:t>
            </a:r>
            <a:r>
              <a:rPr lang="en-US" sz="1600" dirty="0">
                <a:solidFill>
                  <a:srgbClr val="2C3E50"/>
                </a:solidFill>
                <a:latin typeface="Calibri" pitchFamily="34" charset="0"/>
                <a:ea typeface="Calibri" pitchFamily="34" charset="-122"/>
                <a:cs typeface="Calibri" pitchFamily="34" charset="-120"/>
              </a:rPr>
              <a:t> you run it.
</a:t>
            </a:r>
            <a:r>
              <a:rPr lang="en-US" sz="1600" dirty="0">
                <a:solidFill>
                  <a:srgbClr val="8B95A1"/>
                </a:solidFill>
                <a:latin typeface="Calibri" pitchFamily="34" charset="0"/>
                <a:ea typeface="Calibri" pitchFamily="34" charset="-122"/>
                <a:cs typeface="Calibri" pitchFamily="34" charset="-120"/>
              </a:rPr>
              <a:t>Package versions change → analyses break</a:t>
            </a:r>
            <a:endParaRPr lang="en-US" sz="1600" dirty="0"/>
          </a:p>
          <a:p>
            <a:pPr marL="0" indent="0">
              <a:lnSpc>
                <a:spcPct val="125000"/>
              </a:lnSpc>
              <a:buNone/>
            </a:pPr>
            <a:r>
              <a:rPr lang="en-US" sz="1600" dirty="0">
                <a:solidFill>
                  <a:srgbClr val="8B95A1"/>
                </a:solidFill>
                <a:latin typeface="Calibri" pitchFamily="34" charset="0"/>
                <a:ea typeface="Calibri" pitchFamily="34" charset="-122"/>
                <a:cs typeface="Calibri" pitchFamily="34" charset="-120"/>
              </a:rPr>
              <a:t>→ results differ between collaborators</a:t>
            </a:r>
            <a:endParaRPr lang="en-US" sz="1600" dirty="0"/>
          </a:p>
        </p:txBody>
      </p:sp>
      <p:sp>
        <p:nvSpPr>
          <p:cNvPr id="8" name="Text 11">
            <a:extLst>
              <a:ext uri="{FF2B5EF4-FFF2-40B4-BE49-F238E27FC236}">
                <a16:creationId xmlns:a16="http://schemas.microsoft.com/office/drawing/2014/main" id="{2FA62BEC-7928-4036-797D-1604F282A2D1}"/>
              </a:ext>
            </a:extLst>
          </p:cNvPr>
          <p:cNvSpPr txBox="1"/>
          <p:nvPr/>
        </p:nvSpPr>
        <p:spPr>
          <a:xfrm>
            <a:off x="6074229" y="1261872"/>
            <a:ext cx="3886200" cy="347472"/>
          </a:xfrm>
          <a:prstGeom prst="rect">
            <a:avLst/>
          </a:prstGeom>
          <a:noFill/>
          <a:ln/>
        </p:spPr>
        <p:txBody>
          <a:bodyPr wrap="square" lIns="0" tIns="0" rIns="0" bIns="0" rtlCol="0" anchor="ctr"/>
          <a:lstStyle/>
          <a:p>
            <a:pPr marL="0" indent="0">
              <a:buNone/>
            </a:pPr>
            <a:r>
              <a:rPr lang="en-US" b="1" dirty="0">
                <a:solidFill>
                  <a:srgbClr val="27AE60"/>
                </a:solidFill>
                <a:latin typeface="Calibri" pitchFamily="34" charset="0"/>
                <a:ea typeface="Calibri" pitchFamily="34" charset="-122"/>
                <a:cs typeface="Calibri" pitchFamily="34" charset="-120"/>
              </a:rPr>
              <a:t>The Solution</a:t>
            </a:r>
            <a:endParaRPr lang="en-US" dirty="0"/>
          </a:p>
        </p:txBody>
      </p:sp>
      <p:sp>
        <p:nvSpPr>
          <p:cNvPr id="9" name="Text 12">
            <a:extLst>
              <a:ext uri="{FF2B5EF4-FFF2-40B4-BE49-F238E27FC236}">
                <a16:creationId xmlns:a16="http://schemas.microsoft.com/office/drawing/2014/main" id="{2FB0F6CF-7715-C4A4-AC22-FDF3BD39729A}"/>
              </a:ext>
            </a:extLst>
          </p:cNvPr>
          <p:cNvSpPr txBox="1"/>
          <p:nvPr/>
        </p:nvSpPr>
        <p:spPr>
          <a:xfrm>
            <a:off x="6074229" y="1645920"/>
            <a:ext cx="3886200" cy="502920"/>
          </a:xfrm>
          <a:prstGeom prst="rect">
            <a:avLst/>
          </a:prstGeom>
          <a:noFill/>
          <a:ln/>
        </p:spPr>
        <p:txBody>
          <a:bodyPr wrap="square" lIns="0" tIns="0" rIns="0" bIns="0" rtlCol="0" anchor="ctr"/>
          <a:lstStyle/>
          <a:p>
            <a:pPr marL="0" indent="0">
              <a:lnSpc>
                <a:spcPct val="130000"/>
              </a:lnSpc>
              <a:buNone/>
            </a:pPr>
            <a:r>
              <a:rPr lang="en-US" sz="1600" b="1" dirty="0">
                <a:solidFill>
                  <a:srgbClr val="98C379"/>
                </a:solidFill>
                <a:latin typeface="Courier New" pitchFamily="34" charset="0"/>
                <a:ea typeface="Courier New" pitchFamily="34" charset="-122"/>
                <a:cs typeface="Courier New" pitchFamily="34" charset="-120"/>
              </a:rPr>
              <a:t>renv</a:t>
            </a:r>
            <a:r>
              <a:rPr lang="en-US" sz="1600" dirty="0">
                <a:solidFill>
                  <a:srgbClr val="ABB2BF"/>
                </a:solidFill>
                <a:latin typeface="Calibri" pitchFamily="34" charset="0"/>
                <a:ea typeface="Calibri" pitchFamily="34" charset="-122"/>
                <a:cs typeface="Calibri" pitchFamily="34" charset="-120"/>
              </a:rPr>
              <a:t> records the exact version of every</a:t>
            </a:r>
            <a:endParaRPr lang="en-US" sz="1600" dirty="0"/>
          </a:p>
          <a:p>
            <a:pPr marL="0" indent="0">
              <a:lnSpc>
                <a:spcPct val="130000"/>
              </a:lnSpc>
              <a:buNone/>
            </a:pPr>
            <a:r>
              <a:rPr lang="en-US" sz="1600" dirty="0">
                <a:solidFill>
                  <a:srgbClr val="ABB2BF"/>
                </a:solidFill>
                <a:latin typeface="Calibri" pitchFamily="34" charset="0"/>
                <a:ea typeface="Calibri" pitchFamily="34" charset="-122"/>
                <a:cs typeface="Calibri" pitchFamily="34" charset="-120"/>
              </a:rPr>
              <a:t>package your project uses.</a:t>
            </a:r>
            <a:endParaRPr lang="en-US" sz="1600" dirty="0"/>
          </a:p>
        </p:txBody>
      </p:sp>
      <p:sp>
        <p:nvSpPr>
          <p:cNvPr id="10" name="Text 13">
            <a:extLst>
              <a:ext uri="{FF2B5EF4-FFF2-40B4-BE49-F238E27FC236}">
                <a16:creationId xmlns:a16="http://schemas.microsoft.com/office/drawing/2014/main" id="{6871B9B2-77D4-C886-3A67-E542130B88AF}"/>
              </a:ext>
            </a:extLst>
          </p:cNvPr>
          <p:cNvSpPr txBox="1"/>
          <p:nvPr/>
        </p:nvSpPr>
        <p:spPr>
          <a:xfrm>
            <a:off x="6074229" y="2231136"/>
            <a:ext cx="3886200" cy="219456"/>
          </a:xfrm>
          <a:prstGeom prst="rect">
            <a:avLst/>
          </a:prstGeom>
          <a:noFill/>
          <a:ln/>
        </p:spPr>
        <p:txBody>
          <a:bodyPr wrap="square" lIns="0" tIns="0" rIns="0" bIns="0" rtlCol="0" anchor="ctr"/>
          <a:lstStyle/>
          <a:p>
            <a:pPr marL="0" indent="0">
              <a:buNone/>
            </a:pPr>
            <a:r>
              <a:rPr lang="en-US" sz="1600" dirty="0">
                <a:solidFill>
                  <a:srgbClr val="ABB2BF"/>
                </a:solidFill>
                <a:latin typeface="Calibri" pitchFamily="34" charset="0"/>
                <a:ea typeface="Calibri" pitchFamily="34" charset="-122"/>
                <a:cs typeface="Calibri" pitchFamily="34" charset="-120"/>
              </a:rPr>
              <a:t>Initialise a new project</a:t>
            </a:r>
            <a:endParaRPr lang="en-US" sz="1600" dirty="0"/>
          </a:p>
        </p:txBody>
      </p:sp>
      <p:sp>
        <p:nvSpPr>
          <p:cNvPr id="11" name="Shape 14">
            <a:extLst>
              <a:ext uri="{FF2B5EF4-FFF2-40B4-BE49-F238E27FC236}">
                <a16:creationId xmlns:a16="http://schemas.microsoft.com/office/drawing/2014/main" id="{51E0762D-DDAF-8023-8521-AB6C2DB03043}"/>
              </a:ext>
            </a:extLst>
          </p:cNvPr>
          <p:cNvSpPr/>
          <p:nvPr/>
        </p:nvSpPr>
        <p:spPr>
          <a:xfrm>
            <a:off x="6074229" y="2485862"/>
            <a:ext cx="3886200" cy="338328"/>
          </a:xfrm>
          <a:prstGeom prst="rect">
            <a:avLst/>
          </a:prstGeom>
          <a:solidFill>
            <a:srgbClr val="1E2227"/>
          </a:solidFill>
          <a:ln/>
        </p:spPr>
        <p:txBody>
          <a:bodyPr/>
          <a:lstStyle/>
          <a:p>
            <a:endParaRPr lang="fr-FR" sz="1600"/>
          </a:p>
        </p:txBody>
      </p:sp>
      <p:sp>
        <p:nvSpPr>
          <p:cNvPr id="12" name="Text 15">
            <a:extLst>
              <a:ext uri="{FF2B5EF4-FFF2-40B4-BE49-F238E27FC236}">
                <a16:creationId xmlns:a16="http://schemas.microsoft.com/office/drawing/2014/main" id="{1CD3FF67-2B4C-B5A1-3999-A88974F8CC0E}"/>
              </a:ext>
            </a:extLst>
          </p:cNvPr>
          <p:cNvSpPr txBox="1"/>
          <p:nvPr/>
        </p:nvSpPr>
        <p:spPr>
          <a:xfrm>
            <a:off x="6165669" y="2495006"/>
            <a:ext cx="3749040" cy="310896"/>
          </a:xfrm>
          <a:prstGeom prst="rect">
            <a:avLst/>
          </a:prstGeom>
          <a:noFill/>
          <a:ln/>
        </p:spPr>
        <p:txBody>
          <a:bodyPr wrap="square" lIns="0" tIns="0" rIns="0" bIns="0" rtlCol="0" anchor="ctr"/>
          <a:lstStyle/>
          <a:p>
            <a:pPr marL="0" indent="0">
              <a:buNone/>
            </a:pPr>
            <a:r>
              <a:rPr lang="en-US" sz="1600" b="1" dirty="0">
                <a:solidFill>
                  <a:srgbClr val="98C379"/>
                </a:solidFill>
                <a:latin typeface="Courier New" pitchFamily="34" charset="0"/>
                <a:ea typeface="Courier New" pitchFamily="34" charset="-122"/>
                <a:cs typeface="Courier New" pitchFamily="34" charset="-120"/>
              </a:rPr>
              <a:t>renv::init()</a:t>
            </a:r>
            <a:endParaRPr lang="en-US" sz="1600" dirty="0"/>
          </a:p>
        </p:txBody>
      </p:sp>
      <p:sp>
        <p:nvSpPr>
          <p:cNvPr id="13" name="Text 16">
            <a:extLst>
              <a:ext uri="{FF2B5EF4-FFF2-40B4-BE49-F238E27FC236}">
                <a16:creationId xmlns:a16="http://schemas.microsoft.com/office/drawing/2014/main" id="{0CC4D5A3-70A2-8932-5604-30B45AA8DBA9}"/>
              </a:ext>
            </a:extLst>
          </p:cNvPr>
          <p:cNvSpPr txBox="1"/>
          <p:nvPr/>
        </p:nvSpPr>
        <p:spPr>
          <a:xfrm>
            <a:off x="6074229" y="2927386"/>
            <a:ext cx="3886200" cy="219456"/>
          </a:xfrm>
          <a:prstGeom prst="rect">
            <a:avLst/>
          </a:prstGeom>
          <a:noFill/>
          <a:ln/>
        </p:spPr>
        <p:txBody>
          <a:bodyPr wrap="square" lIns="0" tIns="0" rIns="0" bIns="0" rtlCol="0" anchor="ctr"/>
          <a:lstStyle/>
          <a:p>
            <a:pPr marL="0" indent="0">
              <a:buNone/>
            </a:pPr>
            <a:r>
              <a:rPr lang="en-US" sz="1600" dirty="0">
                <a:solidFill>
                  <a:srgbClr val="ABB2BF"/>
                </a:solidFill>
                <a:latin typeface="Calibri" pitchFamily="34" charset="0"/>
                <a:ea typeface="Calibri" pitchFamily="34" charset="-122"/>
                <a:cs typeface="Calibri" pitchFamily="34" charset="-120"/>
              </a:rPr>
              <a:t>Freeze current package versions</a:t>
            </a:r>
            <a:endParaRPr lang="en-US" sz="1600" dirty="0"/>
          </a:p>
        </p:txBody>
      </p:sp>
      <p:sp>
        <p:nvSpPr>
          <p:cNvPr id="14" name="Shape 17">
            <a:extLst>
              <a:ext uri="{FF2B5EF4-FFF2-40B4-BE49-F238E27FC236}">
                <a16:creationId xmlns:a16="http://schemas.microsoft.com/office/drawing/2014/main" id="{ABF1E5E6-C5F4-8777-7447-04FF4F4BD8B6}"/>
              </a:ext>
            </a:extLst>
          </p:cNvPr>
          <p:cNvSpPr/>
          <p:nvPr/>
        </p:nvSpPr>
        <p:spPr>
          <a:xfrm>
            <a:off x="6074229" y="3182112"/>
            <a:ext cx="3886200" cy="338328"/>
          </a:xfrm>
          <a:prstGeom prst="rect">
            <a:avLst/>
          </a:prstGeom>
          <a:solidFill>
            <a:srgbClr val="1E2227"/>
          </a:solidFill>
          <a:ln/>
        </p:spPr>
        <p:txBody>
          <a:bodyPr/>
          <a:lstStyle/>
          <a:p>
            <a:endParaRPr lang="fr-FR" sz="1600"/>
          </a:p>
        </p:txBody>
      </p:sp>
      <p:sp>
        <p:nvSpPr>
          <p:cNvPr id="15" name="Text 18">
            <a:extLst>
              <a:ext uri="{FF2B5EF4-FFF2-40B4-BE49-F238E27FC236}">
                <a16:creationId xmlns:a16="http://schemas.microsoft.com/office/drawing/2014/main" id="{7D4ED857-BABC-8B2D-E47F-39C8FE641CAD}"/>
              </a:ext>
            </a:extLst>
          </p:cNvPr>
          <p:cNvSpPr txBox="1"/>
          <p:nvPr/>
        </p:nvSpPr>
        <p:spPr>
          <a:xfrm>
            <a:off x="6165669" y="3191256"/>
            <a:ext cx="3749040" cy="310896"/>
          </a:xfrm>
          <a:prstGeom prst="rect">
            <a:avLst/>
          </a:prstGeom>
          <a:noFill/>
          <a:ln/>
        </p:spPr>
        <p:txBody>
          <a:bodyPr wrap="square" lIns="0" tIns="0" rIns="0" bIns="0" rtlCol="0" anchor="ctr"/>
          <a:lstStyle/>
          <a:p>
            <a:pPr marL="0" indent="0">
              <a:buNone/>
            </a:pPr>
            <a:r>
              <a:rPr lang="en-US" sz="1600" b="1" dirty="0">
                <a:solidFill>
                  <a:srgbClr val="98C379"/>
                </a:solidFill>
                <a:latin typeface="Courier New" pitchFamily="34" charset="0"/>
                <a:ea typeface="Courier New" pitchFamily="34" charset="-122"/>
                <a:cs typeface="Courier New" pitchFamily="34" charset="-120"/>
              </a:rPr>
              <a:t>renv::snapshot()</a:t>
            </a:r>
            <a:endParaRPr lang="en-US" sz="1600" dirty="0"/>
          </a:p>
        </p:txBody>
      </p:sp>
      <p:sp>
        <p:nvSpPr>
          <p:cNvPr id="16" name="Text 19">
            <a:extLst>
              <a:ext uri="{FF2B5EF4-FFF2-40B4-BE49-F238E27FC236}">
                <a16:creationId xmlns:a16="http://schemas.microsoft.com/office/drawing/2014/main" id="{B5A21892-30A8-ECB8-9847-EF23B6278576}"/>
              </a:ext>
            </a:extLst>
          </p:cNvPr>
          <p:cNvSpPr txBox="1"/>
          <p:nvPr/>
        </p:nvSpPr>
        <p:spPr>
          <a:xfrm>
            <a:off x="6074229" y="3662825"/>
            <a:ext cx="3886200" cy="219456"/>
          </a:xfrm>
          <a:prstGeom prst="rect">
            <a:avLst/>
          </a:prstGeom>
          <a:noFill/>
          <a:ln/>
        </p:spPr>
        <p:txBody>
          <a:bodyPr wrap="square" lIns="0" tIns="0" rIns="0" bIns="0" rtlCol="0" anchor="ctr"/>
          <a:lstStyle/>
          <a:p>
            <a:pPr marL="0" indent="0">
              <a:buNone/>
            </a:pPr>
            <a:r>
              <a:rPr lang="en-US" sz="1600" dirty="0">
                <a:solidFill>
                  <a:srgbClr val="ABB2BF"/>
                </a:solidFill>
                <a:latin typeface="Calibri" pitchFamily="34" charset="0"/>
                <a:ea typeface="Calibri" pitchFamily="34" charset="-122"/>
                <a:cs typeface="Calibri" pitchFamily="34" charset="-120"/>
              </a:rPr>
              <a:t>Restore environment on any machine</a:t>
            </a:r>
            <a:endParaRPr lang="en-US" sz="1600" dirty="0"/>
          </a:p>
        </p:txBody>
      </p:sp>
      <p:sp>
        <p:nvSpPr>
          <p:cNvPr id="17" name="Shape 20">
            <a:extLst>
              <a:ext uri="{FF2B5EF4-FFF2-40B4-BE49-F238E27FC236}">
                <a16:creationId xmlns:a16="http://schemas.microsoft.com/office/drawing/2014/main" id="{CB94CBF9-63F4-535A-E970-D4F9AC829B65}"/>
              </a:ext>
            </a:extLst>
          </p:cNvPr>
          <p:cNvSpPr/>
          <p:nvPr/>
        </p:nvSpPr>
        <p:spPr>
          <a:xfrm>
            <a:off x="6074229" y="3904488"/>
            <a:ext cx="3886200" cy="338328"/>
          </a:xfrm>
          <a:prstGeom prst="rect">
            <a:avLst/>
          </a:prstGeom>
          <a:solidFill>
            <a:srgbClr val="1E2227"/>
          </a:solidFill>
          <a:ln/>
        </p:spPr>
        <p:txBody>
          <a:bodyPr/>
          <a:lstStyle/>
          <a:p>
            <a:endParaRPr lang="fr-FR" sz="1600"/>
          </a:p>
        </p:txBody>
      </p:sp>
      <p:sp>
        <p:nvSpPr>
          <p:cNvPr id="18" name="Text 21">
            <a:extLst>
              <a:ext uri="{FF2B5EF4-FFF2-40B4-BE49-F238E27FC236}">
                <a16:creationId xmlns:a16="http://schemas.microsoft.com/office/drawing/2014/main" id="{0388F90D-4EFE-EEEB-4FDF-35A30E975124}"/>
              </a:ext>
            </a:extLst>
          </p:cNvPr>
          <p:cNvSpPr txBox="1"/>
          <p:nvPr/>
        </p:nvSpPr>
        <p:spPr>
          <a:xfrm>
            <a:off x="6165669" y="3913632"/>
            <a:ext cx="3749040" cy="310896"/>
          </a:xfrm>
          <a:prstGeom prst="rect">
            <a:avLst/>
          </a:prstGeom>
          <a:noFill/>
          <a:ln/>
        </p:spPr>
        <p:txBody>
          <a:bodyPr wrap="square" lIns="0" tIns="0" rIns="0" bIns="0" rtlCol="0" anchor="ctr"/>
          <a:lstStyle/>
          <a:p>
            <a:pPr marL="0" indent="0">
              <a:buNone/>
            </a:pPr>
            <a:r>
              <a:rPr lang="en-US" sz="1600" b="1" dirty="0">
                <a:solidFill>
                  <a:srgbClr val="98C379"/>
                </a:solidFill>
                <a:latin typeface="Courier New" pitchFamily="34" charset="0"/>
                <a:ea typeface="Courier New" pitchFamily="34" charset="-122"/>
                <a:cs typeface="Courier New" pitchFamily="34" charset="-120"/>
              </a:rPr>
              <a:t>renv::restore()</a:t>
            </a:r>
            <a:endParaRPr lang="en-US" sz="1600" dirty="0"/>
          </a:p>
        </p:txBody>
      </p:sp>
      <p:sp>
        <p:nvSpPr>
          <p:cNvPr id="19" name="Text 22">
            <a:extLst>
              <a:ext uri="{FF2B5EF4-FFF2-40B4-BE49-F238E27FC236}">
                <a16:creationId xmlns:a16="http://schemas.microsoft.com/office/drawing/2014/main" id="{9CA29799-DF2D-6830-5153-3B1E98FB8C4A}"/>
              </a:ext>
            </a:extLst>
          </p:cNvPr>
          <p:cNvSpPr txBox="1"/>
          <p:nvPr/>
        </p:nvSpPr>
        <p:spPr>
          <a:xfrm>
            <a:off x="6074229" y="4582453"/>
            <a:ext cx="3886200" cy="164592"/>
          </a:xfrm>
          <a:prstGeom prst="rect">
            <a:avLst/>
          </a:prstGeom>
          <a:noFill/>
          <a:ln/>
        </p:spPr>
        <p:txBody>
          <a:bodyPr wrap="square" lIns="0" tIns="0" rIns="0" bIns="0" rtlCol="0" anchor="ctr"/>
          <a:lstStyle/>
          <a:p>
            <a:pPr marL="0" indent="0">
              <a:buNone/>
            </a:pPr>
            <a:r>
              <a:rPr lang="en-US" sz="1600" dirty="0">
                <a:solidFill>
                  <a:srgbClr val="ABB2BF"/>
                </a:solidFill>
                <a:latin typeface="Calibri" pitchFamily="34" charset="0"/>
                <a:ea typeface="Calibri" pitchFamily="34" charset="-122"/>
                <a:cs typeface="Calibri" pitchFamily="34" charset="-120"/>
              </a:rPr>
              <a:t>All versions saved in </a:t>
            </a:r>
            <a:r>
              <a:rPr lang="en-US" sz="1600" b="1" dirty="0">
                <a:solidFill>
                  <a:srgbClr val="61AFEF"/>
                </a:solidFill>
                <a:latin typeface="Courier New" pitchFamily="34" charset="0"/>
                <a:ea typeface="Courier New" pitchFamily="34" charset="-122"/>
                <a:cs typeface="Courier New" pitchFamily="34" charset="-120"/>
              </a:rPr>
              <a:t>renv.lock</a:t>
            </a:r>
            <a:r>
              <a:rPr lang="en-US" sz="1600" dirty="0">
                <a:solidFill>
                  <a:srgbClr val="ABB2BF"/>
                </a:solidFill>
                <a:latin typeface="Calibri" pitchFamily="34" charset="0"/>
                <a:ea typeface="Calibri" pitchFamily="34" charset="-122"/>
                <a:cs typeface="Calibri" pitchFamily="34" charset="-120"/>
              </a:rPr>
              <a:t> — commit it with your project</a:t>
            </a:r>
            <a:endParaRPr lang="en-US" sz="1600" dirty="0"/>
          </a:p>
        </p:txBody>
      </p:sp>
      <p:sp>
        <p:nvSpPr>
          <p:cNvPr id="21" name="Text 24">
            <a:extLst>
              <a:ext uri="{FF2B5EF4-FFF2-40B4-BE49-F238E27FC236}">
                <a16:creationId xmlns:a16="http://schemas.microsoft.com/office/drawing/2014/main" id="{37E752F8-ECDA-0E5E-E002-6071B4C110E7}"/>
              </a:ext>
            </a:extLst>
          </p:cNvPr>
          <p:cNvSpPr txBox="1"/>
          <p:nvPr/>
        </p:nvSpPr>
        <p:spPr>
          <a:xfrm>
            <a:off x="1685109" y="5236900"/>
            <a:ext cx="8412480" cy="50749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For this course  →  run  </a:t>
            </a:r>
            <a:r>
              <a:rPr lang="en-US" sz="1600" b="1" dirty="0">
                <a:solidFill>
                  <a:srgbClr val="FFFFFF"/>
                </a:solidFill>
                <a:latin typeface="Courier New" pitchFamily="34" charset="0"/>
                <a:ea typeface="Courier New" pitchFamily="34" charset="-122"/>
                <a:cs typeface="Courier New" pitchFamily="34" charset="-120"/>
              </a:rPr>
              <a:t>renv::restore()</a:t>
            </a:r>
            <a:r>
              <a:rPr lang="en-US" sz="1600" b="1" dirty="0">
                <a:solidFill>
                  <a:srgbClr val="FFFFFF"/>
                </a:solidFill>
                <a:latin typeface="Calibri" pitchFamily="34" charset="0"/>
                <a:ea typeface="Calibri" pitchFamily="34" charset="-122"/>
                <a:cs typeface="Calibri" pitchFamily="34" charset="-120"/>
              </a:rPr>
              <a:t>  to install the exact package versions used here</a:t>
            </a:r>
            <a:endParaRPr lang="en-US" sz="1600" dirty="0"/>
          </a:p>
        </p:txBody>
      </p:sp>
    </p:spTree>
    <p:extLst>
      <p:ext uri="{BB962C8B-B14F-4D97-AF65-F5344CB8AC3E}">
        <p14:creationId xmlns:p14="http://schemas.microsoft.com/office/powerpoint/2010/main" val="42591509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35360-5EEC-E720-A6C6-0B25E09CB3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7DC0D5-2422-3935-1DE6-780A72272B7E}"/>
              </a:ext>
            </a:extLst>
          </p:cNvPr>
          <p:cNvSpPr>
            <a:spLocks noGrp="1"/>
          </p:cNvSpPr>
          <p:nvPr>
            <p:ph type="title"/>
          </p:nvPr>
        </p:nvSpPr>
        <p:spPr/>
        <p:txBody>
          <a:bodyPr/>
          <a:lstStyle/>
          <a:p>
            <a:pPr marL="815975" lvl="1" indent="-457200" algn="l">
              <a:lnSpc>
                <a:spcPct val="90000"/>
              </a:lnSpc>
              <a:spcBef>
                <a:spcPts val="500"/>
              </a:spcBef>
            </a:pPr>
            <a:r>
              <a:rPr lang="en-GB" sz="3600" dirty="0">
                <a:solidFill>
                  <a:srgbClr val="1E2232"/>
                </a:solidFill>
                <a:latin typeface="Corbel"/>
                <a:ea typeface="Verdana"/>
                <a:cs typeface="Arial"/>
              </a:rPr>
              <a:t>Getting started with the R syntax and Objects</a:t>
            </a:r>
            <a:endParaRPr lang="en-GB"/>
          </a:p>
        </p:txBody>
      </p:sp>
    </p:spTree>
    <p:extLst>
      <p:ext uri="{BB962C8B-B14F-4D97-AF65-F5344CB8AC3E}">
        <p14:creationId xmlns:p14="http://schemas.microsoft.com/office/powerpoint/2010/main" val="24302100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What is a data type, and why do we need it?</a:t>
            </a:r>
          </a:p>
        </p:txBody>
      </p:sp>
      <p:sp>
        <p:nvSpPr>
          <p:cNvPr id="101" name="Explain 101"/>
          <p:cNvSpPr txBox="1"/>
          <p:nvPr/>
        </p:nvSpPr>
        <p:spPr>
          <a:xfrm>
            <a:off x="841248" y="1188720"/>
            <a:ext cx="5029200" cy="4754880"/>
          </a:xfrm>
          <a:prstGeom prst="rect">
            <a:avLst/>
          </a:prstGeom>
          <a:noFill/>
          <a:ln>
            <a:noFill/>
          </a:ln>
        </p:spPr>
        <p:txBody>
          <a:bodyPr wrap="square" lIns="0" tIns="0" rIns="0" bIns="0" rtlCol="0" anchor="t">
            <a:noAutofit/>
          </a:bodyPr>
          <a:lstStyle/>
          <a:p>
            <a:pPr marL="0" indent="0" algn="l">
              <a:spcAft>
                <a:spcPts val="800"/>
              </a:spcAft>
              <a:buNone/>
            </a:pPr>
            <a:r>
              <a:rPr lang="en-GB" sz="1700" dirty="0"/>
              <a:t>Inside the computer, everything is stored as 0s and 1s.</a:t>
            </a:r>
            <a:endParaRPr lang="en-GB" sz="1400" dirty="0"/>
          </a:p>
          <a:p>
            <a:pPr marL="0" indent="0" algn="l">
              <a:spcAft>
                <a:spcPts val="1400"/>
              </a:spcAft>
              <a:buNone/>
            </a:pPr>
            <a:r>
              <a:rPr lang="en-GB" sz="1700" dirty="0"/>
              <a:t>A </a:t>
            </a:r>
            <a:r>
              <a:rPr lang="en-GB" sz="1700" b="1" dirty="0"/>
              <a:t>data type</a:t>
            </a:r>
            <a:r>
              <a:rPr lang="en-GB" sz="1700" dirty="0"/>
              <a:t> tells R how to interpret those bits, and therefore </a:t>
            </a:r>
            <a:r>
              <a:rPr lang="en-GB" sz="1700" b="1" dirty="0"/>
              <a:t>which operations make sense</a:t>
            </a:r>
            <a:r>
              <a:rPr lang="en-GB" sz="1700" dirty="0"/>
              <a:t>.</a:t>
            </a:r>
            <a:endParaRPr lang="en-GB" sz="1400" dirty="0"/>
          </a:p>
          <a:p>
            <a:pPr marL="0" indent="0" algn="l">
              <a:spcAft>
                <a:spcPts val="400"/>
              </a:spcAft>
              <a:buNone/>
            </a:pPr>
            <a:r>
              <a:rPr lang="en-GB" sz="1700" b="1" dirty="0">
                <a:solidFill>
                  <a:srgbClr val="E20613"/>
                </a:solidFill>
              </a:rPr>
              <a:t>Why it matters</a:t>
            </a:r>
            <a:endParaRPr lang="en-GB" sz="1400" dirty="0"/>
          </a:p>
          <a:p>
            <a:pPr marL="285750" indent="-285750" algn="l">
              <a:spcAft>
                <a:spcPts val="400"/>
              </a:spcAft>
              <a:buFont typeface="Arial"/>
              <a:buChar char="•"/>
            </a:pPr>
            <a:r>
              <a:rPr lang="en-GB" sz="1600" dirty="0"/>
              <a:t>Arithmetic only works on numbers</a:t>
            </a:r>
            <a:endParaRPr lang="en-GB" sz="1400" dirty="0"/>
          </a:p>
          <a:p>
            <a:pPr marL="285750" indent="-285750" algn="l">
              <a:spcAft>
                <a:spcPts val="400"/>
              </a:spcAft>
              <a:buFont typeface="Arial"/>
              <a:buChar char="•"/>
            </a:pPr>
            <a:r>
              <a:rPr lang="en-GB" sz="1600" dirty="0"/>
              <a:t>Text needs other tools (pasting, searching, alphabetical sorting)</a:t>
            </a:r>
            <a:endParaRPr lang="en-GB" sz="1400" dirty="0"/>
          </a:p>
          <a:p>
            <a:pPr marL="285750" indent="-285750" algn="l">
              <a:spcAft>
                <a:spcPts val="400"/>
              </a:spcAft>
              <a:buFont typeface="Arial"/>
              <a:buChar char="•"/>
            </a:pPr>
            <a:r>
              <a:rPr lang="en-GB" sz="1600" dirty="0"/>
              <a:t>TRUE / FALSE values drive decisions and counting</a:t>
            </a:r>
            <a:endParaRPr lang="en-GB" sz="1400" dirty="0"/>
          </a:p>
          <a:p>
            <a:pPr marL="285750" indent="-285750" algn="l">
              <a:spcAft>
                <a:spcPts val="1200"/>
              </a:spcAft>
              <a:buFont typeface="Arial"/>
              <a:buChar char="•"/>
            </a:pPr>
            <a:r>
              <a:rPr lang="en-GB" sz="1500" dirty="0"/>
              <a:t>A wrong type is a classic bug: a column of numbers read as text because one cell says "n/a"</a:t>
            </a:r>
            <a:endParaRPr lang="en-GB" sz="1400" dirty="0"/>
          </a:p>
          <a:p>
            <a:pPr marL="0" indent="0" algn="l">
              <a:spcAft>
                <a:spcPts val="0"/>
              </a:spcAft>
              <a:buNone/>
            </a:pPr>
            <a:r>
              <a:rPr lang="en-GB" sz="1500" dirty="0"/>
              <a:t>Check the type of any object with </a:t>
            </a:r>
            <a:r>
              <a:rPr lang="en-GB" sz="1500" b="1" dirty="0">
                <a:latin typeface="Courier New"/>
                <a:cs typeface="Courier New"/>
              </a:rPr>
              <a:t>class(x)</a:t>
            </a:r>
            <a:endParaRPr lang="en-GB" sz="1400" dirty="0"/>
          </a:p>
        </p:txBody>
      </p:sp>
      <p:sp>
        <p:nvSpPr>
          <p:cNvPr id="102" name="Text 102"/>
          <p:cNvSpPr txBox="1"/>
          <p:nvPr/>
        </p:nvSpPr>
        <p:spPr>
          <a:xfrm>
            <a:off x="6263640" y="1188720"/>
            <a:ext cx="5074920" cy="365760"/>
          </a:xfrm>
          <a:prstGeom prst="rect">
            <a:avLst/>
          </a:prstGeom>
          <a:noFill/>
          <a:ln>
            <a:noFill/>
          </a:ln>
        </p:spPr>
        <p:txBody>
          <a:bodyPr wrap="square" lIns="0" tIns="0" rIns="0" bIns="0" rtlCol="0" anchor="t">
            <a:noAutofit/>
          </a:bodyPr>
          <a:lstStyle/>
          <a:p>
            <a:pPr marL="0" indent="0" algn="l">
              <a:spcAft>
                <a:spcPts val="0"/>
              </a:spcAft>
              <a:buNone/>
            </a:pPr>
            <a:r>
              <a:rPr lang="en-GB" sz="1500" b="1" dirty="0">
                <a:solidFill>
                  <a:srgbClr val="333333"/>
                </a:solidFill>
              </a:rPr>
              <a:t>Same digits, different type</a:t>
            </a:r>
            <a:endParaRPr lang="en-GB" sz="1400" dirty="0"/>
          </a:p>
        </p:txBody>
      </p:sp>
      <p:sp>
        <p:nvSpPr>
          <p:cNvPr id="103" name="Code 103"/>
          <p:cNvSpPr/>
          <p:nvPr/>
        </p:nvSpPr>
        <p:spPr>
          <a:xfrm>
            <a:off x="6263640" y="1645920"/>
            <a:ext cx="5074920" cy="352044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450" dirty="0">
                <a:solidFill>
                  <a:srgbClr val="333333"/>
                </a:solidFill>
                <a:latin typeface="Courier New"/>
                <a:cs typeface="Courier New"/>
              </a:rPr>
              <a:t>&gt; 12 + 1</a:t>
            </a:r>
            <a:endParaRPr lang="en-GB" sz="1450" dirty="0"/>
          </a:p>
          <a:p>
            <a:pPr marL="0" indent="0" algn="l">
              <a:spcAft>
                <a:spcPts val="0"/>
              </a:spcAft>
              <a:buNone/>
            </a:pPr>
            <a:r>
              <a:rPr lang="en-GB" sz="1450" dirty="0">
                <a:solidFill>
                  <a:srgbClr val="6B6B6B"/>
                </a:solidFill>
                <a:latin typeface="Courier New"/>
                <a:cs typeface="Courier New"/>
              </a:rPr>
              <a:t>[1] 13</a:t>
            </a:r>
            <a:endParaRPr lang="en-GB" sz="1450" dirty="0"/>
          </a:p>
          <a:p>
            <a:pPr marL="0" indent="0" algn="l">
              <a:spcAft>
                <a:spcPts val="0"/>
              </a:spcAft>
              <a:buNone/>
            </a:pPr>
            <a:r>
              <a:rPr lang="en-GB" sz="1450" dirty="0">
                <a:solidFill>
                  <a:srgbClr val="333333"/>
                </a:solidFill>
                <a:latin typeface="Courier New"/>
                <a:cs typeface="Courier New"/>
              </a:rPr>
              <a:t>&gt; "12" + 1</a:t>
            </a:r>
            <a:endParaRPr lang="en-GB" sz="1450" dirty="0"/>
          </a:p>
          <a:p>
            <a:pPr marL="0" indent="0" algn="l">
              <a:spcAft>
                <a:spcPts val="0"/>
              </a:spcAft>
              <a:buNone/>
            </a:pPr>
            <a:r>
              <a:rPr lang="en-GB" sz="1450" dirty="0">
                <a:solidFill>
                  <a:srgbClr val="E20613"/>
                </a:solidFill>
                <a:latin typeface="Courier New"/>
                <a:cs typeface="Courier New"/>
              </a:rPr>
              <a:t>Error: non-numeric argument</a:t>
            </a:r>
            <a:endParaRPr lang="en-GB" sz="1450" dirty="0"/>
          </a:p>
          <a:p>
            <a:pPr marL="0" indent="0" algn="l">
              <a:spcAft>
                <a:spcPts val="0"/>
              </a:spcAft>
              <a:buNone/>
            </a:pPr>
            <a:r>
              <a:rPr lang="en-GB" sz="1450" dirty="0">
                <a:solidFill>
                  <a:srgbClr val="E20613"/>
                </a:solidFill>
                <a:latin typeface="Courier New"/>
                <a:cs typeface="Courier New"/>
              </a:rPr>
              <a:t>       to binary operator</a:t>
            </a:r>
            <a:endParaRPr lang="en-GB" sz="1450" dirty="0"/>
          </a:p>
          <a:p>
            <a:pPr marL="0" indent="0" algn="l">
              <a:spcAft>
                <a:spcPts val="0"/>
              </a:spcAft>
              <a:buNone/>
            </a:pPr>
            <a:r>
              <a:rPr lang="en-GB" sz="1450" dirty="0">
                <a:solidFill>
                  <a:srgbClr val="333333"/>
                </a:solidFill>
                <a:latin typeface="Courier New"/>
                <a:cs typeface="Courier New"/>
              </a:rPr>
              <a:t> </a:t>
            </a:r>
            <a:endParaRPr lang="en-GB" sz="1450" dirty="0"/>
          </a:p>
          <a:p>
            <a:pPr marL="0" indent="0" algn="l">
              <a:spcAft>
                <a:spcPts val="0"/>
              </a:spcAft>
              <a:buNone/>
            </a:pPr>
            <a:r>
              <a:rPr lang="en-GB" sz="1450" dirty="0">
                <a:solidFill>
                  <a:srgbClr val="333333"/>
                </a:solidFill>
                <a:latin typeface="Courier New"/>
                <a:cs typeface="Courier New"/>
              </a:rPr>
              <a:t>&gt; sort(c(2, 10, 9))</a:t>
            </a:r>
            <a:endParaRPr lang="en-GB" sz="1450" dirty="0"/>
          </a:p>
          <a:p>
            <a:pPr marL="0" indent="0" algn="l">
              <a:spcAft>
                <a:spcPts val="0"/>
              </a:spcAft>
              <a:buNone/>
            </a:pPr>
            <a:r>
              <a:rPr lang="en-GB" sz="1450" dirty="0">
                <a:solidFill>
                  <a:srgbClr val="6B6B6B"/>
                </a:solidFill>
                <a:latin typeface="Courier New"/>
                <a:cs typeface="Courier New"/>
              </a:rPr>
              <a:t>[1]  2  9 10</a:t>
            </a:r>
            <a:endParaRPr lang="en-GB" sz="1450" dirty="0"/>
          </a:p>
          <a:p>
            <a:pPr marL="0" indent="0" algn="l">
              <a:spcAft>
                <a:spcPts val="0"/>
              </a:spcAft>
              <a:buNone/>
            </a:pPr>
            <a:r>
              <a:rPr lang="en-GB" sz="1450" dirty="0">
                <a:solidFill>
                  <a:srgbClr val="333333"/>
                </a:solidFill>
                <a:latin typeface="Courier New"/>
                <a:cs typeface="Courier New"/>
              </a:rPr>
              <a:t>&gt; sort(c("2", "10", "9"))</a:t>
            </a:r>
            <a:endParaRPr lang="en-GB" sz="1450" dirty="0"/>
          </a:p>
          <a:p>
            <a:pPr marL="0" indent="0" algn="l">
              <a:spcAft>
                <a:spcPts val="0"/>
              </a:spcAft>
              <a:buNone/>
            </a:pPr>
            <a:r>
              <a:rPr lang="en-GB" sz="1450" dirty="0">
                <a:solidFill>
                  <a:srgbClr val="E20613"/>
                </a:solidFill>
                <a:latin typeface="Courier New"/>
                <a:cs typeface="Courier New"/>
              </a:rPr>
              <a:t>[1] "10" "2"  "9"</a:t>
            </a:r>
            <a:endParaRPr lang="en-GB" sz="1450" dirty="0"/>
          </a:p>
          <a:p>
            <a:pPr marL="0" indent="0" algn="l">
              <a:spcAft>
                <a:spcPts val="0"/>
              </a:spcAft>
              <a:buNone/>
            </a:pPr>
            <a:r>
              <a:rPr lang="en-GB" sz="1450" dirty="0">
                <a:solidFill>
                  <a:srgbClr val="333333"/>
                </a:solidFill>
                <a:latin typeface="Courier New"/>
                <a:cs typeface="Courier New"/>
              </a:rPr>
              <a:t> </a:t>
            </a:r>
            <a:endParaRPr lang="en-GB" sz="1450" dirty="0"/>
          </a:p>
          <a:p>
            <a:pPr marL="0" indent="0" algn="l">
              <a:spcAft>
                <a:spcPts val="0"/>
              </a:spcAft>
              <a:buNone/>
            </a:pPr>
            <a:r>
              <a:rPr lang="en-GB" sz="1450" dirty="0">
                <a:solidFill>
                  <a:srgbClr val="333333"/>
                </a:solidFill>
                <a:latin typeface="Courier New"/>
                <a:cs typeface="Courier New"/>
              </a:rPr>
              <a:t>&gt; class("12")</a:t>
            </a:r>
            <a:endParaRPr lang="en-GB" sz="1450" dirty="0"/>
          </a:p>
          <a:p>
            <a:pPr marL="0" indent="0" algn="l">
              <a:spcAft>
                <a:spcPts val="0"/>
              </a:spcAft>
              <a:buNone/>
            </a:pPr>
            <a:r>
              <a:rPr lang="en-GB" sz="1450" dirty="0">
                <a:solidFill>
                  <a:srgbClr val="6B6B6B"/>
                </a:solidFill>
                <a:latin typeface="Courier New"/>
                <a:cs typeface="Courier New"/>
              </a:rPr>
              <a:t>[1] "character"</a:t>
            </a:r>
            <a:endParaRPr lang="en-GB" sz="1450" dirty="0"/>
          </a:p>
        </p:txBody>
      </p:sp>
      <p:sp>
        <p:nvSpPr>
          <p:cNvPr id="104" name="Text 104"/>
          <p:cNvSpPr txBox="1"/>
          <p:nvPr/>
        </p:nvSpPr>
        <p:spPr>
          <a:xfrm>
            <a:off x="6263640" y="5230368"/>
            <a:ext cx="5074920" cy="365760"/>
          </a:xfrm>
          <a:prstGeom prst="rect">
            <a:avLst/>
          </a:prstGeom>
          <a:noFill/>
          <a:ln>
            <a:noFill/>
          </a:ln>
        </p:spPr>
        <p:txBody>
          <a:bodyPr wrap="square" lIns="0" tIns="0" rIns="0" bIns="0" rtlCol="0" anchor="t">
            <a:noAutofit/>
          </a:bodyPr>
          <a:lstStyle/>
          <a:p>
            <a:pPr marL="0" indent="0" algn="l">
              <a:spcAft>
                <a:spcPts val="0"/>
              </a:spcAft>
              <a:buNone/>
            </a:pPr>
            <a:r>
              <a:rPr lang="en-GB" sz="1200" i="1" dirty="0">
                <a:solidFill>
                  <a:srgbClr val="6B6B6B"/>
                </a:solidFill>
              </a:rPr>
              <a:t>As text, "10" comes before "2" (compared character by character)</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CA06E-79C6-9955-6D9E-6311EA781534}"/>
              </a:ext>
            </a:extLst>
          </p:cNvPr>
          <p:cNvSpPr>
            <a:spLocks noGrp="1"/>
          </p:cNvSpPr>
          <p:nvPr>
            <p:ph type="title"/>
          </p:nvPr>
        </p:nvSpPr>
        <p:spPr/>
        <p:txBody>
          <a:bodyPr/>
          <a:lstStyle/>
          <a:p>
            <a:r>
              <a:rPr lang="en-GB" dirty="0">
                <a:ea typeface="Verdana"/>
                <a:cs typeface="Gill Sans"/>
              </a:rPr>
              <a:t>Basic data types</a:t>
            </a:r>
            <a:endParaRPr lang="en-GB" dirty="0"/>
          </a:p>
        </p:txBody>
      </p:sp>
      <p:sp>
        <p:nvSpPr>
          <p:cNvPr id="3" name="Text Placeholder 2">
            <a:extLst>
              <a:ext uri="{FF2B5EF4-FFF2-40B4-BE49-F238E27FC236}">
                <a16:creationId xmlns:a16="http://schemas.microsoft.com/office/drawing/2014/main" id="{5F19327E-88A0-C16A-D117-42439A97B776}"/>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b="1" dirty="0">
                <a:ea typeface="Tahoma"/>
                <a:cs typeface="Gill Sans Light"/>
              </a:rPr>
              <a:t>Numeric</a:t>
            </a:r>
            <a:r>
              <a:rPr lang="en-GB" dirty="0">
                <a:ea typeface="Tahoma"/>
                <a:cs typeface="Gill Sans Light"/>
              </a:rPr>
              <a:t>:</a:t>
            </a:r>
            <a:endParaRPr lang="en-US"/>
          </a:p>
          <a:p>
            <a:pPr marL="701675" lvl="1" indent="-342900">
              <a:buFont typeface="Courier New" panose="020B0604020202020204" pitchFamily="34" charset="0"/>
              <a:buChar char="o"/>
            </a:pPr>
            <a:r>
              <a:rPr lang="en-GB">
                <a:ea typeface="Tahoma"/>
                <a:cs typeface="Gill Sans Light"/>
              </a:rPr>
              <a:t>Number, stored with decimal point</a:t>
            </a:r>
          </a:p>
          <a:p>
            <a:pPr marL="701675" lvl="1" indent="-342900">
              <a:buFont typeface="Courier New" panose="020B0604020202020204" pitchFamily="34" charset="0"/>
              <a:buChar char="o"/>
            </a:pPr>
            <a:r>
              <a:rPr lang="en-GB">
                <a:ea typeface="Tahoma"/>
                <a:cs typeface="Gill Sans Light"/>
              </a:rPr>
              <a:t>Examples: 0, 1, 55.2, -11.1111</a:t>
            </a:r>
          </a:p>
          <a:p>
            <a:pPr marL="701675" lvl="1" indent="-342900">
              <a:buFont typeface="Courier New" panose="020B0604020202020204" pitchFamily="34" charset="0"/>
              <a:buChar char="o"/>
            </a:pPr>
            <a:r>
              <a:rPr lang="en-GB">
                <a:ea typeface="Tahoma"/>
                <a:cs typeface="Gill Sans Light"/>
              </a:rPr>
              <a:t>In some context,  this type is labelled "double"</a:t>
            </a:r>
          </a:p>
          <a:p>
            <a:pPr marL="701675" lvl="1" indent="-342900">
              <a:buFont typeface="Courier New" panose="020B0604020202020204" pitchFamily="34" charset="0"/>
              <a:buChar char="o"/>
            </a:pPr>
            <a:r>
              <a:rPr lang="en-GB">
                <a:ea typeface="Tahoma"/>
                <a:cs typeface="Gill Sans Light"/>
              </a:rPr>
              <a:t>Integers, stored without the decimal points, exist but are rarely used</a:t>
            </a:r>
          </a:p>
          <a:p>
            <a:pPr marL="342900" indent="-342900">
              <a:buChar char="•"/>
            </a:pPr>
            <a:r>
              <a:rPr lang="en-GB" b="1" dirty="0">
                <a:ea typeface="Tahoma"/>
                <a:cs typeface="Gill Sans Light"/>
              </a:rPr>
              <a:t>Character</a:t>
            </a:r>
            <a:r>
              <a:rPr lang="en-GB" dirty="0">
                <a:ea typeface="Tahoma"/>
                <a:cs typeface="Gill Sans Light"/>
              </a:rPr>
              <a:t>:</a:t>
            </a:r>
          </a:p>
          <a:p>
            <a:pPr marL="701675" lvl="1" indent="-342900">
              <a:buFont typeface="Courier New" panose="020B0604020202020204" pitchFamily="34" charset="0"/>
              <a:buChar char="o"/>
            </a:pPr>
            <a:r>
              <a:rPr lang="en-GB">
                <a:ea typeface="Tahoma"/>
                <a:cs typeface="Gill Sans Light"/>
              </a:rPr>
              <a:t>Text sequence. Must be enclosed in quotes : " " or ' ' (either work)</a:t>
            </a:r>
          </a:p>
          <a:p>
            <a:pPr marL="701675" lvl="1" indent="-342900">
              <a:buFont typeface="Courier New" panose="020B0604020202020204" pitchFamily="34" charset="0"/>
              <a:buChar char="o"/>
            </a:pPr>
            <a:r>
              <a:rPr lang="en-GB">
                <a:ea typeface="Tahoma"/>
                <a:cs typeface="Gill Sans Light"/>
              </a:rPr>
              <a:t>Examples: "1a++", 'Hello World, "s" , "99"</a:t>
            </a:r>
          </a:p>
          <a:p>
            <a:pPr marL="342900" indent="-342900">
              <a:buChar char="•"/>
            </a:pPr>
            <a:r>
              <a:rPr lang="en-GB" b="1" dirty="0">
                <a:ea typeface="Tahoma"/>
                <a:cs typeface="Gill Sans Light"/>
              </a:rPr>
              <a:t>Logical</a:t>
            </a:r>
            <a:r>
              <a:rPr lang="en-GB" dirty="0">
                <a:ea typeface="Tahoma"/>
                <a:cs typeface="Gill Sans Light"/>
              </a:rPr>
              <a:t>:</a:t>
            </a:r>
          </a:p>
          <a:p>
            <a:pPr marL="701675" lvl="1" indent="-342900">
              <a:buFont typeface="Courier New" panose="020B0604020202020204" pitchFamily="34" charset="0"/>
              <a:buChar char="o"/>
            </a:pPr>
            <a:r>
              <a:rPr lang="en-GB">
                <a:ea typeface="Tahoma"/>
                <a:cs typeface="Gill Sans Light"/>
              </a:rPr>
              <a:t>TRUE or FALSE (all upper case)</a:t>
            </a:r>
            <a:endParaRPr lang="en-GB"/>
          </a:p>
        </p:txBody>
      </p:sp>
    </p:spTree>
    <p:extLst>
      <p:ext uri="{BB962C8B-B14F-4D97-AF65-F5344CB8AC3E}">
        <p14:creationId xmlns:p14="http://schemas.microsoft.com/office/powerpoint/2010/main" val="643961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B9EE5-8A82-7973-E106-A45BBFB30C53}"/>
              </a:ext>
            </a:extLst>
          </p:cNvPr>
          <p:cNvSpPr>
            <a:spLocks noGrp="1"/>
          </p:cNvSpPr>
          <p:nvPr>
            <p:ph type="title"/>
          </p:nvPr>
        </p:nvSpPr>
        <p:spPr/>
        <p:txBody>
          <a:bodyPr/>
          <a:lstStyle/>
          <a:p>
            <a:r>
              <a:rPr lang="en-GB" dirty="0">
                <a:ea typeface="Verdana"/>
                <a:cs typeface="Gill Sans"/>
              </a:rPr>
              <a:t>R syntax</a:t>
            </a:r>
            <a:endParaRPr lang="en-GB" dirty="0"/>
          </a:p>
        </p:txBody>
      </p:sp>
      <p:sp>
        <p:nvSpPr>
          <p:cNvPr id="3" name="Text Placeholder 2">
            <a:extLst>
              <a:ext uri="{FF2B5EF4-FFF2-40B4-BE49-F238E27FC236}">
                <a16:creationId xmlns:a16="http://schemas.microsoft.com/office/drawing/2014/main" id="{5B3E5241-2C97-C452-CB41-13125F7075C0}"/>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Case sensitive: R differentiate lower and upper case letters</a:t>
            </a:r>
          </a:p>
          <a:p>
            <a:pPr marL="342900" indent="-342900">
              <a:buChar char="•"/>
            </a:pPr>
            <a:r>
              <a:rPr lang="en-GB" dirty="0">
                <a:ea typeface="Tahoma"/>
                <a:cs typeface="Gill Sans Light"/>
              </a:rPr>
              <a:t>Commands can be separated by a newline or a semicolon ; (but newline are preferred for readability)</a:t>
            </a:r>
          </a:p>
          <a:p>
            <a:pPr marL="342900" indent="-342900">
              <a:buChar char="•"/>
            </a:pPr>
            <a:r>
              <a:rPr lang="en-GB" dirty="0">
                <a:ea typeface="Tahoma"/>
                <a:cs typeface="Gill Sans Light"/>
              </a:rPr>
              <a:t>Long statements can be written on several lines</a:t>
            </a:r>
          </a:p>
          <a:p>
            <a:pPr marL="342900" indent="-342900">
              <a:buChar char="•"/>
            </a:pPr>
            <a:r>
              <a:rPr lang="en-GB" dirty="0">
                <a:ea typeface="Tahoma"/>
                <a:cs typeface="Gill Sans Light"/>
              </a:rPr>
              <a:t>R has no strict rules about the number of spaces around elements. Use your best judgment and be consistent.</a:t>
            </a:r>
          </a:p>
          <a:p>
            <a:pPr marL="342900" indent="-342900">
              <a:buChar char="•"/>
            </a:pPr>
            <a:r>
              <a:rPr lang="en-GB" dirty="0">
                <a:ea typeface="Tahoma"/>
                <a:cs typeface="Gill Sans Light"/>
              </a:rPr>
              <a:t>The # character stands for </a:t>
            </a:r>
            <a:r>
              <a:rPr lang="en-GB" b="1" dirty="0">
                <a:ea typeface="Tahoma"/>
                <a:cs typeface="Gill Sans Light"/>
              </a:rPr>
              <a:t>comments</a:t>
            </a:r>
            <a:endParaRPr lang="en-GB" b="1" dirty="0"/>
          </a:p>
          <a:p>
            <a:pPr marL="342900" indent="-342900">
              <a:buChar char="•"/>
            </a:pPr>
            <a:endParaRPr lang="en-GB" dirty="0"/>
          </a:p>
        </p:txBody>
      </p:sp>
    </p:spTree>
    <p:extLst>
      <p:ext uri="{BB962C8B-B14F-4D97-AF65-F5344CB8AC3E}">
        <p14:creationId xmlns:p14="http://schemas.microsoft.com/office/powerpoint/2010/main" val="35389593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13733-032C-4063-19F5-203227594F38}"/>
              </a:ext>
            </a:extLst>
          </p:cNvPr>
          <p:cNvSpPr>
            <a:spLocks noGrp="1"/>
          </p:cNvSpPr>
          <p:nvPr>
            <p:ph type="title"/>
          </p:nvPr>
        </p:nvSpPr>
        <p:spPr/>
        <p:txBody>
          <a:bodyPr/>
          <a:lstStyle/>
          <a:p>
            <a:r>
              <a:rPr lang="en-GB" dirty="0">
                <a:ea typeface="Verdana"/>
                <a:cs typeface="Gill Sans"/>
              </a:rPr>
              <a:t>R objects</a:t>
            </a:r>
          </a:p>
        </p:txBody>
      </p:sp>
      <p:sp>
        <p:nvSpPr>
          <p:cNvPr id="101" name="Explain 101"/>
          <p:cNvSpPr txBox="1"/>
          <p:nvPr/>
        </p:nvSpPr>
        <p:spPr>
          <a:xfrm>
            <a:off x="841248" y="1234440"/>
            <a:ext cx="4572000" cy="4114800"/>
          </a:xfrm>
          <a:prstGeom prst="rect">
            <a:avLst/>
          </a:prstGeom>
          <a:noFill/>
          <a:ln>
            <a:noFill/>
          </a:ln>
        </p:spPr>
        <p:txBody>
          <a:bodyPr wrap="square" lIns="0" tIns="0" rIns="0" bIns="0" rtlCol="0" anchor="t">
            <a:noAutofit/>
          </a:bodyPr>
          <a:lstStyle/>
          <a:p>
            <a:pPr marL="0" indent="0" algn="l">
              <a:spcAft>
                <a:spcPts val="1000"/>
              </a:spcAft>
              <a:buNone/>
            </a:pPr>
            <a:r>
              <a:rPr lang="en-GB" sz="1700" dirty="0"/>
              <a:t>An </a:t>
            </a:r>
            <a:r>
              <a:rPr lang="en-GB" sz="1700" b="1" dirty="0"/>
              <a:t>object</a:t>
            </a:r>
            <a:r>
              <a:rPr lang="en-GB" sz="1700" dirty="0"/>
              <a:t> is a storage space in memory that contains a value, a data structure, or some code.</a:t>
            </a:r>
            <a:endParaRPr lang="en-GB" sz="1400" dirty="0"/>
          </a:p>
          <a:p>
            <a:pPr marL="0" indent="0" algn="l">
              <a:spcAft>
                <a:spcPts val="1000"/>
              </a:spcAft>
              <a:buNone/>
            </a:pPr>
            <a:r>
              <a:rPr lang="en-GB" sz="1700" b="1" dirty="0">
                <a:solidFill>
                  <a:srgbClr val="E20613"/>
                </a:solidFill>
              </a:rPr>
              <a:t>Almost everything in R is an object!</a:t>
            </a:r>
            <a:endParaRPr lang="en-GB" sz="1400" dirty="0"/>
          </a:p>
          <a:p>
            <a:pPr marL="285750" indent="-285750" algn="l">
              <a:spcAft>
                <a:spcPts val="600"/>
              </a:spcAft>
              <a:buFont typeface="Arial"/>
              <a:buChar char="•"/>
            </a:pPr>
            <a:r>
              <a:rPr lang="en-GB" sz="1600" dirty="0"/>
              <a:t>Variables are objects containing data</a:t>
            </a:r>
            <a:endParaRPr lang="en-GB" sz="1400" dirty="0"/>
          </a:p>
          <a:p>
            <a:pPr marL="285750" indent="-285750" algn="l">
              <a:spcAft>
                <a:spcPts val="1600"/>
              </a:spcAft>
              <a:buFont typeface="Arial"/>
              <a:buChar char="•"/>
            </a:pPr>
            <a:r>
              <a:rPr lang="en-GB" sz="1600" dirty="0"/>
              <a:t>Functions are objects containing code</a:t>
            </a:r>
            <a:endParaRPr lang="en-GB" sz="1400" dirty="0"/>
          </a:p>
          <a:p>
            <a:pPr marL="0" indent="0" algn="l">
              <a:spcAft>
                <a:spcPts val="0"/>
              </a:spcAft>
              <a:buNone/>
            </a:pPr>
            <a:r>
              <a:rPr lang="en-GB" sz="1500" i="1" dirty="0">
                <a:solidFill>
                  <a:srgbClr val="6B6B6B"/>
                </a:solidFill>
              </a:rPr>
              <a:t>Think of a labelled box: the </a:t>
            </a:r>
            <a:r>
              <a:rPr lang="en-GB" sz="1500" b="1" i="1" dirty="0">
                <a:solidFill>
                  <a:srgbClr val="6B6B6B"/>
                </a:solidFill>
              </a:rPr>
              <a:t>name</a:t>
            </a:r>
            <a:r>
              <a:rPr lang="en-GB" sz="1500" i="1" dirty="0">
                <a:solidFill>
                  <a:srgbClr val="6B6B6B"/>
                </a:solidFill>
              </a:rPr>
              <a:t> is the label you use to find it, the </a:t>
            </a:r>
            <a:r>
              <a:rPr lang="en-GB" sz="1500" b="1" i="1" dirty="0">
                <a:solidFill>
                  <a:srgbClr val="6B6B6B"/>
                </a:solidFill>
              </a:rPr>
              <a:t>object</a:t>
            </a:r>
            <a:r>
              <a:rPr lang="en-GB" sz="1500" i="1" dirty="0">
                <a:solidFill>
                  <a:srgbClr val="6B6B6B"/>
                </a:solidFill>
              </a:rPr>
              <a:t> is what is stored inside.</a:t>
            </a:r>
            <a:endParaRPr lang="en-GB" sz="1400" dirty="0"/>
          </a:p>
        </p:txBody>
      </p:sp>
      <p:sp>
        <p:nvSpPr>
          <p:cNvPr id="102" name="Text 102"/>
          <p:cNvSpPr txBox="1"/>
          <p:nvPr/>
        </p:nvSpPr>
        <p:spPr>
          <a:xfrm>
            <a:off x="5806440" y="1188720"/>
            <a:ext cx="1463040" cy="320040"/>
          </a:xfrm>
          <a:prstGeom prst="rect">
            <a:avLst/>
          </a:prstGeom>
          <a:noFill/>
          <a:ln>
            <a:noFill/>
          </a:ln>
        </p:spPr>
        <p:txBody>
          <a:bodyPr wrap="square" lIns="0" tIns="0" rIns="0" bIns="0" rtlCol="0" anchor="t">
            <a:noAutofit/>
          </a:bodyPr>
          <a:lstStyle/>
          <a:p>
            <a:pPr marL="0" indent="0" algn="ctr">
              <a:spcAft>
                <a:spcPts val="0"/>
              </a:spcAft>
              <a:buNone/>
            </a:pPr>
            <a:r>
              <a:rPr lang="en-GB" sz="1300" b="1" dirty="0">
                <a:solidFill>
                  <a:srgbClr val="6B6B6B"/>
                </a:solidFill>
              </a:rPr>
              <a:t>name</a:t>
            </a:r>
            <a:endParaRPr lang="en-GB" sz="1400" dirty="0"/>
          </a:p>
        </p:txBody>
      </p:sp>
      <p:sp>
        <p:nvSpPr>
          <p:cNvPr id="103" name="Text 103"/>
          <p:cNvSpPr txBox="1"/>
          <p:nvPr/>
        </p:nvSpPr>
        <p:spPr>
          <a:xfrm>
            <a:off x="7955280" y="1188720"/>
            <a:ext cx="2651760" cy="320040"/>
          </a:xfrm>
          <a:prstGeom prst="rect">
            <a:avLst/>
          </a:prstGeom>
          <a:noFill/>
          <a:ln>
            <a:noFill/>
          </a:ln>
        </p:spPr>
        <p:txBody>
          <a:bodyPr wrap="square" lIns="0" tIns="0" rIns="0" bIns="0" rtlCol="0" anchor="t">
            <a:noAutofit/>
          </a:bodyPr>
          <a:lstStyle/>
          <a:p>
            <a:pPr marL="0" indent="0" algn="ctr">
              <a:spcAft>
                <a:spcPts val="0"/>
              </a:spcAft>
              <a:buNone/>
            </a:pPr>
            <a:r>
              <a:rPr lang="en-GB" sz="1300" b="1" dirty="0">
                <a:solidFill>
                  <a:srgbClr val="6B6B6B"/>
                </a:solidFill>
              </a:rPr>
              <a:t>object in memory</a:t>
            </a:r>
            <a:endParaRPr lang="en-GB" sz="1400" dirty="0"/>
          </a:p>
        </p:txBody>
      </p:sp>
      <p:sp>
        <p:nvSpPr>
          <p:cNvPr id="104" name="Text 104"/>
          <p:cNvSpPr txBox="1"/>
          <p:nvPr/>
        </p:nvSpPr>
        <p:spPr>
          <a:xfrm>
            <a:off x="10607040" y="1188720"/>
            <a:ext cx="777240" cy="320040"/>
          </a:xfrm>
          <a:prstGeom prst="rect">
            <a:avLst/>
          </a:prstGeom>
          <a:noFill/>
          <a:ln>
            <a:noFill/>
          </a:ln>
        </p:spPr>
        <p:txBody>
          <a:bodyPr wrap="square" lIns="0" tIns="0" rIns="0" bIns="0" rtlCol="0" anchor="t">
            <a:noAutofit/>
          </a:bodyPr>
          <a:lstStyle/>
          <a:p>
            <a:pPr marL="0" indent="0" algn="ctr">
              <a:spcAft>
                <a:spcPts val="0"/>
              </a:spcAft>
              <a:buNone/>
            </a:pPr>
            <a:r>
              <a:rPr lang="en-GB" sz="1300" b="1" dirty="0">
                <a:solidFill>
                  <a:srgbClr val="6B6B6B"/>
                </a:solidFill>
              </a:rPr>
              <a:t>kind</a:t>
            </a:r>
            <a:endParaRPr lang="en-GB" sz="1400" dirty="0"/>
          </a:p>
        </p:txBody>
      </p:sp>
      <p:sp>
        <p:nvSpPr>
          <p:cNvPr id="105" name="Name 105"/>
          <p:cNvSpPr/>
          <p:nvPr/>
        </p:nvSpPr>
        <p:spPr>
          <a:xfrm>
            <a:off x="5806440" y="1920240"/>
            <a:ext cx="1463040" cy="548640"/>
          </a:xfrm>
          <a:prstGeom prst="roundRect">
            <a:avLst/>
          </a:prstGeom>
          <a:solidFill>
            <a:srgbClr val="E20613"/>
          </a:solidFill>
          <a:ln>
            <a:noFill/>
          </a:ln>
        </p:spPr>
        <p:txBody>
          <a:bodyPr wrap="square" lIns="18288" tIns="18288" rIns="18288" bIns="18288" rtlCol="0" anchor="ctr">
            <a:noAutofit/>
          </a:bodyPr>
          <a:lstStyle/>
          <a:p>
            <a:pPr marL="0" indent="0" algn="ctr">
              <a:spcAft>
                <a:spcPts val="0"/>
              </a:spcAft>
              <a:buNone/>
            </a:pPr>
            <a:r>
              <a:rPr lang="en-GB" sz="1600" b="1" dirty="0">
                <a:solidFill>
                  <a:srgbClr val="FFFFFF"/>
                </a:solidFill>
                <a:latin typeface="Courier New"/>
                <a:cs typeface="Courier New"/>
              </a:rPr>
              <a:t>temp</a:t>
            </a:r>
            <a:endParaRPr lang="en-GB" sz="1400" dirty="0"/>
          </a:p>
        </p:txBody>
      </p:sp>
      <p:cxnSp>
        <p:nvCxnSpPr>
          <p:cNvPr id="106" name="Arrow 106"/>
          <p:cNvCxnSpPr/>
          <p:nvPr/>
        </p:nvCxnSpPr>
        <p:spPr>
          <a:xfrm>
            <a:off x="7315200" y="2194560"/>
            <a:ext cx="594360" cy="0"/>
          </a:xfrm>
          <a:prstGeom prst="line">
            <a:avLst/>
          </a:prstGeom>
          <a:ln w="25400">
            <a:solidFill>
              <a:srgbClr val="333333"/>
            </a:solidFill>
            <a:tailEnd type="triangle" w="med" len="med"/>
          </a:ln>
        </p:spPr>
      </p:cxnSp>
      <p:sp>
        <p:nvSpPr>
          <p:cNvPr id="107" name="Memory 107"/>
          <p:cNvSpPr/>
          <p:nvPr/>
        </p:nvSpPr>
        <p:spPr>
          <a:xfrm>
            <a:off x="7955280" y="1645920"/>
            <a:ext cx="2651760" cy="1097280"/>
          </a:xfrm>
          <a:prstGeom prst="rect">
            <a:avLst/>
          </a:prstGeom>
          <a:solidFill>
            <a:srgbClr val="F2F2F2"/>
          </a:solidFill>
          <a:ln w="12700">
            <a:solidFill>
              <a:srgbClr val="BFBFBF"/>
            </a:solidFill>
          </a:ln>
        </p:spPr>
        <p:txBody>
          <a:bodyPr/>
          <a:lstStyle/>
          <a:p>
            <a:endParaRPr lang="en-CH"/>
          </a:p>
        </p:txBody>
      </p:sp>
      <p:sp>
        <p:nvSpPr>
          <p:cNvPr id="108" name="Cell 108"/>
          <p:cNvSpPr/>
          <p:nvPr/>
        </p:nvSpPr>
        <p:spPr>
          <a:xfrm>
            <a:off x="8092440" y="1920240"/>
            <a:ext cx="2322576" cy="548640"/>
          </a:xfrm>
          <a:prstGeom prst="rect">
            <a:avLst/>
          </a:prstGeom>
          <a:solidFill>
            <a:srgbClr val="FFFFFF"/>
          </a:solidFill>
          <a:ln w="12700">
            <a:solidFill>
              <a:srgbClr val="BFBFBF"/>
            </a:solidFill>
          </a:ln>
        </p:spPr>
        <p:txBody>
          <a:bodyPr wrap="square" lIns="9144" tIns="9144" rIns="9144" bIns="9144" rtlCol="0" anchor="ctr">
            <a:noAutofit/>
          </a:bodyPr>
          <a:lstStyle/>
          <a:p>
            <a:pPr marL="0" indent="0" algn="ctr">
              <a:spcAft>
                <a:spcPts val="0"/>
              </a:spcAft>
              <a:buNone/>
            </a:pPr>
            <a:r>
              <a:rPr lang="en-GB" sz="1500" b="1" dirty="0">
                <a:latin typeface="Courier New"/>
                <a:cs typeface="Courier New"/>
              </a:rPr>
              <a:t>-5.5</a:t>
            </a:r>
            <a:endParaRPr lang="en-GB" sz="1400" dirty="0"/>
          </a:p>
        </p:txBody>
      </p:sp>
      <p:sp>
        <p:nvSpPr>
          <p:cNvPr id="109" name="Text 109"/>
          <p:cNvSpPr txBox="1"/>
          <p:nvPr/>
        </p:nvSpPr>
        <p:spPr>
          <a:xfrm>
            <a:off x="10652760" y="1874520"/>
            <a:ext cx="777240" cy="640080"/>
          </a:xfrm>
          <a:prstGeom prst="rect">
            <a:avLst/>
          </a:prstGeom>
          <a:noFill/>
          <a:ln>
            <a:noFill/>
          </a:ln>
        </p:spPr>
        <p:txBody>
          <a:bodyPr wrap="square" lIns="0" tIns="0" rIns="0" bIns="0" rtlCol="0" anchor="ctr">
            <a:noAutofit/>
          </a:bodyPr>
          <a:lstStyle/>
          <a:p>
            <a:pPr marL="0" indent="0" algn="l">
              <a:spcAft>
                <a:spcPts val="0"/>
              </a:spcAft>
              <a:buNone/>
            </a:pPr>
            <a:r>
              <a:rPr lang="en-GB" sz="1200" i="1" dirty="0">
                <a:solidFill>
                  <a:srgbClr val="6B6B6B"/>
                </a:solidFill>
              </a:rPr>
              <a:t>a value</a:t>
            </a:r>
            <a:endParaRPr lang="en-GB" sz="1400" dirty="0"/>
          </a:p>
        </p:txBody>
      </p:sp>
      <p:sp>
        <p:nvSpPr>
          <p:cNvPr id="110" name="Name 110"/>
          <p:cNvSpPr/>
          <p:nvPr/>
        </p:nvSpPr>
        <p:spPr>
          <a:xfrm>
            <a:off x="5806440" y="3246120"/>
            <a:ext cx="1463040" cy="548640"/>
          </a:xfrm>
          <a:prstGeom prst="roundRect">
            <a:avLst/>
          </a:prstGeom>
          <a:solidFill>
            <a:srgbClr val="E20613"/>
          </a:solidFill>
          <a:ln>
            <a:noFill/>
          </a:ln>
        </p:spPr>
        <p:txBody>
          <a:bodyPr wrap="square" lIns="18288" tIns="18288" rIns="18288" bIns="18288" rtlCol="0" anchor="ctr">
            <a:noAutofit/>
          </a:bodyPr>
          <a:lstStyle/>
          <a:p>
            <a:pPr marL="0" indent="0" algn="ctr">
              <a:spcAft>
                <a:spcPts val="0"/>
              </a:spcAft>
              <a:buNone/>
            </a:pPr>
            <a:r>
              <a:rPr lang="en-GB" sz="1600" b="1" dirty="0">
                <a:solidFill>
                  <a:srgbClr val="FFFFFF"/>
                </a:solidFill>
                <a:latin typeface="Courier New"/>
                <a:cs typeface="Courier New"/>
              </a:rPr>
              <a:t>fruits</a:t>
            </a:r>
            <a:endParaRPr lang="en-GB" sz="1400" dirty="0"/>
          </a:p>
        </p:txBody>
      </p:sp>
      <p:cxnSp>
        <p:nvCxnSpPr>
          <p:cNvPr id="111" name="Arrow 111"/>
          <p:cNvCxnSpPr/>
          <p:nvPr/>
        </p:nvCxnSpPr>
        <p:spPr>
          <a:xfrm>
            <a:off x="7315200" y="3520440"/>
            <a:ext cx="594360" cy="0"/>
          </a:xfrm>
          <a:prstGeom prst="line">
            <a:avLst/>
          </a:prstGeom>
          <a:ln w="25400">
            <a:solidFill>
              <a:srgbClr val="333333"/>
            </a:solidFill>
            <a:tailEnd type="triangle" w="med" len="med"/>
          </a:ln>
        </p:spPr>
      </p:cxnSp>
      <p:sp>
        <p:nvSpPr>
          <p:cNvPr id="112" name="Memory 112"/>
          <p:cNvSpPr/>
          <p:nvPr/>
        </p:nvSpPr>
        <p:spPr>
          <a:xfrm>
            <a:off x="7955280" y="2971800"/>
            <a:ext cx="2651760" cy="1097280"/>
          </a:xfrm>
          <a:prstGeom prst="rect">
            <a:avLst/>
          </a:prstGeom>
          <a:solidFill>
            <a:srgbClr val="F2F2F2"/>
          </a:solidFill>
          <a:ln w="12700">
            <a:solidFill>
              <a:srgbClr val="BFBFBF"/>
            </a:solidFill>
          </a:ln>
        </p:spPr>
        <p:txBody>
          <a:bodyPr/>
          <a:lstStyle/>
          <a:p>
            <a:endParaRPr lang="en-CH"/>
          </a:p>
        </p:txBody>
      </p:sp>
      <p:sp>
        <p:nvSpPr>
          <p:cNvPr id="113" name="Cell 113"/>
          <p:cNvSpPr/>
          <p:nvPr/>
        </p:nvSpPr>
        <p:spPr>
          <a:xfrm>
            <a:off x="8092440" y="3246120"/>
            <a:ext cx="737616" cy="548640"/>
          </a:xfrm>
          <a:prstGeom prst="rect">
            <a:avLst/>
          </a:prstGeom>
          <a:solidFill>
            <a:srgbClr val="FFFFFF"/>
          </a:solidFill>
          <a:ln w="12700">
            <a:solidFill>
              <a:srgbClr val="BFBFBF"/>
            </a:solidFill>
          </a:ln>
        </p:spPr>
        <p:txBody>
          <a:bodyPr wrap="square" lIns="9144" tIns="9144" rIns="9144" bIns="9144" rtlCol="0" anchor="ctr">
            <a:noAutofit/>
          </a:bodyPr>
          <a:lstStyle/>
          <a:p>
            <a:pPr marL="0" indent="0" algn="ctr">
              <a:spcAft>
                <a:spcPts val="0"/>
              </a:spcAft>
              <a:buNone/>
            </a:pPr>
            <a:r>
              <a:rPr lang="en-GB" sz="1100" b="1" dirty="0">
                <a:latin typeface="Courier New"/>
                <a:cs typeface="Courier New"/>
              </a:rPr>
              <a:t>"apple"</a:t>
            </a:r>
            <a:endParaRPr lang="en-GB" sz="1400" dirty="0"/>
          </a:p>
        </p:txBody>
      </p:sp>
      <p:sp>
        <p:nvSpPr>
          <p:cNvPr id="114" name="Cell 114"/>
          <p:cNvSpPr/>
          <p:nvPr/>
        </p:nvSpPr>
        <p:spPr>
          <a:xfrm>
            <a:off x="8884920" y="3246120"/>
            <a:ext cx="737616" cy="548640"/>
          </a:xfrm>
          <a:prstGeom prst="rect">
            <a:avLst/>
          </a:prstGeom>
          <a:solidFill>
            <a:srgbClr val="FFFFFF"/>
          </a:solidFill>
          <a:ln w="12700">
            <a:solidFill>
              <a:srgbClr val="BFBFBF"/>
            </a:solidFill>
          </a:ln>
        </p:spPr>
        <p:txBody>
          <a:bodyPr wrap="square" lIns="9144" tIns="9144" rIns="9144" bIns="9144" rtlCol="0" anchor="ctr">
            <a:noAutofit/>
          </a:bodyPr>
          <a:lstStyle/>
          <a:p>
            <a:pPr marL="0" indent="0" algn="ctr">
              <a:spcAft>
                <a:spcPts val="0"/>
              </a:spcAft>
              <a:buNone/>
            </a:pPr>
            <a:r>
              <a:rPr lang="en-GB" sz="1100" b="1" dirty="0">
                <a:latin typeface="Courier New"/>
                <a:cs typeface="Courier New"/>
              </a:rPr>
              <a:t>"banana"</a:t>
            </a:r>
            <a:endParaRPr lang="en-GB" sz="1400" dirty="0"/>
          </a:p>
        </p:txBody>
      </p:sp>
      <p:sp>
        <p:nvSpPr>
          <p:cNvPr id="115" name="Cell 115"/>
          <p:cNvSpPr/>
          <p:nvPr/>
        </p:nvSpPr>
        <p:spPr>
          <a:xfrm>
            <a:off x="9677400" y="3246120"/>
            <a:ext cx="737616" cy="548640"/>
          </a:xfrm>
          <a:prstGeom prst="rect">
            <a:avLst/>
          </a:prstGeom>
          <a:solidFill>
            <a:srgbClr val="FFFFFF"/>
          </a:solidFill>
          <a:ln w="12700">
            <a:solidFill>
              <a:srgbClr val="BFBFBF"/>
            </a:solidFill>
          </a:ln>
        </p:spPr>
        <p:txBody>
          <a:bodyPr wrap="square" lIns="9144" tIns="9144" rIns="9144" bIns="9144" rtlCol="0" anchor="ctr">
            <a:noAutofit/>
          </a:bodyPr>
          <a:lstStyle/>
          <a:p>
            <a:pPr marL="0" indent="0" algn="ctr">
              <a:spcAft>
                <a:spcPts val="0"/>
              </a:spcAft>
              <a:buNone/>
            </a:pPr>
            <a:r>
              <a:rPr lang="en-GB" sz="1100" b="1" dirty="0">
                <a:latin typeface="Courier New"/>
                <a:cs typeface="Courier New"/>
              </a:rPr>
              <a:t>"cherry"</a:t>
            </a:r>
            <a:endParaRPr lang="en-GB" sz="1400" dirty="0"/>
          </a:p>
        </p:txBody>
      </p:sp>
      <p:sp>
        <p:nvSpPr>
          <p:cNvPr id="116" name="Text 116"/>
          <p:cNvSpPr txBox="1"/>
          <p:nvPr/>
        </p:nvSpPr>
        <p:spPr>
          <a:xfrm>
            <a:off x="10652760" y="3200400"/>
            <a:ext cx="777240" cy="640080"/>
          </a:xfrm>
          <a:prstGeom prst="rect">
            <a:avLst/>
          </a:prstGeom>
          <a:noFill/>
          <a:ln>
            <a:noFill/>
          </a:ln>
        </p:spPr>
        <p:txBody>
          <a:bodyPr wrap="square" lIns="0" tIns="0" rIns="0" bIns="0" rtlCol="0" anchor="ctr">
            <a:noAutofit/>
          </a:bodyPr>
          <a:lstStyle/>
          <a:p>
            <a:pPr marL="0" indent="0" algn="l">
              <a:spcAft>
                <a:spcPts val="0"/>
              </a:spcAft>
              <a:buNone/>
            </a:pPr>
            <a:r>
              <a:rPr lang="en-GB" sz="1200" i="1" dirty="0">
                <a:solidFill>
                  <a:srgbClr val="6B6B6B"/>
                </a:solidFill>
              </a:rPr>
              <a:t>a vector</a:t>
            </a:r>
            <a:endParaRPr lang="en-GB" sz="1400" dirty="0"/>
          </a:p>
        </p:txBody>
      </p:sp>
      <p:sp>
        <p:nvSpPr>
          <p:cNvPr id="117" name="Name 117"/>
          <p:cNvSpPr/>
          <p:nvPr/>
        </p:nvSpPr>
        <p:spPr>
          <a:xfrm>
            <a:off x="5806440" y="4572000"/>
            <a:ext cx="1463040" cy="548640"/>
          </a:xfrm>
          <a:prstGeom prst="roundRect">
            <a:avLst/>
          </a:prstGeom>
          <a:solidFill>
            <a:srgbClr val="E20613"/>
          </a:solidFill>
          <a:ln>
            <a:noFill/>
          </a:ln>
        </p:spPr>
        <p:txBody>
          <a:bodyPr wrap="square" lIns="18288" tIns="18288" rIns="18288" bIns="18288" rtlCol="0" anchor="ctr">
            <a:noAutofit/>
          </a:bodyPr>
          <a:lstStyle/>
          <a:p>
            <a:pPr marL="0" indent="0" algn="ctr">
              <a:spcAft>
                <a:spcPts val="0"/>
              </a:spcAft>
              <a:buNone/>
            </a:pPr>
            <a:r>
              <a:rPr lang="en-GB" sz="1600" b="1" dirty="0">
                <a:solidFill>
                  <a:srgbClr val="FFFFFF"/>
                </a:solidFill>
                <a:latin typeface="Courier New"/>
                <a:cs typeface="Courier New"/>
              </a:rPr>
              <a:t>sqrt</a:t>
            </a:r>
            <a:endParaRPr lang="en-GB" sz="1400" dirty="0"/>
          </a:p>
        </p:txBody>
      </p:sp>
      <p:cxnSp>
        <p:nvCxnSpPr>
          <p:cNvPr id="118" name="Arrow 118"/>
          <p:cNvCxnSpPr/>
          <p:nvPr/>
        </p:nvCxnSpPr>
        <p:spPr>
          <a:xfrm>
            <a:off x="7315200" y="4846320"/>
            <a:ext cx="594360" cy="0"/>
          </a:xfrm>
          <a:prstGeom prst="line">
            <a:avLst/>
          </a:prstGeom>
          <a:ln w="25400">
            <a:solidFill>
              <a:srgbClr val="333333"/>
            </a:solidFill>
            <a:tailEnd type="triangle" w="med" len="med"/>
          </a:ln>
        </p:spPr>
      </p:cxnSp>
      <p:sp>
        <p:nvSpPr>
          <p:cNvPr id="119" name="Memory 119"/>
          <p:cNvSpPr/>
          <p:nvPr/>
        </p:nvSpPr>
        <p:spPr>
          <a:xfrm>
            <a:off x="7955280" y="4297680"/>
            <a:ext cx="2651760" cy="1097280"/>
          </a:xfrm>
          <a:prstGeom prst="rect">
            <a:avLst/>
          </a:prstGeom>
          <a:solidFill>
            <a:srgbClr val="F2F2F2"/>
          </a:solidFill>
          <a:ln w="12700">
            <a:solidFill>
              <a:srgbClr val="BFBFBF"/>
            </a:solidFill>
          </a:ln>
        </p:spPr>
        <p:txBody>
          <a:bodyPr/>
          <a:lstStyle/>
          <a:p>
            <a:endParaRPr lang="en-CH"/>
          </a:p>
        </p:txBody>
      </p:sp>
      <p:sp>
        <p:nvSpPr>
          <p:cNvPr id="120" name="Cell 120"/>
          <p:cNvSpPr/>
          <p:nvPr/>
        </p:nvSpPr>
        <p:spPr>
          <a:xfrm>
            <a:off x="8092440" y="4572000"/>
            <a:ext cx="2322576" cy="548640"/>
          </a:xfrm>
          <a:prstGeom prst="rect">
            <a:avLst/>
          </a:prstGeom>
          <a:solidFill>
            <a:srgbClr val="FFFFFF"/>
          </a:solidFill>
          <a:ln w="12700">
            <a:solidFill>
              <a:srgbClr val="BFBFBF"/>
            </a:solidFill>
          </a:ln>
        </p:spPr>
        <p:txBody>
          <a:bodyPr wrap="square" lIns="9144" tIns="9144" rIns="9144" bIns="9144" rtlCol="0" anchor="ctr">
            <a:noAutofit/>
          </a:bodyPr>
          <a:lstStyle/>
          <a:p>
            <a:pPr marL="0" indent="0" algn="ctr">
              <a:spcAft>
                <a:spcPts val="0"/>
              </a:spcAft>
              <a:buNone/>
            </a:pPr>
            <a:r>
              <a:rPr lang="en-GB" sz="1500" b="1" dirty="0">
                <a:latin typeface="Courier New"/>
                <a:cs typeface="Courier New"/>
              </a:rPr>
              <a:t>{ code }</a:t>
            </a:r>
            <a:endParaRPr lang="en-GB" sz="1400" dirty="0"/>
          </a:p>
        </p:txBody>
      </p:sp>
      <p:sp>
        <p:nvSpPr>
          <p:cNvPr id="121" name="Text 121"/>
          <p:cNvSpPr txBox="1"/>
          <p:nvPr/>
        </p:nvSpPr>
        <p:spPr>
          <a:xfrm>
            <a:off x="10652760" y="4526280"/>
            <a:ext cx="777240" cy="640080"/>
          </a:xfrm>
          <a:prstGeom prst="rect">
            <a:avLst/>
          </a:prstGeom>
          <a:noFill/>
          <a:ln>
            <a:noFill/>
          </a:ln>
        </p:spPr>
        <p:txBody>
          <a:bodyPr wrap="square" lIns="0" tIns="0" rIns="0" bIns="0" rtlCol="0" anchor="ctr">
            <a:noAutofit/>
          </a:bodyPr>
          <a:lstStyle/>
          <a:p>
            <a:pPr marL="0" indent="0" algn="l">
              <a:spcAft>
                <a:spcPts val="0"/>
              </a:spcAft>
              <a:buNone/>
            </a:pPr>
            <a:r>
              <a:rPr lang="en-GB" sz="1200" i="1" dirty="0">
                <a:solidFill>
                  <a:srgbClr val="6B6B6B"/>
                </a:solidFill>
              </a:rPr>
              <a:t>a function</a:t>
            </a:r>
            <a:endParaRPr lang="en-GB" sz="1400" dirty="0"/>
          </a:p>
        </p:txBody>
      </p:sp>
      <p:sp>
        <p:nvSpPr>
          <p:cNvPr id="122" name="Text 122"/>
          <p:cNvSpPr txBox="1"/>
          <p:nvPr/>
        </p:nvSpPr>
        <p:spPr>
          <a:xfrm>
            <a:off x="5806440" y="5577840"/>
            <a:ext cx="5394960" cy="365760"/>
          </a:xfrm>
          <a:prstGeom prst="rect">
            <a:avLst/>
          </a:prstGeom>
          <a:noFill/>
          <a:ln>
            <a:noFill/>
          </a:ln>
        </p:spPr>
        <p:txBody>
          <a:bodyPr wrap="square" lIns="0" tIns="0" rIns="0" bIns="0" rtlCol="0" anchor="t">
            <a:noAutofit/>
          </a:bodyPr>
          <a:lstStyle/>
          <a:p>
            <a:pPr marL="0" indent="0" algn="l">
              <a:spcAft>
                <a:spcPts val="0"/>
              </a:spcAft>
              <a:buNone/>
            </a:pPr>
            <a:r>
              <a:rPr lang="en-GB" sz="1300" b="1" dirty="0">
                <a:latin typeface="Courier New"/>
                <a:cs typeface="Courier New"/>
              </a:rPr>
              <a:t>ls()</a:t>
            </a:r>
            <a:r>
              <a:rPr lang="en-GB" sz="1300" dirty="0">
                <a:solidFill>
                  <a:srgbClr val="6B6B6B"/>
                </a:solidFill>
              </a:rPr>
              <a:t> lists the names of all objects in your workspace</a:t>
            </a:r>
            <a:endParaRPr lang="en-GB" sz="1400" dirty="0"/>
          </a:p>
        </p:txBody>
      </p:sp>
    </p:spTree>
    <p:extLst>
      <p:ext uri="{BB962C8B-B14F-4D97-AF65-F5344CB8AC3E}">
        <p14:creationId xmlns:p14="http://schemas.microsoft.com/office/powerpoint/2010/main" val="21443529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F6992-27D7-EB08-823B-DE9C491C3922}"/>
              </a:ext>
            </a:extLst>
          </p:cNvPr>
          <p:cNvSpPr>
            <a:spLocks noGrp="1"/>
          </p:cNvSpPr>
          <p:nvPr>
            <p:ph type="title"/>
          </p:nvPr>
        </p:nvSpPr>
        <p:spPr/>
        <p:txBody>
          <a:bodyPr/>
          <a:lstStyle/>
          <a:p>
            <a:r>
              <a:rPr lang="en-GB" dirty="0">
                <a:ea typeface="Verdana"/>
                <a:cs typeface="Gill Sans"/>
              </a:rPr>
              <a:t>Object name rules</a:t>
            </a:r>
            <a:endParaRPr lang="en-GB" dirty="0"/>
          </a:p>
        </p:txBody>
      </p:sp>
      <p:sp>
        <p:nvSpPr>
          <p:cNvPr id="3" name="Text Placeholder 2">
            <a:extLst>
              <a:ext uri="{FF2B5EF4-FFF2-40B4-BE49-F238E27FC236}">
                <a16:creationId xmlns:a16="http://schemas.microsoft.com/office/drawing/2014/main" id="{EEE2A893-1A60-017A-52A0-702B693DAECF}"/>
              </a:ext>
            </a:extLst>
          </p:cNvPr>
          <p:cNvSpPr>
            <a:spLocks noGrp="1"/>
          </p:cNvSpPr>
          <p:nvPr>
            <p:ph type="body" sz="quarter" idx="11"/>
          </p:nvPr>
        </p:nvSpPr>
        <p:spPr/>
        <p:txBody>
          <a:bodyPr vert="horz" lIns="91440" tIns="45720" rIns="91440" bIns="45720" rtlCol="0" anchor="t">
            <a:normAutofit lnSpcReduction="10000"/>
          </a:bodyPr>
          <a:lstStyle/>
          <a:p>
            <a:pPr marL="342900" indent="-342900">
              <a:buChar char="•"/>
            </a:pPr>
            <a:r>
              <a:rPr lang="en-GB" dirty="0">
                <a:ea typeface="Tahoma"/>
                <a:cs typeface="Gill Sans Light"/>
              </a:rPr>
              <a:t>Letters, numbers, dots . , and underscores _</a:t>
            </a:r>
          </a:p>
          <a:p>
            <a:pPr marL="342900" indent="-342900">
              <a:buChar char="•"/>
            </a:pPr>
            <a:r>
              <a:rPr lang="en-GB" dirty="0">
                <a:ea typeface="Tahoma"/>
                <a:cs typeface="Gill Sans Light"/>
              </a:rPr>
              <a:t>Cannot start with a number</a:t>
            </a:r>
            <a:endParaRPr lang="en-GB" dirty="0"/>
          </a:p>
          <a:p>
            <a:pPr marL="342900" indent="-342900">
              <a:buChar char="•"/>
            </a:pPr>
            <a:r>
              <a:rPr lang="en-GB" dirty="0">
                <a:ea typeface="Tahoma"/>
                <a:cs typeface="Gill Sans Light"/>
              </a:rPr>
              <a:t>Cannot contain operators</a:t>
            </a:r>
          </a:p>
          <a:p>
            <a:pPr marL="342900" indent="-342900">
              <a:buChar char="•"/>
            </a:pPr>
            <a:r>
              <a:rPr lang="en-GB" dirty="0">
                <a:ea typeface="Tahoma"/>
                <a:cs typeface="Gill Sans Light"/>
              </a:rPr>
              <a:t>Best to start with a letter</a:t>
            </a:r>
          </a:p>
          <a:p>
            <a:pPr marL="342900" indent="-342900">
              <a:buChar char="•"/>
            </a:pPr>
            <a:endParaRPr lang="en-GB" dirty="0"/>
          </a:p>
          <a:p>
            <a:r>
              <a:rPr lang="en-GB" dirty="0">
                <a:ea typeface="Tahoma"/>
                <a:cs typeface="Gill Sans Light"/>
              </a:rPr>
              <a:t>Examples:</a:t>
            </a:r>
          </a:p>
          <a:p>
            <a:pPr marL="342900" indent="-342900">
              <a:buChar char="•"/>
            </a:pPr>
            <a:r>
              <a:rPr lang="en-GB" dirty="0">
                <a:latin typeface="Courier New"/>
                <a:ea typeface="Tahoma"/>
                <a:cs typeface="Gill Sans Light"/>
              </a:rPr>
              <a:t>X</a:t>
            </a:r>
            <a:endParaRPr lang="en-GB" dirty="0">
              <a:latin typeface="Courier New"/>
            </a:endParaRPr>
          </a:p>
          <a:p>
            <a:pPr marL="342900" indent="-342900">
              <a:buChar char="•"/>
            </a:pPr>
            <a:r>
              <a:rPr lang="en-GB" dirty="0">
                <a:latin typeface="Courier New"/>
                <a:ea typeface="Tahoma"/>
                <a:cs typeface="Gill Sans Light"/>
              </a:rPr>
              <a:t>mydata1</a:t>
            </a:r>
            <a:endParaRPr lang="en-GB" dirty="0">
              <a:latin typeface="Courier New"/>
            </a:endParaRPr>
          </a:p>
          <a:p>
            <a:pPr marL="342900" indent="-342900">
              <a:buChar char="•"/>
            </a:pPr>
            <a:r>
              <a:rPr lang="en-GB" dirty="0" err="1">
                <a:latin typeface="Courier New"/>
                <a:ea typeface="Tahoma"/>
                <a:cs typeface="Gill Sans Light"/>
              </a:rPr>
              <a:t>mydata.normalized</a:t>
            </a:r>
          </a:p>
          <a:p>
            <a:pPr marL="342900" indent="-342900">
              <a:buChar char="•"/>
            </a:pPr>
            <a:r>
              <a:rPr lang="en-GB" dirty="0" err="1">
                <a:latin typeface="Courier New"/>
                <a:ea typeface="Tahoma"/>
                <a:cs typeface="Gill Sans Light"/>
              </a:rPr>
              <a:t>N_times</a:t>
            </a:r>
            <a:endParaRPr lang="en-GB" dirty="0" err="1">
              <a:latin typeface="Courier New"/>
            </a:endParaRPr>
          </a:p>
        </p:txBody>
      </p:sp>
    </p:spTree>
    <p:extLst>
      <p:ext uri="{BB962C8B-B14F-4D97-AF65-F5344CB8AC3E}">
        <p14:creationId xmlns:p14="http://schemas.microsoft.com/office/powerpoint/2010/main" val="30783715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83CFD-D7D4-573D-08FC-61B7A6E63F70}"/>
              </a:ext>
            </a:extLst>
          </p:cNvPr>
          <p:cNvSpPr>
            <a:spLocks noGrp="1"/>
          </p:cNvSpPr>
          <p:nvPr>
            <p:ph type="title"/>
          </p:nvPr>
        </p:nvSpPr>
        <p:spPr/>
        <p:txBody>
          <a:bodyPr/>
          <a:lstStyle/>
          <a:p>
            <a:r>
              <a:rPr lang="en-GB" dirty="0">
                <a:ea typeface="Verdana"/>
                <a:cs typeface="Gill Sans"/>
              </a:rPr>
              <a:t>The assignment operator</a:t>
            </a:r>
          </a:p>
        </p:txBody>
      </p:sp>
      <p:sp>
        <p:nvSpPr>
          <p:cNvPr id="101" name="Explain 101"/>
          <p:cNvSpPr txBox="1"/>
          <p:nvPr/>
        </p:nvSpPr>
        <p:spPr>
          <a:xfrm>
            <a:off x="841248" y="1143000"/>
            <a:ext cx="5486400" cy="2331720"/>
          </a:xfrm>
          <a:prstGeom prst="rect">
            <a:avLst/>
          </a:prstGeom>
          <a:noFill/>
          <a:ln>
            <a:noFill/>
          </a:ln>
        </p:spPr>
        <p:txBody>
          <a:bodyPr wrap="square" lIns="0" tIns="0" rIns="0" bIns="0" rtlCol="0" anchor="t">
            <a:noAutofit/>
          </a:bodyPr>
          <a:lstStyle/>
          <a:p>
            <a:pPr marL="0" indent="0" algn="l">
              <a:spcAft>
                <a:spcPts val="800"/>
              </a:spcAft>
              <a:buNone/>
            </a:pPr>
            <a:r>
              <a:rPr lang="en-GB" sz="1700" b="1" dirty="0"/>
              <a:t>Assigning</a:t>
            </a:r>
            <a:r>
              <a:rPr lang="en-GB" sz="1700" dirty="0"/>
              <a:t> means storing a value in memory and giving it a </a:t>
            </a:r>
            <a:r>
              <a:rPr lang="en-GB" sz="1700" b="1" dirty="0"/>
              <a:t>name</a:t>
            </a:r>
            <a:r>
              <a:rPr lang="en-GB" sz="1700" dirty="0"/>
              <a:t>, so you can reuse it later.</a:t>
            </a:r>
            <a:endParaRPr lang="en-GB" sz="1400" dirty="0"/>
          </a:p>
          <a:p>
            <a:pPr marL="285750" indent="-285750" algn="l">
              <a:spcAft>
                <a:spcPts val="400"/>
              </a:spcAft>
              <a:buFont typeface="Arial"/>
              <a:buChar char="•"/>
            </a:pPr>
            <a:r>
              <a:rPr lang="en-GB" sz="1500" dirty="0"/>
              <a:t>R first computes the right-hand side, then stores the result under the name on the left.</a:t>
            </a:r>
            <a:endParaRPr lang="en-GB" sz="1400" dirty="0"/>
          </a:p>
          <a:p>
            <a:pPr marL="285750" indent="-285750" algn="l">
              <a:spcAft>
                <a:spcPts val="400"/>
              </a:spcAft>
              <a:buFont typeface="Arial"/>
              <a:buChar char="•"/>
            </a:pPr>
            <a:r>
              <a:rPr lang="en-GB" sz="1500" dirty="0"/>
              <a:t>Assignment prints nothing: type the name to see the value.</a:t>
            </a:r>
            <a:endParaRPr lang="en-GB" sz="1400" dirty="0"/>
          </a:p>
          <a:p>
            <a:pPr marL="285750" indent="-285750" algn="l">
              <a:spcAft>
                <a:spcPts val="0"/>
              </a:spcAft>
              <a:buFont typeface="Arial"/>
              <a:buChar char="•"/>
            </a:pPr>
            <a:r>
              <a:rPr lang="en-GB" sz="1500" dirty="0"/>
              <a:t>Either </a:t>
            </a:r>
            <a:r>
              <a:rPr lang="en-GB" sz="1500" b="1" dirty="0">
                <a:latin typeface="Courier New"/>
                <a:cs typeface="Courier New"/>
              </a:rPr>
              <a:t>&lt;-</a:t>
            </a:r>
            <a:r>
              <a:rPr lang="en-GB" sz="1500" dirty="0"/>
              <a:t> or </a:t>
            </a:r>
            <a:r>
              <a:rPr lang="en-GB" sz="1500" b="1" dirty="0">
                <a:latin typeface="Courier New"/>
                <a:cs typeface="Courier New"/>
              </a:rPr>
              <a:t>=</a:t>
            </a:r>
            <a:r>
              <a:rPr lang="en-GB" sz="1500" dirty="0"/>
              <a:t> works. Pick one and stick to it (</a:t>
            </a:r>
            <a:r>
              <a:rPr lang="en-GB" sz="1500" dirty="0">
                <a:latin typeface="Courier New"/>
                <a:cs typeface="Courier New"/>
              </a:rPr>
              <a:t>&lt;-</a:t>
            </a:r>
            <a:r>
              <a:rPr lang="en-GB" sz="1500" dirty="0"/>
              <a:t> is the R convention).</a:t>
            </a:r>
            <a:endParaRPr lang="en-GB" sz="1400" dirty="0"/>
          </a:p>
        </p:txBody>
      </p:sp>
      <p:sp>
        <p:nvSpPr>
          <p:cNvPr id="102" name="Code 102"/>
          <p:cNvSpPr/>
          <p:nvPr/>
        </p:nvSpPr>
        <p:spPr>
          <a:xfrm>
            <a:off x="841248" y="3429000"/>
            <a:ext cx="5486400" cy="214884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450" dirty="0">
                <a:solidFill>
                  <a:srgbClr val="333333"/>
                </a:solidFill>
                <a:latin typeface="Courier New"/>
                <a:cs typeface="Courier New"/>
              </a:rPr>
              <a:t>x &lt;- 10         # create x, store 10 in it</a:t>
            </a:r>
            <a:endParaRPr lang="en-GB" sz="1450" dirty="0"/>
          </a:p>
          <a:p>
            <a:pPr marL="0" indent="0" algn="l">
              <a:spcAft>
                <a:spcPts val="0"/>
              </a:spcAft>
              <a:buNone/>
            </a:pPr>
            <a:r>
              <a:rPr lang="en-GB" sz="1450" dirty="0">
                <a:solidFill>
                  <a:srgbClr val="333333"/>
                </a:solidFill>
                <a:latin typeface="Courier New"/>
                <a:cs typeface="Courier New"/>
              </a:rPr>
              <a:t>x &lt;- 25         # replace the value of x by 25</a:t>
            </a:r>
            <a:endParaRPr lang="en-GB" sz="1450" dirty="0"/>
          </a:p>
          <a:p>
            <a:pPr marL="0" indent="0" algn="l">
              <a:spcAft>
                <a:spcPts val="0"/>
              </a:spcAft>
              <a:buNone/>
            </a:pPr>
            <a:r>
              <a:rPr lang="en-GB" sz="1450" dirty="0">
                <a:solidFill>
                  <a:srgbClr val="333333"/>
                </a:solidFill>
                <a:latin typeface="Courier New"/>
                <a:cs typeface="Courier New"/>
              </a:rPr>
              <a:t> </a:t>
            </a:r>
            <a:endParaRPr lang="en-GB" sz="1450" dirty="0"/>
          </a:p>
          <a:p>
            <a:pPr marL="0" indent="0" algn="l">
              <a:spcAft>
                <a:spcPts val="0"/>
              </a:spcAft>
              <a:buNone/>
            </a:pPr>
            <a:r>
              <a:rPr lang="en-GB" sz="1450" dirty="0">
                <a:solidFill>
                  <a:srgbClr val="333333"/>
                </a:solidFill>
                <a:latin typeface="Courier New"/>
                <a:cs typeface="Courier New"/>
              </a:rPr>
              <a:t>myNumber &lt;- 15</a:t>
            </a:r>
            <a:endParaRPr lang="en-GB" sz="1450" dirty="0"/>
          </a:p>
          <a:p>
            <a:pPr marL="0" indent="0" algn="l">
              <a:spcAft>
                <a:spcPts val="0"/>
              </a:spcAft>
              <a:buNone/>
            </a:pPr>
            <a:r>
              <a:rPr lang="en-GB" sz="1450" dirty="0">
                <a:solidFill>
                  <a:srgbClr val="333333"/>
                </a:solidFill>
                <a:latin typeface="Courier New"/>
                <a:cs typeface="Courier New"/>
              </a:rPr>
              <a:t>x &lt;- myNumber   # both now contain 15</a:t>
            </a:r>
            <a:endParaRPr lang="en-GB" sz="1450" dirty="0"/>
          </a:p>
          <a:p>
            <a:pPr marL="0" indent="0" algn="l">
              <a:spcAft>
                <a:spcPts val="0"/>
              </a:spcAft>
              <a:buNone/>
            </a:pPr>
            <a:r>
              <a:rPr lang="en-GB" sz="1450" dirty="0">
                <a:solidFill>
                  <a:srgbClr val="333333"/>
                </a:solidFill>
                <a:latin typeface="Courier New"/>
                <a:cs typeface="Courier New"/>
              </a:rPr>
              <a:t> </a:t>
            </a:r>
            <a:endParaRPr lang="en-GB" sz="1450" dirty="0"/>
          </a:p>
          <a:p>
            <a:pPr marL="0" indent="0" algn="l">
              <a:spcAft>
                <a:spcPts val="0"/>
              </a:spcAft>
              <a:buNone/>
            </a:pPr>
            <a:r>
              <a:rPr lang="en-GB" sz="1450" dirty="0">
                <a:solidFill>
                  <a:srgbClr val="333333"/>
                </a:solidFill>
                <a:latin typeface="Courier New"/>
                <a:cs typeface="Courier New"/>
              </a:rPr>
              <a:t>x &lt;- x + sqrt(16)  # add sqrt(16) to x</a:t>
            </a:r>
            <a:endParaRPr lang="en-GB" sz="1450" dirty="0"/>
          </a:p>
        </p:txBody>
      </p:sp>
      <p:sp>
        <p:nvSpPr>
          <p:cNvPr id="103" name="Text 103"/>
          <p:cNvSpPr txBox="1"/>
          <p:nvPr/>
        </p:nvSpPr>
        <p:spPr>
          <a:xfrm>
            <a:off x="6812280" y="1143000"/>
            <a:ext cx="4480560" cy="365760"/>
          </a:xfrm>
          <a:prstGeom prst="rect">
            <a:avLst/>
          </a:prstGeom>
          <a:noFill/>
          <a:ln>
            <a:noFill/>
          </a:ln>
        </p:spPr>
        <p:txBody>
          <a:bodyPr wrap="square" lIns="0" tIns="0" rIns="0" bIns="0" rtlCol="0" anchor="t">
            <a:noAutofit/>
          </a:bodyPr>
          <a:lstStyle/>
          <a:p>
            <a:pPr marL="0" indent="0" algn="ctr">
              <a:spcAft>
                <a:spcPts val="0"/>
              </a:spcAft>
              <a:buNone/>
            </a:pPr>
            <a:r>
              <a:rPr lang="en-GB" sz="2200" b="1" dirty="0">
                <a:latin typeface="Courier New"/>
                <a:cs typeface="Courier New"/>
              </a:rPr>
              <a:t>x &lt;- 10</a:t>
            </a:r>
            <a:endParaRPr lang="en-GB" sz="1400" dirty="0"/>
          </a:p>
        </p:txBody>
      </p:sp>
      <p:sp>
        <p:nvSpPr>
          <p:cNvPr id="104" name="Label 104"/>
          <p:cNvSpPr/>
          <p:nvPr/>
        </p:nvSpPr>
        <p:spPr>
          <a:xfrm>
            <a:off x="7086600" y="1691640"/>
            <a:ext cx="1371600" cy="320040"/>
          </a:xfrm>
          <a:prstGeom prst="rect">
            <a:avLst/>
          </a:prstGeom>
          <a:solidFill>
            <a:srgbClr val="E20613"/>
          </a:solidFill>
          <a:ln>
            <a:noFill/>
          </a:ln>
        </p:spPr>
        <p:txBody>
          <a:bodyPr wrap="square" lIns="9144" tIns="9144" rIns="9144" bIns="9144" rtlCol="0" anchor="ctr">
            <a:noAutofit/>
          </a:bodyPr>
          <a:lstStyle/>
          <a:p>
            <a:pPr marL="0" indent="0" algn="ctr">
              <a:spcAft>
                <a:spcPts val="0"/>
              </a:spcAft>
              <a:buNone/>
            </a:pPr>
            <a:r>
              <a:rPr lang="en-GB" sz="1400" b="1" dirty="0">
                <a:solidFill>
                  <a:srgbClr val="FFFFFF"/>
                </a:solidFill>
                <a:latin typeface="Courier New"/>
                <a:cs typeface="Courier New"/>
              </a:rPr>
              <a:t>x</a:t>
            </a:r>
            <a:endParaRPr lang="en-GB" sz="1400" dirty="0"/>
          </a:p>
        </p:txBody>
      </p:sp>
      <p:sp>
        <p:nvSpPr>
          <p:cNvPr id="105" name="Box 105"/>
          <p:cNvSpPr/>
          <p:nvPr/>
        </p:nvSpPr>
        <p:spPr>
          <a:xfrm>
            <a:off x="7086600" y="2011680"/>
            <a:ext cx="1371600" cy="685800"/>
          </a:xfrm>
          <a:prstGeom prst="rect">
            <a:avLst/>
          </a:prstGeom>
          <a:solidFill>
            <a:srgbClr val="FFFFFF"/>
          </a:solidFill>
          <a:ln w="19050">
            <a:solidFill>
              <a:srgbClr val="E20613"/>
            </a:solidFill>
          </a:ln>
        </p:spPr>
        <p:txBody>
          <a:bodyPr wrap="square" lIns="18288" tIns="18288" rIns="18288" bIns="18288" rtlCol="0" anchor="ctr">
            <a:noAutofit/>
          </a:bodyPr>
          <a:lstStyle/>
          <a:p>
            <a:pPr marL="0" indent="0" algn="ctr">
              <a:spcAft>
                <a:spcPts val="0"/>
              </a:spcAft>
              <a:buNone/>
            </a:pPr>
            <a:r>
              <a:rPr lang="en-GB" sz="2000" b="1" dirty="0">
                <a:latin typeface="Courier New"/>
                <a:cs typeface="Courier New"/>
              </a:rPr>
              <a:t>10</a:t>
            </a:r>
            <a:endParaRPr lang="en-GB" sz="1400" dirty="0"/>
          </a:p>
        </p:txBody>
      </p:sp>
      <p:sp>
        <p:nvSpPr>
          <p:cNvPr id="106" name="Text 106"/>
          <p:cNvSpPr txBox="1"/>
          <p:nvPr/>
        </p:nvSpPr>
        <p:spPr>
          <a:xfrm>
            <a:off x="7086600" y="2715768"/>
            <a:ext cx="1371600" cy="274320"/>
          </a:xfrm>
          <a:prstGeom prst="rect">
            <a:avLst/>
          </a:prstGeom>
          <a:noFill/>
          <a:ln>
            <a:noFill/>
          </a:ln>
        </p:spPr>
        <p:txBody>
          <a:bodyPr wrap="square" lIns="0" tIns="0" rIns="0" bIns="0" rtlCol="0" anchor="t">
            <a:noAutofit/>
          </a:bodyPr>
          <a:lstStyle/>
          <a:p>
            <a:pPr marL="0" indent="0" algn="ctr">
              <a:spcAft>
                <a:spcPts val="0"/>
              </a:spcAft>
              <a:buNone/>
            </a:pPr>
            <a:r>
              <a:rPr lang="en-GB" sz="1100" i="1" dirty="0">
                <a:solidFill>
                  <a:srgbClr val="6B6B6B"/>
                </a:solidFill>
              </a:rPr>
              <a:t>named box</a:t>
            </a:r>
            <a:endParaRPr lang="en-GB" sz="1400" dirty="0"/>
          </a:p>
        </p:txBody>
      </p:sp>
      <p:cxnSp>
        <p:nvCxnSpPr>
          <p:cNvPr id="107" name="Arrow 107"/>
          <p:cNvCxnSpPr/>
          <p:nvPr/>
        </p:nvCxnSpPr>
        <p:spPr>
          <a:xfrm flipH="1">
            <a:off x="8549640" y="2354580"/>
            <a:ext cx="1188720" cy="0"/>
          </a:xfrm>
          <a:prstGeom prst="line">
            <a:avLst/>
          </a:prstGeom>
          <a:ln w="38100">
            <a:solidFill>
              <a:srgbClr val="E20613"/>
            </a:solidFill>
            <a:tailEnd type="triangle" w="med" len="med"/>
          </a:ln>
        </p:spPr>
      </p:cxnSp>
      <p:sp>
        <p:nvSpPr>
          <p:cNvPr id="108" name="Text 108"/>
          <p:cNvSpPr txBox="1"/>
          <p:nvPr/>
        </p:nvSpPr>
        <p:spPr>
          <a:xfrm>
            <a:off x="8458200" y="1965960"/>
            <a:ext cx="1371600" cy="320040"/>
          </a:xfrm>
          <a:prstGeom prst="rect">
            <a:avLst/>
          </a:prstGeom>
          <a:noFill/>
          <a:ln>
            <a:noFill/>
          </a:ln>
        </p:spPr>
        <p:txBody>
          <a:bodyPr wrap="square" lIns="0" tIns="0" rIns="0" bIns="0" rtlCol="0" anchor="t">
            <a:noAutofit/>
          </a:bodyPr>
          <a:lstStyle/>
          <a:p>
            <a:pPr marL="0" indent="0" algn="ctr">
              <a:spcAft>
                <a:spcPts val="0"/>
              </a:spcAft>
              <a:buNone/>
            </a:pPr>
            <a:r>
              <a:rPr lang="en-GB" sz="1100" i="1" dirty="0">
                <a:solidFill>
                  <a:srgbClr val="E20613"/>
                </a:solidFill>
              </a:rPr>
              <a:t>goes into</a:t>
            </a:r>
            <a:endParaRPr lang="en-GB" sz="1400" dirty="0"/>
          </a:p>
        </p:txBody>
      </p:sp>
      <p:sp>
        <p:nvSpPr>
          <p:cNvPr id="109" name="Value 109"/>
          <p:cNvSpPr/>
          <p:nvPr/>
        </p:nvSpPr>
        <p:spPr>
          <a:xfrm>
            <a:off x="9829800" y="1965960"/>
            <a:ext cx="1188720" cy="777240"/>
          </a:xfrm>
          <a:prstGeom prst="roundRect">
            <a:avLst/>
          </a:prstGeom>
          <a:solidFill>
            <a:srgbClr val="F2F2F2"/>
          </a:solidFill>
          <a:ln w="12700">
            <a:solidFill>
              <a:srgbClr val="BFBFBF"/>
            </a:solidFill>
          </a:ln>
        </p:spPr>
        <p:txBody>
          <a:bodyPr wrap="square" lIns="18288" tIns="18288" rIns="18288" bIns="18288" rtlCol="0" anchor="ctr">
            <a:noAutofit/>
          </a:bodyPr>
          <a:lstStyle/>
          <a:p>
            <a:pPr marL="0" indent="0" algn="ctr">
              <a:spcAft>
                <a:spcPts val="0"/>
              </a:spcAft>
              <a:buNone/>
            </a:pPr>
            <a:r>
              <a:rPr lang="en-GB" sz="2200" b="1" dirty="0">
                <a:latin typeface="Courier New"/>
                <a:cs typeface="Courier New"/>
              </a:rPr>
              <a:t>10</a:t>
            </a:r>
            <a:endParaRPr lang="en-GB" sz="1400" dirty="0"/>
          </a:p>
        </p:txBody>
      </p:sp>
      <p:sp>
        <p:nvSpPr>
          <p:cNvPr id="110" name="Text 110"/>
          <p:cNvSpPr txBox="1"/>
          <p:nvPr/>
        </p:nvSpPr>
        <p:spPr>
          <a:xfrm>
            <a:off x="9829800" y="2761488"/>
            <a:ext cx="1188720" cy="274320"/>
          </a:xfrm>
          <a:prstGeom prst="rect">
            <a:avLst/>
          </a:prstGeom>
          <a:noFill/>
          <a:ln>
            <a:noFill/>
          </a:ln>
        </p:spPr>
        <p:txBody>
          <a:bodyPr wrap="square" lIns="0" tIns="0" rIns="0" bIns="0" rtlCol="0" anchor="t">
            <a:noAutofit/>
          </a:bodyPr>
          <a:lstStyle/>
          <a:p>
            <a:pPr marL="0" indent="0" algn="ctr">
              <a:spcAft>
                <a:spcPts val="0"/>
              </a:spcAft>
              <a:buNone/>
            </a:pPr>
            <a:r>
              <a:rPr lang="en-GB" sz="1100" i="1" dirty="0">
                <a:solidFill>
                  <a:srgbClr val="6B6B6B"/>
                </a:solidFill>
              </a:rPr>
              <a:t>value</a:t>
            </a:r>
            <a:endParaRPr lang="en-GB" sz="1400" dirty="0"/>
          </a:p>
        </p:txBody>
      </p:sp>
      <p:sp>
        <p:nvSpPr>
          <p:cNvPr id="111" name="Panel 111"/>
          <p:cNvSpPr/>
          <p:nvPr/>
        </p:nvSpPr>
        <p:spPr>
          <a:xfrm>
            <a:off x="6720840" y="3246120"/>
            <a:ext cx="4572000" cy="2331720"/>
          </a:xfrm>
          <a:prstGeom prst="roundRect">
            <a:avLst>
              <a:gd name="adj" fmla="val 6000"/>
            </a:avLst>
          </a:prstGeom>
          <a:solidFill>
            <a:srgbClr val="FDECED"/>
          </a:solidFill>
          <a:ln>
            <a:noFill/>
          </a:ln>
        </p:spPr>
        <p:txBody>
          <a:bodyPr/>
          <a:lstStyle/>
          <a:p>
            <a:endParaRPr lang="en-CH"/>
          </a:p>
        </p:txBody>
      </p:sp>
      <p:sp>
        <p:nvSpPr>
          <p:cNvPr id="112" name="Text 112"/>
          <p:cNvSpPr txBox="1"/>
          <p:nvPr/>
        </p:nvSpPr>
        <p:spPr>
          <a:xfrm>
            <a:off x="6903720" y="3337560"/>
            <a:ext cx="4206240" cy="365760"/>
          </a:xfrm>
          <a:prstGeom prst="rect">
            <a:avLst/>
          </a:prstGeom>
          <a:noFill/>
          <a:ln>
            <a:noFill/>
          </a:ln>
        </p:spPr>
        <p:txBody>
          <a:bodyPr wrap="square" lIns="0" tIns="0" rIns="0" bIns="0" rtlCol="0" anchor="t">
            <a:noAutofit/>
          </a:bodyPr>
          <a:lstStyle/>
          <a:p>
            <a:pPr marL="0" indent="0" algn="ctr">
              <a:spcAft>
                <a:spcPts val="0"/>
              </a:spcAft>
              <a:buNone/>
            </a:pPr>
            <a:r>
              <a:rPr lang="en-GB" sz="1700" b="1" dirty="0">
                <a:latin typeface="Courier New"/>
                <a:cs typeface="Courier New"/>
              </a:rPr>
              <a:t>x &lt;- x + sqrt(16)</a:t>
            </a:r>
            <a:endParaRPr lang="en-GB" sz="1400" dirty="0"/>
          </a:p>
        </p:txBody>
      </p:sp>
      <p:sp>
        <p:nvSpPr>
          <p:cNvPr id="113" name="Text 113"/>
          <p:cNvSpPr txBox="1"/>
          <p:nvPr/>
        </p:nvSpPr>
        <p:spPr>
          <a:xfrm>
            <a:off x="6949440" y="3794760"/>
            <a:ext cx="4160520" cy="1737360"/>
          </a:xfrm>
          <a:prstGeom prst="rect">
            <a:avLst/>
          </a:prstGeom>
          <a:noFill/>
          <a:ln>
            <a:noFill/>
          </a:ln>
        </p:spPr>
        <p:txBody>
          <a:bodyPr wrap="square" lIns="0" tIns="0" rIns="0" bIns="0" rtlCol="0" anchor="t">
            <a:noAutofit/>
          </a:bodyPr>
          <a:lstStyle/>
          <a:p>
            <a:pPr marL="0" indent="0" algn="l">
              <a:spcAft>
                <a:spcPts val="200"/>
              </a:spcAft>
              <a:buNone/>
            </a:pPr>
            <a:r>
              <a:rPr lang="en-GB" sz="1400" b="1" dirty="0">
                <a:solidFill>
                  <a:srgbClr val="E20613"/>
                </a:solidFill>
              </a:rPr>
              <a:t>① right side first: </a:t>
            </a:r>
            <a:r>
              <a:rPr lang="en-GB" sz="1400" dirty="0">
                <a:latin typeface="Courier New"/>
                <a:cs typeface="Courier New"/>
              </a:rPr>
              <a:t>x</a:t>
            </a:r>
            <a:r>
              <a:rPr lang="en-GB" sz="1400" dirty="0"/>
              <a:t> is still 10, so</a:t>
            </a:r>
          </a:p>
          <a:p>
            <a:pPr marL="0" indent="0" algn="l">
              <a:spcAft>
                <a:spcPts val="800"/>
              </a:spcAft>
              <a:buNone/>
            </a:pPr>
            <a:r>
              <a:rPr lang="en-GB" sz="1500" b="1" dirty="0">
                <a:latin typeface="Courier New"/>
                <a:cs typeface="Courier New"/>
              </a:rPr>
              <a:t>    10 + 4  →  14</a:t>
            </a:r>
            <a:endParaRPr lang="en-GB" sz="1400" dirty="0"/>
          </a:p>
          <a:p>
            <a:pPr marL="0" indent="0" algn="l">
              <a:spcAft>
                <a:spcPts val="200"/>
              </a:spcAft>
              <a:buNone/>
            </a:pPr>
            <a:r>
              <a:rPr lang="en-GB" sz="1400" b="1" dirty="0">
                <a:solidFill>
                  <a:srgbClr val="E20613"/>
                </a:solidFill>
              </a:rPr>
              <a:t>② then store: </a:t>
            </a:r>
            <a:r>
              <a:rPr lang="en-GB" sz="1400" dirty="0"/>
              <a:t>14 goes into </a:t>
            </a:r>
            <a:r>
              <a:rPr lang="en-GB" sz="1400" dirty="0">
                <a:latin typeface="Courier New"/>
                <a:cs typeface="Courier New"/>
              </a:rPr>
              <a:t>x</a:t>
            </a:r>
            <a:endParaRPr lang="en-GB" sz="1400" dirty="0"/>
          </a:p>
          <a:p>
            <a:pPr marL="0" indent="0" algn="l">
              <a:spcAft>
                <a:spcPts val="800"/>
              </a:spcAft>
              <a:buNone/>
            </a:pPr>
            <a:r>
              <a:rPr lang="en-GB" sz="1400" dirty="0">
                <a:solidFill>
                  <a:srgbClr val="6B6B6B"/>
                </a:solidFill>
              </a:rPr>
              <a:t>    the old value 10 is replaced</a:t>
            </a:r>
            <a:endParaRPr lang="en-GB" sz="1400" dirty="0"/>
          </a:p>
          <a:p>
            <a:pPr marL="0" indent="0" algn="l">
              <a:spcAft>
                <a:spcPts val="0"/>
              </a:spcAft>
              <a:buNone/>
            </a:pPr>
            <a:r>
              <a:rPr lang="en-GB" sz="1300" i="1" dirty="0">
                <a:solidFill>
                  <a:srgbClr val="6B6B6B"/>
                </a:solidFill>
              </a:rPr>
              <a:t>So this is not an equation, it is an action.</a:t>
            </a:r>
            <a:endParaRPr lang="en-GB" sz="1400" dirty="0"/>
          </a:p>
        </p:txBody>
      </p:sp>
    </p:spTree>
    <p:extLst>
      <p:ext uri="{BB962C8B-B14F-4D97-AF65-F5344CB8AC3E}">
        <p14:creationId xmlns:p14="http://schemas.microsoft.com/office/powerpoint/2010/main" val="35238352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What is a function?</a:t>
            </a:r>
          </a:p>
        </p:txBody>
      </p:sp>
      <p:sp>
        <p:nvSpPr>
          <p:cNvPr id="101" name="In 101"/>
          <p:cNvSpPr/>
          <p:nvPr/>
        </p:nvSpPr>
        <p:spPr>
          <a:xfrm>
            <a:off x="841248" y="1234440"/>
            <a:ext cx="2377440" cy="1005840"/>
          </a:xfrm>
          <a:prstGeom prst="roundRect">
            <a:avLst/>
          </a:prstGeom>
          <a:solidFill>
            <a:srgbClr val="F2F2F2"/>
          </a:solidFill>
          <a:ln>
            <a:noFill/>
          </a:ln>
        </p:spPr>
        <p:txBody>
          <a:bodyPr wrap="square" lIns="36576" tIns="36576" rIns="36576" bIns="36576" rtlCol="0" anchor="ctr">
            <a:noAutofit/>
          </a:bodyPr>
          <a:lstStyle/>
          <a:p>
            <a:pPr marL="0" indent="0" algn="ctr">
              <a:spcAft>
                <a:spcPts val="0"/>
              </a:spcAft>
              <a:buNone/>
            </a:pPr>
            <a:r>
              <a:rPr lang="en-GB" sz="1300" dirty="0">
                <a:solidFill>
                  <a:srgbClr val="6B6B6B"/>
                </a:solidFill>
              </a:rPr>
              <a:t>Input</a:t>
            </a:r>
            <a:endParaRPr lang="en-GB" sz="1400" dirty="0"/>
          </a:p>
          <a:p>
            <a:pPr marL="0" indent="0" algn="ctr">
              <a:spcAft>
                <a:spcPts val="0"/>
              </a:spcAft>
              <a:buNone/>
            </a:pPr>
            <a:r>
              <a:rPr lang="en-GB" sz="2400" b="1" dirty="0">
                <a:latin typeface="Courier New"/>
                <a:cs typeface="Courier New"/>
              </a:rPr>
              <a:t>81</a:t>
            </a:r>
            <a:endParaRPr lang="en-GB" sz="1400" dirty="0"/>
          </a:p>
          <a:p>
            <a:pPr marL="0" indent="0" algn="ctr">
              <a:spcAft>
                <a:spcPts val="0"/>
              </a:spcAft>
              <a:buNone/>
            </a:pPr>
            <a:r>
              <a:rPr lang="en-GB" sz="1100" i="1" dirty="0">
                <a:solidFill>
                  <a:srgbClr val="6B6B6B"/>
                </a:solidFill>
              </a:rPr>
              <a:t>argument(s)</a:t>
            </a:r>
            <a:endParaRPr lang="en-GB" sz="1400" dirty="0"/>
          </a:p>
        </p:txBody>
      </p:sp>
      <p:cxnSp>
        <p:nvCxnSpPr>
          <p:cNvPr id="102" name="Arrow 102"/>
          <p:cNvCxnSpPr/>
          <p:nvPr/>
        </p:nvCxnSpPr>
        <p:spPr>
          <a:xfrm>
            <a:off x="3264408" y="1737360"/>
            <a:ext cx="914400" cy="0"/>
          </a:xfrm>
          <a:prstGeom prst="line">
            <a:avLst/>
          </a:prstGeom>
          <a:ln w="28575">
            <a:solidFill>
              <a:srgbClr val="333333"/>
            </a:solidFill>
            <a:tailEnd type="triangle" w="med" len="med"/>
          </a:ln>
        </p:spPr>
      </p:cxnSp>
      <p:sp>
        <p:nvSpPr>
          <p:cNvPr id="103" name="Func 103"/>
          <p:cNvSpPr/>
          <p:nvPr/>
        </p:nvSpPr>
        <p:spPr>
          <a:xfrm>
            <a:off x="4224528" y="1143000"/>
            <a:ext cx="3657600" cy="1188720"/>
          </a:xfrm>
          <a:prstGeom prst="roundRect">
            <a:avLst/>
          </a:prstGeom>
          <a:solidFill>
            <a:srgbClr val="E20613"/>
          </a:solidFill>
          <a:ln>
            <a:noFill/>
          </a:ln>
        </p:spPr>
        <p:txBody>
          <a:bodyPr wrap="square" lIns="36576" tIns="36576" rIns="36576" bIns="36576" rtlCol="0" anchor="ctr">
            <a:noAutofit/>
          </a:bodyPr>
          <a:lstStyle/>
          <a:p>
            <a:pPr marL="0" indent="0" algn="ctr">
              <a:spcAft>
                <a:spcPts val="0"/>
              </a:spcAft>
              <a:buNone/>
            </a:pPr>
            <a:r>
              <a:rPr lang="en-GB" sz="2600" b="1" dirty="0">
                <a:solidFill>
                  <a:srgbClr val="FFFFFF"/>
                </a:solidFill>
                <a:latin typeface="Courier New"/>
                <a:cs typeface="Courier New"/>
              </a:rPr>
              <a:t>sqrt( )</a:t>
            </a:r>
            <a:endParaRPr lang="en-GB" sz="1400" dirty="0"/>
          </a:p>
          <a:p>
            <a:pPr marL="0" indent="0" algn="ctr">
              <a:spcAft>
                <a:spcPts val="0"/>
              </a:spcAft>
              <a:buNone/>
            </a:pPr>
            <a:r>
              <a:rPr lang="en-GB" sz="1200" dirty="0">
                <a:solidFill>
                  <a:srgbClr val="FFFFFF"/>
                </a:solidFill>
              </a:rPr>
              <a:t>pre-written code you do not need to see</a:t>
            </a:r>
            <a:endParaRPr lang="en-GB" sz="1400" dirty="0"/>
          </a:p>
        </p:txBody>
      </p:sp>
      <p:cxnSp>
        <p:nvCxnSpPr>
          <p:cNvPr id="104" name="Arrow 104"/>
          <p:cNvCxnSpPr/>
          <p:nvPr/>
        </p:nvCxnSpPr>
        <p:spPr>
          <a:xfrm>
            <a:off x="7927848" y="1737360"/>
            <a:ext cx="914400" cy="0"/>
          </a:xfrm>
          <a:prstGeom prst="line">
            <a:avLst/>
          </a:prstGeom>
          <a:ln w="28575">
            <a:solidFill>
              <a:srgbClr val="333333"/>
            </a:solidFill>
            <a:tailEnd type="triangle" w="med" len="med"/>
          </a:ln>
        </p:spPr>
      </p:cxnSp>
      <p:sp>
        <p:nvSpPr>
          <p:cNvPr id="105" name="Out 105"/>
          <p:cNvSpPr/>
          <p:nvPr/>
        </p:nvSpPr>
        <p:spPr>
          <a:xfrm>
            <a:off x="8887968" y="1234440"/>
            <a:ext cx="2468880" cy="1005840"/>
          </a:xfrm>
          <a:prstGeom prst="roundRect">
            <a:avLst/>
          </a:prstGeom>
          <a:solidFill>
            <a:srgbClr val="F2F2F2"/>
          </a:solidFill>
          <a:ln>
            <a:noFill/>
          </a:ln>
        </p:spPr>
        <p:txBody>
          <a:bodyPr wrap="square" lIns="36576" tIns="36576" rIns="36576" bIns="36576" rtlCol="0" anchor="ctr">
            <a:noAutofit/>
          </a:bodyPr>
          <a:lstStyle/>
          <a:p>
            <a:pPr marL="0" indent="0" algn="ctr">
              <a:spcAft>
                <a:spcPts val="0"/>
              </a:spcAft>
              <a:buNone/>
            </a:pPr>
            <a:r>
              <a:rPr lang="en-GB" sz="1300" dirty="0">
                <a:solidFill>
                  <a:srgbClr val="6B6B6B"/>
                </a:solidFill>
              </a:rPr>
              <a:t>Output</a:t>
            </a:r>
            <a:endParaRPr lang="en-GB" sz="1400" dirty="0"/>
          </a:p>
          <a:p>
            <a:pPr marL="0" indent="0" algn="ctr">
              <a:spcAft>
                <a:spcPts val="0"/>
              </a:spcAft>
              <a:buNone/>
            </a:pPr>
            <a:r>
              <a:rPr lang="en-GB" sz="2400" b="1" dirty="0">
                <a:latin typeface="Courier New"/>
                <a:cs typeface="Courier New"/>
              </a:rPr>
              <a:t>9</a:t>
            </a:r>
            <a:endParaRPr lang="en-GB" sz="1400" dirty="0"/>
          </a:p>
          <a:p>
            <a:pPr marL="0" indent="0" algn="ctr">
              <a:spcAft>
                <a:spcPts val="0"/>
              </a:spcAft>
              <a:buNone/>
            </a:pPr>
            <a:r>
              <a:rPr lang="en-GB" sz="1100" i="1" dirty="0">
                <a:solidFill>
                  <a:srgbClr val="6B6B6B"/>
                </a:solidFill>
              </a:rPr>
              <a:t>return value</a:t>
            </a:r>
            <a:endParaRPr lang="en-GB" sz="1400" dirty="0"/>
          </a:p>
        </p:txBody>
      </p:sp>
      <p:sp>
        <p:nvSpPr>
          <p:cNvPr id="106" name="Explain 106"/>
          <p:cNvSpPr txBox="1"/>
          <p:nvPr/>
        </p:nvSpPr>
        <p:spPr>
          <a:xfrm>
            <a:off x="841248" y="2606040"/>
            <a:ext cx="5212080" cy="3383280"/>
          </a:xfrm>
          <a:prstGeom prst="rect">
            <a:avLst/>
          </a:prstGeom>
          <a:noFill/>
          <a:ln>
            <a:noFill/>
          </a:ln>
        </p:spPr>
        <p:txBody>
          <a:bodyPr wrap="square" lIns="0" tIns="0" rIns="0" bIns="0" rtlCol="0" anchor="t">
            <a:noAutofit/>
          </a:bodyPr>
          <a:lstStyle/>
          <a:p>
            <a:pPr marL="0" indent="0" algn="l">
              <a:spcAft>
                <a:spcPts val="600"/>
              </a:spcAft>
              <a:buNone/>
            </a:pPr>
            <a:r>
              <a:rPr lang="en-GB" sz="1600" dirty="0"/>
              <a:t>A </a:t>
            </a:r>
            <a:r>
              <a:rPr lang="en-GB" sz="1600" b="1" dirty="0"/>
              <a:t>function</a:t>
            </a:r>
            <a:r>
              <a:rPr lang="en-GB" sz="1600" dirty="0"/>
              <a:t> is a named, reusable piece of code: it takes </a:t>
            </a:r>
            <a:r>
              <a:rPr lang="en-GB" sz="1600" b="1" dirty="0"/>
              <a:t>inputs</a:t>
            </a:r>
            <a:r>
              <a:rPr lang="en-GB" sz="1600" dirty="0"/>
              <a:t>, performs a task, and </a:t>
            </a:r>
            <a:r>
              <a:rPr lang="en-GB" sz="1600" b="1" dirty="0"/>
              <a:t>returns a result</a:t>
            </a:r>
            <a:r>
              <a:rPr lang="en-GB" sz="1600" dirty="0"/>
              <a:t>.</a:t>
            </a:r>
            <a:endParaRPr lang="en-GB" sz="1400" dirty="0"/>
          </a:p>
          <a:p>
            <a:pPr marL="0" indent="0" algn="l">
              <a:spcAft>
                <a:spcPts val="1200"/>
              </a:spcAft>
              <a:buNone/>
            </a:pPr>
            <a:r>
              <a:rPr lang="en-GB" sz="1500" i="1" dirty="0">
                <a:solidFill>
                  <a:srgbClr val="6B6B6B"/>
                </a:solidFill>
              </a:rPr>
              <a:t>Same idea as in maths: f(x) = √x, so f(81) = 9</a:t>
            </a:r>
            <a:endParaRPr lang="en-GB" sz="1400" dirty="0"/>
          </a:p>
          <a:p>
            <a:pPr marL="0" indent="0" algn="l">
              <a:spcAft>
                <a:spcPts val="400"/>
              </a:spcAft>
              <a:buNone/>
            </a:pPr>
            <a:r>
              <a:rPr lang="en-GB" sz="1600" b="1" dirty="0">
                <a:solidFill>
                  <a:srgbClr val="E20613"/>
                </a:solidFill>
              </a:rPr>
              <a:t>Why use functions?</a:t>
            </a:r>
            <a:endParaRPr lang="en-GB" sz="1400" dirty="0"/>
          </a:p>
          <a:p>
            <a:pPr marL="285750" indent="-285750" algn="l">
              <a:spcAft>
                <a:spcPts val="400"/>
              </a:spcAft>
              <a:buFont typeface="Arial"/>
              <a:buChar char="•"/>
            </a:pPr>
            <a:r>
              <a:rPr lang="en-GB" sz="1500" dirty="0"/>
              <a:t>Write once, reuse many times, instead of copy-pasting</a:t>
            </a:r>
            <a:endParaRPr lang="en-GB" sz="1400" dirty="0"/>
          </a:p>
          <a:p>
            <a:pPr marL="285750" indent="-285750" algn="l">
              <a:spcAft>
                <a:spcPts val="400"/>
              </a:spcAft>
              <a:buFont typeface="Arial"/>
              <a:buChar char="•"/>
            </a:pPr>
            <a:r>
              <a:rPr lang="en-GB" sz="1500" dirty="0"/>
              <a:t>Hide complexity: you can use mean() without knowing how it is computed</a:t>
            </a:r>
            <a:endParaRPr lang="en-GB" sz="1400" dirty="0"/>
          </a:p>
          <a:p>
            <a:pPr marL="285750" indent="-285750" algn="l">
              <a:spcAft>
                <a:spcPts val="0"/>
              </a:spcAft>
              <a:buFont typeface="Arial"/>
              <a:buChar char="•"/>
            </a:pPr>
            <a:r>
              <a:rPr lang="en-GB" sz="1500" dirty="0"/>
              <a:t>Already tested by thousands of users: fewer errors</a:t>
            </a:r>
            <a:endParaRPr lang="en-GB" sz="1400" dirty="0"/>
          </a:p>
        </p:txBody>
      </p:sp>
      <p:sp>
        <p:nvSpPr>
          <p:cNvPr id="107" name="Text 107"/>
          <p:cNvSpPr txBox="1"/>
          <p:nvPr/>
        </p:nvSpPr>
        <p:spPr>
          <a:xfrm>
            <a:off x="6355080" y="2606040"/>
            <a:ext cx="4937760" cy="320040"/>
          </a:xfrm>
          <a:prstGeom prst="rect">
            <a:avLst/>
          </a:prstGeom>
          <a:noFill/>
          <a:ln>
            <a:noFill/>
          </a:ln>
        </p:spPr>
        <p:txBody>
          <a:bodyPr wrap="square" lIns="0" tIns="0" rIns="0" bIns="0" rtlCol="0" anchor="t">
            <a:noAutofit/>
          </a:bodyPr>
          <a:lstStyle/>
          <a:p>
            <a:pPr marL="0" indent="0" algn="l">
              <a:spcAft>
                <a:spcPts val="0"/>
              </a:spcAft>
              <a:buNone/>
            </a:pPr>
            <a:r>
              <a:rPr lang="en-GB" sz="1500" b="1" dirty="0">
                <a:solidFill>
                  <a:srgbClr val="333333"/>
                </a:solidFill>
              </a:rPr>
              <a:t>Anatomy of a function call</a:t>
            </a:r>
            <a:endParaRPr lang="en-GB" sz="1400" dirty="0"/>
          </a:p>
        </p:txBody>
      </p:sp>
      <p:sp>
        <p:nvSpPr>
          <p:cNvPr id="108" name="Panel 108"/>
          <p:cNvSpPr/>
          <p:nvPr/>
        </p:nvSpPr>
        <p:spPr>
          <a:xfrm>
            <a:off x="6217920" y="3017520"/>
            <a:ext cx="5120640" cy="2148840"/>
          </a:xfrm>
          <a:prstGeom prst="roundRect">
            <a:avLst>
              <a:gd name="adj" fmla="val 6000"/>
            </a:avLst>
          </a:prstGeom>
          <a:solidFill>
            <a:srgbClr val="F4F4F4"/>
          </a:solidFill>
          <a:ln>
            <a:noFill/>
          </a:ln>
        </p:spPr>
        <p:txBody>
          <a:bodyPr/>
          <a:lstStyle/>
          <a:p>
            <a:endParaRPr lang="en-CH"/>
          </a:p>
        </p:txBody>
      </p:sp>
      <p:sp>
        <p:nvSpPr>
          <p:cNvPr id="109" name="Call 109"/>
          <p:cNvSpPr txBox="1"/>
          <p:nvPr/>
        </p:nvSpPr>
        <p:spPr>
          <a:xfrm>
            <a:off x="6355080" y="3246120"/>
            <a:ext cx="4937760" cy="457200"/>
          </a:xfrm>
          <a:prstGeom prst="rect">
            <a:avLst/>
          </a:prstGeom>
          <a:noFill/>
          <a:ln>
            <a:noFill/>
          </a:ln>
        </p:spPr>
        <p:txBody>
          <a:bodyPr wrap="square" lIns="0" tIns="0" rIns="0" bIns="0" rtlCol="0" anchor="t">
            <a:noAutofit/>
          </a:bodyPr>
          <a:lstStyle/>
          <a:p>
            <a:pPr marL="0" indent="0" algn="l">
              <a:spcAft>
                <a:spcPts val="0"/>
              </a:spcAft>
              <a:buNone/>
            </a:pPr>
            <a:r>
              <a:rPr lang="en-GB" sz="2400" b="1" dirty="0">
                <a:latin typeface="Courier New"/>
                <a:cs typeface="Courier New"/>
              </a:rPr>
              <a:t>round(3.14159, digits = 2)</a:t>
            </a:r>
            <a:endParaRPr lang="en-GB" sz="1400" dirty="0"/>
          </a:p>
        </p:txBody>
      </p:sp>
      <p:cxnSp>
        <p:nvCxnSpPr>
          <p:cNvPr id="110" name="Arrow 110"/>
          <p:cNvCxnSpPr/>
          <p:nvPr/>
        </p:nvCxnSpPr>
        <p:spPr>
          <a:xfrm>
            <a:off x="6355080" y="3794760"/>
            <a:ext cx="914400" cy="0"/>
          </a:xfrm>
          <a:prstGeom prst="line">
            <a:avLst/>
          </a:prstGeom>
          <a:ln w="31750">
            <a:solidFill>
              <a:srgbClr val="E20613"/>
            </a:solidFill>
          </a:ln>
        </p:spPr>
      </p:cxnSp>
      <p:sp>
        <p:nvSpPr>
          <p:cNvPr id="111" name="Text 111"/>
          <p:cNvSpPr txBox="1"/>
          <p:nvPr/>
        </p:nvSpPr>
        <p:spPr>
          <a:xfrm>
            <a:off x="6172200" y="3886200"/>
            <a:ext cx="1280160" cy="548640"/>
          </a:xfrm>
          <a:prstGeom prst="rect">
            <a:avLst/>
          </a:prstGeom>
          <a:noFill/>
          <a:ln>
            <a:noFill/>
          </a:ln>
        </p:spPr>
        <p:txBody>
          <a:bodyPr wrap="square" lIns="0" tIns="0" rIns="0" bIns="0" rtlCol="0" anchor="t">
            <a:noAutofit/>
          </a:bodyPr>
          <a:lstStyle/>
          <a:p>
            <a:pPr marL="0" indent="0" algn="ctr">
              <a:spcAft>
                <a:spcPts val="0"/>
              </a:spcAft>
              <a:buNone/>
            </a:pPr>
            <a:r>
              <a:rPr lang="en-GB" sz="1200" b="1" dirty="0">
                <a:solidFill>
                  <a:srgbClr val="E20613"/>
                </a:solidFill>
              </a:rPr>
              <a:t>function name</a:t>
            </a:r>
            <a:endParaRPr lang="en-GB" sz="1400" dirty="0"/>
          </a:p>
        </p:txBody>
      </p:sp>
      <p:cxnSp>
        <p:nvCxnSpPr>
          <p:cNvPr id="112" name="Arrow 112"/>
          <p:cNvCxnSpPr/>
          <p:nvPr/>
        </p:nvCxnSpPr>
        <p:spPr>
          <a:xfrm>
            <a:off x="7452360" y="3794760"/>
            <a:ext cx="1280160" cy="0"/>
          </a:xfrm>
          <a:prstGeom prst="line">
            <a:avLst/>
          </a:prstGeom>
          <a:ln w="31750">
            <a:solidFill>
              <a:srgbClr val="333333"/>
            </a:solidFill>
          </a:ln>
        </p:spPr>
      </p:cxnSp>
      <p:sp>
        <p:nvSpPr>
          <p:cNvPr id="113" name="Text 113"/>
          <p:cNvSpPr txBox="1"/>
          <p:nvPr/>
        </p:nvSpPr>
        <p:spPr>
          <a:xfrm>
            <a:off x="7269480" y="3886200"/>
            <a:ext cx="1645920" cy="548640"/>
          </a:xfrm>
          <a:prstGeom prst="rect">
            <a:avLst/>
          </a:prstGeom>
          <a:noFill/>
          <a:ln>
            <a:noFill/>
          </a:ln>
        </p:spPr>
        <p:txBody>
          <a:bodyPr wrap="square" lIns="0" tIns="0" rIns="0" bIns="0" rtlCol="0" anchor="t">
            <a:noAutofit/>
          </a:bodyPr>
          <a:lstStyle/>
          <a:p>
            <a:pPr marL="0" indent="0" algn="ctr">
              <a:spcAft>
                <a:spcPts val="0"/>
              </a:spcAft>
              <a:buNone/>
            </a:pPr>
            <a:r>
              <a:rPr lang="en-GB" sz="1200" b="1" dirty="0">
                <a:solidFill>
                  <a:srgbClr val="333333"/>
                </a:solidFill>
              </a:rPr>
              <a:t>1st argument</a:t>
            </a:r>
            <a:endParaRPr lang="en-GB" sz="1400" dirty="0"/>
          </a:p>
        </p:txBody>
      </p:sp>
      <p:cxnSp>
        <p:nvCxnSpPr>
          <p:cNvPr id="114" name="Arrow 114"/>
          <p:cNvCxnSpPr/>
          <p:nvPr/>
        </p:nvCxnSpPr>
        <p:spPr>
          <a:xfrm>
            <a:off x="9098280" y="3794760"/>
            <a:ext cx="1828800" cy="0"/>
          </a:xfrm>
          <a:prstGeom prst="line">
            <a:avLst/>
          </a:prstGeom>
          <a:ln w="31750">
            <a:solidFill>
              <a:srgbClr val="3368ED"/>
            </a:solidFill>
          </a:ln>
        </p:spPr>
      </p:cxnSp>
      <p:sp>
        <p:nvSpPr>
          <p:cNvPr id="115" name="Text 115"/>
          <p:cNvSpPr txBox="1"/>
          <p:nvPr/>
        </p:nvSpPr>
        <p:spPr>
          <a:xfrm>
            <a:off x="8915400" y="3886200"/>
            <a:ext cx="2194560" cy="548640"/>
          </a:xfrm>
          <a:prstGeom prst="rect">
            <a:avLst/>
          </a:prstGeom>
          <a:noFill/>
          <a:ln>
            <a:noFill/>
          </a:ln>
        </p:spPr>
        <p:txBody>
          <a:bodyPr wrap="square" lIns="0" tIns="0" rIns="0" bIns="0" rtlCol="0" anchor="t">
            <a:noAutofit/>
          </a:bodyPr>
          <a:lstStyle/>
          <a:p>
            <a:pPr marL="0" indent="0" algn="ctr">
              <a:spcAft>
                <a:spcPts val="0"/>
              </a:spcAft>
              <a:buNone/>
            </a:pPr>
            <a:r>
              <a:rPr lang="en-GB" sz="1200" b="1" dirty="0">
                <a:solidFill>
                  <a:srgbClr val="3368ED"/>
                </a:solidFill>
              </a:rPr>
              <a:t>named argument</a:t>
            </a:r>
            <a:endParaRPr lang="en-GB" sz="1400" dirty="0"/>
          </a:p>
        </p:txBody>
      </p:sp>
      <p:sp>
        <p:nvSpPr>
          <p:cNvPr id="116" name="Text 116"/>
          <p:cNvSpPr txBox="1"/>
          <p:nvPr/>
        </p:nvSpPr>
        <p:spPr>
          <a:xfrm>
            <a:off x="6355080" y="4526280"/>
            <a:ext cx="4846320" cy="502920"/>
          </a:xfrm>
          <a:prstGeom prst="rect">
            <a:avLst/>
          </a:prstGeom>
          <a:noFill/>
          <a:ln>
            <a:noFill/>
          </a:ln>
        </p:spPr>
        <p:txBody>
          <a:bodyPr wrap="square" lIns="0" tIns="0" rIns="0" bIns="0" rtlCol="0" anchor="t">
            <a:noAutofit/>
          </a:bodyPr>
          <a:lstStyle/>
          <a:p>
            <a:pPr marL="0" indent="0" algn="l">
              <a:spcAft>
                <a:spcPts val="0"/>
              </a:spcAft>
              <a:buNone/>
            </a:pPr>
            <a:r>
              <a:rPr lang="en-GB" sz="1600" dirty="0">
                <a:solidFill>
                  <a:srgbClr val="6B6B6B"/>
                </a:solidFill>
                <a:latin typeface="Courier New"/>
                <a:cs typeface="Courier New"/>
              </a:rPr>
              <a:t>[1] 3.14</a:t>
            </a:r>
            <a:r>
              <a:rPr lang="en-GB" sz="1200" i="1" dirty="0">
                <a:solidFill>
                  <a:srgbClr val="6B6B6B"/>
                </a:solidFill>
              </a:rPr>
              <a:t>   ← the returned value</a:t>
            </a:r>
            <a:endParaRPr lang="en-GB" sz="1400" dirty="0"/>
          </a:p>
        </p:txBody>
      </p:sp>
      <p:sp>
        <p:nvSpPr>
          <p:cNvPr id="117" name="Text 117"/>
          <p:cNvSpPr txBox="1"/>
          <p:nvPr/>
        </p:nvSpPr>
        <p:spPr>
          <a:xfrm>
            <a:off x="6217920" y="5349240"/>
            <a:ext cx="5120640" cy="548640"/>
          </a:xfrm>
          <a:prstGeom prst="rect">
            <a:avLst/>
          </a:prstGeom>
          <a:noFill/>
          <a:ln>
            <a:noFill/>
          </a:ln>
        </p:spPr>
        <p:txBody>
          <a:bodyPr wrap="square" lIns="0" tIns="0" rIns="0" bIns="0" rtlCol="0" anchor="t">
            <a:noAutofit/>
          </a:bodyPr>
          <a:lstStyle/>
          <a:p>
            <a:pPr marL="0" indent="0" algn="l">
              <a:spcAft>
                <a:spcPts val="0"/>
              </a:spcAft>
              <a:buNone/>
            </a:pPr>
            <a:r>
              <a:rPr lang="en-GB" sz="1300" i="1" dirty="0">
                <a:solidFill>
                  <a:srgbClr val="6B6B6B"/>
                </a:solidFill>
              </a:rPr>
              <a:t>On day 2 you will write your own functions.</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D744-307E-96F2-9B72-240749C71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C7FF8-F2EF-BF7C-3BD0-1BFC4CB83F13}"/>
              </a:ext>
            </a:extLst>
          </p:cNvPr>
          <p:cNvSpPr>
            <a:spLocks noGrp="1"/>
          </p:cNvSpPr>
          <p:nvPr>
            <p:ph type="title"/>
          </p:nvPr>
        </p:nvSpPr>
        <p:spPr/>
        <p:txBody>
          <a:bodyPr/>
          <a:lstStyle/>
          <a:p>
            <a:r>
              <a:rPr lang="en-GB" dirty="0">
                <a:ea typeface="Verdana"/>
                <a:cs typeface="Gill Sans"/>
              </a:rPr>
              <a:t>Using functions (I)</a:t>
            </a:r>
            <a:endParaRPr lang="en-US" dirty="0"/>
          </a:p>
        </p:txBody>
      </p:sp>
      <p:sp>
        <p:nvSpPr>
          <p:cNvPr id="3" name="Text Placeholder 2">
            <a:extLst>
              <a:ext uri="{FF2B5EF4-FFF2-40B4-BE49-F238E27FC236}">
                <a16:creationId xmlns:a16="http://schemas.microsoft.com/office/drawing/2014/main" id="{32E72876-BB56-D0C7-D89A-B8B7BD1EB7EF}"/>
              </a:ext>
            </a:extLst>
          </p:cNvPr>
          <p:cNvSpPr>
            <a:spLocks noGrp="1"/>
          </p:cNvSpPr>
          <p:nvPr>
            <p:ph type="body" sz="quarter" idx="11"/>
          </p:nvPr>
        </p:nvSpPr>
        <p:spPr>
          <a:xfrm>
            <a:off x="838200" y="952500"/>
            <a:ext cx="10515600" cy="5218113"/>
          </a:xfrm>
        </p:spPr>
        <p:txBody>
          <a:bodyPr vert="horz" lIns="91440" tIns="45720" rIns="91440" bIns="45720" rtlCol="0" anchor="t">
            <a:normAutofit/>
          </a:bodyPr>
          <a:lstStyle/>
          <a:p>
            <a:pPr marL="342900" indent="-342900">
              <a:buChar char="•"/>
            </a:pPr>
            <a:r>
              <a:rPr lang="en-GB" dirty="0">
                <a:ea typeface="Tahoma"/>
                <a:cs typeface="Gill Sans Light"/>
              </a:rPr>
              <a:t>Functions are called with parentheses () after the function name</a:t>
            </a:r>
          </a:p>
          <a:p>
            <a:pPr marL="342900" indent="-342900">
              <a:buChar char="•"/>
            </a:pPr>
            <a:r>
              <a:rPr lang="en-GB" dirty="0">
                <a:ea typeface="Tahoma"/>
                <a:cs typeface="Gill Sans Light"/>
              </a:rPr>
              <a:t>Arguments are the inputs to functions, passed inside the ()</a:t>
            </a:r>
          </a:p>
          <a:p>
            <a:pPr lvl="1" indent="0">
              <a:buNone/>
            </a:pPr>
            <a:r>
              <a:rPr lang="en-GB">
                <a:latin typeface="Courier New"/>
                <a:ea typeface="Tahoma"/>
                <a:cs typeface="Gill Sans Light"/>
              </a:rPr>
              <a:t>ls()      # no arguments</a:t>
            </a:r>
          </a:p>
          <a:p>
            <a:pPr lvl="1" indent="0">
              <a:buNone/>
            </a:pPr>
            <a:r>
              <a:rPr lang="en-GB">
                <a:latin typeface="Courier New"/>
                <a:ea typeface="Tahoma"/>
                <a:cs typeface="Gill Sans Light"/>
              </a:rPr>
              <a:t>sqrt(81)  # one argument</a:t>
            </a:r>
          </a:p>
          <a:p>
            <a:pPr lvl="1" indent="0">
              <a:buNone/>
            </a:pPr>
            <a:r>
              <a:rPr lang="en-GB">
                <a:latin typeface="Courier New"/>
                <a:ea typeface="Tahoma"/>
                <a:cs typeface="Gill Sans Light"/>
              </a:rPr>
              <a:t>rep(1, 2) # two arguments, separated by a comma ,</a:t>
            </a:r>
          </a:p>
          <a:p>
            <a:pPr marL="342900" indent="-342900">
              <a:buFont typeface="Arial"/>
              <a:buChar char="•"/>
            </a:pPr>
            <a:r>
              <a:rPr lang="en-GB" dirty="0">
                <a:ea typeface="Tahoma"/>
                <a:cs typeface="Gill Sans Light"/>
              </a:rPr>
              <a:t>Arguments have names which can be used when calling a function</a:t>
            </a:r>
          </a:p>
          <a:p>
            <a:r>
              <a:rPr lang="en-GB" dirty="0">
                <a:latin typeface="Courier New"/>
                <a:ea typeface="Tahoma"/>
                <a:cs typeface="Gill Sans Light"/>
              </a:rPr>
              <a:t> rep(x=1, times=5) # named </a:t>
            </a:r>
            <a:r>
              <a:rPr lang="en-GB" dirty="0" err="1">
                <a:latin typeface="Courier New"/>
                <a:ea typeface="Tahoma"/>
                <a:cs typeface="Gill Sans Light"/>
              </a:rPr>
              <a:t>args</a:t>
            </a:r>
            <a:r>
              <a:rPr lang="en-GB" dirty="0">
                <a:latin typeface="Courier New"/>
                <a:ea typeface="Tahoma"/>
                <a:cs typeface="Gill Sans Light"/>
              </a:rPr>
              <a:t>. Equivalent to rep(1,5)</a:t>
            </a:r>
          </a:p>
          <a:p>
            <a:r>
              <a:rPr lang="en-GB" dirty="0">
                <a:latin typeface="Courier New"/>
                <a:ea typeface="Tahoma"/>
                <a:cs typeface="Gill Sans Light"/>
              </a:rPr>
              <a:t> rep(1, times=5)   # mixed unnamed/named</a:t>
            </a:r>
            <a:endParaRPr lang="en-GB" dirty="0">
              <a:latin typeface="Courier New"/>
            </a:endParaRPr>
          </a:p>
        </p:txBody>
      </p:sp>
      <p:pic>
        <p:nvPicPr>
          <p:cNvPr id="5" name="Image 20" descr="A red and black logo&#10;&#10;Description automatically generated">
            <a:extLst>
              <a:ext uri="{FF2B5EF4-FFF2-40B4-BE49-F238E27FC236}">
                <a16:creationId xmlns:a16="http://schemas.microsoft.com/office/drawing/2014/main" id="{17E76C29-C0C3-0942-37C6-003B6EC3EB13}"/>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38E8C796-B02A-3644-1E08-C3DB49DCA2FB}"/>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Use ?</a:t>
            </a:r>
            <a:r>
              <a:rPr lang="en-GB" sz="2400" b="1" dirty="0" err="1"/>
              <a:t>function_name</a:t>
            </a:r>
            <a:r>
              <a:rPr lang="en-GB" sz="2400" b="1" dirty="0"/>
              <a:t> to check R's help and see which arguments</a:t>
            </a:r>
          </a:p>
          <a:p>
            <a:r>
              <a:rPr lang="en-GB" sz="2400" b="1" dirty="0"/>
              <a:t>a function expects</a:t>
            </a:r>
          </a:p>
        </p:txBody>
      </p:sp>
    </p:spTree>
    <p:extLst>
      <p:ext uri="{BB962C8B-B14F-4D97-AF65-F5344CB8AC3E}">
        <p14:creationId xmlns:p14="http://schemas.microsoft.com/office/powerpoint/2010/main" val="2086438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8BF1E-B71B-DB03-AF79-B1D20C0CF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E77144-0CAC-0DA2-130C-3AB7B06A602E}"/>
              </a:ext>
            </a:extLst>
          </p:cNvPr>
          <p:cNvSpPr>
            <a:spLocks noGrp="1"/>
          </p:cNvSpPr>
          <p:nvPr>
            <p:ph type="title"/>
          </p:nvPr>
        </p:nvSpPr>
        <p:spPr/>
        <p:txBody>
          <a:bodyPr/>
          <a:lstStyle/>
          <a:p>
            <a:r>
              <a:rPr lang="en-GB" dirty="0">
                <a:ea typeface="Verdana"/>
                <a:cs typeface="Gill Sans"/>
              </a:rPr>
              <a:t>Using functions (II)</a:t>
            </a:r>
            <a:endParaRPr lang="en-US" dirty="0"/>
          </a:p>
        </p:txBody>
      </p:sp>
      <p:sp>
        <p:nvSpPr>
          <p:cNvPr id="3" name="Text Placeholder 2">
            <a:extLst>
              <a:ext uri="{FF2B5EF4-FFF2-40B4-BE49-F238E27FC236}">
                <a16:creationId xmlns:a16="http://schemas.microsoft.com/office/drawing/2014/main" id="{A947AF10-D569-39B1-E5DA-09DA6DBB7F05}"/>
              </a:ext>
            </a:extLst>
          </p:cNvPr>
          <p:cNvSpPr>
            <a:spLocks noGrp="1"/>
          </p:cNvSpPr>
          <p:nvPr>
            <p:ph type="body" sz="quarter" idx="11"/>
          </p:nvPr>
        </p:nvSpPr>
        <p:spPr>
          <a:xfrm>
            <a:off x="838200" y="952500"/>
            <a:ext cx="10515600" cy="5218113"/>
          </a:xfrm>
        </p:spPr>
        <p:txBody>
          <a:bodyPr vert="horz" lIns="91440" tIns="45720" rIns="91440" bIns="45720" rtlCol="0" anchor="t">
            <a:normAutofit/>
          </a:bodyPr>
          <a:lstStyle/>
          <a:p>
            <a:r>
              <a:rPr lang="en-GB" dirty="0">
                <a:ea typeface="Tahoma"/>
                <a:cs typeface="Gill Sans Light"/>
              </a:rPr>
              <a:t>Many functions take more than one argument</a:t>
            </a:r>
            <a:endParaRPr lang="en-US" dirty="0"/>
          </a:p>
          <a:p>
            <a:pPr marL="342900" indent="-342900">
              <a:buChar char="•"/>
            </a:pPr>
            <a:r>
              <a:rPr lang="en-GB" dirty="0">
                <a:ea typeface="Tahoma"/>
                <a:cs typeface="Gill Sans Light"/>
              </a:rPr>
              <a:t>If unnamed, arguments must be listed in the correct order (association by position)</a:t>
            </a:r>
          </a:p>
          <a:p>
            <a:pPr marL="342900" indent="-342900">
              <a:buChar char="•"/>
            </a:pPr>
            <a:r>
              <a:rPr lang="en-GB" dirty="0">
                <a:ea typeface="Tahoma"/>
                <a:cs typeface="Gill Sans Light"/>
              </a:rPr>
              <a:t>If named, arguments can be passed in arbitrary order (association by name)</a:t>
            </a:r>
          </a:p>
          <a:p>
            <a:endParaRPr lang="en-GB" dirty="0">
              <a:ea typeface="Tahoma"/>
              <a:cs typeface="Gill Sans Light"/>
            </a:endParaRPr>
          </a:p>
          <a:p>
            <a:pPr marL="0" lvl="1" indent="0">
              <a:buNone/>
            </a:pPr>
            <a:r>
              <a:rPr lang="en-GB">
                <a:latin typeface="Courier New"/>
                <a:ea typeface="Tahoma"/>
                <a:cs typeface="Gill Sans Light"/>
              </a:rPr>
              <a:t> </a:t>
            </a:r>
            <a:r>
              <a:rPr lang="en-GB" err="1">
                <a:latin typeface="Courier New"/>
                <a:ea typeface="Tahoma"/>
                <a:cs typeface="Gill Sans Light"/>
              </a:rPr>
              <a:t>write.table</a:t>
            </a:r>
            <a:r>
              <a:rPr lang="en-GB">
                <a:latin typeface="Courier New"/>
                <a:ea typeface="Tahoma"/>
                <a:cs typeface="Gill Sans Light"/>
              </a:rPr>
              <a:t>(object, "outfile.txt" , TRUE)</a:t>
            </a:r>
          </a:p>
          <a:p>
            <a:pPr marL="0" lvl="1" indent="0">
              <a:buNone/>
            </a:pPr>
            <a:r>
              <a:rPr lang="en-GB">
                <a:latin typeface="Courier New"/>
                <a:ea typeface="Tahoma"/>
                <a:cs typeface="Courier New"/>
              </a:rPr>
              <a:t> </a:t>
            </a:r>
            <a:r>
              <a:rPr lang="en-GB" err="1">
                <a:latin typeface="Courier New"/>
                <a:ea typeface="Tahoma"/>
                <a:cs typeface="Courier New"/>
              </a:rPr>
              <a:t>write.table</a:t>
            </a:r>
            <a:r>
              <a:rPr lang="en-GB">
                <a:latin typeface="Courier New"/>
                <a:ea typeface="Tahoma"/>
                <a:cs typeface="Courier New"/>
              </a:rPr>
              <a:t>(object, </a:t>
            </a:r>
            <a:r>
              <a:rPr lang="en-GB" b="1">
                <a:latin typeface="Courier New"/>
                <a:ea typeface="Tahoma"/>
                <a:cs typeface="Courier New"/>
              </a:rPr>
              <a:t>append=</a:t>
            </a:r>
            <a:r>
              <a:rPr lang="en-GB">
                <a:latin typeface="Courier New"/>
                <a:ea typeface="Tahoma"/>
                <a:cs typeface="Courier New"/>
              </a:rPr>
              <a:t>TRUE, </a:t>
            </a:r>
            <a:r>
              <a:rPr lang="en-GB" b="1">
                <a:latin typeface="Courier New"/>
                <a:ea typeface="Tahoma"/>
                <a:cs typeface="Courier New"/>
              </a:rPr>
              <a:t>file=</a:t>
            </a:r>
            <a:r>
              <a:rPr lang="en-GB">
                <a:latin typeface="Courier New"/>
                <a:ea typeface="Tahoma"/>
                <a:cs typeface="Courier New"/>
              </a:rPr>
              <a:t>"outfile.txt")</a:t>
            </a:r>
            <a:endParaRPr lang="en-GB" dirty="0">
              <a:latin typeface="Courier New"/>
            </a:endParaRPr>
          </a:p>
        </p:txBody>
      </p:sp>
    </p:spTree>
    <p:extLst>
      <p:ext uri="{BB962C8B-B14F-4D97-AF65-F5344CB8AC3E}">
        <p14:creationId xmlns:p14="http://schemas.microsoft.com/office/powerpoint/2010/main" val="30599601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2F7F0-B74C-DFD1-1C9C-9D5D404BC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83D07-5501-740B-ACE7-4FB663C7F8D0}"/>
              </a:ext>
            </a:extLst>
          </p:cNvPr>
          <p:cNvSpPr>
            <a:spLocks noGrp="1"/>
          </p:cNvSpPr>
          <p:nvPr>
            <p:ph type="title"/>
          </p:nvPr>
        </p:nvSpPr>
        <p:spPr/>
        <p:txBody>
          <a:bodyPr/>
          <a:lstStyle/>
          <a:p>
            <a:r>
              <a:rPr lang="en-GB" dirty="0">
                <a:ea typeface="Verdana"/>
                <a:cs typeface="Gill Sans"/>
              </a:rPr>
              <a:t>Using functions (III)</a:t>
            </a:r>
            <a:endParaRPr lang="en-US" dirty="0"/>
          </a:p>
        </p:txBody>
      </p:sp>
      <p:sp>
        <p:nvSpPr>
          <p:cNvPr id="3" name="Text Placeholder 2">
            <a:extLst>
              <a:ext uri="{FF2B5EF4-FFF2-40B4-BE49-F238E27FC236}">
                <a16:creationId xmlns:a16="http://schemas.microsoft.com/office/drawing/2014/main" id="{36DF7E5B-BB0E-BD25-55A2-3AFB0E94E18C}"/>
              </a:ext>
            </a:extLst>
          </p:cNvPr>
          <p:cNvSpPr>
            <a:spLocks noGrp="1"/>
          </p:cNvSpPr>
          <p:nvPr>
            <p:ph type="body" sz="quarter" idx="11"/>
          </p:nvPr>
        </p:nvSpPr>
        <p:spPr>
          <a:xfrm>
            <a:off x="838200" y="952500"/>
            <a:ext cx="10515600" cy="5218113"/>
          </a:xfrm>
        </p:spPr>
        <p:txBody>
          <a:bodyPr vert="horz" lIns="91440" tIns="45720" rIns="91440" bIns="45720" rtlCol="0" anchor="t">
            <a:normAutofit/>
          </a:bodyPr>
          <a:lstStyle/>
          <a:p>
            <a:r>
              <a:rPr lang="en-GB" dirty="0">
                <a:ea typeface="Tahoma"/>
                <a:cs typeface="Gill Sans Light"/>
              </a:rPr>
              <a:t>Some functions have arguments with default values</a:t>
            </a:r>
            <a:endParaRPr lang="en-US" dirty="0"/>
          </a:p>
          <a:p>
            <a:r>
              <a:rPr lang="en-GB" dirty="0">
                <a:ea typeface="Tahoma"/>
                <a:cs typeface="Gill Sans Light"/>
              </a:rPr>
              <a:t>Example: </a:t>
            </a:r>
            <a:r>
              <a:rPr lang="en-GB" b="1" dirty="0">
                <a:ea typeface="Tahoma"/>
                <a:cs typeface="Gill Sans Light"/>
              </a:rPr>
              <a:t>round()</a:t>
            </a:r>
            <a:endParaRPr lang="en-GB" dirty="0">
              <a:ea typeface="Tahoma"/>
              <a:cs typeface="Gill Sans Light"/>
            </a:endParaRPr>
          </a:p>
          <a:p>
            <a:r>
              <a:rPr lang="en-GB" dirty="0">
                <a:latin typeface="Courier New"/>
                <a:ea typeface="Tahoma"/>
                <a:cs typeface="Gill Sans Light"/>
              </a:rPr>
              <a:t>Usage (from R help): round(x, digits = 0)</a:t>
            </a:r>
          </a:p>
          <a:p>
            <a:endParaRPr lang="en-GB" dirty="0">
              <a:latin typeface="Courier New"/>
              <a:ea typeface="Tahoma"/>
              <a:cs typeface="Gill Sans Light"/>
            </a:endParaRPr>
          </a:p>
          <a:p>
            <a:pPr marL="342900" indent="-342900">
              <a:buChar char="•"/>
            </a:pPr>
            <a:r>
              <a:rPr lang="en-GB" dirty="0">
                <a:ea typeface="Tahoma"/>
                <a:cs typeface="Gill Sans Light"/>
              </a:rPr>
              <a:t>Arguments with default values can be omitted in the function call.</a:t>
            </a:r>
            <a:endParaRPr lang="en-US" dirty="0"/>
          </a:p>
          <a:p>
            <a:pPr marL="342900" indent="-342900">
              <a:buChar char="•"/>
            </a:pPr>
            <a:r>
              <a:rPr lang="en-GB" dirty="0">
                <a:ea typeface="+mn-lt"/>
                <a:cs typeface="+mn-lt"/>
              </a:rPr>
              <a:t>Arguments without default values cannot be omitted.</a:t>
            </a:r>
            <a:endParaRPr lang="en-US" dirty="0">
              <a:ea typeface="+mn-lt"/>
              <a:cs typeface="+mn-lt"/>
            </a:endParaRPr>
          </a:p>
          <a:p>
            <a:pPr indent="0">
              <a:buFont typeface="Arial" panose="020B0604020202020204" pitchFamily="34" charset="0"/>
              <a:buNone/>
            </a:pPr>
            <a:endParaRPr lang="en-GB" dirty="0">
              <a:latin typeface="Corbel"/>
              <a:ea typeface="Tahoma"/>
              <a:cs typeface="Gill Sans Light"/>
            </a:endParaRPr>
          </a:p>
          <a:p>
            <a:pPr lvl="1" indent="0">
              <a:buNone/>
            </a:pPr>
            <a:r>
              <a:rPr lang="en-GB" sz="2000" dirty="0">
                <a:latin typeface="Courier New"/>
                <a:ea typeface="Tahoma"/>
                <a:cs typeface="Gill Sans Light"/>
              </a:rPr>
              <a:t>round(2.011)      # rounding to 0 digits, the default</a:t>
            </a:r>
          </a:p>
          <a:p>
            <a:pPr lvl="1" indent="0">
              <a:buNone/>
            </a:pPr>
            <a:r>
              <a:rPr lang="en-GB" sz="2000" dirty="0">
                <a:latin typeface="Courier New"/>
                <a:ea typeface="Tahoma"/>
                <a:cs typeface="Gill Sans Light"/>
              </a:rPr>
              <a:t>[1] 2</a:t>
            </a:r>
          </a:p>
          <a:p>
            <a:pPr lvl="1" indent="0">
              <a:buNone/>
            </a:pPr>
            <a:endParaRPr lang="en-GB" sz="2000" dirty="0">
              <a:latin typeface="Courier New"/>
              <a:ea typeface="Tahoma"/>
              <a:cs typeface="Gill Sans Light"/>
            </a:endParaRPr>
          </a:p>
          <a:p>
            <a:pPr lvl="1" indent="0">
              <a:buNone/>
            </a:pPr>
            <a:r>
              <a:rPr lang="en-GB" sz="2000" dirty="0">
                <a:latin typeface="Courier New"/>
                <a:ea typeface="Tahoma"/>
                <a:cs typeface="Gill Sans Light"/>
              </a:rPr>
              <a:t>round(2.011, 2)   # rounding to 2 digits after the decimal point</a:t>
            </a:r>
          </a:p>
          <a:p>
            <a:pPr lvl="1" indent="0">
              <a:buNone/>
            </a:pPr>
            <a:r>
              <a:rPr lang="en-GB" sz="2000" dirty="0">
                <a:latin typeface="Courier New"/>
                <a:ea typeface="Tahoma"/>
                <a:cs typeface="Gill Sans Light"/>
              </a:rPr>
              <a:t>[1] 2.01</a:t>
            </a:r>
            <a:endParaRPr lang="en-GB" sz="2000" dirty="0">
              <a:latin typeface="Courier New"/>
            </a:endParaRPr>
          </a:p>
        </p:txBody>
      </p:sp>
    </p:spTree>
    <p:extLst>
      <p:ext uri="{BB962C8B-B14F-4D97-AF65-F5344CB8AC3E}">
        <p14:creationId xmlns:p14="http://schemas.microsoft.com/office/powerpoint/2010/main" val="13963124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BC25-6714-6F95-7409-E001586EC840}"/>
              </a:ext>
            </a:extLst>
          </p:cNvPr>
          <p:cNvSpPr>
            <a:spLocks noGrp="1"/>
          </p:cNvSpPr>
          <p:nvPr>
            <p:ph type="title"/>
          </p:nvPr>
        </p:nvSpPr>
        <p:spPr/>
        <p:txBody>
          <a:bodyPr/>
          <a:lstStyle/>
          <a:p>
            <a:r>
              <a:rPr lang="en-GB" dirty="0">
                <a:ea typeface="Verdana"/>
                <a:cs typeface="Gill Sans"/>
              </a:rPr>
              <a:t>What is a loop, and why do we need it?</a:t>
            </a:r>
          </a:p>
        </p:txBody>
      </p:sp>
      <p:sp>
        <p:nvSpPr>
          <p:cNvPr id="101" name="Text 101"/>
          <p:cNvSpPr txBox="1"/>
          <p:nvPr/>
        </p:nvSpPr>
        <p:spPr>
          <a:xfrm>
            <a:off x="841248" y="1143000"/>
            <a:ext cx="5120640" cy="365760"/>
          </a:xfrm>
          <a:prstGeom prst="rect">
            <a:avLst/>
          </a:prstGeom>
          <a:noFill/>
          <a:ln>
            <a:noFill/>
          </a:ln>
        </p:spPr>
        <p:txBody>
          <a:bodyPr wrap="square" lIns="0" tIns="0" rIns="0" bIns="0" rtlCol="0" anchor="t">
            <a:noAutofit/>
          </a:bodyPr>
          <a:lstStyle/>
          <a:p>
            <a:pPr marL="0" indent="0" algn="l">
              <a:spcAft>
                <a:spcPts val="0"/>
              </a:spcAft>
              <a:buNone/>
            </a:pPr>
            <a:r>
              <a:rPr lang="en-GB" sz="1500" b="1" dirty="0">
                <a:solidFill>
                  <a:srgbClr val="6B6B6B"/>
                </a:solidFill>
              </a:rPr>
              <a:t>Without a loop: copy, paste, repeat</a:t>
            </a:r>
            <a:endParaRPr lang="en-GB" sz="1400" dirty="0"/>
          </a:p>
        </p:txBody>
      </p:sp>
      <p:sp>
        <p:nvSpPr>
          <p:cNvPr id="102" name="Code 102"/>
          <p:cNvSpPr/>
          <p:nvPr/>
        </p:nvSpPr>
        <p:spPr>
          <a:xfrm>
            <a:off x="841248" y="1508760"/>
            <a:ext cx="5120640" cy="132588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400" dirty="0">
                <a:solidFill>
                  <a:srgbClr val="333333"/>
                </a:solidFill>
                <a:latin typeface="Courier New"/>
                <a:cs typeface="Courier New"/>
              </a:rPr>
              <a:t>print(1^2)</a:t>
            </a:r>
            <a:endParaRPr lang="en-GB" sz="1400" dirty="0"/>
          </a:p>
          <a:p>
            <a:pPr marL="0" indent="0" algn="l">
              <a:spcAft>
                <a:spcPts val="0"/>
              </a:spcAft>
              <a:buNone/>
            </a:pPr>
            <a:r>
              <a:rPr lang="en-GB" sz="1400" dirty="0">
                <a:solidFill>
                  <a:srgbClr val="333333"/>
                </a:solidFill>
                <a:latin typeface="Courier New"/>
                <a:cs typeface="Courier New"/>
              </a:rPr>
              <a:t>print(2^2)</a:t>
            </a:r>
            <a:endParaRPr lang="en-GB" sz="1400" dirty="0"/>
          </a:p>
          <a:p>
            <a:pPr marL="0" indent="0" algn="l">
              <a:spcAft>
                <a:spcPts val="0"/>
              </a:spcAft>
              <a:buNone/>
            </a:pPr>
            <a:r>
              <a:rPr lang="en-GB" sz="1400" dirty="0">
                <a:solidFill>
                  <a:srgbClr val="333333"/>
                </a:solidFill>
                <a:latin typeface="Courier New"/>
                <a:cs typeface="Courier New"/>
              </a:rPr>
              <a:t>print(3^2)</a:t>
            </a:r>
            <a:endParaRPr lang="en-GB" sz="1400" dirty="0"/>
          </a:p>
          <a:p>
            <a:pPr marL="0" indent="0" algn="l">
              <a:spcAft>
                <a:spcPts val="0"/>
              </a:spcAft>
              <a:buNone/>
            </a:pPr>
            <a:r>
              <a:rPr lang="en-GB" sz="1400" dirty="0">
                <a:solidFill>
                  <a:srgbClr val="E20613"/>
                </a:solidFill>
                <a:latin typeface="Courier New"/>
                <a:cs typeface="Courier New"/>
              </a:rPr>
              <a:t># ... and 997 more lines?</a:t>
            </a:r>
            <a:endParaRPr lang="en-GB" sz="1400" dirty="0"/>
          </a:p>
        </p:txBody>
      </p:sp>
      <p:sp>
        <p:nvSpPr>
          <p:cNvPr id="103" name="Text 103"/>
          <p:cNvSpPr txBox="1"/>
          <p:nvPr/>
        </p:nvSpPr>
        <p:spPr>
          <a:xfrm>
            <a:off x="841248" y="3017520"/>
            <a:ext cx="5120640" cy="365760"/>
          </a:xfrm>
          <a:prstGeom prst="rect">
            <a:avLst/>
          </a:prstGeom>
          <a:noFill/>
          <a:ln>
            <a:noFill/>
          </a:ln>
        </p:spPr>
        <p:txBody>
          <a:bodyPr wrap="square" lIns="0" tIns="0" rIns="0" bIns="0" rtlCol="0" anchor="t">
            <a:noAutofit/>
          </a:bodyPr>
          <a:lstStyle/>
          <a:p>
            <a:pPr marL="0" indent="0" algn="l">
              <a:spcAft>
                <a:spcPts val="0"/>
              </a:spcAft>
              <a:buNone/>
            </a:pPr>
            <a:r>
              <a:rPr lang="en-GB" sz="1500" b="1" dirty="0">
                <a:solidFill>
                  <a:srgbClr val="E20613"/>
                </a:solidFill>
              </a:rPr>
              <a:t>With a loop: write the action once</a:t>
            </a:r>
            <a:endParaRPr lang="en-GB" sz="1400" dirty="0"/>
          </a:p>
        </p:txBody>
      </p:sp>
      <p:sp>
        <p:nvSpPr>
          <p:cNvPr id="104" name="Code 104"/>
          <p:cNvSpPr/>
          <p:nvPr/>
        </p:nvSpPr>
        <p:spPr>
          <a:xfrm>
            <a:off x="841248" y="3383280"/>
            <a:ext cx="5120640" cy="960120"/>
          </a:xfrm>
          <a:prstGeom prst="rect">
            <a:avLst/>
          </a:prstGeom>
          <a:solidFill>
            <a:srgbClr val="FDECED"/>
          </a:solidFill>
          <a:ln>
            <a:noFill/>
          </a:ln>
        </p:spPr>
        <p:txBody>
          <a:bodyPr wrap="square" lIns="109728" tIns="109728" rIns="109728" bIns="109728" rtlCol="0" anchor="t">
            <a:noAutofit/>
          </a:bodyPr>
          <a:lstStyle/>
          <a:p>
            <a:pPr marL="0" indent="0" algn="l">
              <a:spcAft>
                <a:spcPts val="0"/>
              </a:spcAft>
              <a:buNone/>
            </a:pPr>
            <a:r>
              <a:rPr lang="en-GB" sz="1400" dirty="0">
                <a:solidFill>
                  <a:srgbClr val="333333"/>
                </a:solidFill>
                <a:latin typeface="Courier New"/>
                <a:cs typeface="Courier New"/>
              </a:rPr>
              <a:t>for (i in 1:1000) {</a:t>
            </a:r>
            <a:endParaRPr lang="en-GB" sz="1400" dirty="0"/>
          </a:p>
          <a:p>
            <a:pPr marL="0" indent="0" algn="l">
              <a:spcAft>
                <a:spcPts val="0"/>
              </a:spcAft>
              <a:buNone/>
            </a:pPr>
            <a:r>
              <a:rPr lang="en-GB" sz="1400" dirty="0">
                <a:solidFill>
                  <a:srgbClr val="333333"/>
                </a:solidFill>
                <a:latin typeface="Courier New"/>
                <a:cs typeface="Courier New"/>
              </a:rPr>
              <a:t>  print(i^2)</a:t>
            </a:r>
            <a:endParaRPr lang="en-GB" sz="1400" dirty="0"/>
          </a:p>
          <a:p>
            <a:pPr marL="0" indent="0" algn="l">
              <a:spcAft>
                <a:spcPts val="0"/>
              </a:spcAft>
              <a:buNone/>
            </a:pPr>
            <a:r>
              <a:rPr lang="en-GB" sz="1400" dirty="0">
                <a:solidFill>
                  <a:srgbClr val="333333"/>
                </a:solidFill>
                <a:latin typeface="Courier New"/>
                <a:cs typeface="Courier New"/>
              </a:rPr>
              <a:t>}</a:t>
            </a:r>
            <a:endParaRPr lang="en-GB" sz="1400" dirty="0"/>
          </a:p>
        </p:txBody>
      </p:sp>
      <p:sp>
        <p:nvSpPr>
          <p:cNvPr id="105" name="Text 105"/>
          <p:cNvSpPr txBox="1"/>
          <p:nvPr/>
        </p:nvSpPr>
        <p:spPr>
          <a:xfrm>
            <a:off x="841248" y="4526280"/>
            <a:ext cx="5120640" cy="1463040"/>
          </a:xfrm>
          <a:prstGeom prst="rect">
            <a:avLst/>
          </a:prstGeom>
          <a:noFill/>
          <a:ln>
            <a:noFill/>
          </a:ln>
        </p:spPr>
        <p:txBody>
          <a:bodyPr wrap="square" lIns="0" tIns="0" rIns="0" bIns="0" rtlCol="0" anchor="t">
            <a:noAutofit/>
          </a:bodyPr>
          <a:lstStyle/>
          <a:p>
            <a:pPr marL="0" indent="0" algn="l">
              <a:spcAft>
                <a:spcPts val="600"/>
              </a:spcAft>
              <a:buNone/>
            </a:pPr>
            <a:r>
              <a:rPr lang="en-GB" sz="1500" dirty="0"/>
              <a:t>A </a:t>
            </a:r>
            <a:r>
              <a:rPr lang="en-GB" sz="1500" b="1" dirty="0"/>
              <a:t>loop</a:t>
            </a:r>
            <a:r>
              <a:rPr lang="en-GB" sz="1500" dirty="0"/>
              <a:t> repeats the same block of code once for each element of a collection.</a:t>
            </a:r>
            <a:endParaRPr lang="en-GB" sz="1400" dirty="0"/>
          </a:p>
          <a:p>
            <a:pPr marL="0" indent="0" algn="l">
              <a:spcAft>
                <a:spcPts val="0"/>
              </a:spcAft>
              <a:buNone/>
            </a:pPr>
            <a:r>
              <a:rPr lang="en-GB" sz="1500" dirty="0"/>
              <a:t>Why? Process many samples, files or genes with the same code: less typing, no copy-paste errors, and it scales from 3 to 3000.</a:t>
            </a:r>
            <a:endParaRPr lang="en-GB" sz="1400" dirty="0"/>
          </a:p>
        </p:txBody>
      </p:sp>
      <p:sp>
        <p:nvSpPr>
          <p:cNvPr id="106" name="Start 106"/>
          <p:cNvSpPr/>
          <p:nvPr/>
        </p:nvSpPr>
        <p:spPr>
          <a:xfrm>
            <a:off x="7955280" y="1143000"/>
            <a:ext cx="1645920" cy="457200"/>
          </a:xfrm>
          <a:prstGeom prst="ellipse">
            <a:avLst/>
          </a:prstGeom>
          <a:solidFill>
            <a:srgbClr val="333333"/>
          </a:solidFill>
          <a:ln>
            <a:noFill/>
          </a:ln>
        </p:spPr>
        <p:txBody>
          <a:bodyPr wrap="square" lIns="18288" tIns="18288" rIns="18288" bIns="18288" rtlCol="0" anchor="ctr">
            <a:noAutofit/>
          </a:bodyPr>
          <a:lstStyle/>
          <a:p>
            <a:pPr marL="0" indent="0" algn="ctr">
              <a:spcAft>
                <a:spcPts val="0"/>
              </a:spcAft>
              <a:buNone/>
            </a:pPr>
            <a:r>
              <a:rPr lang="en-GB" sz="1300" b="1" dirty="0">
                <a:solidFill>
                  <a:srgbClr val="FFFFFF"/>
                </a:solidFill>
              </a:rPr>
              <a:t>start</a:t>
            </a:r>
            <a:endParaRPr lang="en-GB" sz="1400" dirty="0"/>
          </a:p>
        </p:txBody>
      </p:sp>
      <p:cxnSp>
        <p:nvCxnSpPr>
          <p:cNvPr id="107" name="Arrow 107"/>
          <p:cNvCxnSpPr/>
          <p:nvPr/>
        </p:nvCxnSpPr>
        <p:spPr>
          <a:xfrm>
            <a:off x="8778240" y="1600200"/>
            <a:ext cx="0" cy="274320"/>
          </a:xfrm>
          <a:prstGeom prst="line">
            <a:avLst/>
          </a:prstGeom>
          <a:ln w="22225">
            <a:solidFill>
              <a:srgbClr val="333333"/>
            </a:solidFill>
            <a:tailEnd type="triangle" w="med" len="med"/>
          </a:ln>
        </p:spPr>
      </p:cxnSp>
      <p:sp>
        <p:nvSpPr>
          <p:cNvPr id="108" name="Test 108"/>
          <p:cNvSpPr/>
          <p:nvPr/>
        </p:nvSpPr>
        <p:spPr>
          <a:xfrm>
            <a:off x="7452360" y="1874520"/>
            <a:ext cx="2651760" cy="1051560"/>
          </a:xfrm>
          <a:prstGeom prst="diamond">
            <a:avLst/>
          </a:prstGeom>
          <a:solidFill>
            <a:srgbClr val="F2F2F2"/>
          </a:solidFill>
          <a:ln w="19050">
            <a:solidFill>
              <a:srgbClr val="333333"/>
            </a:solidFill>
          </a:ln>
        </p:spPr>
        <p:txBody>
          <a:bodyPr wrap="square" lIns="18288" tIns="18288" rIns="18288" bIns="18288" rtlCol="0" anchor="ctr">
            <a:noAutofit/>
          </a:bodyPr>
          <a:lstStyle/>
          <a:p>
            <a:pPr marL="0" indent="0" algn="ctr">
              <a:spcAft>
                <a:spcPts val="0"/>
              </a:spcAft>
              <a:buNone/>
            </a:pPr>
            <a:r>
              <a:rPr lang="en-GB" sz="1300" b="1" dirty="0"/>
              <a:t>elements</a:t>
            </a:r>
            <a:endParaRPr lang="en-GB" sz="1400" dirty="0"/>
          </a:p>
          <a:p>
            <a:pPr marL="0" indent="0" algn="ctr">
              <a:spcAft>
                <a:spcPts val="0"/>
              </a:spcAft>
              <a:buNone/>
            </a:pPr>
            <a:r>
              <a:rPr lang="en-GB" sz="1300" b="1" dirty="0"/>
              <a:t>left in 1:1000?</a:t>
            </a:r>
            <a:endParaRPr lang="en-GB" sz="1400" dirty="0"/>
          </a:p>
        </p:txBody>
      </p:sp>
      <p:cxnSp>
        <p:nvCxnSpPr>
          <p:cNvPr id="109" name="Arrow 109"/>
          <p:cNvCxnSpPr/>
          <p:nvPr/>
        </p:nvCxnSpPr>
        <p:spPr>
          <a:xfrm>
            <a:off x="8778240" y="2926080"/>
            <a:ext cx="0" cy="365760"/>
          </a:xfrm>
          <a:prstGeom prst="line">
            <a:avLst/>
          </a:prstGeom>
          <a:ln w="22225">
            <a:solidFill>
              <a:srgbClr val="333333"/>
            </a:solidFill>
            <a:tailEnd type="triangle" w="med" len="med"/>
          </a:ln>
        </p:spPr>
      </p:cxnSp>
      <p:sp>
        <p:nvSpPr>
          <p:cNvPr id="110" name="Text 110"/>
          <p:cNvSpPr txBox="1"/>
          <p:nvPr/>
        </p:nvSpPr>
        <p:spPr>
          <a:xfrm>
            <a:off x="8851392" y="2944368"/>
            <a:ext cx="548640" cy="320040"/>
          </a:xfrm>
          <a:prstGeom prst="rect">
            <a:avLst/>
          </a:prstGeom>
          <a:noFill/>
          <a:ln>
            <a:noFill/>
          </a:ln>
        </p:spPr>
        <p:txBody>
          <a:bodyPr wrap="square" lIns="0" tIns="0" rIns="0" bIns="0" rtlCol="0" anchor="t">
            <a:noAutofit/>
          </a:bodyPr>
          <a:lstStyle/>
          <a:p>
            <a:pPr marL="0" indent="0" algn="l">
              <a:spcAft>
                <a:spcPts val="0"/>
              </a:spcAft>
              <a:buNone/>
            </a:pPr>
            <a:r>
              <a:rPr lang="en-GB" sz="1200" b="1" dirty="0">
                <a:solidFill>
                  <a:srgbClr val="E20613"/>
                </a:solidFill>
              </a:rPr>
              <a:t>yes</a:t>
            </a:r>
            <a:endParaRPr lang="en-GB" sz="1400" dirty="0"/>
          </a:p>
        </p:txBody>
      </p:sp>
      <p:sp>
        <p:nvSpPr>
          <p:cNvPr id="111" name="Step 111"/>
          <p:cNvSpPr/>
          <p:nvPr/>
        </p:nvSpPr>
        <p:spPr>
          <a:xfrm>
            <a:off x="7452360" y="3291840"/>
            <a:ext cx="2651760" cy="640080"/>
          </a:xfrm>
          <a:prstGeom prst="roundRect">
            <a:avLst/>
          </a:prstGeom>
          <a:solidFill>
            <a:srgbClr val="FFFFFF"/>
          </a:solidFill>
          <a:ln w="19050">
            <a:solidFill>
              <a:srgbClr val="333333"/>
            </a:solidFill>
          </a:ln>
        </p:spPr>
        <p:txBody>
          <a:bodyPr wrap="square" lIns="36576" tIns="36576" rIns="36576" bIns="36576" rtlCol="0" anchor="ctr">
            <a:noAutofit/>
          </a:bodyPr>
          <a:lstStyle/>
          <a:p>
            <a:pPr marL="0" indent="0" algn="ctr">
              <a:spcAft>
                <a:spcPts val="0"/>
              </a:spcAft>
              <a:buNone/>
            </a:pPr>
            <a:r>
              <a:rPr lang="en-GB" sz="1400" b="1" dirty="0">
                <a:latin typeface="Courier New"/>
                <a:cs typeface="Courier New"/>
              </a:rPr>
              <a:t>i</a:t>
            </a:r>
            <a:r>
              <a:rPr lang="en-GB" sz="1300" dirty="0"/>
              <a:t> takes the next value</a:t>
            </a:r>
            <a:endParaRPr lang="en-GB" sz="1400" dirty="0"/>
          </a:p>
        </p:txBody>
      </p:sp>
      <p:cxnSp>
        <p:nvCxnSpPr>
          <p:cNvPr id="112" name="Arrow 112"/>
          <p:cNvCxnSpPr/>
          <p:nvPr/>
        </p:nvCxnSpPr>
        <p:spPr>
          <a:xfrm>
            <a:off x="8778240" y="3931920"/>
            <a:ext cx="0" cy="320040"/>
          </a:xfrm>
          <a:prstGeom prst="line">
            <a:avLst/>
          </a:prstGeom>
          <a:ln w="22225">
            <a:solidFill>
              <a:srgbClr val="333333"/>
            </a:solidFill>
            <a:tailEnd type="triangle" w="med" len="med"/>
          </a:ln>
        </p:spPr>
      </p:cxnSp>
      <p:sp>
        <p:nvSpPr>
          <p:cNvPr id="113" name="Body 113"/>
          <p:cNvSpPr/>
          <p:nvPr/>
        </p:nvSpPr>
        <p:spPr>
          <a:xfrm>
            <a:off x="7452360" y="4251960"/>
            <a:ext cx="2651760" cy="777240"/>
          </a:xfrm>
          <a:prstGeom prst="roundRect">
            <a:avLst/>
          </a:prstGeom>
          <a:solidFill>
            <a:srgbClr val="E20613"/>
          </a:solidFill>
          <a:ln>
            <a:noFill/>
          </a:ln>
        </p:spPr>
        <p:txBody>
          <a:bodyPr wrap="square" lIns="36576" tIns="36576" rIns="36576" bIns="36576" rtlCol="0" anchor="ctr">
            <a:noAutofit/>
          </a:bodyPr>
          <a:lstStyle/>
          <a:p>
            <a:pPr marL="0" indent="0" algn="ctr">
              <a:spcAft>
                <a:spcPts val="0"/>
              </a:spcAft>
              <a:buNone/>
            </a:pPr>
            <a:r>
              <a:rPr lang="en-GB" sz="1300" b="1" dirty="0">
                <a:solidFill>
                  <a:srgbClr val="FFFFFF"/>
                </a:solidFill>
              </a:rPr>
              <a:t>run the body</a:t>
            </a:r>
            <a:endParaRPr lang="en-GB" sz="1400" dirty="0"/>
          </a:p>
          <a:p>
            <a:pPr marL="0" indent="0" algn="ctr">
              <a:spcAft>
                <a:spcPts val="0"/>
              </a:spcAft>
              <a:buNone/>
            </a:pPr>
            <a:r>
              <a:rPr lang="en-GB" sz="1300" dirty="0">
                <a:solidFill>
                  <a:srgbClr val="FFFFFF"/>
                </a:solidFill>
                <a:latin typeface="Courier New"/>
                <a:cs typeface="Courier New"/>
              </a:rPr>
              <a:t>print(i^2)</a:t>
            </a:r>
            <a:endParaRPr lang="en-GB" sz="1400" dirty="0"/>
          </a:p>
        </p:txBody>
      </p:sp>
      <p:cxnSp>
        <p:nvCxnSpPr>
          <p:cNvPr id="114" name="Arrow 114"/>
          <p:cNvCxnSpPr/>
          <p:nvPr/>
        </p:nvCxnSpPr>
        <p:spPr>
          <a:xfrm>
            <a:off x="10104120" y="4640580"/>
            <a:ext cx="685800" cy="0"/>
          </a:xfrm>
          <a:prstGeom prst="line">
            <a:avLst/>
          </a:prstGeom>
          <a:ln w="22225">
            <a:solidFill>
              <a:srgbClr val="E20613"/>
            </a:solidFill>
          </a:ln>
        </p:spPr>
      </p:cxnSp>
      <p:cxnSp>
        <p:nvCxnSpPr>
          <p:cNvPr id="115" name="Arrow 115"/>
          <p:cNvCxnSpPr/>
          <p:nvPr/>
        </p:nvCxnSpPr>
        <p:spPr>
          <a:xfrm flipV="1">
            <a:off x="10789920" y="2400300"/>
            <a:ext cx="0" cy="2240280"/>
          </a:xfrm>
          <a:prstGeom prst="line">
            <a:avLst/>
          </a:prstGeom>
          <a:ln w="22225">
            <a:solidFill>
              <a:srgbClr val="E20613"/>
            </a:solidFill>
          </a:ln>
        </p:spPr>
      </p:cxnSp>
      <p:cxnSp>
        <p:nvCxnSpPr>
          <p:cNvPr id="116" name="Arrow 116"/>
          <p:cNvCxnSpPr/>
          <p:nvPr/>
        </p:nvCxnSpPr>
        <p:spPr>
          <a:xfrm flipH="1">
            <a:off x="10122408" y="2400300"/>
            <a:ext cx="667512" cy="0"/>
          </a:xfrm>
          <a:prstGeom prst="line">
            <a:avLst/>
          </a:prstGeom>
          <a:ln w="22225">
            <a:solidFill>
              <a:srgbClr val="E20613"/>
            </a:solidFill>
            <a:tailEnd type="triangle" w="med" len="med"/>
          </a:ln>
        </p:spPr>
      </p:cxnSp>
      <p:sp>
        <p:nvSpPr>
          <p:cNvPr id="117" name="Text 117"/>
          <p:cNvSpPr txBox="1"/>
          <p:nvPr/>
        </p:nvSpPr>
        <p:spPr>
          <a:xfrm>
            <a:off x="10835640" y="3291840"/>
            <a:ext cx="822960" cy="548640"/>
          </a:xfrm>
          <a:prstGeom prst="rect">
            <a:avLst/>
          </a:prstGeom>
          <a:noFill/>
          <a:ln>
            <a:noFill/>
          </a:ln>
        </p:spPr>
        <p:txBody>
          <a:bodyPr wrap="square" lIns="0" tIns="0" rIns="0" bIns="0" rtlCol="0" anchor="t">
            <a:noAutofit/>
          </a:bodyPr>
          <a:lstStyle/>
          <a:p>
            <a:pPr marL="0" indent="0" algn="l">
              <a:spcAft>
                <a:spcPts val="0"/>
              </a:spcAft>
              <a:buNone/>
            </a:pPr>
            <a:r>
              <a:rPr lang="en-GB" sz="1200" b="1" i="1" dirty="0">
                <a:solidFill>
                  <a:srgbClr val="E20613"/>
                </a:solidFill>
              </a:rPr>
              <a:t>repeat</a:t>
            </a:r>
            <a:endParaRPr lang="en-GB" sz="1400" dirty="0"/>
          </a:p>
        </p:txBody>
      </p:sp>
      <p:cxnSp>
        <p:nvCxnSpPr>
          <p:cNvPr id="118" name="Arrow 118"/>
          <p:cNvCxnSpPr/>
          <p:nvPr/>
        </p:nvCxnSpPr>
        <p:spPr>
          <a:xfrm flipH="1">
            <a:off x="6812280" y="2400300"/>
            <a:ext cx="640080" cy="0"/>
          </a:xfrm>
          <a:prstGeom prst="line">
            <a:avLst/>
          </a:prstGeom>
          <a:ln w="22225">
            <a:solidFill>
              <a:srgbClr val="333333"/>
            </a:solidFill>
          </a:ln>
        </p:spPr>
      </p:cxnSp>
      <p:cxnSp>
        <p:nvCxnSpPr>
          <p:cNvPr id="119" name="Arrow 119"/>
          <p:cNvCxnSpPr/>
          <p:nvPr/>
        </p:nvCxnSpPr>
        <p:spPr>
          <a:xfrm>
            <a:off x="6812280" y="2400300"/>
            <a:ext cx="0" cy="2948940"/>
          </a:xfrm>
          <a:prstGeom prst="line">
            <a:avLst/>
          </a:prstGeom>
          <a:ln w="22225">
            <a:solidFill>
              <a:srgbClr val="333333"/>
            </a:solidFill>
            <a:tailEnd type="triangle" w="med" len="med"/>
          </a:ln>
        </p:spPr>
      </p:cxnSp>
      <p:sp>
        <p:nvSpPr>
          <p:cNvPr id="120" name="Text 120"/>
          <p:cNvSpPr txBox="1"/>
          <p:nvPr/>
        </p:nvSpPr>
        <p:spPr>
          <a:xfrm>
            <a:off x="6858000" y="2057400"/>
            <a:ext cx="548640" cy="320040"/>
          </a:xfrm>
          <a:prstGeom prst="rect">
            <a:avLst/>
          </a:prstGeom>
          <a:noFill/>
          <a:ln>
            <a:noFill/>
          </a:ln>
        </p:spPr>
        <p:txBody>
          <a:bodyPr wrap="square" lIns="0" tIns="0" rIns="0" bIns="0" rtlCol="0" anchor="t">
            <a:noAutofit/>
          </a:bodyPr>
          <a:lstStyle/>
          <a:p>
            <a:pPr marL="0" indent="0" algn="l">
              <a:spcAft>
                <a:spcPts val="0"/>
              </a:spcAft>
              <a:buNone/>
            </a:pPr>
            <a:r>
              <a:rPr lang="en-GB" sz="1200" b="1" dirty="0">
                <a:solidFill>
                  <a:srgbClr val="333333"/>
                </a:solidFill>
              </a:rPr>
              <a:t>no</a:t>
            </a:r>
            <a:endParaRPr lang="en-GB" sz="1400" dirty="0"/>
          </a:p>
        </p:txBody>
      </p:sp>
      <p:sp>
        <p:nvSpPr>
          <p:cNvPr id="121" name="End 121"/>
          <p:cNvSpPr/>
          <p:nvPr/>
        </p:nvSpPr>
        <p:spPr>
          <a:xfrm>
            <a:off x="5989320" y="5349240"/>
            <a:ext cx="1645920" cy="457200"/>
          </a:xfrm>
          <a:prstGeom prst="ellipse">
            <a:avLst/>
          </a:prstGeom>
          <a:solidFill>
            <a:srgbClr val="333333"/>
          </a:solidFill>
          <a:ln>
            <a:noFill/>
          </a:ln>
        </p:spPr>
        <p:txBody>
          <a:bodyPr wrap="square" lIns="18288" tIns="18288" rIns="18288" bIns="18288" rtlCol="0" anchor="ctr">
            <a:noAutofit/>
          </a:bodyPr>
          <a:lstStyle/>
          <a:p>
            <a:pPr marL="0" indent="0" algn="ctr">
              <a:spcAft>
                <a:spcPts val="0"/>
              </a:spcAft>
              <a:buNone/>
            </a:pPr>
            <a:r>
              <a:rPr lang="en-GB" sz="1300" b="1" dirty="0">
                <a:solidFill>
                  <a:srgbClr val="FFFFFF"/>
                </a:solidFill>
              </a:rPr>
              <a:t>end</a:t>
            </a:r>
            <a:endParaRPr lang="en-GB" sz="1400" dirty="0"/>
          </a:p>
        </p:txBody>
      </p:sp>
    </p:spTree>
    <p:extLst>
      <p:ext uri="{BB962C8B-B14F-4D97-AF65-F5344CB8AC3E}">
        <p14:creationId xmlns:p14="http://schemas.microsoft.com/office/powerpoint/2010/main" val="38096462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F0D14-BF86-986D-C68F-2DC59893C6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C6D73-56C6-E007-5735-F3D051D840A4}"/>
              </a:ext>
            </a:extLst>
          </p:cNvPr>
          <p:cNvSpPr>
            <a:spLocks noGrp="1"/>
          </p:cNvSpPr>
          <p:nvPr>
            <p:ph type="title"/>
          </p:nvPr>
        </p:nvSpPr>
        <p:spPr/>
        <p:txBody>
          <a:bodyPr/>
          <a:lstStyle/>
          <a:p>
            <a:r>
              <a:rPr lang="en-GB" dirty="0">
                <a:ea typeface="Verdana"/>
                <a:cs typeface="Gill Sans"/>
              </a:rPr>
              <a:t>Control flow (I): for loops</a:t>
            </a:r>
            <a:endParaRPr lang="en-US" dirty="0"/>
          </a:p>
        </p:txBody>
      </p:sp>
      <p:sp>
        <p:nvSpPr>
          <p:cNvPr id="101" name="Text 101"/>
          <p:cNvSpPr txBox="1"/>
          <p:nvPr/>
        </p:nvSpPr>
        <p:spPr>
          <a:xfrm>
            <a:off x="841248" y="1097280"/>
            <a:ext cx="10515600" cy="365760"/>
          </a:xfrm>
          <a:prstGeom prst="rect">
            <a:avLst/>
          </a:prstGeom>
          <a:noFill/>
          <a:ln>
            <a:noFill/>
          </a:ln>
        </p:spPr>
        <p:txBody>
          <a:bodyPr wrap="square" lIns="0" tIns="0" rIns="0" bIns="0" rtlCol="0" anchor="t">
            <a:noAutofit/>
          </a:bodyPr>
          <a:lstStyle/>
          <a:p>
            <a:pPr marL="0" indent="0" algn="l">
              <a:spcAft>
                <a:spcPts val="0"/>
              </a:spcAft>
              <a:buNone/>
            </a:pPr>
            <a:r>
              <a:rPr lang="en-GB" sz="1800" b="1" dirty="0">
                <a:solidFill>
                  <a:srgbClr val="E20613"/>
                </a:solidFill>
              </a:rPr>
              <a:t>Looping through elements</a:t>
            </a:r>
            <a:endParaRPr lang="en-GB" sz="1400" dirty="0"/>
          </a:p>
        </p:txBody>
      </p:sp>
      <p:sp>
        <p:nvSpPr>
          <p:cNvPr id="102" name="Syntax 102"/>
          <p:cNvSpPr/>
          <p:nvPr/>
        </p:nvSpPr>
        <p:spPr>
          <a:xfrm>
            <a:off x="841248" y="1554480"/>
            <a:ext cx="10515600" cy="685800"/>
          </a:xfrm>
          <a:prstGeom prst="roundRect">
            <a:avLst>
              <a:gd name="adj" fmla="val 15000"/>
            </a:avLst>
          </a:prstGeom>
          <a:solidFill>
            <a:srgbClr val="F2F2F2"/>
          </a:solidFill>
          <a:ln>
            <a:noFill/>
          </a:ln>
        </p:spPr>
        <p:txBody>
          <a:bodyPr wrap="square" lIns="45720" tIns="45720" rIns="45720" bIns="45720" rtlCol="0" anchor="ctr">
            <a:noAutofit/>
          </a:bodyPr>
          <a:lstStyle/>
          <a:p>
            <a:pPr marL="0" indent="0" algn="ctr">
              <a:spcAft>
                <a:spcPts val="0"/>
              </a:spcAft>
              <a:buNone/>
            </a:pPr>
            <a:r>
              <a:rPr lang="en-GB" sz="2000" b="1" dirty="0">
                <a:latin typeface="Courier New"/>
                <a:cs typeface="Courier New"/>
              </a:rPr>
              <a:t>for (</a:t>
            </a:r>
            <a:r>
              <a:rPr lang="en-GB" sz="2000" b="1" dirty="0">
                <a:solidFill>
                  <a:srgbClr val="E20613"/>
                </a:solidFill>
                <a:latin typeface="Courier New"/>
                <a:cs typeface="Courier New"/>
              </a:rPr>
              <a:t>variable</a:t>
            </a:r>
            <a:r>
              <a:rPr lang="en-GB" sz="2000" b="1" dirty="0">
                <a:latin typeface="Courier New"/>
                <a:cs typeface="Courier New"/>
              </a:rPr>
              <a:t> in </a:t>
            </a:r>
            <a:r>
              <a:rPr lang="en-GB" sz="2000" b="1" dirty="0">
                <a:solidFill>
                  <a:srgbClr val="3368ED"/>
                </a:solidFill>
                <a:latin typeface="Courier New"/>
                <a:cs typeface="Courier New"/>
              </a:rPr>
              <a:t>collection</a:t>
            </a:r>
            <a:r>
              <a:rPr lang="en-GB" sz="2000" b="1" dirty="0">
                <a:latin typeface="Courier New"/>
                <a:cs typeface="Courier New"/>
              </a:rPr>
              <a:t>) { </a:t>
            </a:r>
            <a:r>
              <a:rPr lang="en-GB" sz="2000" b="1" dirty="0">
                <a:solidFill>
                  <a:srgbClr val="6B6B6B"/>
                </a:solidFill>
                <a:latin typeface="Courier New"/>
                <a:cs typeface="Courier New"/>
              </a:rPr>
              <a:t>body</a:t>
            </a:r>
            <a:r>
              <a:rPr lang="en-GB" sz="2000" b="1" dirty="0">
                <a:latin typeface="Courier New"/>
                <a:cs typeface="Courier New"/>
              </a:rPr>
              <a:t> }</a:t>
            </a:r>
            <a:endParaRPr lang="en-GB" sz="1400" dirty="0"/>
          </a:p>
        </p:txBody>
      </p:sp>
      <p:sp>
        <p:nvSpPr>
          <p:cNvPr id="103" name="Text 103"/>
          <p:cNvSpPr txBox="1"/>
          <p:nvPr/>
        </p:nvSpPr>
        <p:spPr>
          <a:xfrm>
            <a:off x="841248" y="2286000"/>
            <a:ext cx="10515600" cy="365760"/>
          </a:xfrm>
          <a:prstGeom prst="rect">
            <a:avLst/>
          </a:prstGeom>
          <a:noFill/>
          <a:ln>
            <a:noFill/>
          </a:ln>
        </p:spPr>
        <p:txBody>
          <a:bodyPr wrap="square" lIns="0" tIns="0" rIns="0" bIns="0" rtlCol="0" anchor="t">
            <a:noAutofit/>
          </a:bodyPr>
          <a:lstStyle/>
          <a:p>
            <a:pPr marL="0" indent="0" algn="ctr">
              <a:spcAft>
                <a:spcPts val="0"/>
              </a:spcAft>
              <a:buNone/>
            </a:pPr>
            <a:r>
              <a:rPr lang="en-GB" sz="1250" b="1" dirty="0">
                <a:solidFill>
                  <a:srgbClr val="E20613"/>
                </a:solidFill>
              </a:rPr>
              <a:t>variable</a:t>
            </a:r>
            <a:r>
              <a:rPr lang="en-GB" sz="1250" dirty="0">
                <a:solidFill>
                  <a:srgbClr val="6B6B6B"/>
                </a:solidFill>
              </a:rPr>
              <a:t> takes each value in turn     </a:t>
            </a:r>
            <a:r>
              <a:rPr lang="en-GB" sz="1250" b="1" dirty="0">
                <a:solidFill>
                  <a:srgbClr val="3368ED"/>
                </a:solidFill>
              </a:rPr>
              <a:t>collection</a:t>
            </a:r>
            <a:r>
              <a:rPr lang="en-GB" sz="1250" dirty="0">
                <a:solidFill>
                  <a:srgbClr val="6B6B6B"/>
                </a:solidFill>
              </a:rPr>
              <a:t> is what we go through     </a:t>
            </a:r>
            <a:r>
              <a:rPr lang="en-GB" sz="1250" b="1" dirty="0">
                <a:solidFill>
                  <a:srgbClr val="6B6B6B"/>
                </a:solidFill>
              </a:rPr>
              <a:t>body</a:t>
            </a:r>
            <a:r>
              <a:rPr lang="en-GB" sz="1250" dirty="0">
                <a:solidFill>
                  <a:srgbClr val="6B6B6B"/>
                </a:solidFill>
              </a:rPr>
              <a:t> is the code repeated each time</a:t>
            </a:r>
            <a:endParaRPr lang="en-GB" sz="1400" dirty="0"/>
          </a:p>
        </p:txBody>
      </p:sp>
      <p:sp>
        <p:nvSpPr>
          <p:cNvPr id="104" name="Text 104"/>
          <p:cNvSpPr txBox="1"/>
          <p:nvPr/>
        </p:nvSpPr>
        <p:spPr>
          <a:xfrm>
            <a:off x="841248" y="2788920"/>
            <a:ext cx="5074920" cy="320040"/>
          </a:xfrm>
          <a:prstGeom prst="rect">
            <a:avLst/>
          </a:prstGeom>
          <a:noFill/>
          <a:ln>
            <a:noFill/>
          </a:ln>
        </p:spPr>
        <p:txBody>
          <a:bodyPr wrap="square" lIns="0" tIns="0" rIns="0" bIns="0" rtlCol="0" anchor="t">
            <a:noAutofit/>
          </a:bodyPr>
          <a:lstStyle/>
          <a:p>
            <a:pPr marL="0" indent="0" algn="l">
              <a:spcAft>
                <a:spcPts val="0"/>
              </a:spcAft>
              <a:buNone/>
            </a:pPr>
            <a:r>
              <a:rPr lang="en-GB" sz="1500" b="1" dirty="0"/>
              <a:t>Example 1: over numbers</a:t>
            </a:r>
            <a:endParaRPr lang="en-GB" sz="1400" dirty="0"/>
          </a:p>
        </p:txBody>
      </p:sp>
      <p:sp>
        <p:nvSpPr>
          <p:cNvPr id="105" name="Code 105"/>
          <p:cNvSpPr/>
          <p:nvPr/>
        </p:nvSpPr>
        <p:spPr>
          <a:xfrm>
            <a:off x="841248" y="3154680"/>
            <a:ext cx="5074920" cy="123444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350" dirty="0">
                <a:solidFill>
                  <a:srgbClr val="333333"/>
                </a:solidFill>
                <a:latin typeface="Courier New"/>
                <a:cs typeface="Courier New"/>
              </a:rPr>
              <a:t>for (i in 1:5) {</a:t>
            </a:r>
            <a:endParaRPr lang="en-GB" sz="1350" dirty="0"/>
          </a:p>
          <a:p>
            <a:pPr marL="0" indent="0" algn="l">
              <a:spcAft>
                <a:spcPts val="0"/>
              </a:spcAft>
              <a:buNone/>
            </a:pPr>
            <a:r>
              <a:rPr lang="en-GB" sz="1350" dirty="0">
                <a:solidFill>
                  <a:srgbClr val="333333"/>
                </a:solidFill>
                <a:latin typeface="Courier New"/>
                <a:cs typeface="Courier New"/>
              </a:rPr>
              <a:t>  print(i^2)</a:t>
            </a:r>
            <a:endParaRPr lang="en-GB" sz="1350" dirty="0"/>
          </a:p>
          <a:p>
            <a:pPr marL="0" indent="0" algn="l">
              <a:spcAft>
                <a:spcPts val="0"/>
              </a:spcAft>
              <a:buNone/>
            </a:pPr>
            <a:r>
              <a:rPr lang="en-GB" sz="1350" dirty="0">
                <a:solidFill>
                  <a:srgbClr val="333333"/>
                </a:solidFill>
                <a:latin typeface="Courier New"/>
                <a:cs typeface="Courier New"/>
              </a:rPr>
              <a:t>}</a:t>
            </a:r>
            <a:endParaRPr lang="en-GB" sz="1350" dirty="0"/>
          </a:p>
        </p:txBody>
      </p:sp>
      <p:sp>
        <p:nvSpPr>
          <p:cNvPr id="106" name="Text 106"/>
          <p:cNvSpPr txBox="1"/>
          <p:nvPr/>
        </p:nvSpPr>
        <p:spPr>
          <a:xfrm>
            <a:off x="841248" y="4434840"/>
            <a:ext cx="5074920" cy="274320"/>
          </a:xfrm>
          <a:prstGeom prst="rect">
            <a:avLst/>
          </a:prstGeom>
          <a:noFill/>
          <a:ln>
            <a:noFill/>
          </a:ln>
        </p:spPr>
        <p:txBody>
          <a:bodyPr wrap="square" lIns="0" tIns="0" rIns="0" bIns="0" rtlCol="0" anchor="t">
            <a:noAutofit/>
          </a:bodyPr>
          <a:lstStyle/>
          <a:p>
            <a:pPr marL="0" indent="0" algn="l">
              <a:spcAft>
                <a:spcPts val="0"/>
              </a:spcAft>
              <a:buNone/>
            </a:pPr>
            <a:r>
              <a:rPr lang="en-GB" sz="1100" i="1" dirty="0">
                <a:solidFill>
                  <a:srgbClr val="6B6B6B"/>
                </a:solidFill>
              </a:rPr>
              <a:t>Console output</a:t>
            </a:r>
            <a:endParaRPr lang="en-GB" sz="1400" dirty="0"/>
          </a:p>
        </p:txBody>
      </p:sp>
      <p:sp>
        <p:nvSpPr>
          <p:cNvPr id="107" name="Code 107"/>
          <p:cNvSpPr/>
          <p:nvPr/>
        </p:nvSpPr>
        <p:spPr>
          <a:xfrm>
            <a:off x="841248" y="4709160"/>
            <a:ext cx="5074920" cy="1234440"/>
          </a:xfrm>
          <a:prstGeom prst="rect">
            <a:avLst/>
          </a:prstGeom>
          <a:solidFill>
            <a:srgbClr val="2B2B2B"/>
          </a:solidFill>
          <a:ln>
            <a:noFill/>
          </a:ln>
        </p:spPr>
        <p:txBody>
          <a:bodyPr wrap="square" lIns="91440" tIns="91440" rIns="91440" bIns="91440" rtlCol="0" anchor="t">
            <a:noAutofit/>
          </a:bodyPr>
          <a:lstStyle/>
          <a:p>
            <a:pPr marL="0" indent="0" algn="l">
              <a:spcAft>
                <a:spcPts val="0"/>
              </a:spcAft>
              <a:buNone/>
            </a:pPr>
            <a:r>
              <a:rPr lang="en-GB" sz="1200" dirty="0">
                <a:solidFill>
                  <a:srgbClr val="E8E8E8"/>
                </a:solidFill>
                <a:latin typeface="Courier New"/>
                <a:cs typeface="Courier New"/>
              </a:rPr>
              <a:t>[1] 1</a:t>
            </a:r>
            <a:endParaRPr lang="en-GB" sz="1200" dirty="0"/>
          </a:p>
          <a:p>
            <a:pPr marL="0" indent="0" algn="l">
              <a:spcAft>
                <a:spcPts val="0"/>
              </a:spcAft>
              <a:buNone/>
            </a:pPr>
            <a:r>
              <a:rPr lang="en-GB" sz="1200" dirty="0">
                <a:solidFill>
                  <a:srgbClr val="E8E8E8"/>
                </a:solidFill>
                <a:latin typeface="Courier New"/>
                <a:cs typeface="Courier New"/>
              </a:rPr>
              <a:t>[1] 4</a:t>
            </a:r>
            <a:endParaRPr lang="en-GB" sz="1200" dirty="0"/>
          </a:p>
          <a:p>
            <a:pPr marL="0" indent="0" algn="l">
              <a:spcAft>
                <a:spcPts val="0"/>
              </a:spcAft>
              <a:buNone/>
            </a:pPr>
            <a:r>
              <a:rPr lang="en-GB" sz="1200" dirty="0">
                <a:solidFill>
                  <a:srgbClr val="E8E8E8"/>
                </a:solidFill>
                <a:latin typeface="Courier New"/>
                <a:cs typeface="Courier New"/>
              </a:rPr>
              <a:t>[1] 9</a:t>
            </a:r>
            <a:endParaRPr lang="en-GB" sz="1200" dirty="0"/>
          </a:p>
          <a:p>
            <a:pPr marL="0" indent="0" algn="l">
              <a:spcAft>
                <a:spcPts val="0"/>
              </a:spcAft>
              <a:buNone/>
            </a:pPr>
            <a:r>
              <a:rPr lang="en-GB" sz="1200" dirty="0">
                <a:solidFill>
                  <a:srgbClr val="E8E8E8"/>
                </a:solidFill>
                <a:latin typeface="Courier New"/>
                <a:cs typeface="Courier New"/>
              </a:rPr>
              <a:t>[1] 16</a:t>
            </a:r>
            <a:endParaRPr lang="en-GB" sz="1200" dirty="0"/>
          </a:p>
          <a:p>
            <a:pPr marL="0" indent="0" algn="l">
              <a:spcAft>
                <a:spcPts val="0"/>
              </a:spcAft>
              <a:buNone/>
            </a:pPr>
            <a:r>
              <a:rPr lang="en-GB" sz="1200" dirty="0">
                <a:solidFill>
                  <a:srgbClr val="E8E8E8"/>
                </a:solidFill>
                <a:latin typeface="Courier New"/>
                <a:cs typeface="Courier New"/>
              </a:rPr>
              <a:t>[1] 25</a:t>
            </a:r>
            <a:endParaRPr lang="en-GB" sz="1200" dirty="0"/>
          </a:p>
        </p:txBody>
      </p:sp>
      <p:sp>
        <p:nvSpPr>
          <p:cNvPr id="108" name="Text 108"/>
          <p:cNvSpPr txBox="1"/>
          <p:nvPr/>
        </p:nvSpPr>
        <p:spPr>
          <a:xfrm>
            <a:off x="6281928" y="2788920"/>
            <a:ext cx="5074920" cy="320040"/>
          </a:xfrm>
          <a:prstGeom prst="rect">
            <a:avLst/>
          </a:prstGeom>
          <a:noFill/>
          <a:ln>
            <a:noFill/>
          </a:ln>
        </p:spPr>
        <p:txBody>
          <a:bodyPr wrap="square" lIns="0" tIns="0" rIns="0" bIns="0" rtlCol="0" anchor="t">
            <a:noAutofit/>
          </a:bodyPr>
          <a:lstStyle/>
          <a:p>
            <a:pPr marL="0" indent="0" algn="l">
              <a:spcAft>
                <a:spcPts val="0"/>
              </a:spcAft>
              <a:buNone/>
            </a:pPr>
            <a:r>
              <a:rPr lang="en-GB" sz="1500" b="1" dirty="0"/>
              <a:t>Example 2: over a vector of text</a:t>
            </a:r>
            <a:endParaRPr lang="en-GB" sz="1400" dirty="0"/>
          </a:p>
        </p:txBody>
      </p:sp>
      <p:sp>
        <p:nvSpPr>
          <p:cNvPr id="109" name="Code 109"/>
          <p:cNvSpPr/>
          <p:nvPr/>
        </p:nvSpPr>
        <p:spPr>
          <a:xfrm>
            <a:off x="6281928" y="3154680"/>
            <a:ext cx="5074920" cy="123444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350" dirty="0">
                <a:solidFill>
                  <a:srgbClr val="333333"/>
                </a:solidFill>
                <a:latin typeface="Courier New"/>
                <a:cs typeface="Courier New"/>
              </a:rPr>
              <a:t>fruits &lt;- c("apple", "banana", "cherry")</a:t>
            </a:r>
            <a:endParaRPr lang="en-GB" sz="1350" dirty="0"/>
          </a:p>
          <a:p>
            <a:pPr marL="0" indent="0" algn="l">
              <a:spcAft>
                <a:spcPts val="0"/>
              </a:spcAft>
              <a:buNone/>
            </a:pPr>
            <a:r>
              <a:rPr lang="en-GB" sz="1350" dirty="0">
                <a:solidFill>
                  <a:srgbClr val="333333"/>
                </a:solidFill>
                <a:latin typeface="Courier New"/>
                <a:cs typeface="Courier New"/>
              </a:rPr>
              <a:t>for (f in fruits) {</a:t>
            </a:r>
            <a:endParaRPr lang="en-GB" sz="1350" dirty="0"/>
          </a:p>
          <a:p>
            <a:pPr marL="0" indent="0" algn="l">
              <a:spcAft>
                <a:spcPts val="0"/>
              </a:spcAft>
              <a:buNone/>
            </a:pPr>
            <a:r>
              <a:rPr lang="en-GB" sz="1350" dirty="0">
                <a:solidFill>
                  <a:srgbClr val="333333"/>
                </a:solidFill>
                <a:latin typeface="Courier New"/>
                <a:cs typeface="Courier New"/>
              </a:rPr>
              <a:t>  cat("I like", f, "\n")</a:t>
            </a:r>
            <a:endParaRPr lang="en-GB" sz="1350" dirty="0"/>
          </a:p>
          <a:p>
            <a:pPr marL="0" indent="0" algn="l">
              <a:spcAft>
                <a:spcPts val="0"/>
              </a:spcAft>
              <a:buNone/>
            </a:pPr>
            <a:r>
              <a:rPr lang="en-GB" sz="1350" dirty="0">
                <a:solidFill>
                  <a:srgbClr val="333333"/>
                </a:solidFill>
                <a:latin typeface="Courier New"/>
                <a:cs typeface="Courier New"/>
              </a:rPr>
              <a:t>}</a:t>
            </a:r>
            <a:endParaRPr lang="en-GB" sz="1350" dirty="0"/>
          </a:p>
        </p:txBody>
      </p:sp>
      <p:sp>
        <p:nvSpPr>
          <p:cNvPr id="110" name="Text 110"/>
          <p:cNvSpPr txBox="1"/>
          <p:nvPr/>
        </p:nvSpPr>
        <p:spPr>
          <a:xfrm>
            <a:off x="6281928" y="4434840"/>
            <a:ext cx="5074920" cy="274320"/>
          </a:xfrm>
          <a:prstGeom prst="rect">
            <a:avLst/>
          </a:prstGeom>
          <a:noFill/>
          <a:ln>
            <a:noFill/>
          </a:ln>
        </p:spPr>
        <p:txBody>
          <a:bodyPr wrap="square" lIns="0" tIns="0" rIns="0" bIns="0" rtlCol="0" anchor="t">
            <a:noAutofit/>
          </a:bodyPr>
          <a:lstStyle/>
          <a:p>
            <a:pPr marL="0" indent="0" algn="l">
              <a:spcAft>
                <a:spcPts val="0"/>
              </a:spcAft>
              <a:buNone/>
            </a:pPr>
            <a:r>
              <a:rPr lang="en-GB" sz="1100" i="1" dirty="0">
                <a:solidFill>
                  <a:srgbClr val="6B6B6B"/>
                </a:solidFill>
              </a:rPr>
              <a:t>Console output</a:t>
            </a:r>
            <a:endParaRPr lang="en-GB" sz="1400" dirty="0"/>
          </a:p>
        </p:txBody>
      </p:sp>
      <p:sp>
        <p:nvSpPr>
          <p:cNvPr id="111" name="Code 111"/>
          <p:cNvSpPr/>
          <p:nvPr/>
        </p:nvSpPr>
        <p:spPr>
          <a:xfrm>
            <a:off x="6281928" y="4709160"/>
            <a:ext cx="5074920" cy="868680"/>
          </a:xfrm>
          <a:prstGeom prst="rect">
            <a:avLst/>
          </a:prstGeom>
          <a:solidFill>
            <a:srgbClr val="2B2B2B"/>
          </a:solidFill>
          <a:ln>
            <a:noFill/>
          </a:ln>
        </p:spPr>
        <p:txBody>
          <a:bodyPr wrap="square" lIns="91440" tIns="91440" rIns="91440" bIns="91440" rtlCol="0" anchor="t">
            <a:noAutofit/>
          </a:bodyPr>
          <a:lstStyle/>
          <a:p>
            <a:pPr marL="0" indent="0" algn="l">
              <a:spcAft>
                <a:spcPts val="0"/>
              </a:spcAft>
              <a:buNone/>
            </a:pPr>
            <a:r>
              <a:rPr lang="en-GB" sz="1200" dirty="0">
                <a:solidFill>
                  <a:srgbClr val="E8E8E8"/>
                </a:solidFill>
                <a:latin typeface="Courier New"/>
                <a:cs typeface="Courier New"/>
              </a:rPr>
              <a:t>I like apple</a:t>
            </a:r>
            <a:endParaRPr lang="en-GB" sz="1200" dirty="0"/>
          </a:p>
          <a:p>
            <a:pPr marL="0" indent="0" algn="l">
              <a:spcAft>
                <a:spcPts val="0"/>
              </a:spcAft>
              <a:buNone/>
            </a:pPr>
            <a:r>
              <a:rPr lang="en-GB" sz="1200" dirty="0">
                <a:solidFill>
                  <a:srgbClr val="E8E8E8"/>
                </a:solidFill>
                <a:latin typeface="Courier New"/>
                <a:cs typeface="Courier New"/>
              </a:rPr>
              <a:t>I like banana</a:t>
            </a:r>
            <a:endParaRPr lang="en-GB" sz="1200" dirty="0"/>
          </a:p>
          <a:p>
            <a:pPr marL="0" indent="0" algn="l">
              <a:spcAft>
                <a:spcPts val="0"/>
              </a:spcAft>
              <a:buNone/>
            </a:pPr>
            <a:r>
              <a:rPr lang="en-GB" sz="1200" dirty="0">
                <a:solidFill>
                  <a:srgbClr val="E8E8E8"/>
                </a:solidFill>
                <a:latin typeface="Courier New"/>
                <a:cs typeface="Courier New"/>
              </a:rPr>
              <a:t>I like cherry</a:t>
            </a:r>
            <a:endParaRPr lang="en-GB" sz="1200" dirty="0"/>
          </a:p>
        </p:txBody>
      </p:sp>
    </p:spTree>
    <p:extLst>
      <p:ext uri="{BB962C8B-B14F-4D97-AF65-F5344CB8AC3E}">
        <p14:creationId xmlns:p14="http://schemas.microsoft.com/office/powerpoint/2010/main" val="11865339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2F7F0-B74C-DFD1-1C9C-9D5D404BC0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83D07-5501-740B-ACE7-4FB663C7F8D0}"/>
              </a:ext>
            </a:extLst>
          </p:cNvPr>
          <p:cNvSpPr>
            <a:spLocks noGrp="1"/>
          </p:cNvSpPr>
          <p:nvPr>
            <p:ph type="title"/>
          </p:nvPr>
        </p:nvSpPr>
        <p:spPr/>
        <p:txBody>
          <a:bodyPr/>
          <a:lstStyle/>
          <a:p>
            <a:r>
              <a:rPr lang="en-GB" dirty="0">
                <a:ea typeface="Verdana"/>
                <a:cs typeface="Gill Sans"/>
              </a:rPr>
              <a:t>Control flow (II): making a decision with if</a:t>
            </a:r>
          </a:p>
        </p:txBody>
      </p:sp>
      <p:sp>
        <p:nvSpPr>
          <p:cNvPr id="101" name="Text 101"/>
          <p:cNvSpPr txBox="1"/>
          <p:nvPr/>
        </p:nvSpPr>
        <p:spPr>
          <a:xfrm>
            <a:off x="841248" y="1097280"/>
            <a:ext cx="5120640" cy="1371600"/>
          </a:xfrm>
          <a:prstGeom prst="rect">
            <a:avLst/>
          </a:prstGeom>
          <a:noFill/>
          <a:ln>
            <a:noFill/>
          </a:ln>
        </p:spPr>
        <p:txBody>
          <a:bodyPr wrap="square" lIns="0" tIns="0" rIns="0" bIns="0" rtlCol="0" anchor="t">
            <a:noAutofit/>
          </a:bodyPr>
          <a:lstStyle/>
          <a:p>
            <a:pPr marL="0" indent="0" algn="l">
              <a:spcAft>
                <a:spcPts val="0"/>
              </a:spcAft>
              <a:buNone/>
            </a:pPr>
            <a:r>
              <a:rPr lang="en-GB" sz="1700" b="1" dirty="0">
                <a:latin typeface="Courier New"/>
                <a:cs typeface="Courier New"/>
              </a:rPr>
              <a:t>if</a:t>
            </a:r>
            <a:r>
              <a:rPr lang="en-GB" sz="1700" dirty="0"/>
              <a:t> lets your code </a:t>
            </a:r>
            <a:r>
              <a:rPr lang="en-GB" sz="1700" b="1" dirty="0"/>
              <a:t>make a decision</a:t>
            </a:r>
            <a:r>
              <a:rPr lang="en-GB" sz="1700" dirty="0"/>
              <a:t>: run a block of code only when a condition is TRUE, and optionally another block (</a:t>
            </a:r>
            <a:r>
              <a:rPr lang="en-GB" sz="1700" b="1" dirty="0">
                <a:latin typeface="Courier New"/>
                <a:cs typeface="Courier New"/>
              </a:rPr>
              <a:t>else</a:t>
            </a:r>
            <a:r>
              <a:rPr lang="en-GB" sz="1700" dirty="0"/>
              <a:t>) when it is FALSE.</a:t>
            </a:r>
            <a:endParaRPr lang="en-GB" sz="1400" dirty="0"/>
          </a:p>
        </p:txBody>
      </p:sp>
      <p:sp>
        <p:nvSpPr>
          <p:cNvPr id="102" name="Syntax 102"/>
          <p:cNvSpPr/>
          <p:nvPr/>
        </p:nvSpPr>
        <p:spPr>
          <a:xfrm>
            <a:off x="841248" y="2514600"/>
            <a:ext cx="5120640" cy="1463040"/>
          </a:xfrm>
          <a:prstGeom prst="roundRect">
            <a:avLst>
              <a:gd name="adj" fmla="val 6000"/>
            </a:avLst>
          </a:prstGeom>
          <a:solidFill>
            <a:srgbClr val="F2F2F2"/>
          </a:solidFill>
          <a:ln>
            <a:noFill/>
          </a:ln>
        </p:spPr>
        <p:txBody>
          <a:bodyPr wrap="square" lIns="164592" tIns="164592" rIns="164592" bIns="164592" rtlCol="0" anchor="ctr">
            <a:noAutofit/>
          </a:bodyPr>
          <a:lstStyle/>
          <a:p>
            <a:pPr marL="0" indent="0" algn="l">
              <a:spcAft>
                <a:spcPts val="0"/>
              </a:spcAft>
              <a:buNone/>
            </a:pPr>
            <a:r>
              <a:rPr lang="en-GB" sz="1600" b="1" dirty="0">
                <a:latin typeface="Courier New"/>
                <a:cs typeface="Courier New"/>
              </a:rPr>
              <a:t>if (</a:t>
            </a:r>
            <a:r>
              <a:rPr lang="en-GB" sz="1600" b="1" dirty="0">
                <a:solidFill>
                  <a:srgbClr val="E20613"/>
                </a:solidFill>
                <a:latin typeface="Courier New"/>
                <a:cs typeface="Courier New"/>
              </a:rPr>
              <a:t>condition</a:t>
            </a:r>
            <a:r>
              <a:rPr lang="en-GB" sz="1600" b="1" dirty="0">
                <a:latin typeface="Courier New"/>
                <a:cs typeface="Courier New"/>
              </a:rPr>
              <a:t>) {</a:t>
            </a:r>
            <a:endParaRPr lang="en-GB" sz="1400" dirty="0"/>
          </a:p>
          <a:p>
            <a:pPr marL="0" indent="0" algn="l">
              <a:spcAft>
                <a:spcPts val="0"/>
              </a:spcAft>
              <a:buNone/>
            </a:pPr>
            <a:r>
              <a:rPr lang="en-GB" sz="1600" dirty="0">
                <a:solidFill>
                  <a:srgbClr val="2E7D32"/>
                </a:solidFill>
                <a:latin typeface="Courier New"/>
                <a:cs typeface="Courier New"/>
              </a:rPr>
              <a:t>  code if TRUE</a:t>
            </a:r>
            <a:endParaRPr lang="en-GB" sz="1400" dirty="0"/>
          </a:p>
          <a:p>
            <a:pPr marL="0" indent="0" algn="l">
              <a:spcAft>
                <a:spcPts val="0"/>
              </a:spcAft>
              <a:buNone/>
            </a:pPr>
            <a:r>
              <a:rPr lang="en-GB" sz="1600" b="1" dirty="0">
                <a:latin typeface="Courier New"/>
                <a:cs typeface="Courier New"/>
              </a:rPr>
              <a:t>} else {</a:t>
            </a:r>
            <a:endParaRPr lang="en-GB" sz="1400" dirty="0"/>
          </a:p>
          <a:p>
            <a:pPr marL="0" indent="0" algn="l">
              <a:spcAft>
                <a:spcPts val="0"/>
              </a:spcAft>
              <a:buNone/>
            </a:pPr>
            <a:r>
              <a:rPr lang="en-GB" sz="1600" dirty="0">
                <a:solidFill>
                  <a:srgbClr val="6B6B6B"/>
                </a:solidFill>
                <a:latin typeface="Courier New"/>
                <a:cs typeface="Courier New"/>
              </a:rPr>
              <a:t>  code if FALSE</a:t>
            </a:r>
            <a:endParaRPr lang="en-GB" sz="1400" dirty="0"/>
          </a:p>
          <a:p>
            <a:pPr marL="0" indent="0" algn="l">
              <a:spcAft>
                <a:spcPts val="0"/>
              </a:spcAft>
              <a:buNone/>
            </a:pPr>
            <a:r>
              <a:rPr lang="en-GB" sz="1600" b="1" dirty="0">
                <a:latin typeface="Courier New"/>
                <a:cs typeface="Courier New"/>
              </a:rPr>
              <a:t>}</a:t>
            </a:r>
            <a:endParaRPr lang="en-GB" sz="1400" dirty="0"/>
          </a:p>
        </p:txBody>
      </p:sp>
      <p:sp>
        <p:nvSpPr>
          <p:cNvPr id="103" name="Text 103"/>
          <p:cNvSpPr txBox="1"/>
          <p:nvPr/>
        </p:nvSpPr>
        <p:spPr>
          <a:xfrm>
            <a:off x="841248" y="4069080"/>
            <a:ext cx="5120640" cy="320040"/>
          </a:xfrm>
          <a:prstGeom prst="rect">
            <a:avLst/>
          </a:prstGeom>
          <a:noFill/>
          <a:ln>
            <a:noFill/>
          </a:ln>
        </p:spPr>
        <p:txBody>
          <a:bodyPr wrap="square" lIns="0" tIns="0" rIns="0" bIns="0" rtlCol="0" anchor="t">
            <a:noAutofit/>
          </a:bodyPr>
          <a:lstStyle/>
          <a:p>
            <a:pPr marL="0" indent="0" algn="l">
              <a:spcAft>
                <a:spcPts val="0"/>
              </a:spcAft>
              <a:buNone/>
            </a:pPr>
            <a:r>
              <a:rPr lang="en-GB" sz="1500" b="1" dirty="0">
                <a:solidFill>
                  <a:srgbClr val="E20613"/>
                </a:solidFill>
              </a:rPr>
              <a:t>Example</a:t>
            </a:r>
            <a:endParaRPr lang="en-GB" sz="1400" dirty="0"/>
          </a:p>
        </p:txBody>
      </p:sp>
      <p:sp>
        <p:nvSpPr>
          <p:cNvPr id="104" name="Code 104"/>
          <p:cNvSpPr/>
          <p:nvPr/>
        </p:nvSpPr>
        <p:spPr>
          <a:xfrm>
            <a:off x="841248" y="4389120"/>
            <a:ext cx="5120640" cy="1353312"/>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200" dirty="0">
                <a:solidFill>
                  <a:srgbClr val="333333"/>
                </a:solidFill>
                <a:latin typeface="Courier New"/>
                <a:cs typeface="Courier New"/>
              </a:rPr>
              <a:t>temp &lt;- 25</a:t>
            </a:r>
            <a:endParaRPr lang="en-GB" sz="1200" dirty="0"/>
          </a:p>
          <a:p>
            <a:pPr marL="0" indent="0" algn="l">
              <a:spcAft>
                <a:spcPts val="0"/>
              </a:spcAft>
              <a:buNone/>
            </a:pPr>
            <a:r>
              <a:rPr lang="en-GB" sz="1200" dirty="0">
                <a:solidFill>
                  <a:srgbClr val="333333"/>
                </a:solidFill>
                <a:latin typeface="Courier New"/>
                <a:cs typeface="Courier New"/>
              </a:rPr>
              <a:t>if (temp &gt; 20) {</a:t>
            </a:r>
            <a:endParaRPr lang="en-GB" sz="1200" dirty="0"/>
          </a:p>
          <a:p>
            <a:pPr marL="0" indent="0" algn="l">
              <a:spcAft>
                <a:spcPts val="0"/>
              </a:spcAft>
              <a:buNone/>
            </a:pPr>
            <a:r>
              <a:rPr lang="en-GB" sz="1200" dirty="0">
                <a:solidFill>
                  <a:srgbClr val="333333"/>
                </a:solidFill>
                <a:latin typeface="Courier New"/>
                <a:cs typeface="Courier New"/>
              </a:rPr>
              <a:t>  print("warm")</a:t>
            </a:r>
            <a:endParaRPr lang="en-GB" sz="1200" dirty="0"/>
          </a:p>
          <a:p>
            <a:pPr marL="0" indent="0" algn="l">
              <a:spcAft>
                <a:spcPts val="0"/>
              </a:spcAft>
              <a:buNone/>
            </a:pPr>
            <a:r>
              <a:rPr lang="en-GB" sz="1200" dirty="0">
                <a:solidFill>
                  <a:srgbClr val="333333"/>
                </a:solidFill>
                <a:latin typeface="Courier New"/>
                <a:cs typeface="Courier New"/>
              </a:rPr>
              <a:t>} else {</a:t>
            </a:r>
            <a:endParaRPr lang="en-GB" sz="1200" dirty="0"/>
          </a:p>
          <a:p>
            <a:pPr marL="0" indent="0" algn="l">
              <a:spcAft>
                <a:spcPts val="0"/>
              </a:spcAft>
              <a:buNone/>
            </a:pPr>
            <a:r>
              <a:rPr lang="en-GB" sz="1200" dirty="0">
                <a:solidFill>
                  <a:srgbClr val="333333"/>
                </a:solidFill>
                <a:latin typeface="Courier New"/>
                <a:cs typeface="Courier New"/>
              </a:rPr>
              <a:t>  print("cold")</a:t>
            </a:r>
            <a:endParaRPr lang="en-GB" sz="1200" dirty="0"/>
          </a:p>
          <a:p>
            <a:pPr marL="0" indent="0" algn="l">
              <a:spcAft>
                <a:spcPts val="0"/>
              </a:spcAft>
              <a:buNone/>
            </a:pPr>
            <a:r>
              <a:rPr lang="en-GB" sz="1200" dirty="0">
                <a:solidFill>
                  <a:srgbClr val="333333"/>
                </a:solidFill>
                <a:latin typeface="Courier New"/>
                <a:cs typeface="Courier New"/>
              </a:rPr>
              <a:t>}</a:t>
            </a:r>
            <a:endParaRPr lang="en-GB" sz="1200" dirty="0"/>
          </a:p>
        </p:txBody>
      </p:sp>
      <p:sp>
        <p:nvSpPr>
          <p:cNvPr id="105" name="Code 105"/>
          <p:cNvSpPr/>
          <p:nvPr/>
        </p:nvSpPr>
        <p:spPr>
          <a:xfrm>
            <a:off x="841248" y="5760720"/>
            <a:ext cx="5120640" cy="347472"/>
          </a:xfrm>
          <a:prstGeom prst="rect">
            <a:avLst/>
          </a:prstGeom>
          <a:solidFill>
            <a:srgbClr val="2B2B2B"/>
          </a:solidFill>
          <a:ln>
            <a:noFill/>
          </a:ln>
        </p:spPr>
        <p:txBody>
          <a:bodyPr wrap="square" lIns="109728" tIns="109728" rIns="109728" bIns="109728" rtlCol="0" anchor="ctr">
            <a:noAutofit/>
          </a:bodyPr>
          <a:lstStyle/>
          <a:p>
            <a:pPr marL="0" indent="0" algn="l">
              <a:spcAft>
                <a:spcPts val="0"/>
              </a:spcAft>
              <a:buNone/>
            </a:pPr>
            <a:r>
              <a:rPr lang="en-GB" sz="1300" dirty="0">
                <a:solidFill>
                  <a:srgbClr val="E8E8E8"/>
                </a:solidFill>
                <a:latin typeface="Courier New"/>
                <a:cs typeface="Courier New"/>
              </a:rPr>
              <a:t>[1] "warm"</a:t>
            </a:r>
            <a:endParaRPr lang="en-GB" sz="1300" dirty="0"/>
          </a:p>
        </p:txBody>
      </p:sp>
      <p:sp>
        <p:nvSpPr>
          <p:cNvPr id="106" name="Start 106"/>
          <p:cNvSpPr/>
          <p:nvPr/>
        </p:nvSpPr>
        <p:spPr>
          <a:xfrm>
            <a:off x="7406640" y="1188720"/>
            <a:ext cx="3200400" cy="548640"/>
          </a:xfrm>
          <a:prstGeom prst="roundRect">
            <a:avLst/>
          </a:prstGeom>
          <a:solidFill>
            <a:srgbClr val="333333"/>
          </a:solidFill>
          <a:ln>
            <a:noFill/>
          </a:ln>
        </p:spPr>
        <p:txBody>
          <a:bodyPr wrap="square" lIns="27432" tIns="27432" rIns="27432" bIns="27432" rtlCol="0" anchor="ctr">
            <a:noAutofit/>
          </a:bodyPr>
          <a:lstStyle/>
          <a:p>
            <a:pPr marL="0" indent="0" algn="ctr">
              <a:spcAft>
                <a:spcPts val="0"/>
              </a:spcAft>
              <a:buNone/>
            </a:pPr>
            <a:r>
              <a:rPr lang="en-GB" sz="1500" b="1" dirty="0">
                <a:solidFill>
                  <a:srgbClr val="FFFFFF"/>
                </a:solidFill>
                <a:latin typeface="Courier New"/>
                <a:cs typeface="Courier New"/>
              </a:rPr>
              <a:t>temp &lt;- 25</a:t>
            </a:r>
            <a:endParaRPr lang="en-GB" sz="1400" dirty="0"/>
          </a:p>
        </p:txBody>
      </p:sp>
      <p:cxnSp>
        <p:nvCxnSpPr>
          <p:cNvPr id="107" name="Arrow 107"/>
          <p:cNvCxnSpPr/>
          <p:nvPr/>
        </p:nvCxnSpPr>
        <p:spPr>
          <a:xfrm>
            <a:off x="9006840" y="1737360"/>
            <a:ext cx="0" cy="320040"/>
          </a:xfrm>
          <a:prstGeom prst="line">
            <a:avLst/>
          </a:prstGeom>
          <a:ln w="22225">
            <a:solidFill>
              <a:srgbClr val="333333"/>
            </a:solidFill>
            <a:tailEnd type="triangle" w="med" len="med"/>
          </a:ln>
        </p:spPr>
      </p:cxnSp>
      <p:sp>
        <p:nvSpPr>
          <p:cNvPr id="108" name="Test 108"/>
          <p:cNvSpPr/>
          <p:nvPr/>
        </p:nvSpPr>
        <p:spPr>
          <a:xfrm>
            <a:off x="7543800" y="2057400"/>
            <a:ext cx="2926080" cy="1188720"/>
          </a:xfrm>
          <a:prstGeom prst="diamond">
            <a:avLst/>
          </a:prstGeom>
          <a:solidFill>
            <a:srgbClr val="F2F2F2"/>
          </a:solidFill>
          <a:ln w="19050">
            <a:solidFill>
              <a:srgbClr val="333333"/>
            </a:solidFill>
          </a:ln>
        </p:spPr>
        <p:txBody>
          <a:bodyPr wrap="square" lIns="18288" tIns="18288" rIns="18288" bIns="18288" rtlCol="0" anchor="ctr">
            <a:noAutofit/>
          </a:bodyPr>
          <a:lstStyle/>
          <a:p>
            <a:pPr marL="0" indent="0" algn="ctr">
              <a:spcAft>
                <a:spcPts val="0"/>
              </a:spcAft>
              <a:buNone/>
            </a:pPr>
            <a:r>
              <a:rPr lang="en-GB" sz="1500" b="1" dirty="0">
                <a:latin typeface="Courier New"/>
                <a:cs typeface="Courier New"/>
              </a:rPr>
              <a:t>temp &gt; 20 ?</a:t>
            </a:r>
            <a:endParaRPr lang="en-GB" sz="1400" dirty="0"/>
          </a:p>
        </p:txBody>
      </p:sp>
      <p:cxnSp>
        <p:nvCxnSpPr>
          <p:cNvPr id="109" name="Arrow 109"/>
          <p:cNvCxnSpPr/>
          <p:nvPr/>
        </p:nvCxnSpPr>
        <p:spPr>
          <a:xfrm flipH="1">
            <a:off x="7086600" y="2651760"/>
            <a:ext cx="457200" cy="0"/>
          </a:xfrm>
          <a:prstGeom prst="line">
            <a:avLst/>
          </a:prstGeom>
          <a:ln w="22225">
            <a:solidFill>
              <a:srgbClr val="E20613"/>
            </a:solidFill>
          </a:ln>
        </p:spPr>
      </p:cxnSp>
      <p:cxnSp>
        <p:nvCxnSpPr>
          <p:cNvPr id="110" name="Arrow 110"/>
          <p:cNvCxnSpPr/>
          <p:nvPr/>
        </p:nvCxnSpPr>
        <p:spPr>
          <a:xfrm>
            <a:off x="7086600" y="2651760"/>
            <a:ext cx="0" cy="960120"/>
          </a:xfrm>
          <a:prstGeom prst="line">
            <a:avLst/>
          </a:prstGeom>
          <a:ln w="22225">
            <a:solidFill>
              <a:srgbClr val="E20613"/>
            </a:solidFill>
            <a:tailEnd type="triangle" w="med" len="med"/>
          </a:ln>
        </p:spPr>
      </p:cxnSp>
      <p:cxnSp>
        <p:nvCxnSpPr>
          <p:cNvPr id="111" name="Arrow 111"/>
          <p:cNvCxnSpPr/>
          <p:nvPr/>
        </p:nvCxnSpPr>
        <p:spPr>
          <a:xfrm>
            <a:off x="10469880" y="2651760"/>
            <a:ext cx="457200" cy="0"/>
          </a:xfrm>
          <a:prstGeom prst="line">
            <a:avLst/>
          </a:prstGeom>
          <a:ln w="22225">
            <a:solidFill>
              <a:srgbClr val="6B6B6B"/>
            </a:solidFill>
          </a:ln>
        </p:spPr>
      </p:cxnSp>
      <p:cxnSp>
        <p:nvCxnSpPr>
          <p:cNvPr id="112" name="Arrow 112"/>
          <p:cNvCxnSpPr/>
          <p:nvPr/>
        </p:nvCxnSpPr>
        <p:spPr>
          <a:xfrm>
            <a:off x="10927080" y="2651760"/>
            <a:ext cx="0" cy="960120"/>
          </a:xfrm>
          <a:prstGeom prst="line">
            <a:avLst/>
          </a:prstGeom>
          <a:ln w="22225">
            <a:solidFill>
              <a:srgbClr val="6B6B6B"/>
            </a:solidFill>
            <a:tailEnd type="triangle" w="med" len="med"/>
          </a:ln>
        </p:spPr>
      </p:cxnSp>
      <p:sp>
        <p:nvSpPr>
          <p:cNvPr id="113" name="Text 113"/>
          <p:cNvSpPr txBox="1"/>
          <p:nvPr/>
        </p:nvSpPr>
        <p:spPr>
          <a:xfrm>
            <a:off x="7086600" y="2286000"/>
            <a:ext cx="731520" cy="320040"/>
          </a:xfrm>
          <a:prstGeom prst="rect">
            <a:avLst/>
          </a:prstGeom>
          <a:noFill/>
          <a:ln>
            <a:noFill/>
          </a:ln>
        </p:spPr>
        <p:txBody>
          <a:bodyPr wrap="square" lIns="0" tIns="0" rIns="0" bIns="0" rtlCol="0" anchor="t">
            <a:noAutofit/>
          </a:bodyPr>
          <a:lstStyle/>
          <a:p>
            <a:pPr marL="0" indent="0" algn="l">
              <a:spcAft>
                <a:spcPts val="0"/>
              </a:spcAft>
              <a:buNone/>
            </a:pPr>
            <a:r>
              <a:rPr lang="en-GB" sz="1200" b="1" dirty="0">
                <a:solidFill>
                  <a:srgbClr val="E20613"/>
                </a:solidFill>
              </a:rPr>
              <a:t>TRUE</a:t>
            </a:r>
            <a:endParaRPr lang="en-GB" sz="1400" dirty="0"/>
          </a:p>
        </p:txBody>
      </p:sp>
      <p:sp>
        <p:nvSpPr>
          <p:cNvPr id="114" name="Text 114"/>
          <p:cNvSpPr txBox="1"/>
          <p:nvPr/>
        </p:nvSpPr>
        <p:spPr>
          <a:xfrm>
            <a:off x="10241280" y="2286000"/>
            <a:ext cx="685800" cy="320040"/>
          </a:xfrm>
          <a:prstGeom prst="rect">
            <a:avLst/>
          </a:prstGeom>
          <a:noFill/>
          <a:ln>
            <a:noFill/>
          </a:ln>
        </p:spPr>
        <p:txBody>
          <a:bodyPr wrap="square" lIns="0" tIns="0" rIns="0" bIns="0" rtlCol="0" anchor="t">
            <a:noAutofit/>
          </a:bodyPr>
          <a:lstStyle/>
          <a:p>
            <a:pPr marL="0" indent="0" algn="r">
              <a:spcAft>
                <a:spcPts val="0"/>
              </a:spcAft>
              <a:buNone/>
            </a:pPr>
            <a:r>
              <a:rPr lang="en-GB" sz="1200" b="1" dirty="0">
                <a:solidFill>
                  <a:srgbClr val="6B6B6B"/>
                </a:solidFill>
              </a:rPr>
              <a:t>FALSE</a:t>
            </a:r>
            <a:endParaRPr lang="en-GB" sz="1400" dirty="0"/>
          </a:p>
        </p:txBody>
      </p:sp>
      <p:sp>
        <p:nvSpPr>
          <p:cNvPr id="115" name="Yes 115"/>
          <p:cNvSpPr/>
          <p:nvPr/>
        </p:nvSpPr>
        <p:spPr>
          <a:xfrm>
            <a:off x="6309360" y="3611880"/>
            <a:ext cx="1554480" cy="685800"/>
          </a:xfrm>
          <a:prstGeom prst="roundRect">
            <a:avLst/>
          </a:prstGeom>
          <a:solidFill>
            <a:srgbClr val="E20613"/>
          </a:solidFill>
          <a:ln>
            <a:noFill/>
          </a:ln>
        </p:spPr>
        <p:txBody>
          <a:bodyPr wrap="square" lIns="27432" tIns="27432" rIns="27432" bIns="27432" rtlCol="0" anchor="ctr">
            <a:noAutofit/>
          </a:bodyPr>
          <a:lstStyle/>
          <a:p>
            <a:pPr marL="0" indent="0" algn="ctr">
              <a:spcAft>
                <a:spcPts val="0"/>
              </a:spcAft>
              <a:buNone/>
            </a:pPr>
            <a:r>
              <a:rPr lang="en-GB" sz="1200" b="1" dirty="0">
                <a:solidFill>
                  <a:srgbClr val="FFFFFF"/>
                </a:solidFill>
                <a:latin typeface="Courier New"/>
                <a:cs typeface="Courier New"/>
              </a:rPr>
              <a:t>print("warm")</a:t>
            </a:r>
            <a:endParaRPr lang="en-GB" sz="1400" dirty="0"/>
          </a:p>
        </p:txBody>
      </p:sp>
      <p:sp>
        <p:nvSpPr>
          <p:cNvPr id="116" name="No 116"/>
          <p:cNvSpPr/>
          <p:nvPr/>
        </p:nvSpPr>
        <p:spPr>
          <a:xfrm>
            <a:off x="10149840" y="3611880"/>
            <a:ext cx="1554480" cy="685800"/>
          </a:xfrm>
          <a:prstGeom prst="roundRect">
            <a:avLst/>
          </a:prstGeom>
          <a:solidFill>
            <a:srgbClr val="E0E0E0"/>
          </a:solidFill>
          <a:ln>
            <a:noFill/>
          </a:ln>
        </p:spPr>
        <p:txBody>
          <a:bodyPr wrap="square" lIns="27432" tIns="27432" rIns="27432" bIns="27432" rtlCol="0" anchor="ctr">
            <a:noAutofit/>
          </a:bodyPr>
          <a:lstStyle/>
          <a:p>
            <a:pPr marL="0" indent="0" algn="ctr">
              <a:spcAft>
                <a:spcPts val="0"/>
              </a:spcAft>
              <a:buNone/>
            </a:pPr>
            <a:r>
              <a:rPr lang="en-GB" sz="1200" b="1" dirty="0">
                <a:solidFill>
                  <a:srgbClr val="333333"/>
                </a:solidFill>
                <a:latin typeface="Courier New"/>
                <a:cs typeface="Courier New"/>
              </a:rPr>
              <a:t>print("cold")</a:t>
            </a:r>
            <a:endParaRPr lang="en-GB" sz="1400" dirty="0"/>
          </a:p>
        </p:txBody>
      </p:sp>
      <p:cxnSp>
        <p:nvCxnSpPr>
          <p:cNvPr id="117" name="Arrow 117"/>
          <p:cNvCxnSpPr/>
          <p:nvPr/>
        </p:nvCxnSpPr>
        <p:spPr>
          <a:xfrm>
            <a:off x="7086600" y="4297680"/>
            <a:ext cx="0" cy="411480"/>
          </a:xfrm>
          <a:prstGeom prst="line">
            <a:avLst/>
          </a:prstGeom>
          <a:ln w="22225">
            <a:solidFill>
              <a:srgbClr val="333333"/>
            </a:solidFill>
          </a:ln>
        </p:spPr>
      </p:cxnSp>
      <p:cxnSp>
        <p:nvCxnSpPr>
          <p:cNvPr id="118" name="Arrow 118"/>
          <p:cNvCxnSpPr/>
          <p:nvPr/>
        </p:nvCxnSpPr>
        <p:spPr>
          <a:xfrm>
            <a:off x="10927080" y="4297680"/>
            <a:ext cx="0" cy="411480"/>
          </a:xfrm>
          <a:prstGeom prst="line">
            <a:avLst/>
          </a:prstGeom>
          <a:ln w="22225">
            <a:solidFill>
              <a:srgbClr val="333333"/>
            </a:solidFill>
          </a:ln>
        </p:spPr>
      </p:cxnSp>
      <p:cxnSp>
        <p:nvCxnSpPr>
          <p:cNvPr id="119" name="Arrow 119"/>
          <p:cNvCxnSpPr/>
          <p:nvPr/>
        </p:nvCxnSpPr>
        <p:spPr>
          <a:xfrm>
            <a:off x="7086600" y="4709160"/>
            <a:ext cx="1874520" cy="0"/>
          </a:xfrm>
          <a:prstGeom prst="line">
            <a:avLst/>
          </a:prstGeom>
          <a:ln w="22225">
            <a:solidFill>
              <a:srgbClr val="333333"/>
            </a:solidFill>
          </a:ln>
        </p:spPr>
      </p:cxnSp>
      <p:cxnSp>
        <p:nvCxnSpPr>
          <p:cNvPr id="120" name="Arrow 120"/>
          <p:cNvCxnSpPr/>
          <p:nvPr/>
        </p:nvCxnSpPr>
        <p:spPr>
          <a:xfrm flipH="1">
            <a:off x="9052560" y="4709160"/>
            <a:ext cx="1874520" cy="0"/>
          </a:xfrm>
          <a:prstGeom prst="line">
            <a:avLst/>
          </a:prstGeom>
          <a:ln w="22225">
            <a:solidFill>
              <a:srgbClr val="333333"/>
            </a:solidFill>
          </a:ln>
        </p:spPr>
      </p:cxnSp>
      <p:cxnSp>
        <p:nvCxnSpPr>
          <p:cNvPr id="121" name="Arrow 121"/>
          <p:cNvCxnSpPr/>
          <p:nvPr/>
        </p:nvCxnSpPr>
        <p:spPr>
          <a:xfrm>
            <a:off x="9006840" y="4709160"/>
            <a:ext cx="0" cy="320040"/>
          </a:xfrm>
          <a:prstGeom prst="line">
            <a:avLst/>
          </a:prstGeom>
          <a:ln w="22225">
            <a:solidFill>
              <a:srgbClr val="333333"/>
            </a:solidFill>
            <a:tailEnd type="triangle" w="med" len="med"/>
          </a:ln>
        </p:spPr>
      </p:cxnSp>
      <p:sp>
        <p:nvSpPr>
          <p:cNvPr id="122" name="End 122"/>
          <p:cNvSpPr/>
          <p:nvPr/>
        </p:nvSpPr>
        <p:spPr>
          <a:xfrm>
            <a:off x="7406640" y="5029200"/>
            <a:ext cx="3200400" cy="502920"/>
          </a:xfrm>
          <a:prstGeom prst="roundRect">
            <a:avLst/>
          </a:prstGeom>
          <a:solidFill>
            <a:srgbClr val="333333"/>
          </a:solidFill>
          <a:ln>
            <a:noFill/>
          </a:ln>
        </p:spPr>
        <p:txBody>
          <a:bodyPr wrap="square" lIns="27432" tIns="27432" rIns="27432" bIns="27432" rtlCol="0" anchor="ctr">
            <a:noAutofit/>
          </a:bodyPr>
          <a:lstStyle/>
          <a:p>
            <a:pPr marL="0" indent="0" algn="ctr">
              <a:spcAft>
                <a:spcPts val="0"/>
              </a:spcAft>
              <a:buNone/>
            </a:pPr>
            <a:r>
              <a:rPr lang="en-GB" sz="1300" b="1" dirty="0">
                <a:solidFill>
                  <a:srgbClr val="FFFFFF"/>
                </a:solidFill>
              </a:rPr>
              <a:t>the script continues</a:t>
            </a:r>
            <a:endParaRPr lang="en-GB" sz="1400" dirty="0"/>
          </a:p>
        </p:txBody>
      </p:sp>
      <p:sp>
        <p:nvSpPr>
          <p:cNvPr id="123" name="Text 123"/>
          <p:cNvSpPr txBox="1"/>
          <p:nvPr/>
        </p:nvSpPr>
        <p:spPr>
          <a:xfrm>
            <a:off x="6309360" y="5596128"/>
            <a:ext cx="5394960" cy="457200"/>
          </a:xfrm>
          <a:prstGeom prst="rect">
            <a:avLst/>
          </a:prstGeom>
          <a:noFill/>
          <a:ln>
            <a:noFill/>
          </a:ln>
        </p:spPr>
        <p:txBody>
          <a:bodyPr wrap="square" lIns="0" tIns="0" rIns="0" bIns="0" rtlCol="0" anchor="t">
            <a:noAutofit/>
          </a:bodyPr>
          <a:lstStyle/>
          <a:p>
            <a:pPr marL="0" indent="0" algn="ctr">
              <a:spcAft>
                <a:spcPts val="0"/>
              </a:spcAft>
              <a:buNone/>
            </a:pPr>
            <a:r>
              <a:rPr lang="en-GB" sz="1200" b="1" dirty="0">
                <a:latin typeface="Courier New"/>
                <a:cs typeface="Courier New"/>
              </a:rPr>
              <a:t>temp &gt; 20</a:t>
            </a:r>
            <a:r>
              <a:rPr lang="en-GB" sz="1200" dirty="0">
                <a:solidFill>
                  <a:srgbClr val="6B6B6B"/>
                </a:solidFill>
              </a:rPr>
              <a:t> is a comparison: it returns one TRUE or FALSE.  </a:t>
            </a:r>
            <a:r>
              <a:rPr lang="en-GB" sz="1200" b="1" dirty="0">
                <a:latin typeface="Courier New"/>
                <a:cs typeface="Courier New"/>
              </a:rPr>
              <a:t>else</a:t>
            </a:r>
            <a:r>
              <a:rPr lang="en-GB" sz="1200" dirty="0">
                <a:solidFill>
                  <a:srgbClr val="6B6B6B"/>
                </a:solidFill>
              </a:rPr>
              <a:t> is optional.</a:t>
            </a:r>
            <a:endParaRPr lang="en-GB" sz="1400" dirty="0"/>
          </a:p>
        </p:txBody>
      </p:sp>
    </p:spTree>
    <p:extLst>
      <p:ext uri="{BB962C8B-B14F-4D97-AF65-F5344CB8AC3E}">
        <p14:creationId xmlns:p14="http://schemas.microsoft.com/office/powerpoint/2010/main" val="13963124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693778-A185-DD0A-C7EC-8A2547F4B7E4}"/>
              </a:ext>
            </a:extLst>
          </p:cNvPr>
          <p:cNvSpPr>
            <a:spLocks noGrp="1"/>
          </p:cNvSpPr>
          <p:nvPr>
            <p:ph type="title"/>
          </p:nvPr>
        </p:nvSpPr>
        <p:spPr/>
        <p:txBody>
          <a:bodyPr/>
          <a:lstStyle/>
          <a:p>
            <a:r>
              <a:rPr lang="en-GB" dirty="0">
                <a:ea typeface="Verdana"/>
                <a:cs typeface="Gill Sans"/>
              </a:rPr>
              <a:t>Control flow (III): if / else vs ifelse()</a:t>
            </a:r>
            <a:endParaRPr lang="fr-FR" dirty="0"/>
          </a:p>
        </p:txBody>
      </p:sp>
      <p:sp>
        <p:nvSpPr>
          <p:cNvPr id="101" name="Data 101"/>
          <p:cNvSpPr/>
          <p:nvPr/>
        </p:nvSpPr>
        <p:spPr>
          <a:xfrm>
            <a:off x="841248" y="1097280"/>
            <a:ext cx="10515600" cy="548640"/>
          </a:xfrm>
          <a:prstGeom prst="roundRect">
            <a:avLst>
              <a:gd name="adj" fmla="val 15000"/>
            </a:avLst>
          </a:prstGeom>
          <a:solidFill>
            <a:srgbClr val="F2F2F2"/>
          </a:solidFill>
          <a:ln>
            <a:noFill/>
          </a:ln>
        </p:spPr>
        <p:txBody>
          <a:bodyPr wrap="square" lIns="45720" tIns="45720" rIns="45720" bIns="45720" rtlCol="0" anchor="ctr">
            <a:noAutofit/>
          </a:bodyPr>
          <a:lstStyle/>
          <a:p>
            <a:pPr marL="0" indent="0" algn="ctr">
              <a:spcAft>
                <a:spcPts val="0"/>
              </a:spcAft>
              <a:buNone/>
            </a:pPr>
            <a:r>
              <a:rPr lang="en-GB" sz="2000" b="1" dirty="0">
                <a:latin typeface="Courier New"/>
                <a:cs typeface="Courier New"/>
              </a:rPr>
              <a:t>x &lt;- c(-2, 5, 0)</a:t>
            </a:r>
            <a:r>
              <a:rPr lang="en-GB" sz="1400" i="1" dirty="0">
                <a:solidFill>
                  <a:srgbClr val="6B6B6B"/>
                </a:solidFill>
              </a:rPr>
              <a:t>      one condition, or one per element?</a:t>
            </a:r>
            <a:endParaRPr lang="en-GB" sz="1400" dirty="0"/>
          </a:p>
        </p:txBody>
      </p:sp>
      <p:sp>
        <p:nvSpPr>
          <p:cNvPr id="102" name="Card 102"/>
          <p:cNvSpPr/>
          <p:nvPr/>
        </p:nvSpPr>
        <p:spPr>
          <a:xfrm>
            <a:off x="841248" y="1828800"/>
            <a:ext cx="5074920" cy="3657600"/>
          </a:xfrm>
          <a:prstGeom prst="roundRect">
            <a:avLst>
              <a:gd name="adj" fmla="val 4000"/>
            </a:avLst>
          </a:prstGeom>
          <a:noFill/>
          <a:ln w="25400">
            <a:solidFill>
              <a:srgbClr val="333333"/>
            </a:solidFill>
          </a:ln>
        </p:spPr>
        <p:txBody>
          <a:bodyPr/>
          <a:lstStyle/>
          <a:p>
            <a:endParaRPr lang="fr-FR"/>
          </a:p>
        </p:txBody>
      </p:sp>
      <p:sp>
        <p:nvSpPr>
          <p:cNvPr id="103" name="Card 103"/>
          <p:cNvSpPr/>
          <p:nvPr/>
        </p:nvSpPr>
        <p:spPr>
          <a:xfrm>
            <a:off x="6281928" y="1828800"/>
            <a:ext cx="5074920" cy="3657600"/>
          </a:xfrm>
          <a:prstGeom prst="roundRect">
            <a:avLst>
              <a:gd name="adj" fmla="val 4000"/>
            </a:avLst>
          </a:prstGeom>
          <a:noFill/>
          <a:ln w="25400">
            <a:solidFill>
              <a:srgbClr val="E20613"/>
            </a:solidFill>
          </a:ln>
        </p:spPr>
        <p:txBody>
          <a:bodyPr/>
          <a:lstStyle/>
          <a:p>
            <a:endParaRPr lang="fr-FR"/>
          </a:p>
        </p:txBody>
      </p:sp>
      <p:sp>
        <p:nvSpPr>
          <p:cNvPr id="104" name="Text 104"/>
          <p:cNvSpPr txBox="1"/>
          <p:nvPr/>
        </p:nvSpPr>
        <p:spPr>
          <a:xfrm>
            <a:off x="1069848" y="1920240"/>
            <a:ext cx="4617720" cy="685800"/>
          </a:xfrm>
          <a:prstGeom prst="rect">
            <a:avLst/>
          </a:prstGeom>
          <a:noFill/>
          <a:ln>
            <a:noFill/>
          </a:ln>
        </p:spPr>
        <p:txBody>
          <a:bodyPr wrap="square" lIns="0" tIns="0" rIns="0" bIns="0" rtlCol="0" anchor="t">
            <a:noAutofit/>
          </a:bodyPr>
          <a:lstStyle/>
          <a:p>
            <a:pPr marL="0" indent="0" algn="l">
              <a:spcAft>
                <a:spcPts val="0"/>
              </a:spcAft>
              <a:buNone/>
            </a:pPr>
            <a:r>
              <a:rPr lang="en-GB" sz="1900" b="1" dirty="0">
                <a:solidFill>
                  <a:srgbClr val="333333"/>
                </a:solidFill>
                <a:latin typeface="Courier New"/>
                <a:cs typeface="Courier New"/>
              </a:rPr>
              <a:t>if / else</a:t>
            </a:r>
            <a:endParaRPr lang="en-GB" sz="1400" dirty="0"/>
          </a:p>
          <a:p>
            <a:pPr marL="0" indent="0" algn="l">
              <a:spcAft>
                <a:spcPts val="0"/>
              </a:spcAft>
              <a:buNone/>
            </a:pPr>
            <a:r>
              <a:rPr lang="en-GB" sz="1250" i="1" dirty="0">
                <a:solidFill>
                  <a:srgbClr val="6B6B6B"/>
                </a:solidFill>
              </a:rPr>
              <a:t>one decision: which code should run?</a:t>
            </a:r>
            <a:endParaRPr lang="en-GB" sz="1400" dirty="0"/>
          </a:p>
        </p:txBody>
      </p:sp>
      <p:sp>
        <p:nvSpPr>
          <p:cNvPr id="105" name="Code 105"/>
          <p:cNvSpPr/>
          <p:nvPr/>
        </p:nvSpPr>
        <p:spPr>
          <a:xfrm>
            <a:off x="1069848" y="2651760"/>
            <a:ext cx="4617720" cy="68580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300" dirty="0">
                <a:solidFill>
                  <a:srgbClr val="333333"/>
                </a:solidFill>
                <a:latin typeface="Courier New"/>
                <a:cs typeface="Courier New"/>
              </a:rPr>
              <a:t>if (condition) { ... }</a:t>
            </a:r>
            <a:endParaRPr lang="en-GB" sz="1300" dirty="0"/>
          </a:p>
          <a:p>
            <a:pPr marL="0" indent="0" algn="l">
              <a:spcAft>
                <a:spcPts val="0"/>
              </a:spcAft>
              <a:buNone/>
            </a:pPr>
            <a:r>
              <a:rPr lang="en-GB" sz="1300" dirty="0">
                <a:solidFill>
                  <a:srgbClr val="333333"/>
                </a:solidFill>
                <a:latin typeface="Courier New"/>
                <a:cs typeface="Courier New"/>
              </a:rPr>
              <a:t>else { ... }</a:t>
            </a:r>
            <a:endParaRPr lang="en-GB" sz="1300" dirty="0"/>
          </a:p>
        </p:txBody>
      </p:sp>
      <p:sp>
        <p:nvSpPr>
          <p:cNvPr id="106" name="Code 106"/>
          <p:cNvSpPr/>
          <p:nvPr/>
        </p:nvSpPr>
        <p:spPr>
          <a:xfrm>
            <a:off x="1069848" y="3474720"/>
            <a:ext cx="4617720" cy="59436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250" dirty="0">
                <a:solidFill>
                  <a:srgbClr val="333333"/>
                </a:solidFill>
                <a:latin typeface="Courier New"/>
                <a:cs typeface="Courier New"/>
              </a:rPr>
              <a:t>if (x[1] &gt; 0) "positive" else</a:t>
            </a:r>
            <a:endParaRPr lang="en-GB" sz="1250" dirty="0"/>
          </a:p>
          <a:p>
            <a:pPr marL="0" indent="0" algn="l">
              <a:spcAft>
                <a:spcPts val="0"/>
              </a:spcAft>
              <a:buNone/>
            </a:pPr>
            <a:r>
              <a:rPr lang="en-GB" sz="1250" dirty="0">
                <a:solidFill>
                  <a:srgbClr val="333333"/>
                </a:solidFill>
                <a:latin typeface="Courier New"/>
                <a:cs typeface="Courier New"/>
              </a:rPr>
              <a:t>              "not positive"</a:t>
            </a:r>
            <a:endParaRPr lang="en-GB" sz="1250" dirty="0"/>
          </a:p>
        </p:txBody>
      </p:sp>
      <p:sp>
        <p:nvSpPr>
          <p:cNvPr id="107" name="Text 107"/>
          <p:cNvSpPr txBox="1"/>
          <p:nvPr/>
        </p:nvSpPr>
        <p:spPr>
          <a:xfrm>
            <a:off x="1069848" y="4087368"/>
            <a:ext cx="4617720" cy="274320"/>
          </a:xfrm>
          <a:prstGeom prst="rect">
            <a:avLst/>
          </a:prstGeom>
          <a:noFill/>
          <a:ln>
            <a:noFill/>
          </a:ln>
        </p:spPr>
        <p:txBody>
          <a:bodyPr wrap="square" lIns="0" tIns="0" rIns="0" bIns="0" rtlCol="0" anchor="t">
            <a:noAutofit/>
          </a:bodyPr>
          <a:lstStyle/>
          <a:p>
            <a:pPr marL="0" indent="0" algn="l">
              <a:spcAft>
                <a:spcPts val="0"/>
              </a:spcAft>
              <a:buNone/>
            </a:pPr>
            <a:r>
              <a:rPr lang="en-GB" sz="1200" b="1" dirty="0">
                <a:solidFill>
                  <a:srgbClr val="2E7D32"/>
                </a:solidFill>
              </a:rPr>
              <a:t>✔ works: x[1] &gt; 0 is a single FALSE</a:t>
            </a:r>
            <a:endParaRPr lang="en-GB" sz="1400" dirty="0"/>
          </a:p>
        </p:txBody>
      </p:sp>
      <p:sp>
        <p:nvSpPr>
          <p:cNvPr id="108" name="Code 108"/>
          <p:cNvSpPr/>
          <p:nvPr/>
        </p:nvSpPr>
        <p:spPr>
          <a:xfrm>
            <a:off x="1069848" y="4434840"/>
            <a:ext cx="4617720" cy="68580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250" dirty="0">
                <a:solidFill>
                  <a:srgbClr val="333333"/>
                </a:solidFill>
                <a:latin typeface="Courier New"/>
                <a:cs typeface="Courier New"/>
              </a:rPr>
              <a:t>if (x &gt; 0) "positive"</a:t>
            </a:r>
            <a:endParaRPr lang="en-GB" sz="1250" dirty="0"/>
          </a:p>
          <a:p>
            <a:pPr marL="0" indent="0" algn="l">
              <a:spcAft>
                <a:spcPts val="0"/>
              </a:spcAft>
              <a:buNone/>
            </a:pPr>
            <a:r>
              <a:rPr lang="en-GB" sz="1250" dirty="0">
                <a:solidFill>
                  <a:srgbClr val="E20613"/>
                </a:solidFill>
                <a:latin typeface="Courier New"/>
                <a:cs typeface="Courier New"/>
              </a:rPr>
              <a:t>Error: the condition has length &gt; 1</a:t>
            </a:r>
            <a:endParaRPr lang="en-GB" sz="1250" dirty="0"/>
          </a:p>
        </p:txBody>
      </p:sp>
      <p:sp>
        <p:nvSpPr>
          <p:cNvPr id="109" name="Text 109"/>
          <p:cNvSpPr txBox="1"/>
          <p:nvPr/>
        </p:nvSpPr>
        <p:spPr>
          <a:xfrm>
            <a:off x="1069848" y="5138928"/>
            <a:ext cx="4617720" cy="274320"/>
          </a:xfrm>
          <a:prstGeom prst="rect">
            <a:avLst/>
          </a:prstGeom>
          <a:noFill/>
          <a:ln>
            <a:noFill/>
          </a:ln>
        </p:spPr>
        <p:txBody>
          <a:bodyPr wrap="square" lIns="0" tIns="0" rIns="0" bIns="0" rtlCol="0" anchor="t">
            <a:noAutofit/>
          </a:bodyPr>
          <a:lstStyle/>
          <a:p>
            <a:pPr marL="0" indent="0" algn="l">
              <a:spcAft>
                <a:spcPts val="0"/>
              </a:spcAft>
              <a:buNone/>
            </a:pPr>
            <a:r>
              <a:rPr lang="en-GB" sz="1200" b="1" dirty="0">
                <a:solidFill>
                  <a:srgbClr val="E20613"/>
                </a:solidFill>
              </a:rPr>
              <a:t>✘ x &gt; 0 gives 3 values (error since R 4.2)</a:t>
            </a:r>
            <a:endParaRPr lang="en-GB" sz="1400" dirty="0"/>
          </a:p>
        </p:txBody>
      </p:sp>
      <p:sp>
        <p:nvSpPr>
          <p:cNvPr id="110" name="Text 110"/>
          <p:cNvSpPr txBox="1"/>
          <p:nvPr/>
        </p:nvSpPr>
        <p:spPr>
          <a:xfrm>
            <a:off x="6510528" y="1920240"/>
            <a:ext cx="4617720" cy="685800"/>
          </a:xfrm>
          <a:prstGeom prst="rect">
            <a:avLst/>
          </a:prstGeom>
          <a:noFill/>
          <a:ln>
            <a:noFill/>
          </a:ln>
        </p:spPr>
        <p:txBody>
          <a:bodyPr wrap="square" lIns="0" tIns="0" rIns="0" bIns="0" rtlCol="0" anchor="t">
            <a:noAutofit/>
          </a:bodyPr>
          <a:lstStyle/>
          <a:p>
            <a:pPr marL="0" indent="0" algn="l">
              <a:spcAft>
                <a:spcPts val="0"/>
              </a:spcAft>
              <a:buNone/>
            </a:pPr>
            <a:r>
              <a:rPr lang="en-GB" sz="1900" b="1" dirty="0">
                <a:solidFill>
                  <a:srgbClr val="E20613"/>
                </a:solidFill>
                <a:latin typeface="Courier New"/>
                <a:cs typeface="Courier New"/>
              </a:rPr>
              <a:t>ifelse()</a:t>
            </a:r>
            <a:endParaRPr lang="en-GB" sz="1400" dirty="0"/>
          </a:p>
          <a:p>
            <a:pPr marL="0" indent="0" algn="l">
              <a:spcAft>
                <a:spcPts val="0"/>
              </a:spcAft>
              <a:buNone/>
            </a:pPr>
            <a:r>
              <a:rPr lang="en-GB" sz="1250" i="1" dirty="0">
                <a:solidFill>
                  <a:srgbClr val="6B6B6B"/>
                </a:solidFill>
              </a:rPr>
              <a:t>vectorised: one answer per element</a:t>
            </a:r>
            <a:endParaRPr lang="en-GB" sz="1400" dirty="0"/>
          </a:p>
        </p:txBody>
      </p:sp>
      <p:sp>
        <p:nvSpPr>
          <p:cNvPr id="111" name="Code 111"/>
          <p:cNvSpPr/>
          <p:nvPr/>
        </p:nvSpPr>
        <p:spPr>
          <a:xfrm>
            <a:off x="6510528" y="2651760"/>
            <a:ext cx="4617720" cy="685800"/>
          </a:xfrm>
          <a:prstGeom prst="rect">
            <a:avLst/>
          </a:prstGeom>
          <a:solidFill>
            <a:srgbClr val="FDECED"/>
          </a:solidFill>
          <a:ln>
            <a:noFill/>
          </a:ln>
        </p:spPr>
        <p:txBody>
          <a:bodyPr wrap="square" lIns="109728" tIns="109728" rIns="109728" bIns="109728" rtlCol="0" anchor="t">
            <a:noAutofit/>
          </a:bodyPr>
          <a:lstStyle/>
          <a:p>
            <a:pPr marL="0" indent="0" algn="l">
              <a:spcAft>
                <a:spcPts val="0"/>
              </a:spcAft>
              <a:buNone/>
            </a:pPr>
            <a:r>
              <a:rPr lang="en-GB" sz="1300" dirty="0">
                <a:solidFill>
                  <a:srgbClr val="333333"/>
                </a:solidFill>
                <a:latin typeface="Courier New"/>
                <a:cs typeface="Courier New"/>
              </a:rPr>
              <a:t>ifelse(x &gt; 0, "positive",</a:t>
            </a:r>
            <a:endParaRPr lang="en-GB" sz="1300" dirty="0"/>
          </a:p>
          <a:p>
            <a:pPr marL="0" indent="0" algn="l">
              <a:spcAft>
                <a:spcPts val="0"/>
              </a:spcAft>
              <a:buNone/>
            </a:pPr>
            <a:r>
              <a:rPr lang="en-GB" sz="1300" dirty="0">
                <a:solidFill>
                  <a:srgbClr val="333333"/>
                </a:solidFill>
                <a:latin typeface="Courier New"/>
                <a:cs typeface="Courier New"/>
              </a:rPr>
              <a:t>              "not positive")</a:t>
            </a:r>
            <a:endParaRPr lang="en-GB" sz="1300" dirty="0"/>
          </a:p>
        </p:txBody>
      </p:sp>
      <p:sp>
        <p:nvSpPr>
          <p:cNvPr id="112" name="Val 112"/>
          <p:cNvSpPr/>
          <p:nvPr/>
        </p:nvSpPr>
        <p:spPr>
          <a:xfrm>
            <a:off x="6510528" y="3520440"/>
            <a:ext cx="640080" cy="457200"/>
          </a:xfrm>
          <a:prstGeom prst="rect">
            <a:avLst/>
          </a:prstGeom>
          <a:solidFill>
            <a:srgbClr val="F2F2F2"/>
          </a:solidFill>
          <a:ln w="12700">
            <a:solidFill>
              <a:srgbClr val="BFBFBF"/>
            </a:solidFill>
          </a:ln>
        </p:spPr>
        <p:txBody>
          <a:bodyPr wrap="square" lIns="18288" tIns="18288" rIns="18288" bIns="18288" rtlCol="0" anchor="ctr">
            <a:noAutofit/>
          </a:bodyPr>
          <a:lstStyle/>
          <a:p>
            <a:pPr marL="0" indent="0" algn="ctr">
              <a:spcAft>
                <a:spcPts val="0"/>
              </a:spcAft>
              <a:buNone/>
            </a:pPr>
            <a:r>
              <a:rPr lang="en-GB" sz="1400" b="1" dirty="0">
                <a:latin typeface="Courier New"/>
                <a:cs typeface="Courier New"/>
              </a:rPr>
              <a:t>-2</a:t>
            </a:r>
            <a:endParaRPr lang="en-GB" sz="1400" dirty="0"/>
          </a:p>
        </p:txBody>
      </p:sp>
      <p:cxnSp>
        <p:nvCxnSpPr>
          <p:cNvPr id="113" name="Arrow 113"/>
          <p:cNvCxnSpPr/>
          <p:nvPr/>
        </p:nvCxnSpPr>
        <p:spPr>
          <a:xfrm>
            <a:off x="7196328" y="3749040"/>
            <a:ext cx="411480" cy="0"/>
          </a:xfrm>
          <a:prstGeom prst="line">
            <a:avLst/>
          </a:prstGeom>
          <a:ln w="19050">
            <a:solidFill>
              <a:srgbClr val="6B6B6B"/>
            </a:solidFill>
            <a:tailEnd type="triangle" w="med" len="med"/>
          </a:ln>
        </p:spPr>
      </p:cxnSp>
      <p:sp>
        <p:nvSpPr>
          <p:cNvPr id="114" name="Test 114"/>
          <p:cNvSpPr/>
          <p:nvPr/>
        </p:nvSpPr>
        <p:spPr>
          <a:xfrm>
            <a:off x="7653528" y="3520440"/>
            <a:ext cx="960120" cy="457200"/>
          </a:xfrm>
          <a:prstGeom prst="roundRect">
            <a:avLst/>
          </a:prstGeom>
          <a:solidFill>
            <a:srgbClr val="E0E0E0"/>
          </a:solidFill>
          <a:ln>
            <a:noFill/>
          </a:ln>
        </p:spPr>
        <p:txBody>
          <a:bodyPr wrap="square" lIns="18288" tIns="18288" rIns="18288" bIns="18288" rtlCol="0" anchor="ctr">
            <a:noAutofit/>
          </a:bodyPr>
          <a:lstStyle/>
          <a:p>
            <a:pPr marL="0" indent="0" algn="ctr">
              <a:spcAft>
                <a:spcPts val="0"/>
              </a:spcAft>
              <a:buNone/>
            </a:pPr>
            <a:r>
              <a:rPr lang="en-GB" sz="1200" b="1" dirty="0">
                <a:solidFill>
                  <a:srgbClr val="333333"/>
                </a:solidFill>
                <a:latin typeface="Courier New"/>
                <a:cs typeface="Courier New"/>
              </a:rPr>
              <a:t>FALSE</a:t>
            </a:r>
            <a:endParaRPr lang="en-GB" sz="1400" dirty="0"/>
          </a:p>
        </p:txBody>
      </p:sp>
      <p:cxnSp>
        <p:nvCxnSpPr>
          <p:cNvPr id="115" name="Arrow 115"/>
          <p:cNvCxnSpPr/>
          <p:nvPr/>
        </p:nvCxnSpPr>
        <p:spPr>
          <a:xfrm>
            <a:off x="8659368" y="3749040"/>
            <a:ext cx="411480" cy="0"/>
          </a:xfrm>
          <a:prstGeom prst="line">
            <a:avLst/>
          </a:prstGeom>
          <a:ln w="19050">
            <a:solidFill>
              <a:srgbClr val="6B6B6B"/>
            </a:solidFill>
            <a:tailEnd type="triangle" w="med" len="med"/>
          </a:ln>
        </p:spPr>
      </p:cxnSp>
      <p:sp>
        <p:nvSpPr>
          <p:cNvPr id="116" name="Text 116"/>
          <p:cNvSpPr txBox="1"/>
          <p:nvPr/>
        </p:nvSpPr>
        <p:spPr>
          <a:xfrm>
            <a:off x="9116568" y="3520440"/>
            <a:ext cx="1828800" cy="457200"/>
          </a:xfrm>
          <a:prstGeom prst="rect">
            <a:avLst/>
          </a:prstGeom>
          <a:noFill/>
          <a:ln>
            <a:noFill/>
          </a:ln>
        </p:spPr>
        <p:txBody>
          <a:bodyPr wrap="square" lIns="0" tIns="0" rIns="0" bIns="0" rtlCol="0" anchor="ctr">
            <a:noAutofit/>
          </a:bodyPr>
          <a:lstStyle/>
          <a:p>
            <a:pPr marL="0" indent="0" algn="l">
              <a:spcAft>
                <a:spcPts val="0"/>
              </a:spcAft>
              <a:buNone/>
            </a:pPr>
            <a:r>
              <a:rPr lang="en-GB" sz="1300" b="1" dirty="0">
                <a:latin typeface="Courier New"/>
                <a:cs typeface="Courier New"/>
              </a:rPr>
              <a:t>"not positive"</a:t>
            </a:r>
            <a:endParaRPr lang="en-GB" sz="1400" dirty="0"/>
          </a:p>
        </p:txBody>
      </p:sp>
      <p:sp>
        <p:nvSpPr>
          <p:cNvPr id="117" name="Val 117"/>
          <p:cNvSpPr/>
          <p:nvPr/>
        </p:nvSpPr>
        <p:spPr>
          <a:xfrm>
            <a:off x="6510528" y="4142232"/>
            <a:ext cx="640080" cy="457200"/>
          </a:xfrm>
          <a:prstGeom prst="rect">
            <a:avLst/>
          </a:prstGeom>
          <a:solidFill>
            <a:srgbClr val="F2F2F2"/>
          </a:solidFill>
          <a:ln w="12700">
            <a:solidFill>
              <a:srgbClr val="BFBFBF"/>
            </a:solidFill>
          </a:ln>
        </p:spPr>
        <p:txBody>
          <a:bodyPr wrap="square" lIns="18288" tIns="18288" rIns="18288" bIns="18288" rtlCol="0" anchor="ctr">
            <a:noAutofit/>
          </a:bodyPr>
          <a:lstStyle/>
          <a:p>
            <a:pPr marL="0" indent="0" algn="ctr">
              <a:spcAft>
                <a:spcPts val="0"/>
              </a:spcAft>
              <a:buNone/>
            </a:pPr>
            <a:r>
              <a:rPr lang="en-GB" sz="1400" b="1" dirty="0">
                <a:latin typeface="Courier New"/>
                <a:cs typeface="Courier New"/>
              </a:rPr>
              <a:t>5</a:t>
            </a:r>
            <a:endParaRPr lang="en-GB" sz="1400" dirty="0"/>
          </a:p>
        </p:txBody>
      </p:sp>
      <p:cxnSp>
        <p:nvCxnSpPr>
          <p:cNvPr id="118" name="Arrow 118"/>
          <p:cNvCxnSpPr/>
          <p:nvPr/>
        </p:nvCxnSpPr>
        <p:spPr>
          <a:xfrm>
            <a:off x="7196328" y="4370832"/>
            <a:ext cx="411480" cy="0"/>
          </a:xfrm>
          <a:prstGeom prst="line">
            <a:avLst/>
          </a:prstGeom>
          <a:ln w="19050">
            <a:solidFill>
              <a:srgbClr val="6B6B6B"/>
            </a:solidFill>
            <a:tailEnd type="triangle" w="med" len="med"/>
          </a:ln>
        </p:spPr>
      </p:cxnSp>
      <p:sp>
        <p:nvSpPr>
          <p:cNvPr id="119" name="Test 119"/>
          <p:cNvSpPr/>
          <p:nvPr/>
        </p:nvSpPr>
        <p:spPr>
          <a:xfrm>
            <a:off x="7653528" y="4142232"/>
            <a:ext cx="960120" cy="457200"/>
          </a:xfrm>
          <a:prstGeom prst="roundRect">
            <a:avLst/>
          </a:prstGeom>
          <a:solidFill>
            <a:srgbClr val="E20613"/>
          </a:solidFill>
          <a:ln>
            <a:noFill/>
          </a:ln>
        </p:spPr>
        <p:txBody>
          <a:bodyPr wrap="square" lIns="18288" tIns="18288" rIns="18288" bIns="18288" rtlCol="0" anchor="ctr">
            <a:noAutofit/>
          </a:bodyPr>
          <a:lstStyle/>
          <a:p>
            <a:pPr marL="0" indent="0" algn="ctr">
              <a:spcAft>
                <a:spcPts val="0"/>
              </a:spcAft>
              <a:buNone/>
            </a:pPr>
            <a:r>
              <a:rPr lang="en-GB" sz="1200" b="1" dirty="0">
                <a:solidFill>
                  <a:srgbClr val="FFFFFF"/>
                </a:solidFill>
                <a:latin typeface="Courier New"/>
                <a:cs typeface="Courier New"/>
              </a:rPr>
              <a:t>TRUE</a:t>
            </a:r>
            <a:endParaRPr lang="en-GB" sz="1400" dirty="0"/>
          </a:p>
        </p:txBody>
      </p:sp>
      <p:cxnSp>
        <p:nvCxnSpPr>
          <p:cNvPr id="120" name="Arrow 120"/>
          <p:cNvCxnSpPr/>
          <p:nvPr/>
        </p:nvCxnSpPr>
        <p:spPr>
          <a:xfrm>
            <a:off x="8659368" y="4370832"/>
            <a:ext cx="411480" cy="0"/>
          </a:xfrm>
          <a:prstGeom prst="line">
            <a:avLst/>
          </a:prstGeom>
          <a:ln w="19050">
            <a:solidFill>
              <a:srgbClr val="6B6B6B"/>
            </a:solidFill>
            <a:tailEnd type="triangle" w="med" len="med"/>
          </a:ln>
        </p:spPr>
      </p:cxnSp>
      <p:sp>
        <p:nvSpPr>
          <p:cNvPr id="121" name="Text 121"/>
          <p:cNvSpPr txBox="1"/>
          <p:nvPr/>
        </p:nvSpPr>
        <p:spPr>
          <a:xfrm>
            <a:off x="9116568" y="4142232"/>
            <a:ext cx="1828800" cy="457200"/>
          </a:xfrm>
          <a:prstGeom prst="rect">
            <a:avLst/>
          </a:prstGeom>
          <a:noFill/>
          <a:ln>
            <a:noFill/>
          </a:ln>
        </p:spPr>
        <p:txBody>
          <a:bodyPr wrap="square" lIns="0" tIns="0" rIns="0" bIns="0" rtlCol="0" anchor="ctr">
            <a:noAutofit/>
          </a:bodyPr>
          <a:lstStyle/>
          <a:p>
            <a:pPr marL="0" indent="0" algn="l">
              <a:spcAft>
                <a:spcPts val="0"/>
              </a:spcAft>
              <a:buNone/>
            </a:pPr>
            <a:r>
              <a:rPr lang="en-GB" sz="1300" b="1" dirty="0">
                <a:latin typeface="Courier New"/>
                <a:cs typeface="Courier New"/>
              </a:rPr>
              <a:t>"positive"</a:t>
            </a:r>
            <a:endParaRPr lang="en-GB" sz="1400" dirty="0"/>
          </a:p>
        </p:txBody>
      </p:sp>
      <p:sp>
        <p:nvSpPr>
          <p:cNvPr id="122" name="Val 122"/>
          <p:cNvSpPr/>
          <p:nvPr/>
        </p:nvSpPr>
        <p:spPr>
          <a:xfrm>
            <a:off x="6510528" y="4764024"/>
            <a:ext cx="640080" cy="457200"/>
          </a:xfrm>
          <a:prstGeom prst="rect">
            <a:avLst/>
          </a:prstGeom>
          <a:solidFill>
            <a:srgbClr val="F2F2F2"/>
          </a:solidFill>
          <a:ln w="12700">
            <a:solidFill>
              <a:srgbClr val="BFBFBF"/>
            </a:solidFill>
          </a:ln>
        </p:spPr>
        <p:txBody>
          <a:bodyPr wrap="square" lIns="18288" tIns="18288" rIns="18288" bIns="18288" rtlCol="0" anchor="ctr">
            <a:noAutofit/>
          </a:bodyPr>
          <a:lstStyle/>
          <a:p>
            <a:pPr marL="0" indent="0" algn="ctr">
              <a:spcAft>
                <a:spcPts val="0"/>
              </a:spcAft>
              <a:buNone/>
            </a:pPr>
            <a:r>
              <a:rPr lang="en-GB" sz="1400" b="1" dirty="0">
                <a:latin typeface="Courier New"/>
                <a:cs typeface="Courier New"/>
              </a:rPr>
              <a:t>0</a:t>
            </a:r>
            <a:endParaRPr lang="en-GB" sz="1400" dirty="0"/>
          </a:p>
        </p:txBody>
      </p:sp>
      <p:cxnSp>
        <p:nvCxnSpPr>
          <p:cNvPr id="123" name="Arrow 123"/>
          <p:cNvCxnSpPr/>
          <p:nvPr/>
        </p:nvCxnSpPr>
        <p:spPr>
          <a:xfrm>
            <a:off x="7196328" y="4992624"/>
            <a:ext cx="411480" cy="0"/>
          </a:xfrm>
          <a:prstGeom prst="line">
            <a:avLst/>
          </a:prstGeom>
          <a:ln w="19050">
            <a:solidFill>
              <a:srgbClr val="6B6B6B"/>
            </a:solidFill>
            <a:tailEnd type="triangle" w="med" len="med"/>
          </a:ln>
        </p:spPr>
      </p:cxnSp>
      <p:sp>
        <p:nvSpPr>
          <p:cNvPr id="124" name="Test 124"/>
          <p:cNvSpPr/>
          <p:nvPr/>
        </p:nvSpPr>
        <p:spPr>
          <a:xfrm>
            <a:off x="7653528" y="4764024"/>
            <a:ext cx="960120" cy="457200"/>
          </a:xfrm>
          <a:prstGeom prst="roundRect">
            <a:avLst/>
          </a:prstGeom>
          <a:solidFill>
            <a:srgbClr val="E0E0E0"/>
          </a:solidFill>
          <a:ln>
            <a:noFill/>
          </a:ln>
        </p:spPr>
        <p:txBody>
          <a:bodyPr wrap="square" lIns="18288" tIns="18288" rIns="18288" bIns="18288" rtlCol="0" anchor="ctr">
            <a:noAutofit/>
          </a:bodyPr>
          <a:lstStyle/>
          <a:p>
            <a:pPr marL="0" indent="0" algn="ctr">
              <a:spcAft>
                <a:spcPts val="0"/>
              </a:spcAft>
              <a:buNone/>
            </a:pPr>
            <a:r>
              <a:rPr lang="en-GB" sz="1200" b="1" dirty="0">
                <a:solidFill>
                  <a:srgbClr val="333333"/>
                </a:solidFill>
                <a:latin typeface="Courier New"/>
                <a:cs typeface="Courier New"/>
              </a:rPr>
              <a:t>FALSE</a:t>
            </a:r>
            <a:endParaRPr lang="en-GB" sz="1400" dirty="0"/>
          </a:p>
        </p:txBody>
      </p:sp>
      <p:cxnSp>
        <p:nvCxnSpPr>
          <p:cNvPr id="125" name="Arrow 125"/>
          <p:cNvCxnSpPr/>
          <p:nvPr/>
        </p:nvCxnSpPr>
        <p:spPr>
          <a:xfrm>
            <a:off x="8659368" y="4992624"/>
            <a:ext cx="411480" cy="0"/>
          </a:xfrm>
          <a:prstGeom prst="line">
            <a:avLst/>
          </a:prstGeom>
          <a:ln w="19050">
            <a:solidFill>
              <a:srgbClr val="6B6B6B"/>
            </a:solidFill>
            <a:tailEnd type="triangle" w="med" len="med"/>
          </a:ln>
        </p:spPr>
      </p:cxnSp>
      <p:sp>
        <p:nvSpPr>
          <p:cNvPr id="126" name="Text 126"/>
          <p:cNvSpPr txBox="1"/>
          <p:nvPr/>
        </p:nvSpPr>
        <p:spPr>
          <a:xfrm>
            <a:off x="9116568" y="4764024"/>
            <a:ext cx="1828800" cy="457200"/>
          </a:xfrm>
          <a:prstGeom prst="rect">
            <a:avLst/>
          </a:prstGeom>
          <a:noFill/>
          <a:ln>
            <a:noFill/>
          </a:ln>
        </p:spPr>
        <p:txBody>
          <a:bodyPr wrap="square" lIns="0" tIns="0" rIns="0" bIns="0" rtlCol="0" anchor="ctr">
            <a:noAutofit/>
          </a:bodyPr>
          <a:lstStyle/>
          <a:p>
            <a:pPr marL="0" indent="0" algn="l">
              <a:spcAft>
                <a:spcPts val="0"/>
              </a:spcAft>
              <a:buNone/>
            </a:pPr>
            <a:r>
              <a:rPr lang="en-GB" sz="1300" b="1" dirty="0">
                <a:latin typeface="Courier New"/>
                <a:cs typeface="Courier New"/>
              </a:rPr>
              <a:t>"not positive"</a:t>
            </a:r>
            <a:endParaRPr lang="en-GB" sz="1400" dirty="0"/>
          </a:p>
        </p:txBody>
      </p:sp>
      <p:sp>
        <p:nvSpPr>
          <p:cNvPr id="127" name="Text 127"/>
          <p:cNvSpPr txBox="1"/>
          <p:nvPr/>
        </p:nvSpPr>
        <p:spPr>
          <a:xfrm>
            <a:off x="6510528" y="3246120"/>
            <a:ext cx="2743200" cy="274320"/>
          </a:xfrm>
          <a:prstGeom prst="rect">
            <a:avLst/>
          </a:prstGeom>
          <a:noFill/>
          <a:ln>
            <a:noFill/>
          </a:ln>
        </p:spPr>
        <p:txBody>
          <a:bodyPr wrap="square" lIns="0" tIns="0" rIns="0" bIns="0" rtlCol="0" anchor="t">
            <a:noAutofit/>
          </a:bodyPr>
          <a:lstStyle/>
          <a:p>
            <a:pPr marL="0" indent="0" algn="l">
              <a:spcAft>
                <a:spcPts val="0"/>
              </a:spcAft>
              <a:buNone/>
            </a:pPr>
            <a:r>
              <a:rPr lang="en-GB" sz="1100" b="1" dirty="0">
                <a:solidFill>
                  <a:srgbClr val="6B6B6B"/>
                </a:solidFill>
                <a:latin typeface="Courier New"/>
                <a:cs typeface="Courier New"/>
              </a:rPr>
              <a:t>x        x &gt; 0</a:t>
            </a:r>
            <a:endParaRPr lang="en-GB" sz="1400" dirty="0"/>
          </a:p>
        </p:txBody>
      </p:sp>
      <p:sp>
        <p:nvSpPr>
          <p:cNvPr id="128" name="Message 128"/>
          <p:cNvSpPr/>
          <p:nvPr/>
        </p:nvSpPr>
        <p:spPr>
          <a:xfrm>
            <a:off x="841248" y="5623560"/>
            <a:ext cx="10515600" cy="457200"/>
          </a:xfrm>
          <a:prstGeom prst="roundRect">
            <a:avLst>
              <a:gd name="adj" fmla="val 12000"/>
            </a:avLst>
          </a:prstGeom>
          <a:solidFill>
            <a:srgbClr val="FDECED"/>
          </a:solidFill>
          <a:ln>
            <a:noFill/>
          </a:ln>
        </p:spPr>
        <p:txBody>
          <a:bodyPr wrap="square" lIns="137160" tIns="137160" rIns="137160" bIns="137160" rtlCol="0" anchor="ctr">
            <a:noAutofit/>
          </a:bodyPr>
          <a:lstStyle/>
          <a:p>
            <a:pPr marL="0" indent="0" algn="l">
              <a:spcAft>
                <a:spcPts val="0"/>
              </a:spcAft>
              <a:buNone/>
            </a:pPr>
            <a:r>
              <a:rPr lang="en-GB" sz="1400" b="1" dirty="0">
                <a:solidFill>
                  <a:srgbClr val="E20613"/>
                </a:solidFill>
              </a:rPr>
              <a:t>Rule of thumb: </a:t>
            </a:r>
            <a:r>
              <a:rPr lang="en-GB" sz="1400" dirty="0">
                <a:solidFill>
                  <a:srgbClr val="333333"/>
                </a:solidFill>
              </a:rPr>
              <a:t>if / else decides what code runs; ifelse() computes a value for each element.</a:t>
            </a:r>
            <a:endParaRPr lang="en-GB" sz="1400" dirty="0"/>
          </a:p>
        </p:txBody>
      </p:sp>
    </p:spTree>
    <p:extLst>
      <p:ext uri="{BB962C8B-B14F-4D97-AF65-F5344CB8AC3E}">
        <p14:creationId xmlns:p14="http://schemas.microsoft.com/office/powerpoint/2010/main" val="12748301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20EA9-7BBD-660A-807E-8A54104D04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E3D6EB3-8A9F-F3C2-B68F-D7C77203D35E}"/>
              </a:ext>
            </a:extLst>
          </p:cNvPr>
          <p:cNvSpPr>
            <a:spLocks noGrp="1"/>
          </p:cNvSpPr>
          <p:nvPr>
            <p:ph type="title"/>
          </p:nvPr>
        </p:nvSpPr>
        <p:spPr/>
        <p:txBody>
          <a:bodyPr/>
          <a:lstStyle/>
          <a:p>
            <a:r>
              <a:rPr lang="en-GB" dirty="0">
                <a:ea typeface="Verdana"/>
                <a:cs typeface="Gill Sans"/>
              </a:rPr>
              <a:t>Control flow (IV): loops + conditions</a:t>
            </a:r>
            <a:endParaRPr lang="fr-FR" dirty="0"/>
          </a:p>
        </p:txBody>
      </p:sp>
      <p:sp>
        <p:nvSpPr>
          <p:cNvPr id="101" name="Text 101"/>
          <p:cNvSpPr txBox="1"/>
          <p:nvPr/>
        </p:nvSpPr>
        <p:spPr>
          <a:xfrm>
            <a:off x="841248" y="1097280"/>
            <a:ext cx="10515600" cy="365760"/>
          </a:xfrm>
          <a:prstGeom prst="rect">
            <a:avLst/>
          </a:prstGeom>
          <a:noFill/>
          <a:ln>
            <a:noFill/>
          </a:ln>
        </p:spPr>
        <p:txBody>
          <a:bodyPr wrap="square" lIns="0" tIns="0" rIns="0" bIns="0" rtlCol="0" anchor="t">
            <a:noAutofit/>
          </a:bodyPr>
          <a:lstStyle/>
          <a:p>
            <a:pPr marL="0" indent="0" algn="l">
              <a:spcAft>
                <a:spcPts val="0"/>
              </a:spcAft>
              <a:buNone/>
            </a:pPr>
            <a:r>
              <a:rPr lang="en-GB" sz="1800" b="1" dirty="0">
                <a:solidFill>
                  <a:srgbClr val="E20613"/>
                </a:solidFill>
              </a:rPr>
              <a:t>Combine </a:t>
            </a:r>
            <a:r>
              <a:rPr lang="en-GB" sz="1800" b="1" dirty="0">
                <a:solidFill>
                  <a:srgbClr val="E20613"/>
                </a:solidFill>
                <a:latin typeface="Courier New"/>
                <a:cs typeface="Courier New"/>
              </a:rPr>
              <a:t>for</a:t>
            </a:r>
            <a:r>
              <a:rPr lang="en-GB" sz="1800" b="1" dirty="0">
                <a:solidFill>
                  <a:srgbClr val="E20613"/>
                </a:solidFill>
              </a:rPr>
              <a:t> and </a:t>
            </a:r>
            <a:r>
              <a:rPr lang="en-GB" sz="1800" b="1" dirty="0">
                <a:solidFill>
                  <a:srgbClr val="E20613"/>
                </a:solidFill>
                <a:latin typeface="Courier New"/>
                <a:cs typeface="Courier New"/>
              </a:rPr>
              <a:t>if / else</a:t>
            </a:r>
            <a:r>
              <a:rPr lang="en-GB" sz="1800" b="1" dirty="0">
                <a:solidFill>
                  <a:srgbClr val="E20613"/>
                </a:solidFill>
              </a:rPr>
              <a:t>: label each temperature and keep the result</a:t>
            </a:r>
            <a:endParaRPr lang="en-GB" sz="1400" dirty="0"/>
          </a:p>
        </p:txBody>
      </p:sp>
      <p:sp>
        <p:nvSpPr>
          <p:cNvPr id="102" name="Code 102"/>
          <p:cNvSpPr/>
          <p:nvPr/>
        </p:nvSpPr>
        <p:spPr>
          <a:xfrm>
            <a:off x="841248" y="1600200"/>
            <a:ext cx="5577840" cy="3794760"/>
          </a:xfrm>
          <a:prstGeom prst="rect">
            <a:avLst/>
          </a:prstGeom>
          <a:solidFill>
            <a:srgbClr val="F4F4F4"/>
          </a:solidFill>
          <a:ln>
            <a:noFill/>
          </a:ln>
        </p:spPr>
        <p:txBody>
          <a:bodyPr wrap="square" lIns="109728" tIns="109728" rIns="109728" bIns="109728" rtlCol="0" anchor="t">
            <a:noAutofit/>
          </a:bodyPr>
          <a:lstStyle/>
          <a:p>
            <a:pPr marL="0" indent="0" algn="l">
              <a:spcAft>
                <a:spcPts val="0"/>
              </a:spcAft>
              <a:buNone/>
            </a:pPr>
            <a:r>
              <a:rPr lang="en-GB" sz="1400" dirty="0">
                <a:solidFill>
                  <a:srgbClr val="333333"/>
                </a:solidFill>
                <a:latin typeface="Courier New"/>
                <a:cs typeface="Courier New"/>
              </a:rPr>
              <a:t>temps  &lt;- c(12, 25, 31, 8)</a:t>
            </a:r>
            <a:endParaRPr lang="en-GB" sz="1400" dirty="0"/>
          </a:p>
          <a:p>
            <a:pPr marL="0" indent="0" algn="l">
              <a:spcAft>
                <a:spcPts val="0"/>
              </a:spcAft>
              <a:buNone/>
            </a:pPr>
            <a:r>
              <a:rPr lang="en-GB" sz="1400" dirty="0">
                <a:solidFill>
                  <a:srgbClr val="333333"/>
                </a:solidFill>
                <a:latin typeface="Courier New"/>
                <a:cs typeface="Courier New"/>
              </a:rPr>
              <a:t>labels &lt;- character(length(temps)) # empty box</a:t>
            </a:r>
            <a:endParaRPr lang="en-GB" sz="1400" dirty="0"/>
          </a:p>
          <a:p>
            <a:pPr marL="0" indent="0" algn="l">
              <a:spcAft>
                <a:spcPts val="0"/>
              </a:spcAft>
              <a:buNone/>
            </a:pPr>
            <a:r>
              <a:rPr lang="en-GB" sz="1400" dirty="0">
                <a:solidFill>
                  <a:srgbClr val="333333"/>
                </a:solidFill>
                <a:latin typeface="Courier New"/>
                <a:cs typeface="Courier New"/>
              </a:rPr>
              <a:t> </a:t>
            </a:r>
            <a:endParaRPr lang="en-GB" sz="1400" dirty="0"/>
          </a:p>
          <a:p>
            <a:pPr marL="0" indent="0" algn="l">
              <a:spcAft>
                <a:spcPts val="0"/>
              </a:spcAft>
              <a:buNone/>
            </a:pPr>
            <a:r>
              <a:rPr lang="en-GB" sz="1400" dirty="0">
                <a:solidFill>
                  <a:srgbClr val="333333"/>
                </a:solidFill>
                <a:latin typeface="Courier New"/>
                <a:cs typeface="Courier New"/>
              </a:rPr>
              <a:t>for (i in seq_along(temps)) {   # i = 1, 2, 3, 4</a:t>
            </a:r>
            <a:endParaRPr lang="en-GB" sz="1400" dirty="0"/>
          </a:p>
          <a:p>
            <a:pPr marL="0" indent="0" algn="l">
              <a:spcAft>
                <a:spcPts val="0"/>
              </a:spcAft>
              <a:buNone/>
            </a:pPr>
            <a:r>
              <a:rPr lang="en-GB" sz="1400" dirty="0">
                <a:solidFill>
                  <a:srgbClr val="333333"/>
                </a:solidFill>
                <a:latin typeface="Courier New"/>
                <a:cs typeface="Courier New"/>
              </a:rPr>
              <a:t>  if (temps[i] &gt; 30) {</a:t>
            </a:r>
            <a:endParaRPr lang="en-GB" sz="1400" dirty="0"/>
          </a:p>
          <a:p>
            <a:pPr marL="0" indent="0" algn="l">
              <a:spcAft>
                <a:spcPts val="0"/>
              </a:spcAft>
              <a:buNone/>
            </a:pPr>
            <a:r>
              <a:rPr lang="en-GB" sz="1400" dirty="0">
                <a:solidFill>
                  <a:srgbClr val="333333"/>
                </a:solidFill>
                <a:latin typeface="Courier New"/>
                <a:cs typeface="Courier New"/>
              </a:rPr>
              <a:t>    labels[i] &lt;- "hot"</a:t>
            </a:r>
            <a:endParaRPr lang="en-GB" sz="1400" dirty="0"/>
          </a:p>
          <a:p>
            <a:pPr marL="0" indent="0" algn="l">
              <a:spcAft>
                <a:spcPts val="0"/>
              </a:spcAft>
              <a:buNone/>
            </a:pPr>
            <a:r>
              <a:rPr lang="en-GB" sz="1400" dirty="0">
                <a:solidFill>
                  <a:srgbClr val="333333"/>
                </a:solidFill>
                <a:latin typeface="Courier New"/>
                <a:cs typeface="Courier New"/>
              </a:rPr>
              <a:t>  } else if (temps[i] &gt; 15) {</a:t>
            </a:r>
            <a:endParaRPr lang="en-GB" sz="1400" dirty="0"/>
          </a:p>
          <a:p>
            <a:pPr marL="0" indent="0" algn="l">
              <a:spcAft>
                <a:spcPts val="0"/>
              </a:spcAft>
              <a:buNone/>
            </a:pPr>
            <a:r>
              <a:rPr lang="en-GB" sz="1400" dirty="0">
                <a:solidFill>
                  <a:srgbClr val="333333"/>
                </a:solidFill>
                <a:latin typeface="Courier New"/>
                <a:cs typeface="Courier New"/>
              </a:rPr>
              <a:t>    labels[i] &lt;- "mild"</a:t>
            </a:r>
            <a:endParaRPr lang="en-GB" sz="1400" dirty="0"/>
          </a:p>
          <a:p>
            <a:pPr marL="0" indent="0" algn="l">
              <a:spcAft>
                <a:spcPts val="0"/>
              </a:spcAft>
              <a:buNone/>
            </a:pPr>
            <a:r>
              <a:rPr lang="en-GB" sz="1400" dirty="0">
                <a:solidFill>
                  <a:srgbClr val="333333"/>
                </a:solidFill>
                <a:latin typeface="Courier New"/>
                <a:cs typeface="Courier New"/>
              </a:rPr>
              <a:t>  } else {</a:t>
            </a:r>
            <a:endParaRPr lang="en-GB" sz="1400" dirty="0"/>
          </a:p>
          <a:p>
            <a:pPr marL="0" indent="0" algn="l">
              <a:spcAft>
                <a:spcPts val="0"/>
              </a:spcAft>
              <a:buNone/>
            </a:pPr>
            <a:r>
              <a:rPr lang="en-GB" sz="1400" dirty="0">
                <a:solidFill>
                  <a:srgbClr val="333333"/>
                </a:solidFill>
                <a:latin typeface="Courier New"/>
                <a:cs typeface="Courier New"/>
              </a:rPr>
              <a:t>    labels[i] &lt;- "cold"</a:t>
            </a:r>
            <a:endParaRPr lang="en-GB" sz="1400" dirty="0"/>
          </a:p>
          <a:p>
            <a:pPr marL="0" indent="0" algn="l">
              <a:spcAft>
                <a:spcPts val="0"/>
              </a:spcAft>
              <a:buNone/>
            </a:pPr>
            <a:r>
              <a:rPr lang="en-GB" sz="1400" dirty="0">
                <a:solidFill>
                  <a:srgbClr val="333333"/>
                </a:solidFill>
                <a:latin typeface="Courier New"/>
                <a:cs typeface="Courier New"/>
              </a:rPr>
              <a:t>  }</a:t>
            </a:r>
            <a:endParaRPr lang="en-GB" sz="1400" dirty="0"/>
          </a:p>
          <a:p>
            <a:pPr marL="0" indent="0" algn="l">
              <a:spcAft>
                <a:spcPts val="0"/>
              </a:spcAft>
              <a:buNone/>
            </a:pPr>
            <a:r>
              <a:rPr lang="en-GB" sz="1400" dirty="0">
                <a:solidFill>
                  <a:srgbClr val="333333"/>
                </a:solidFill>
                <a:latin typeface="Courier New"/>
                <a:cs typeface="Courier New"/>
              </a:rPr>
              <a:t>}</a:t>
            </a:r>
            <a:endParaRPr lang="en-GB" sz="1400" dirty="0"/>
          </a:p>
          <a:p>
            <a:pPr marL="0" indent="0" algn="l">
              <a:spcAft>
                <a:spcPts val="0"/>
              </a:spcAft>
              <a:buNone/>
            </a:pPr>
            <a:r>
              <a:rPr lang="en-GB" sz="1400" dirty="0">
                <a:solidFill>
                  <a:srgbClr val="333333"/>
                </a:solidFill>
                <a:latin typeface="Courier New"/>
                <a:cs typeface="Courier New"/>
              </a:rPr>
              <a:t> </a:t>
            </a:r>
            <a:endParaRPr lang="en-GB" sz="1400" dirty="0"/>
          </a:p>
          <a:p>
            <a:pPr marL="0" indent="0" algn="l">
              <a:spcAft>
                <a:spcPts val="0"/>
              </a:spcAft>
              <a:buNone/>
            </a:pPr>
            <a:r>
              <a:rPr lang="en-GB" sz="1400" dirty="0">
                <a:solidFill>
                  <a:srgbClr val="333333"/>
                </a:solidFill>
                <a:latin typeface="Courier New"/>
                <a:cs typeface="Courier New"/>
              </a:rPr>
              <a:t>labels</a:t>
            </a:r>
            <a:endParaRPr lang="en-GB" sz="1400" dirty="0"/>
          </a:p>
        </p:txBody>
      </p:sp>
      <p:sp>
        <p:nvSpPr>
          <p:cNvPr id="103" name="Code 103"/>
          <p:cNvSpPr/>
          <p:nvPr/>
        </p:nvSpPr>
        <p:spPr>
          <a:xfrm>
            <a:off x="841248" y="5440680"/>
            <a:ext cx="5577840" cy="457200"/>
          </a:xfrm>
          <a:prstGeom prst="rect">
            <a:avLst/>
          </a:prstGeom>
          <a:solidFill>
            <a:srgbClr val="2B2B2B"/>
          </a:solidFill>
          <a:ln>
            <a:noFill/>
          </a:ln>
        </p:spPr>
        <p:txBody>
          <a:bodyPr wrap="square" lIns="109728" tIns="109728" rIns="109728" bIns="109728" rtlCol="0" anchor="ctr">
            <a:noAutofit/>
          </a:bodyPr>
          <a:lstStyle/>
          <a:p>
            <a:pPr marL="0" indent="0" algn="l">
              <a:spcAft>
                <a:spcPts val="0"/>
              </a:spcAft>
              <a:buNone/>
            </a:pPr>
            <a:r>
              <a:rPr lang="en-GB" sz="1300" dirty="0">
                <a:solidFill>
                  <a:srgbClr val="E8E8E8"/>
                </a:solidFill>
                <a:latin typeface="Courier New"/>
                <a:cs typeface="Courier New"/>
              </a:rPr>
              <a:t>[1] "cold" "mild" "hot"  "cold"</a:t>
            </a:r>
            <a:endParaRPr lang="en-GB" sz="1300" dirty="0"/>
          </a:p>
        </p:txBody>
      </p:sp>
      <p:sp>
        <p:nvSpPr>
          <p:cNvPr id="104" name="Text 104"/>
          <p:cNvSpPr txBox="1"/>
          <p:nvPr/>
        </p:nvSpPr>
        <p:spPr>
          <a:xfrm>
            <a:off x="6812280" y="1600200"/>
            <a:ext cx="4526280" cy="320040"/>
          </a:xfrm>
          <a:prstGeom prst="rect">
            <a:avLst/>
          </a:prstGeom>
          <a:noFill/>
          <a:ln>
            <a:noFill/>
          </a:ln>
        </p:spPr>
        <p:txBody>
          <a:bodyPr wrap="square" lIns="0" tIns="0" rIns="0" bIns="0" rtlCol="0" anchor="t">
            <a:noAutofit/>
          </a:bodyPr>
          <a:lstStyle/>
          <a:p>
            <a:pPr marL="0" indent="0" algn="l">
              <a:spcAft>
                <a:spcPts val="0"/>
              </a:spcAft>
              <a:buNone/>
            </a:pPr>
            <a:r>
              <a:rPr lang="en-GB" sz="1400" b="1" dirty="0"/>
              <a:t>What happens at each turn of the loop</a:t>
            </a:r>
            <a:endParaRPr lang="en-GB" sz="1400" dirty="0"/>
          </a:p>
        </p:txBody>
      </p:sp>
      <p:sp>
        <p:nvSpPr>
          <p:cNvPr id="105" name="Cell 105"/>
          <p:cNvSpPr/>
          <p:nvPr/>
        </p:nvSpPr>
        <p:spPr>
          <a:xfrm>
            <a:off x="6812280" y="1965960"/>
            <a:ext cx="466344" cy="384048"/>
          </a:xfrm>
          <a:prstGeom prst="rect">
            <a:avLst/>
          </a:prstGeom>
          <a:solidFill>
            <a:srgbClr val="333333"/>
          </a:solidFill>
          <a:ln>
            <a:noFill/>
          </a:ln>
        </p:spPr>
        <p:txBody>
          <a:bodyPr wrap="square" lIns="18288" tIns="18288" rIns="18288" bIns="18288" rtlCol="0" anchor="ctr">
            <a:noAutofit/>
          </a:bodyPr>
          <a:lstStyle/>
          <a:p>
            <a:pPr marL="0" indent="0" algn="ctr">
              <a:spcAft>
                <a:spcPts val="0"/>
              </a:spcAft>
              <a:buNone/>
            </a:pPr>
            <a:r>
              <a:rPr lang="en-GB" sz="1250" b="1" dirty="0">
                <a:solidFill>
                  <a:srgbClr val="FFFFFF"/>
                </a:solidFill>
              </a:rPr>
              <a:t>i</a:t>
            </a:r>
            <a:endParaRPr lang="en-GB" sz="1400" dirty="0"/>
          </a:p>
        </p:txBody>
      </p:sp>
      <p:sp>
        <p:nvSpPr>
          <p:cNvPr id="106" name="Cell 106"/>
          <p:cNvSpPr/>
          <p:nvPr/>
        </p:nvSpPr>
        <p:spPr>
          <a:xfrm>
            <a:off x="7315200" y="1965960"/>
            <a:ext cx="1014984" cy="384048"/>
          </a:xfrm>
          <a:prstGeom prst="rect">
            <a:avLst/>
          </a:prstGeom>
          <a:solidFill>
            <a:srgbClr val="333333"/>
          </a:solidFill>
          <a:ln>
            <a:noFill/>
          </a:ln>
        </p:spPr>
        <p:txBody>
          <a:bodyPr wrap="square" lIns="18288" tIns="18288" rIns="18288" bIns="18288" rtlCol="0" anchor="ctr">
            <a:noAutofit/>
          </a:bodyPr>
          <a:lstStyle/>
          <a:p>
            <a:pPr marL="0" indent="0" algn="ctr">
              <a:spcAft>
                <a:spcPts val="0"/>
              </a:spcAft>
              <a:buNone/>
            </a:pPr>
            <a:r>
              <a:rPr lang="en-GB" sz="1250" b="1" dirty="0">
                <a:solidFill>
                  <a:srgbClr val="FFFFFF"/>
                </a:solidFill>
              </a:rPr>
              <a:t>temps[i]</a:t>
            </a:r>
            <a:endParaRPr lang="en-GB" sz="1400" dirty="0"/>
          </a:p>
        </p:txBody>
      </p:sp>
      <p:sp>
        <p:nvSpPr>
          <p:cNvPr id="107" name="Cell 107"/>
          <p:cNvSpPr/>
          <p:nvPr/>
        </p:nvSpPr>
        <p:spPr>
          <a:xfrm>
            <a:off x="8366760" y="1965960"/>
            <a:ext cx="1655064" cy="384048"/>
          </a:xfrm>
          <a:prstGeom prst="rect">
            <a:avLst/>
          </a:prstGeom>
          <a:solidFill>
            <a:srgbClr val="333333"/>
          </a:solidFill>
          <a:ln>
            <a:noFill/>
          </a:ln>
        </p:spPr>
        <p:txBody>
          <a:bodyPr wrap="square" lIns="18288" tIns="18288" rIns="18288" bIns="18288" rtlCol="0" anchor="ctr">
            <a:noAutofit/>
          </a:bodyPr>
          <a:lstStyle/>
          <a:p>
            <a:pPr marL="0" indent="0" algn="ctr">
              <a:spcAft>
                <a:spcPts val="0"/>
              </a:spcAft>
              <a:buNone/>
            </a:pPr>
            <a:r>
              <a:rPr lang="en-GB" sz="1250" b="1" dirty="0">
                <a:solidFill>
                  <a:srgbClr val="FFFFFF"/>
                </a:solidFill>
              </a:rPr>
              <a:t>condition met</a:t>
            </a:r>
            <a:endParaRPr lang="en-GB" sz="1400" dirty="0"/>
          </a:p>
        </p:txBody>
      </p:sp>
      <p:sp>
        <p:nvSpPr>
          <p:cNvPr id="108" name="Cell 108"/>
          <p:cNvSpPr/>
          <p:nvPr/>
        </p:nvSpPr>
        <p:spPr>
          <a:xfrm>
            <a:off x="10058400" y="1965960"/>
            <a:ext cx="1243584" cy="384048"/>
          </a:xfrm>
          <a:prstGeom prst="rect">
            <a:avLst/>
          </a:prstGeom>
          <a:solidFill>
            <a:srgbClr val="333333"/>
          </a:solidFill>
          <a:ln>
            <a:noFill/>
          </a:ln>
        </p:spPr>
        <p:txBody>
          <a:bodyPr wrap="square" lIns="18288" tIns="18288" rIns="18288" bIns="18288" rtlCol="0" anchor="ctr">
            <a:noAutofit/>
          </a:bodyPr>
          <a:lstStyle/>
          <a:p>
            <a:pPr marL="0" indent="0" algn="ctr">
              <a:spcAft>
                <a:spcPts val="0"/>
              </a:spcAft>
              <a:buNone/>
            </a:pPr>
            <a:r>
              <a:rPr lang="en-GB" sz="1250" b="1" dirty="0">
                <a:solidFill>
                  <a:srgbClr val="FFFFFF"/>
                </a:solidFill>
              </a:rPr>
              <a:t>labels[i]</a:t>
            </a:r>
            <a:endParaRPr lang="en-GB" sz="1400" dirty="0"/>
          </a:p>
        </p:txBody>
      </p:sp>
      <p:sp>
        <p:nvSpPr>
          <p:cNvPr id="109" name="Cell 109"/>
          <p:cNvSpPr/>
          <p:nvPr/>
        </p:nvSpPr>
        <p:spPr>
          <a:xfrm>
            <a:off x="6812280" y="2386584"/>
            <a:ext cx="466344" cy="384048"/>
          </a:xfrm>
          <a:prstGeom prst="rect">
            <a:avLst/>
          </a:prstGeom>
          <a:solidFill>
            <a:srgbClr val="F2F2F2"/>
          </a:solid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1</a:t>
            </a:r>
            <a:endParaRPr lang="en-GB" sz="1400" dirty="0"/>
          </a:p>
        </p:txBody>
      </p:sp>
      <p:sp>
        <p:nvSpPr>
          <p:cNvPr id="110" name="Cell 110"/>
          <p:cNvSpPr/>
          <p:nvPr/>
        </p:nvSpPr>
        <p:spPr>
          <a:xfrm>
            <a:off x="7315200" y="2386584"/>
            <a:ext cx="1014984" cy="384048"/>
          </a:xfrm>
          <a:prstGeom prst="rect">
            <a:avLst/>
          </a:prstGeom>
          <a:solidFill>
            <a:srgbClr val="F2F2F2"/>
          </a:solid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12</a:t>
            </a:r>
            <a:endParaRPr lang="en-GB" sz="1400" dirty="0"/>
          </a:p>
        </p:txBody>
      </p:sp>
      <p:sp>
        <p:nvSpPr>
          <p:cNvPr id="111" name="Cell 111"/>
          <p:cNvSpPr/>
          <p:nvPr/>
        </p:nvSpPr>
        <p:spPr>
          <a:xfrm>
            <a:off x="8366760" y="2386584"/>
            <a:ext cx="1655064" cy="384048"/>
          </a:xfrm>
          <a:prstGeom prst="rect">
            <a:avLst/>
          </a:prstGeom>
          <a:solidFill>
            <a:srgbClr val="F2F2F2"/>
          </a:solid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none</a:t>
            </a:r>
            <a:endParaRPr lang="en-GB" sz="1400" dirty="0"/>
          </a:p>
        </p:txBody>
      </p:sp>
      <p:sp>
        <p:nvSpPr>
          <p:cNvPr id="112" name="Cell 112"/>
          <p:cNvSpPr/>
          <p:nvPr/>
        </p:nvSpPr>
        <p:spPr>
          <a:xfrm>
            <a:off x="10058400" y="2386584"/>
            <a:ext cx="1243584" cy="384048"/>
          </a:xfrm>
          <a:prstGeom prst="rect">
            <a:avLst/>
          </a:prstGeom>
          <a:solidFill>
            <a:srgbClr val="F2F2F2"/>
          </a:solid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"cold"</a:t>
            </a:r>
            <a:endParaRPr lang="en-GB" sz="1400" dirty="0"/>
          </a:p>
        </p:txBody>
      </p:sp>
      <p:sp>
        <p:nvSpPr>
          <p:cNvPr id="113" name="Cell 113"/>
          <p:cNvSpPr txBox="1"/>
          <p:nvPr/>
        </p:nvSpPr>
        <p:spPr>
          <a:xfrm>
            <a:off x="6812280" y="2807208"/>
            <a:ext cx="466344" cy="384048"/>
          </a:xfrm>
          <a:prstGeom prst="rect">
            <a:avLst/>
          </a:prstGeom>
          <a:no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2</a:t>
            </a:r>
            <a:endParaRPr lang="en-GB" sz="1400" dirty="0"/>
          </a:p>
        </p:txBody>
      </p:sp>
      <p:sp>
        <p:nvSpPr>
          <p:cNvPr id="114" name="Cell 114"/>
          <p:cNvSpPr txBox="1"/>
          <p:nvPr/>
        </p:nvSpPr>
        <p:spPr>
          <a:xfrm>
            <a:off x="7315200" y="2807208"/>
            <a:ext cx="1014984" cy="384048"/>
          </a:xfrm>
          <a:prstGeom prst="rect">
            <a:avLst/>
          </a:prstGeom>
          <a:no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25</a:t>
            </a:r>
            <a:endParaRPr lang="en-GB" sz="1400" dirty="0"/>
          </a:p>
        </p:txBody>
      </p:sp>
      <p:sp>
        <p:nvSpPr>
          <p:cNvPr id="115" name="Cell 115"/>
          <p:cNvSpPr txBox="1"/>
          <p:nvPr/>
        </p:nvSpPr>
        <p:spPr>
          <a:xfrm>
            <a:off x="8366760" y="2807208"/>
            <a:ext cx="1655064" cy="384048"/>
          </a:xfrm>
          <a:prstGeom prst="rect">
            <a:avLst/>
          </a:prstGeom>
          <a:no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&gt; 15</a:t>
            </a:r>
            <a:endParaRPr lang="en-GB" sz="1400" dirty="0"/>
          </a:p>
        </p:txBody>
      </p:sp>
      <p:sp>
        <p:nvSpPr>
          <p:cNvPr id="116" name="Cell 116"/>
          <p:cNvSpPr txBox="1"/>
          <p:nvPr/>
        </p:nvSpPr>
        <p:spPr>
          <a:xfrm>
            <a:off x="10058400" y="2807208"/>
            <a:ext cx="1243584" cy="384048"/>
          </a:xfrm>
          <a:prstGeom prst="rect">
            <a:avLst/>
          </a:prstGeom>
          <a:no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"mild"</a:t>
            </a:r>
            <a:endParaRPr lang="en-GB" sz="1400" dirty="0"/>
          </a:p>
        </p:txBody>
      </p:sp>
      <p:sp>
        <p:nvSpPr>
          <p:cNvPr id="117" name="Cell 117"/>
          <p:cNvSpPr/>
          <p:nvPr/>
        </p:nvSpPr>
        <p:spPr>
          <a:xfrm>
            <a:off x="6812280" y="3227832"/>
            <a:ext cx="466344" cy="384048"/>
          </a:xfrm>
          <a:prstGeom prst="rect">
            <a:avLst/>
          </a:prstGeom>
          <a:solidFill>
            <a:srgbClr val="F2F2F2"/>
          </a:solid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3</a:t>
            </a:r>
            <a:endParaRPr lang="en-GB" sz="1400" dirty="0"/>
          </a:p>
        </p:txBody>
      </p:sp>
      <p:sp>
        <p:nvSpPr>
          <p:cNvPr id="118" name="Cell 118"/>
          <p:cNvSpPr/>
          <p:nvPr/>
        </p:nvSpPr>
        <p:spPr>
          <a:xfrm>
            <a:off x="7315200" y="3227832"/>
            <a:ext cx="1014984" cy="384048"/>
          </a:xfrm>
          <a:prstGeom prst="rect">
            <a:avLst/>
          </a:prstGeom>
          <a:solidFill>
            <a:srgbClr val="F2F2F2"/>
          </a:solid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31</a:t>
            </a:r>
            <a:endParaRPr lang="en-GB" sz="1400" dirty="0"/>
          </a:p>
        </p:txBody>
      </p:sp>
      <p:sp>
        <p:nvSpPr>
          <p:cNvPr id="119" name="Cell 119"/>
          <p:cNvSpPr/>
          <p:nvPr/>
        </p:nvSpPr>
        <p:spPr>
          <a:xfrm>
            <a:off x="8366760" y="3227832"/>
            <a:ext cx="1655064" cy="384048"/>
          </a:xfrm>
          <a:prstGeom prst="rect">
            <a:avLst/>
          </a:prstGeom>
          <a:solidFill>
            <a:srgbClr val="F2F2F2"/>
          </a:solid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&gt; 30</a:t>
            </a:r>
            <a:endParaRPr lang="en-GB" sz="1400" dirty="0"/>
          </a:p>
        </p:txBody>
      </p:sp>
      <p:sp>
        <p:nvSpPr>
          <p:cNvPr id="120" name="Cell 120"/>
          <p:cNvSpPr/>
          <p:nvPr/>
        </p:nvSpPr>
        <p:spPr>
          <a:xfrm>
            <a:off x="10058400" y="3227832"/>
            <a:ext cx="1243584" cy="384048"/>
          </a:xfrm>
          <a:prstGeom prst="rect">
            <a:avLst/>
          </a:prstGeom>
          <a:solidFill>
            <a:srgbClr val="F2F2F2"/>
          </a:solid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"hot"</a:t>
            </a:r>
            <a:endParaRPr lang="en-GB" sz="1400" dirty="0"/>
          </a:p>
        </p:txBody>
      </p:sp>
      <p:sp>
        <p:nvSpPr>
          <p:cNvPr id="121" name="Cell 121"/>
          <p:cNvSpPr txBox="1"/>
          <p:nvPr/>
        </p:nvSpPr>
        <p:spPr>
          <a:xfrm>
            <a:off x="6812280" y="3648456"/>
            <a:ext cx="466344" cy="384048"/>
          </a:xfrm>
          <a:prstGeom prst="rect">
            <a:avLst/>
          </a:prstGeom>
          <a:no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4</a:t>
            </a:r>
            <a:endParaRPr lang="en-GB" sz="1400" dirty="0"/>
          </a:p>
        </p:txBody>
      </p:sp>
      <p:sp>
        <p:nvSpPr>
          <p:cNvPr id="122" name="Cell 122"/>
          <p:cNvSpPr txBox="1"/>
          <p:nvPr/>
        </p:nvSpPr>
        <p:spPr>
          <a:xfrm>
            <a:off x="7315200" y="3648456"/>
            <a:ext cx="1014984" cy="384048"/>
          </a:xfrm>
          <a:prstGeom prst="rect">
            <a:avLst/>
          </a:prstGeom>
          <a:no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8</a:t>
            </a:r>
            <a:endParaRPr lang="en-GB" sz="1400" dirty="0"/>
          </a:p>
        </p:txBody>
      </p:sp>
      <p:sp>
        <p:nvSpPr>
          <p:cNvPr id="123" name="Cell 123"/>
          <p:cNvSpPr txBox="1"/>
          <p:nvPr/>
        </p:nvSpPr>
        <p:spPr>
          <a:xfrm>
            <a:off x="8366760" y="3648456"/>
            <a:ext cx="1655064" cy="384048"/>
          </a:xfrm>
          <a:prstGeom prst="rect">
            <a:avLst/>
          </a:prstGeom>
          <a:no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none</a:t>
            </a:r>
            <a:endParaRPr lang="en-GB" sz="1400" dirty="0"/>
          </a:p>
        </p:txBody>
      </p:sp>
      <p:sp>
        <p:nvSpPr>
          <p:cNvPr id="124" name="Cell 124"/>
          <p:cNvSpPr txBox="1"/>
          <p:nvPr/>
        </p:nvSpPr>
        <p:spPr>
          <a:xfrm>
            <a:off x="10058400" y="3648456"/>
            <a:ext cx="1243584" cy="384048"/>
          </a:xfrm>
          <a:prstGeom prst="rect">
            <a:avLst/>
          </a:prstGeom>
          <a:noFill/>
          <a:ln>
            <a:noFill/>
          </a:ln>
        </p:spPr>
        <p:txBody>
          <a:bodyPr wrap="square" lIns="18288" tIns="18288" rIns="18288" bIns="18288" rtlCol="0" anchor="ctr">
            <a:noAutofit/>
          </a:bodyPr>
          <a:lstStyle/>
          <a:p>
            <a:pPr marL="0" indent="0" algn="ctr">
              <a:spcAft>
                <a:spcPts val="0"/>
              </a:spcAft>
              <a:buNone/>
            </a:pPr>
            <a:r>
              <a:rPr lang="en-GB" sz="1250" dirty="0">
                <a:solidFill>
                  <a:srgbClr val="333333"/>
                </a:solidFill>
                <a:latin typeface="Courier New"/>
                <a:cs typeface="Courier New"/>
              </a:rPr>
              <a:t>"cold"</a:t>
            </a:r>
            <a:endParaRPr lang="en-GB" sz="1400" dirty="0"/>
          </a:p>
        </p:txBody>
      </p:sp>
      <p:sp>
        <p:nvSpPr>
          <p:cNvPr id="125" name="Alt 125"/>
          <p:cNvSpPr/>
          <p:nvPr/>
        </p:nvSpPr>
        <p:spPr>
          <a:xfrm>
            <a:off x="6812280" y="4206240"/>
            <a:ext cx="4526280" cy="1691640"/>
          </a:xfrm>
          <a:prstGeom prst="roundRect">
            <a:avLst>
              <a:gd name="adj" fmla="val 6000"/>
            </a:avLst>
          </a:prstGeom>
          <a:solidFill>
            <a:srgbClr val="FDECED"/>
          </a:solidFill>
          <a:ln>
            <a:noFill/>
          </a:ln>
        </p:spPr>
        <p:txBody>
          <a:bodyPr wrap="square" lIns="137160" tIns="137160" rIns="137160" bIns="137160" rtlCol="0" anchor="t">
            <a:noAutofit/>
          </a:bodyPr>
          <a:lstStyle/>
          <a:p>
            <a:pPr marL="0" indent="0" algn="l">
              <a:spcAft>
                <a:spcPts val="400"/>
              </a:spcAft>
              <a:buNone/>
            </a:pPr>
            <a:r>
              <a:rPr lang="en-GB" sz="1400" b="1" dirty="0">
                <a:solidFill>
                  <a:srgbClr val="E20613"/>
                </a:solidFill>
              </a:rPr>
              <a:t>Same result without a loop</a:t>
            </a:r>
            <a:endParaRPr lang="en-GB" sz="1400" dirty="0"/>
          </a:p>
          <a:p>
            <a:pPr marL="0" indent="0" algn="l">
              <a:spcAft>
                <a:spcPts val="400"/>
              </a:spcAft>
              <a:buNone/>
            </a:pPr>
            <a:r>
              <a:rPr lang="en-GB" sz="1250" dirty="0"/>
              <a:t>ifelse() works on the whole vector at once:</a:t>
            </a:r>
            <a:endParaRPr lang="en-GB" sz="1400" dirty="0"/>
          </a:p>
          <a:p>
            <a:pPr marL="0" indent="0" algn="l">
              <a:spcAft>
                <a:spcPts val="0"/>
              </a:spcAft>
              <a:buNone/>
            </a:pPr>
            <a:r>
              <a:rPr lang="en-GB" sz="1200" dirty="0">
                <a:latin typeface="Courier New"/>
                <a:cs typeface="Courier New"/>
              </a:rPr>
              <a:t>ifelse(temps &gt; 30, "hot",</a:t>
            </a:r>
            <a:endParaRPr lang="en-GB" sz="1400" dirty="0"/>
          </a:p>
          <a:p>
            <a:pPr marL="0" indent="0" algn="l">
              <a:spcAft>
                <a:spcPts val="600"/>
              </a:spcAft>
              <a:buNone/>
            </a:pPr>
            <a:r>
              <a:rPr lang="en-GB" sz="1200" dirty="0">
                <a:latin typeface="Courier New"/>
                <a:cs typeface="Courier New"/>
              </a:rPr>
              <a:t>       ifelse(temps &gt; 15, "mild", "cold"))</a:t>
            </a:r>
            <a:endParaRPr lang="en-GB" sz="1400" dirty="0"/>
          </a:p>
          <a:p>
            <a:pPr marL="0" indent="0" algn="l">
              <a:spcAft>
                <a:spcPts val="0"/>
              </a:spcAft>
              <a:buNone/>
            </a:pPr>
            <a:r>
              <a:rPr lang="en-GB" sz="1250" i="1" dirty="0">
                <a:solidFill>
                  <a:srgbClr val="6B6B6B"/>
                </a:solidFill>
              </a:rPr>
              <a:t>Question: which label does 30 °C get? And 15 °C?</a:t>
            </a:r>
            <a:endParaRPr lang="en-GB" sz="1400" dirty="0"/>
          </a:p>
        </p:txBody>
      </p:sp>
    </p:spTree>
    <p:extLst>
      <p:ext uri="{BB962C8B-B14F-4D97-AF65-F5344CB8AC3E}">
        <p14:creationId xmlns:p14="http://schemas.microsoft.com/office/powerpoint/2010/main" val="3204141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0164-C0B7-B5CF-4C87-30BF70069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42499-86C1-4DDD-18F6-E409DB6DCFD7}"/>
              </a:ext>
            </a:extLst>
          </p:cNvPr>
          <p:cNvSpPr>
            <a:spLocks noGrp="1"/>
          </p:cNvSpPr>
          <p:nvPr>
            <p:ph type="title"/>
          </p:nvPr>
        </p:nvSpPr>
        <p:spPr/>
        <p:txBody>
          <a:bodyPr/>
          <a:lstStyle/>
          <a:p>
            <a:r>
              <a:rPr lang="en-GB" dirty="0">
                <a:ea typeface="Verdana"/>
                <a:cs typeface="Gill Sans"/>
              </a:rPr>
              <a:t>Using functions (IV): getting help</a:t>
            </a:r>
            <a:endParaRPr lang="en-US" dirty="0"/>
          </a:p>
        </p:txBody>
      </p:sp>
      <p:sp>
        <p:nvSpPr>
          <p:cNvPr id="3" name="Text Placeholder 2">
            <a:extLst>
              <a:ext uri="{FF2B5EF4-FFF2-40B4-BE49-F238E27FC236}">
                <a16:creationId xmlns:a16="http://schemas.microsoft.com/office/drawing/2014/main" id="{89440FF4-FD97-EA97-D22D-94DF8D8DAA45}"/>
              </a:ext>
            </a:extLst>
          </p:cNvPr>
          <p:cNvSpPr>
            <a:spLocks noGrp="1"/>
          </p:cNvSpPr>
          <p:nvPr>
            <p:ph type="body" sz="quarter" idx="11"/>
          </p:nvPr>
        </p:nvSpPr>
        <p:spPr>
          <a:xfrm>
            <a:off x="838200" y="1619250"/>
            <a:ext cx="10515600" cy="5218113"/>
          </a:xfrm>
        </p:spPr>
        <p:txBody>
          <a:bodyPr vert="horz" lIns="91440" tIns="45720" rIns="91440" bIns="45720" rtlCol="0" anchor="t">
            <a:normAutofit/>
          </a:bodyPr>
          <a:lstStyle/>
          <a:p>
            <a:endParaRPr lang="en-GB" dirty="0">
              <a:ea typeface="Tahoma"/>
              <a:cs typeface="Gill Sans Light"/>
            </a:endParaRPr>
          </a:p>
          <a:p>
            <a:endParaRPr lang="en-GB" dirty="0">
              <a:ea typeface="Tahoma"/>
              <a:cs typeface="Gill Sans Light"/>
            </a:endParaRPr>
          </a:p>
          <a:p>
            <a:r>
              <a:rPr lang="en-GB" dirty="0">
                <a:latin typeface="Courier New"/>
                <a:ea typeface="Tahoma"/>
                <a:cs typeface="Gill Sans Light"/>
              </a:rPr>
              <a:t>?paste</a:t>
            </a:r>
          </a:p>
          <a:p>
            <a:r>
              <a:rPr lang="en-GB" dirty="0">
                <a:latin typeface="Courier New"/>
                <a:ea typeface="Tahoma"/>
                <a:cs typeface="Gill Sans Light"/>
              </a:rPr>
              <a:t>?round</a:t>
            </a:r>
          </a:p>
          <a:p>
            <a:r>
              <a:rPr lang="en-GB" dirty="0">
                <a:latin typeface="Courier New"/>
                <a:ea typeface="Tahoma"/>
                <a:cs typeface="Gill Sans Light"/>
              </a:rPr>
              <a:t>?sqrt</a:t>
            </a:r>
          </a:p>
          <a:p>
            <a:endParaRPr lang="en-GB" sz="2000" dirty="0">
              <a:latin typeface="Courier New"/>
              <a:ea typeface="Tahoma"/>
              <a:cs typeface="Gill Sans Light"/>
            </a:endParaRPr>
          </a:p>
          <a:p>
            <a:r>
              <a:rPr lang="en-GB" sz="2000" dirty="0">
                <a:ea typeface="Tahoma"/>
                <a:cs typeface="Gill Sans Light"/>
              </a:rPr>
              <a:t>Also, internet is your friend:</a:t>
            </a:r>
            <a:endParaRPr lang="en-US" sz="2000" dirty="0"/>
          </a:p>
          <a:p>
            <a:pPr marL="342900" indent="-342900">
              <a:buChar char="•"/>
            </a:pPr>
            <a:r>
              <a:rPr lang="en-GB" sz="2000" dirty="0">
                <a:ea typeface="Tahoma"/>
                <a:cs typeface="Gill Sans Light"/>
              </a:rPr>
              <a:t>Google "R how to compute square root"</a:t>
            </a:r>
            <a:endParaRPr lang="en-GB" sz="2000" dirty="0"/>
          </a:p>
          <a:p>
            <a:pPr marL="285750" lvl="1" indent="-285750">
              <a:spcBef>
                <a:spcPct val="20000"/>
              </a:spcBef>
              <a:buChar char="•"/>
            </a:pPr>
            <a:r>
              <a:rPr lang="en-US" sz="2000" dirty="0">
                <a:solidFill>
                  <a:srgbClr val="262626"/>
                </a:solidFill>
                <a:ea typeface="+mn-lt"/>
                <a:cs typeface="+mn-lt"/>
                <a:hlinkClick r:id="rId2"/>
              </a:rPr>
              <a:t>https://stackoverflow.com/questions/tagged/r</a:t>
            </a:r>
            <a:endParaRPr lang="en-US" sz="2000">
              <a:solidFill>
                <a:srgbClr val="262626"/>
              </a:solidFill>
              <a:ea typeface="+mn-lt"/>
              <a:cs typeface="+mn-lt"/>
            </a:endParaRPr>
          </a:p>
          <a:p>
            <a:pPr marL="0" lvl="1" indent="0">
              <a:buNone/>
            </a:pPr>
            <a:endParaRPr lang="en-GB" sz="2000">
              <a:latin typeface="Courier New"/>
            </a:endParaRPr>
          </a:p>
        </p:txBody>
      </p:sp>
      <p:pic>
        <p:nvPicPr>
          <p:cNvPr id="5" name="Image 20" descr="A red and black logo&#10;&#10;Description automatically generated">
            <a:extLst>
              <a:ext uri="{FF2B5EF4-FFF2-40B4-BE49-F238E27FC236}">
                <a16:creationId xmlns:a16="http://schemas.microsoft.com/office/drawing/2014/main" id="{5D424568-45EA-5DF2-33E5-2CA5499CEC3D}"/>
              </a:ext>
            </a:extLst>
          </p:cNvPr>
          <p:cNvPicPr>
            <a:picLocks noChangeAspect="1"/>
          </p:cNvPicPr>
          <p:nvPr/>
        </p:nvPicPr>
        <p:blipFill>
          <a:blip r:embed="rId3"/>
          <a:stretch>
            <a:fillRect/>
          </a:stretch>
        </p:blipFill>
        <p:spPr>
          <a:xfrm>
            <a:off x="635903" y="1460078"/>
            <a:ext cx="1067033" cy="823140"/>
          </a:xfrm>
          <a:prstGeom prst="rect">
            <a:avLst/>
          </a:prstGeom>
        </p:spPr>
      </p:pic>
      <p:sp>
        <p:nvSpPr>
          <p:cNvPr id="7" name="TextBox 6">
            <a:extLst>
              <a:ext uri="{FF2B5EF4-FFF2-40B4-BE49-F238E27FC236}">
                <a16:creationId xmlns:a16="http://schemas.microsoft.com/office/drawing/2014/main" id="{595046E0-A1F6-FCC9-9655-8783A1122645}"/>
              </a:ext>
            </a:extLst>
          </p:cNvPr>
          <p:cNvSpPr txBox="1"/>
          <p:nvPr/>
        </p:nvSpPr>
        <p:spPr>
          <a:xfrm>
            <a:off x="1704975" y="1457325"/>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Using and understand the help/documentation is 50% of what makes a programmer</a:t>
            </a:r>
          </a:p>
        </p:txBody>
      </p:sp>
    </p:spTree>
    <p:extLst>
      <p:ext uri="{BB962C8B-B14F-4D97-AF65-F5344CB8AC3E}">
        <p14:creationId xmlns:p14="http://schemas.microsoft.com/office/powerpoint/2010/main" val="18071214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2B882-E82D-984F-B74E-E3D1C85D9D50}"/>
            </a:ext>
          </a:extLst>
        </p:cNvPr>
        <p:cNvGrpSpPr/>
        <p:nvPr/>
      </p:nvGrpSpPr>
      <p:grpSpPr>
        <a:xfrm>
          <a:off x="0" y="0"/>
          <a:ext cx="0" cy="0"/>
          <a:chOff x="0" y="0"/>
          <a:chExt cx="0" cy="0"/>
        </a:xfrm>
      </p:grpSpPr>
      <p:sp>
        <p:nvSpPr>
          <p:cNvPr id="6" name="Text Placeholder 2">
            <a:extLst>
              <a:ext uri="{FF2B5EF4-FFF2-40B4-BE49-F238E27FC236}">
                <a16:creationId xmlns:a16="http://schemas.microsoft.com/office/drawing/2014/main" id="{0399E113-668A-684E-1B26-A814A9AA5AF5}"/>
              </a:ext>
            </a:extLst>
          </p:cNvPr>
          <p:cNvSpPr txBox="1">
            <a:spLocks/>
          </p:cNvSpPr>
          <p:nvPr/>
        </p:nvSpPr>
        <p:spPr>
          <a:xfrm>
            <a:off x="838200" y="1123950"/>
            <a:ext cx="10515600" cy="5313363"/>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SzPct val="70000"/>
              <a:buFont typeface="Arial" panose="020B0604020202020204" pitchFamily="34" charset="0"/>
              <a:buNone/>
              <a:tabLst/>
              <a:defRPr sz="2400" b="0" i="0" kern="1200">
                <a:solidFill>
                  <a:schemeClr val="tx1"/>
                </a:solidFill>
                <a:latin typeface="+mn-lt"/>
                <a:ea typeface="Tahoma" panose="020B0604030504040204" pitchFamily="34" charset="0"/>
                <a:cs typeface="Gill Sans Light" panose="020B0302020104020203" pitchFamily="34" charset="-79"/>
              </a:defRPr>
            </a:lvl1pPr>
            <a:lvl2pPr marL="358775" indent="-358775" algn="l" defTabSz="914400" rtl="0" eaLnBrk="1" latinLnBrk="0" hangingPunct="1">
              <a:lnSpc>
                <a:spcPct val="90000"/>
              </a:lnSpc>
              <a:spcBef>
                <a:spcPts val="500"/>
              </a:spcBef>
              <a:buSzPct val="70000"/>
              <a:buFontTx/>
              <a:buBlip>
                <a:blip r:embed="rId2"/>
              </a:buBlip>
              <a:tabLst/>
              <a:defRPr sz="2400" b="0" i="0" kern="1200">
                <a:solidFill>
                  <a:schemeClr val="tx1"/>
                </a:solidFill>
                <a:latin typeface="+mn-lt"/>
                <a:ea typeface="Tahoma" panose="020B0604030504040204" pitchFamily="34" charset="0"/>
                <a:cs typeface="Gill Sans Light" panose="020B0302020104020203" pitchFamily="34" charset="-79"/>
              </a:defRPr>
            </a:lvl2pPr>
            <a:lvl3pPr marL="358775" indent="-358775" algn="l" defTabSz="914400" rtl="0" eaLnBrk="1" latinLnBrk="0" hangingPunct="1">
              <a:lnSpc>
                <a:spcPct val="90000"/>
              </a:lnSpc>
              <a:spcBef>
                <a:spcPts val="500"/>
              </a:spcBef>
              <a:buSzPct val="70000"/>
              <a:buFontTx/>
              <a:buBlip>
                <a:blip r:embed="rId2"/>
              </a:buBlip>
              <a:defRPr sz="2400" b="0" i="0" kern="1200">
                <a:solidFill>
                  <a:schemeClr val="tx1"/>
                </a:solidFill>
                <a:latin typeface="+mn-lt"/>
                <a:ea typeface="Tahoma" panose="020B0604030504040204" pitchFamily="34" charset="0"/>
                <a:cs typeface="Gill Sans Light" panose="020B0302020104020203" pitchFamily="34" charset="-79"/>
              </a:defRPr>
            </a:lvl3pPr>
            <a:lvl4pPr marL="358775" indent="0" algn="l" defTabSz="914400" rtl="0" eaLnBrk="1" latinLnBrk="0" hangingPunct="1">
              <a:lnSpc>
                <a:spcPct val="90000"/>
              </a:lnSpc>
              <a:spcBef>
                <a:spcPts val="500"/>
              </a:spcBef>
              <a:buSzPct val="70000"/>
              <a:buFont typeface="Arial" panose="020B0604020202020204" pitchFamily="34" charset="0"/>
              <a:buNone/>
              <a:defRPr sz="1400" b="0" i="0" kern="1200">
                <a:solidFill>
                  <a:schemeClr val="tx1"/>
                </a:solidFill>
                <a:latin typeface="+mn-lt"/>
                <a:ea typeface="Tahoma" panose="020B0604030504040204" pitchFamily="34" charset="0"/>
                <a:cs typeface="Gill Sans Light" panose="020B0302020104020203" pitchFamily="34" charset="-79"/>
              </a:defRPr>
            </a:lvl4pPr>
            <a:lvl5pPr marL="358775" indent="0" algn="l" defTabSz="914400" rtl="0" eaLnBrk="1" latinLnBrk="0" hangingPunct="1">
              <a:lnSpc>
                <a:spcPct val="90000"/>
              </a:lnSpc>
              <a:spcBef>
                <a:spcPts val="500"/>
              </a:spcBef>
              <a:buSzPct val="70000"/>
              <a:buFont typeface="Arial" panose="020B0604020202020204" pitchFamily="34" charset="0"/>
              <a:buNone/>
              <a:defRPr sz="1000" b="0" i="0" kern="1200">
                <a:solidFill>
                  <a:schemeClr val="tx1"/>
                </a:solidFill>
                <a:latin typeface="+mn-lt"/>
                <a:ea typeface="Tahoma" panose="020B0604030504040204" pitchFamily="34"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ea typeface="Tahoma"/>
                <a:cs typeface="Gill Sans Light"/>
              </a:rPr>
              <a:t>Open a new script and save it</a:t>
            </a:r>
          </a:p>
          <a:p>
            <a:endParaRPr lang="en-GB" dirty="0">
              <a:ea typeface="Tahoma"/>
              <a:cs typeface="Gill Sans Light"/>
            </a:endParaRPr>
          </a:p>
          <a:p>
            <a:pPr marL="457200" lvl="1" indent="-457200">
              <a:buFontTx/>
              <a:buAutoNum type="arabicPeriod"/>
            </a:pPr>
            <a:r>
              <a:rPr lang="en-GB" dirty="0">
                <a:ea typeface="Tahoma"/>
                <a:cs typeface="Gill Sans Light"/>
              </a:rPr>
              <a:t>Assign the values 6.7 and 56.3 to variable </a:t>
            </a:r>
            <a:r>
              <a:rPr lang="en-GB" b="1" dirty="0">
                <a:ea typeface="Tahoma"/>
                <a:cs typeface="Gill Sans Light"/>
              </a:rPr>
              <a:t>a</a:t>
            </a:r>
            <a:r>
              <a:rPr lang="en-GB" dirty="0">
                <a:ea typeface="Tahoma"/>
                <a:cs typeface="Gill Sans Light"/>
              </a:rPr>
              <a:t> and </a:t>
            </a:r>
            <a:r>
              <a:rPr lang="en-GB" b="1" dirty="0">
                <a:ea typeface="Tahoma"/>
                <a:cs typeface="Gill Sans Light"/>
              </a:rPr>
              <a:t>b</a:t>
            </a:r>
            <a:r>
              <a:rPr lang="en-GB" dirty="0">
                <a:ea typeface="Tahoma"/>
                <a:cs typeface="Gill Sans Light"/>
              </a:rPr>
              <a:t>, respectively</a:t>
            </a:r>
          </a:p>
          <a:p>
            <a:pPr marL="457200" lvl="1" indent="-457200">
              <a:buFontTx/>
              <a:buAutoNum type="arabicPeriod"/>
            </a:pPr>
            <a:r>
              <a:rPr lang="en-GB" dirty="0">
                <a:ea typeface="Tahoma"/>
                <a:cs typeface="Gill Sans Light"/>
              </a:rPr>
              <a:t>Calculate (2*a)/b+(a*b) and assign the result to variable </a:t>
            </a:r>
            <a:r>
              <a:rPr lang="en-GB" b="1" dirty="0">
                <a:ea typeface="Tahoma"/>
                <a:cs typeface="Gill Sans Light"/>
              </a:rPr>
              <a:t>x</a:t>
            </a:r>
            <a:r>
              <a:rPr lang="en-GB" dirty="0">
                <a:ea typeface="Tahoma"/>
                <a:cs typeface="Gill Sans Light"/>
              </a:rPr>
              <a:t>. Display the content of </a:t>
            </a:r>
            <a:endParaRPr lang="en-GB" dirty="0"/>
          </a:p>
          <a:p>
            <a:pPr marL="457200" lvl="1" indent="-457200">
              <a:buFontTx/>
              <a:buAutoNum type="arabicPeriod"/>
            </a:pPr>
            <a:r>
              <a:rPr lang="en-GB" dirty="0">
                <a:ea typeface="Tahoma"/>
                <a:cs typeface="Gill Sans Light"/>
              </a:rPr>
              <a:t>Find out how to compute the square root of variables. Compute the square root of </a:t>
            </a:r>
            <a:r>
              <a:rPr lang="en-GB" b="1" dirty="0">
                <a:ea typeface="Tahoma"/>
                <a:cs typeface="Gill Sans Light"/>
              </a:rPr>
              <a:t>a</a:t>
            </a:r>
            <a:r>
              <a:rPr lang="en-GB" dirty="0">
                <a:ea typeface="Tahoma"/>
                <a:cs typeface="Gill Sans Light"/>
              </a:rPr>
              <a:t>, of </a:t>
            </a:r>
            <a:r>
              <a:rPr lang="en-GB" b="1" dirty="0">
                <a:ea typeface="Tahoma"/>
                <a:cs typeface="Gill Sans Light"/>
              </a:rPr>
              <a:t>b</a:t>
            </a:r>
            <a:r>
              <a:rPr lang="en-GB" dirty="0">
                <a:ea typeface="Tahoma"/>
                <a:cs typeface="Gill Sans Light"/>
              </a:rPr>
              <a:t>, and of </a:t>
            </a:r>
            <a:r>
              <a:rPr lang="en-GB" b="1" dirty="0">
                <a:ea typeface="Tahoma"/>
                <a:cs typeface="Gill Sans Light"/>
              </a:rPr>
              <a:t>a/b</a:t>
            </a:r>
          </a:p>
          <a:p>
            <a:pPr marL="457200" lvl="1" indent="-457200">
              <a:buFontTx/>
              <a:buAutoNum type="arabicPeriod"/>
            </a:pPr>
            <a:r>
              <a:rPr lang="en-GB" dirty="0">
                <a:ea typeface="Tahoma"/>
                <a:cs typeface="Gill Sans Light"/>
              </a:rPr>
              <a:t>Calculate:</a:t>
            </a:r>
            <a:endParaRPr lang="en-GB" dirty="0"/>
          </a:p>
          <a:p>
            <a:pPr marL="555625" lvl="2" indent="-457200">
              <a:buAutoNum type="alphaLcPeriod"/>
            </a:pPr>
            <a:r>
              <a:rPr lang="en-GB" dirty="0">
                <a:ea typeface="Tahoma"/>
                <a:cs typeface="Gill Sans Light"/>
              </a:rPr>
              <a:t>the logarithm of </a:t>
            </a:r>
            <a:r>
              <a:rPr lang="en-GB" b="1" dirty="0">
                <a:ea typeface="Tahoma"/>
                <a:cs typeface="Gill Sans Light"/>
              </a:rPr>
              <a:t>x</a:t>
            </a:r>
          </a:p>
          <a:p>
            <a:pPr marL="555625" lvl="2" indent="-457200">
              <a:buAutoNum type="alphaLcPeriod"/>
            </a:pPr>
            <a:r>
              <a:rPr lang="en-GB" dirty="0">
                <a:ea typeface="Tahoma"/>
                <a:cs typeface="Gill Sans Light"/>
              </a:rPr>
              <a:t>the logarithm in base 2 of </a:t>
            </a:r>
            <a:r>
              <a:rPr lang="en-GB" b="1" dirty="0">
                <a:ea typeface="Tahoma"/>
                <a:cs typeface="Gill Sans Light"/>
              </a:rPr>
              <a:t>x</a:t>
            </a:r>
          </a:p>
          <a:p>
            <a:pPr marL="457200" lvl="1" indent="-457200">
              <a:buFontTx/>
              <a:buAutoNum type="arabicPeriod"/>
            </a:pPr>
            <a:r>
              <a:rPr lang="en-GB" dirty="0"/>
              <a:t>Print the result of the function of your choice, applied to a and b (hint: use a loop)</a:t>
            </a:r>
          </a:p>
          <a:p>
            <a:pPr marL="457200" lvl="1" indent="-457200">
              <a:buFontTx/>
              <a:buAutoNum type="arabicPeriod"/>
            </a:pPr>
            <a:r>
              <a:rPr lang="en-GB" dirty="0"/>
              <a:t>Extra task: print a different result for a and b (hint: use the if and else commands)</a:t>
            </a:r>
          </a:p>
          <a:p>
            <a:pPr marL="457200" lvl="1" indent="-457200">
              <a:buAutoNum type="arabicPeriod"/>
            </a:pPr>
            <a:r>
              <a:rPr lang="en-GB">
                <a:ea typeface="Tahoma"/>
                <a:cs typeface="Gill Sans Light"/>
              </a:rPr>
              <a:t>Extra task: look into while(). How is it different from for() ?</a:t>
            </a:r>
          </a:p>
          <a:p>
            <a:pPr marL="555625" lvl="2" indent="-457200">
              <a:buAutoNum type="alphaLcPeriod"/>
            </a:pPr>
            <a:endParaRPr lang="en-GB" b="1" dirty="0"/>
          </a:p>
          <a:p>
            <a:pPr marL="555625" lvl="2" indent="-457200">
              <a:buAutoNum type="alphaLcPeriod"/>
            </a:pPr>
            <a:endParaRPr lang="en-GB" b="1" dirty="0"/>
          </a:p>
        </p:txBody>
      </p:sp>
      <p:sp>
        <p:nvSpPr>
          <p:cNvPr id="8" name="Title 1">
            <a:extLst>
              <a:ext uri="{FF2B5EF4-FFF2-40B4-BE49-F238E27FC236}">
                <a16:creationId xmlns:a16="http://schemas.microsoft.com/office/drawing/2014/main" id="{5D6C22E6-09A7-1323-A1A9-1EEC620A9A98}"/>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- 3</a:t>
            </a:r>
            <a:endParaRPr lang="en-US" dirty="0"/>
          </a:p>
        </p:txBody>
      </p:sp>
    </p:spTree>
    <p:extLst>
      <p:ext uri="{BB962C8B-B14F-4D97-AF65-F5344CB8AC3E}">
        <p14:creationId xmlns:p14="http://schemas.microsoft.com/office/powerpoint/2010/main" val="31790303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C4BFC-C821-577F-E95B-E6C6476707C5}"/>
              </a:ext>
            </a:extLst>
          </p:cNvPr>
          <p:cNvSpPr>
            <a:spLocks noGrp="1"/>
          </p:cNvSpPr>
          <p:nvPr>
            <p:ph type="title"/>
          </p:nvPr>
        </p:nvSpPr>
        <p:spPr/>
        <p:txBody>
          <a:bodyPr/>
          <a:lstStyle/>
          <a:p>
            <a:r>
              <a:rPr lang="en-GB" dirty="0">
                <a:ea typeface="Verdana"/>
                <a:cs typeface="Gill Sans"/>
              </a:rPr>
              <a:t>Common Object Classes</a:t>
            </a:r>
            <a:endParaRPr lang="en-GB" dirty="0"/>
          </a:p>
        </p:txBody>
      </p:sp>
      <p:sp>
        <p:nvSpPr>
          <p:cNvPr id="4" name="Subtitle 3">
            <a:extLst>
              <a:ext uri="{FF2B5EF4-FFF2-40B4-BE49-F238E27FC236}">
                <a16:creationId xmlns:a16="http://schemas.microsoft.com/office/drawing/2014/main" id="{2C2ADF73-AFD6-65F7-1956-7E1D5D3109B8}"/>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b="1" dirty="0">
                <a:ea typeface="Tahoma"/>
                <a:cs typeface="Gill Sans Light"/>
              </a:rPr>
              <a:t>vector</a:t>
            </a:r>
            <a:r>
              <a:rPr lang="en-GB" dirty="0">
                <a:ea typeface="Tahoma"/>
                <a:cs typeface="Gill Sans Light"/>
              </a:rPr>
              <a:t>: a series of data, all of the same type</a:t>
            </a:r>
            <a:endParaRPr lang="en-US" dirty="0"/>
          </a:p>
          <a:p>
            <a:pPr marL="342900" indent="-342900">
              <a:buChar char="•"/>
            </a:pPr>
            <a:r>
              <a:rPr lang="en-GB" b="1" dirty="0">
                <a:ea typeface="Tahoma"/>
                <a:cs typeface="Gill Sans Light"/>
              </a:rPr>
              <a:t>matrix</a:t>
            </a:r>
            <a:r>
              <a:rPr lang="en-GB" dirty="0">
                <a:ea typeface="Tahoma"/>
                <a:cs typeface="Gill Sans Light"/>
              </a:rPr>
              <a:t>: multiple columns of the same length and data type</a:t>
            </a:r>
            <a:endParaRPr lang="en-GB" dirty="0"/>
          </a:p>
          <a:p>
            <a:pPr marL="342900" indent="-342900">
              <a:buChar char="•"/>
            </a:pPr>
            <a:r>
              <a:rPr lang="en-GB" b="1" dirty="0">
                <a:ea typeface="Tahoma"/>
                <a:cs typeface="Gill Sans Light"/>
              </a:rPr>
              <a:t>data frame</a:t>
            </a:r>
            <a:r>
              <a:rPr lang="en-GB" dirty="0">
                <a:ea typeface="Tahoma"/>
                <a:cs typeface="Gill Sans Light"/>
              </a:rPr>
              <a:t>: multiple columns of the same length, but each with their data type</a:t>
            </a:r>
          </a:p>
          <a:p>
            <a:pPr marL="342900" indent="-342900">
              <a:buChar char="•"/>
            </a:pPr>
            <a:r>
              <a:rPr lang="en-GB" b="1" dirty="0">
                <a:ea typeface="Tahoma"/>
                <a:cs typeface="Gill Sans Light"/>
              </a:rPr>
              <a:t>list</a:t>
            </a:r>
            <a:r>
              <a:rPr lang="en-GB" dirty="0">
                <a:ea typeface="Tahoma"/>
                <a:cs typeface="Gill Sans Light"/>
              </a:rPr>
              <a:t>: collection of objects; can be of different classes and sizes</a:t>
            </a:r>
          </a:p>
          <a:p>
            <a:pPr marL="342900" indent="-342900">
              <a:buChar char="•"/>
            </a:pPr>
            <a:endParaRPr lang="en-GB" dirty="0">
              <a:ea typeface="Tahoma"/>
              <a:cs typeface="Gill Sans Light"/>
            </a:endParaRPr>
          </a:p>
          <a:p>
            <a:pPr marL="342900" indent="-342900">
              <a:buChar char="•"/>
            </a:pPr>
            <a:r>
              <a:rPr lang="en-GB" b="1" dirty="0">
                <a:ea typeface="Tahoma"/>
                <a:cs typeface="Gill Sans Light"/>
              </a:rPr>
              <a:t>function</a:t>
            </a:r>
            <a:r>
              <a:rPr lang="en-GB" dirty="0">
                <a:ea typeface="Tahoma"/>
                <a:cs typeface="Gill Sans Light"/>
              </a:rPr>
              <a:t>: a command to perform a specific task</a:t>
            </a:r>
          </a:p>
        </p:txBody>
      </p:sp>
    </p:spTree>
    <p:extLst>
      <p:ext uri="{BB962C8B-B14F-4D97-AF65-F5344CB8AC3E}">
        <p14:creationId xmlns:p14="http://schemas.microsoft.com/office/powerpoint/2010/main" val="14892537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57CD6-CE5F-E225-5A44-4EB85A8D46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2A4D6-A077-085E-4D5F-C15A6A993F4A}"/>
              </a:ext>
            </a:extLst>
          </p:cNvPr>
          <p:cNvSpPr>
            <a:spLocks noGrp="1"/>
          </p:cNvSpPr>
          <p:nvPr>
            <p:ph type="title"/>
          </p:nvPr>
        </p:nvSpPr>
        <p:spPr/>
        <p:txBody>
          <a:bodyPr/>
          <a:lstStyle/>
          <a:p>
            <a:r>
              <a:rPr lang="en-GB" dirty="0">
                <a:ea typeface="Verdana"/>
                <a:cs typeface="Gill Sans"/>
              </a:rPr>
              <a:t>Common Object Classes</a:t>
            </a:r>
            <a:endParaRPr lang="en-GB" dirty="0"/>
          </a:p>
        </p:txBody>
      </p:sp>
      <p:pic>
        <p:nvPicPr>
          <p:cNvPr id="6" name="Picture 5" descr="Capture d’écran 2015-11-18 à 11.00.35.png">
            <a:extLst>
              <a:ext uri="{FF2B5EF4-FFF2-40B4-BE49-F238E27FC236}">
                <a16:creationId xmlns:a16="http://schemas.microsoft.com/office/drawing/2014/main" id="{76B4C436-B4D3-E034-EC5E-9CB80A76A2B8}"/>
              </a:ext>
            </a:extLst>
          </p:cNvPr>
          <p:cNvPicPr>
            <a:picLocks noChangeAspect="1"/>
          </p:cNvPicPr>
          <p:nvPr/>
        </p:nvPicPr>
        <p:blipFill>
          <a:blip r:embed="rId2"/>
          <a:stretch>
            <a:fillRect/>
          </a:stretch>
        </p:blipFill>
        <p:spPr>
          <a:xfrm>
            <a:off x="600075" y="709613"/>
            <a:ext cx="9867900" cy="5895975"/>
          </a:xfrm>
          <a:prstGeom prst="rect">
            <a:avLst/>
          </a:prstGeom>
        </p:spPr>
      </p:pic>
    </p:spTree>
    <p:extLst>
      <p:ext uri="{BB962C8B-B14F-4D97-AF65-F5344CB8AC3E}">
        <p14:creationId xmlns:p14="http://schemas.microsoft.com/office/powerpoint/2010/main" val="13076453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D0CC-10BE-1B89-5277-FEB3A95E1A37}"/>
              </a:ext>
            </a:extLst>
          </p:cNvPr>
          <p:cNvSpPr>
            <a:spLocks noGrp="1"/>
          </p:cNvSpPr>
          <p:nvPr>
            <p:ph type="title"/>
          </p:nvPr>
        </p:nvSpPr>
        <p:spPr/>
        <p:txBody>
          <a:bodyPr/>
          <a:lstStyle/>
          <a:p>
            <a:r>
              <a:rPr lang="en-GB" dirty="0">
                <a:ea typeface="Verdana"/>
                <a:cs typeface="Gill Sans"/>
              </a:rPr>
              <a:t>Vectors: simple usage</a:t>
            </a:r>
            <a:endParaRPr lang="en-GB" dirty="0"/>
          </a:p>
        </p:txBody>
      </p:sp>
      <p:sp>
        <p:nvSpPr>
          <p:cNvPr id="3" name="Text Placeholder 2">
            <a:extLst>
              <a:ext uri="{FF2B5EF4-FFF2-40B4-BE49-F238E27FC236}">
                <a16:creationId xmlns:a16="http://schemas.microsoft.com/office/drawing/2014/main" id="{C40C6D4B-6DE4-CD60-325A-7ACC3DEBE5A8}"/>
              </a:ext>
            </a:extLst>
          </p:cNvPr>
          <p:cNvSpPr>
            <a:spLocks noGrp="1"/>
          </p:cNvSpPr>
          <p:nvPr>
            <p:ph type="body" sz="quarter" idx="11"/>
          </p:nvPr>
        </p:nvSpPr>
        <p:spPr/>
        <p:txBody>
          <a:bodyPr vert="horz" lIns="91440" tIns="45720" rIns="91440" bIns="45720" rtlCol="0" anchor="t">
            <a:normAutofit fontScale="92500" lnSpcReduction="10000"/>
          </a:bodyPr>
          <a:lstStyle/>
          <a:p>
            <a:r>
              <a:rPr lang="en-GB" dirty="0">
                <a:ea typeface="Tahoma"/>
                <a:cs typeface="Gill Sans Light"/>
              </a:rPr>
              <a:t>Create a vector using </a:t>
            </a:r>
            <a:r>
              <a:rPr lang="en-GB" dirty="0">
                <a:latin typeface="Courier New"/>
                <a:ea typeface="Tahoma"/>
                <a:cs typeface="Gill Sans Light"/>
              </a:rPr>
              <a:t>c()</a:t>
            </a:r>
            <a:r>
              <a:rPr lang="en-GB" dirty="0">
                <a:ea typeface="Tahoma"/>
                <a:cs typeface="Gill Sans Light"/>
              </a:rPr>
              <a:t> :</a:t>
            </a:r>
            <a:endParaRPr lang="en-GB" dirty="0"/>
          </a:p>
          <a:p>
            <a:r>
              <a:rPr lang="en-GB" dirty="0">
                <a:latin typeface="Courier New"/>
                <a:ea typeface="Tahoma"/>
                <a:cs typeface="Gill Sans Light"/>
              </a:rPr>
              <a:t>height &lt;- c(180, 167, 199)  </a:t>
            </a:r>
            <a:r>
              <a:rPr lang="en-GB" b="1" dirty="0">
                <a:solidFill>
                  <a:schemeClr val="accent4"/>
                </a:solidFill>
                <a:latin typeface="Courier New"/>
                <a:ea typeface="Tahoma"/>
                <a:cs typeface="Gill Sans Light"/>
              </a:rPr>
              <a:t># c() is for concatenate</a:t>
            </a:r>
            <a:endParaRPr lang="en-GB" b="1">
              <a:solidFill>
                <a:schemeClr val="accent4"/>
              </a:solidFill>
              <a:latin typeface="Courier New"/>
            </a:endParaRPr>
          </a:p>
          <a:p>
            <a:endParaRPr lang="en-GB" dirty="0"/>
          </a:p>
          <a:p>
            <a:r>
              <a:rPr lang="en-GB" dirty="0">
                <a:ea typeface="Tahoma"/>
                <a:cs typeface="Gill Sans Light"/>
              </a:rPr>
              <a:t>Create a named vector:</a:t>
            </a:r>
          </a:p>
          <a:p>
            <a:r>
              <a:rPr lang="en-GB" dirty="0">
                <a:latin typeface="Courier New"/>
                <a:ea typeface="Tahoma"/>
                <a:cs typeface="Gill Sans Light"/>
              </a:rPr>
              <a:t>height &lt;- c(Mia=180, Paul=167, Ed=199)</a:t>
            </a:r>
            <a:endParaRPr lang="en-GB" dirty="0">
              <a:latin typeface="Courier New"/>
            </a:endParaRPr>
          </a:p>
          <a:p>
            <a:endParaRPr lang="en-GB" dirty="0"/>
          </a:p>
          <a:p>
            <a:r>
              <a:rPr lang="en-GB" dirty="0">
                <a:ea typeface="Tahoma"/>
                <a:cs typeface="Gill Sans Light"/>
              </a:rPr>
              <a:t>Access elements with </a:t>
            </a:r>
            <a:r>
              <a:rPr lang="en-GB" dirty="0">
                <a:latin typeface="Courier New"/>
                <a:ea typeface="Tahoma"/>
                <a:cs typeface="Gill Sans Light"/>
              </a:rPr>
              <a:t>[]</a:t>
            </a:r>
            <a:r>
              <a:rPr lang="en-GB" dirty="0">
                <a:ea typeface="Tahoma"/>
                <a:cs typeface="Gill Sans Light"/>
              </a:rPr>
              <a:t>:</a:t>
            </a:r>
          </a:p>
          <a:p>
            <a:r>
              <a:rPr lang="en-GB" dirty="0">
                <a:latin typeface="Courier New"/>
                <a:ea typeface="Tahoma"/>
                <a:cs typeface="Gill Sans Light"/>
              </a:rPr>
              <a:t>height[1]           </a:t>
            </a:r>
            <a:r>
              <a:rPr lang="en-GB" b="1" dirty="0">
                <a:solidFill>
                  <a:schemeClr val="accent4"/>
                </a:solidFill>
                <a:latin typeface="Courier New"/>
                <a:ea typeface="Tahoma"/>
                <a:cs typeface="Gill Sans Light"/>
              </a:rPr>
              <a:t># get the first element</a:t>
            </a:r>
            <a:endParaRPr lang="en-GB" b="1">
              <a:solidFill>
                <a:schemeClr val="accent4"/>
              </a:solidFill>
              <a:latin typeface="Courier New"/>
            </a:endParaRPr>
          </a:p>
          <a:p>
            <a:r>
              <a:rPr lang="en-GB" dirty="0">
                <a:latin typeface="Courier New"/>
                <a:ea typeface="Tahoma"/>
                <a:cs typeface="Gill Sans Light"/>
              </a:rPr>
              <a:t>height["Paul"]      </a:t>
            </a:r>
            <a:r>
              <a:rPr lang="en-GB" b="1" dirty="0">
                <a:solidFill>
                  <a:schemeClr val="accent4"/>
                </a:solidFill>
                <a:latin typeface="Courier New"/>
                <a:ea typeface="Tahoma"/>
                <a:cs typeface="Gill Sans Light"/>
              </a:rPr>
              <a:t># get the element named Paul</a:t>
            </a:r>
            <a:endParaRPr lang="en-GB" b="1" dirty="0">
              <a:solidFill>
                <a:schemeClr val="accent4"/>
              </a:solidFill>
              <a:latin typeface="Courier New"/>
            </a:endParaRPr>
          </a:p>
          <a:p>
            <a:endParaRPr lang="en-GB" dirty="0"/>
          </a:p>
          <a:p>
            <a:r>
              <a:rPr lang="en-GB" dirty="0">
                <a:latin typeface="Courier New"/>
                <a:ea typeface="Tahoma"/>
                <a:cs typeface="Gill Sans Light"/>
              </a:rPr>
              <a:t>height[ c(1,3) ]    </a:t>
            </a:r>
            <a:r>
              <a:rPr lang="en-GB" b="1" dirty="0">
                <a:solidFill>
                  <a:schemeClr val="accent4"/>
                </a:solidFill>
                <a:latin typeface="Courier New"/>
                <a:ea typeface="Tahoma"/>
                <a:cs typeface="Gill Sans Light"/>
              </a:rPr>
              <a:t># get the 1st and 3rd element</a:t>
            </a:r>
            <a:endParaRPr lang="en-GB" b="1" dirty="0">
              <a:solidFill>
                <a:schemeClr val="accent4"/>
              </a:solidFill>
              <a:latin typeface="Courier New"/>
            </a:endParaRPr>
          </a:p>
        </p:txBody>
      </p:sp>
    </p:spTree>
    <p:extLst>
      <p:ext uri="{BB962C8B-B14F-4D97-AF65-F5344CB8AC3E}">
        <p14:creationId xmlns:p14="http://schemas.microsoft.com/office/powerpoint/2010/main" val="11932671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718B0-E46B-8E03-047F-35AE688CEDEE}"/>
              </a:ext>
            </a:extLst>
          </p:cNvPr>
          <p:cNvSpPr>
            <a:spLocks noGrp="1"/>
          </p:cNvSpPr>
          <p:nvPr>
            <p:ph type="title"/>
          </p:nvPr>
        </p:nvSpPr>
        <p:spPr/>
        <p:txBody>
          <a:bodyPr/>
          <a:lstStyle/>
          <a:p>
            <a:r>
              <a:rPr lang="en-GB" dirty="0">
                <a:ea typeface="Verdana"/>
                <a:cs typeface="Gill Sans"/>
              </a:rPr>
              <a:t>Vectors: more creation recipes</a:t>
            </a:r>
            <a:endParaRPr lang="en-GB" dirty="0"/>
          </a:p>
        </p:txBody>
      </p:sp>
      <p:sp>
        <p:nvSpPr>
          <p:cNvPr id="3" name="Text Placeholder 2">
            <a:extLst>
              <a:ext uri="{FF2B5EF4-FFF2-40B4-BE49-F238E27FC236}">
                <a16:creationId xmlns:a16="http://schemas.microsoft.com/office/drawing/2014/main" id="{6467E299-59FA-3AA2-45A0-D8699BF0EECA}"/>
              </a:ext>
            </a:extLst>
          </p:cNvPr>
          <p:cNvSpPr>
            <a:spLocks noGrp="1"/>
          </p:cNvSpPr>
          <p:nvPr>
            <p:ph type="body" sz="quarter" idx="11"/>
          </p:nvPr>
        </p:nvSpPr>
        <p:spPr>
          <a:xfrm>
            <a:off x="838200" y="1666875"/>
            <a:ext cx="10515600" cy="4503738"/>
          </a:xfrm>
        </p:spPr>
        <p:txBody>
          <a:bodyPr vert="horz" lIns="91440" tIns="45720" rIns="91440" bIns="45720" rtlCol="0" anchor="t">
            <a:normAutofit fontScale="92500" lnSpcReduction="20000"/>
          </a:bodyPr>
          <a:lstStyle/>
          <a:p>
            <a:r>
              <a:rPr lang="en-GB" dirty="0">
                <a:latin typeface="Courier New"/>
                <a:ea typeface="Tahoma"/>
                <a:cs typeface="Gill Sans Light"/>
              </a:rPr>
              <a:t>a &lt;- 1:10         </a:t>
            </a:r>
            <a:r>
              <a:rPr lang="en-GB" b="1" dirty="0">
                <a:solidFill>
                  <a:schemeClr val="accent4"/>
                </a:solidFill>
                <a:latin typeface="Courier New"/>
                <a:ea typeface="Tahoma"/>
                <a:cs typeface="Gill Sans Light"/>
              </a:rPr>
              <a:t># the : operator</a:t>
            </a:r>
            <a:endParaRPr lang="en-GB" b="1">
              <a:solidFill>
                <a:schemeClr val="accent4"/>
              </a:solidFill>
              <a:latin typeface="Courier New"/>
            </a:endParaRPr>
          </a:p>
          <a:p>
            <a:r>
              <a:rPr lang="en-GB" dirty="0">
                <a:latin typeface="Courier New"/>
                <a:ea typeface="Tahoma"/>
                <a:cs typeface="Gill Sans Light"/>
              </a:rPr>
              <a:t>  1 2 3 4 5 6 7 8 9 10</a:t>
            </a:r>
          </a:p>
          <a:p>
            <a:endParaRPr lang="en-GB" dirty="0">
              <a:latin typeface="Courier New"/>
              <a:ea typeface="Tahoma"/>
              <a:cs typeface="Gill Sans Light"/>
            </a:endParaRPr>
          </a:p>
          <a:p>
            <a:r>
              <a:rPr lang="en-GB" dirty="0">
                <a:latin typeface="Courier New"/>
                <a:ea typeface="Tahoma"/>
                <a:cs typeface="Gill Sans Light"/>
              </a:rPr>
              <a:t>s &lt;- </a:t>
            </a:r>
            <a:r>
              <a:rPr lang="en-GB" err="1">
                <a:latin typeface="Courier New"/>
                <a:ea typeface="Tahoma"/>
                <a:cs typeface="Gill Sans Light"/>
              </a:rPr>
              <a:t>seq</a:t>
            </a:r>
            <a:r>
              <a:rPr lang="en-GB" dirty="0">
                <a:latin typeface="Courier New"/>
                <a:ea typeface="Tahoma"/>
                <a:cs typeface="Gill Sans Light"/>
              </a:rPr>
              <a:t>(0,2,0.5) </a:t>
            </a:r>
            <a:r>
              <a:rPr lang="en-GB" b="1" dirty="0">
                <a:solidFill>
                  <a:schemeClr val="accent4"/>
                </a:solidFill>
                <a:latin typeface="Courier New"/>
                <a:ea typeface="Tahoma"/>
                <a:cs typeface="Gill Sans Light"/>
              </a:rPr>
              <a:t># </a:t>
            </a:r>
            <a:r>
              <a:rPr lang="en-GB" b="1" err="1">
                <a:solidFill>
                  <a:schemeClr val="accent4"/>
                </a:solidFill>
                <a:latin typeface="Courier New"/>
                <a:ea typeface="Tahoma"/>
                <a:cs typeface="Gill Sans Light"/>
              </a:rPr>
              <a:t>seq</a:t>
            </a:r>
            <a:r>
              <a:rPr lang="en-GB" b="1" dirty="0">
                <a:solidFill>
                  <a:schemeClr val="accent4"/>
                </a:solidFill>
                <a:latin typeface="Courier New"/>
                <a:ea typeface="Tahoma"/>
                <a:cs typeface="Gill Sans Light"/>
              </a:rPr>
              <a:t>: from 0 to 2 by increment of 0.5</a:t>
            </a:r>
          </a:p>
          <a:p>
            <a:r>
              <a:rPr lang="en-GB" dirty="0">
                <a:latin typeface="Courier New"/>
                <a:ea typeface="Tahoma"/>
                <a:cs typeface="Gill Sans Light"/>
              </a:rPr>
              <a:t>  0.0 0.5 1.0 1.5 2.0</a:t>
            </a:r>
          </a:p>
          <a:p>
            <a:endParaRPr lang="en-GB" dirty="0">
              <a:latin typeface="Courier New"/>
              <a:ea typeface="Tahoma"/>
              <a:cs typeface="Gill Sans Light"/>
            </a:endParaRPr>
          </a:p>
          <a:p>
            <a:r>
              <a:rPr lang="en-GB" dirty="0">
                <a:latin typeface="Courier New"/>
                <a:ea typeface="Tahoma"/>
                <a:cs typeface="Gill Sans Light"/>
              </a:rPr>
              <a:t>genotypes &lt;- </a:t>
            </a:r>
            <a:r>
              <a:rPr lang="en-GB" dirty="0">
                <a:latin typeface="Courier New"/>
                <a:ea typeface="+mn-lt"/>
                <a:cs typeface="+mn-lt"/>
              </a:rPr>
              <a:t>rep( c('WT','KO') , 3 ) </a:t>
            </a:r>
            <a:r>
              <a:rPr lang="en-GB" b="1" dirty="0">
                <a:solidFill>
                  <a:schemeClr val="accent4"/>
                </a:solidFill>
                <a:latin typeface="Courier New"/>
                <a:ea typeface="+mn-lt"/>
                <a:cs typeface="+mn-lt"/>
              </a:rPr>
              <a:t># rep to repeat</a:t>
            </a:r>
          </a:p>
          <a:p>
            <a:r>
              <a:rPr lang="en-GB" dirty="0">
                <a:latin typeface="Courier New"/>
                <a:ea typeface="+mn-lt"/>
                <a:cs typeface="+mn-lt"/>
              </a:rPr>
              <a:t>  "WT" "KO" "WT" "KO" "WT" "KO"</a:t>
            </a:r>
          </a:p>
          <a:p>
            <a:endParaRPr lang="en-GB" dirty="0">
              <a:latin typeface="Courier New"/>
            </a:endParaRPr>
          </a:p>
          <a:p>
            <a:r>
              <a:rPr lang="en-GB" dirty="0">
                <a:latin typeface="Courier New"/>
                <a:ea typeface="Tahoma"/>
                <a:cs typeface="Gill Sans Light"/>
              </a:rPr>
              <a:t>c(</a:t>
            </a:r>
            <a:r>
              <a:rPr lang="en-GB" err="1">
                <a:latin typeface="Courier New"/>
                <a:ea typeface="Tahoma"/>
                <a:cs typeface="Gill Sans Light"/>
              </a:rPr>
              <a:t>a,s</a:t>
            </a:r>
            <a:r>
              <a:rPr lang="en-GB" dirty="0">
                <a:latin typeface="Courier New"/>
                <a:ea typeface="Tahoma"/>
                <a:cs typeface="Gill Sans Light"/>
              </a:rPr>
              <a:t>)   </a:t>
            </a:r>
            <a:r>
              <a:rPr lang="en-GB" b="1" dirty="0">
                <a:solidFill>
                  <a:schemeClr val="accent4"/>
                </a:solidFill>
                <a:latin typeface="Courier New"/>
                <a:ea typeface="Tahoma"/>
                <a:cs typeface="Gill Sans Light"/>
              </a:rPr>
              <a:t># c() can be used to concatenate 2 vectors</a:t>
            </a:r>
            <a:endParaRPr lang="en-GB" b="1">
              <a:solidFill>
                <a:schemeClr val="accent4"/>
              </a:solidFill>
              <a:latin typeface="Courier New"/>
            </a:endParaRPr>
          </a:p>
          <a:p>
            <a:r>
              <a:rPr lang="en-GB" dirty="0">
                <a:latin typeface="Courier New"/>
                <a:ea typeface="Tahoma"/>
                <a:cs typeface="Gill Sans Light"/>
              </a:rPr>
              <a:t> 1</a:t>
            </a:r>
            <a:r>
              <a:rPr lang="en-GB" dirty="0">
                <a:latin typeface="Courier New"/>
                <a:ea typeface="+mn-lt"/>
                <a:cs typeface="+mn-lt"/>
              </a:rPr>
              <a:t>.0  2.0  3.0  4.0  5.0  6.0  7.0  8.0  9.0 10.0  0.0  0.5  1.0  1.5  2.0</a:t>
            </a:r>
            <a:endParaRPr lang="en-GB" dirty="0">
              <a:latin typeface="Courier New"/>
              <a:ea typeface="Tahoma"/>
              <a:cs typeface="Gill Sans Light"/>
            </a:endParaRPr>
          </a:p>
        </p:txBody>
      </p:sp>
    </p:spTree>
    <p:extLst>
      <p:ext uri="{BB962C8B-B14F-4D97-AF65-F5344CB8AC3E}">
        <p14:creationId xmlns:p14="http://schemas.microsoft.com/office/powerpoint/2010/main" val="37986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6E0C5-314F-6C68-0535-A05C64DBB1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56ECD-9E4E-28C2-BD87-2AC16F83F837}"/>
              </a:ext>
            </a:extLst>
          </p:cNvPr>
          <p:cNvSpPr>
            <a:spLocks noGrp="1"/>
          </p:cNvSpPr>
          <p:nvPr>
            <p:ph type="title"/>
          </p:nvPr>
        </p:nvSpPr>
        <p:spPr/>
        <p:txBody>
          <a:bodyPr/>
          <a:lstStyle/>
          <a:p>
            <a:r>
              <a:rPr lang="en-GB" dirty="0">
                <a:ea typeface="Verdana"/>
                <a:cs typeface="Gill Sans"/>
              </a:rPr>
              <a:t>Vectors: manipulation (I)</a:t>
            </a:r>
            <a:endParaRPr lang="en-GB" dirty="0"/>
          </a:p>
        </p:txBody>
      </p:sp>
      <p:sp>
        <p:nvSpPr>
          <p:cNvPr id="3" name="Text Placeholder 2">
            <a:extLst>
              <a:ext uri="{FF2B5EF4-FFF2-40B4-BE49-F238E27FC236}">
                <a16:creationId xmlns:a16="http://schemas.microsoft.com/office/drawing/2014/main" id="{F426F274-571F-102E-01B7-9A54A5CFCD31}"/>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r>
              <a:rPr lang="en-GB" dirty="0">
                <a:latin typeface="Courier New"/>
                <a:ea typeface="Tahoma"/>
                <a:cs typeface="Gill Sans Light"/>
              </a:rPr>
              <a:t>a &lt;- 1:4</a:t>
            </a:r>
            <a:endParaRPr lang="en-GB" b="1" dirty="0">
              <a:solidFill>
                <a:srgbClr val="50B798"/>
              </a:solidFill>
              <a:latin typeface="Courier New"/>
            </a:endParaRPr>
          </a:p>
          <a:p>
            <a:r>
              <a:rPr lang="en-GB" dirty="0">
                <a:latin typeface="Courier New"/>
                <a:ea typeface="Tahoma"/>
                <a:cs typeface="Gill Sans Light"/>
              </a:rPr>
              <a:t>a</a:t>
            </a:r>
          </a:p>
          <a:p>
            <a:r>
              <a:rPr lang="en-GB" dirty="0">
                <a:latin typeface="Courier New"/>
                <a:ea typeface="Tahoma"/>
                <a:cs typeface="Gill Sans Light"/>
              </a:rPr>
              <a:t>[1]  1 2 3 4 </a:t>
            </a:r>
            <a:endParaRPr lang="en-GB" b="1" dirty="0">
              <a:solidFill>
                <a:srgbClr val="50B798"/>
              </a:solidFill>
              <a:latin typeface="Courier New"/>
            </a:endParaRPr>
          </a:p>
          <a:p>
            <a:endParaRPr lang="en-GB" dirty="0">
              <a:latin typeface="Courier New"/>
              <a:ea typeface="Tahoma"/>
              <a:cs typeface="Gill Sans Light"/>
            </a:endParaRPr>
          </a:p>
          <a:p>
            <a:r>
              <a:rPr lang="en-GB" dirty="0">
                <a:latin typeface="Courier New"/>
                <a:ea typeface="Tahoma"/>
                <a:cs typeface="Gill Sans Light"/>
              </a:rPr>
              <a:t>a*2 </a:t>
            </a:r>
            <a:r>
              <a:rPr lang="en-GB" b="1" dirty="0">
                <a:solidFill>
                  <a:schemeClr val="accent4"/>
                </a:solidFill>
                <a:latin typeface="Courier New"/>
                <a:ea typeface="Tahoma"/>
                <a:cs typeface="Gill Sans Light"/>
              </a:rPr>
              <a:t># multiply each element of a by 2</a:t>
            </a:r>
          </a:p>
          <a:p>
            <a:r>
              <a:rPr lang="en-GB" dirty="0">
                <a:latin typeface="Courier New"/>
                <a:ea typeface="Tahoma"/>
                <a:cs typeface="Gill Sans Light"/>
              </a:rPr>
              <a:t>[1]  2 4 6 8</a:t>
            </a:r>
            <a:endParaRPr lang="en-GB" dirty="0">
              <a:latin typeface="Corbel" panose="020B0503020204020204"/>
            </a:endParaRPr>
          </a:p>
          <a:p>
            <a:endParaRPr lang="en-GB" dirty="0">
              <a:latin typeface="Courier New"/>
              <a:ea typeface="Tahoma"/>
              <a:cs typeface="Gill Sans Light"/>
            </a:endParaRPr>
          </a:p>
          <a:p>
            <a:r>
              <a:rPr lang="en-GB" dirty="0">
                <a:latin typeface="Courier New"/>
                <a:ea typeface="Tahoma"/>
                <a:cs typeface="Gill Sans Light"/>
              </a:rPr>
              <a:t>a + c(12,10,12,10)</a:t>
            </a:r>
            <a:r>
              <a:rPr lang="en-GB" dirty="0">
                <a:latin typeface="Courier New"/>
                <a:ea typeface="+mn-lt"/>
                <a:cs typeface="+mn-lt"/>
              </a:rPr>
              <a:t> </a:t>
            </a:r>
            <a:r>
              <a:rPr lang="en-GB" b="1" dirty="0">
                <a:solidFill>
                  <a:schemeClr val="accent4"/>
                </a:solidFill>
                <a:latin typeface="Courier New"/>
                <a:ea typeface="+mn-lt"/>
                <a:cs typeface="+mn-lt"/>
              </a:rPr>
              <a:t># add the elements of 2 vectors</a:t>
            </a:r>
            <a:endParaRPr lang="en-GB" dirty="0">
              <a:solidFill>
                <a:schemeClr val="accent4"/>
              </a:solidFill>
              <a:latin typeface="Corbel" panose="020B0503020204020204"/>
            </a:endParaRPr>
          </a:p>
          <a:p>
            <a:r>
              <a:rPr lang="en-GB" dirty="0">
                <a:latin typeface="Courier New"/>
                <a:ea typeface="+mn-lt"/>
                <a:cs typeface="+mn-lt"/>
              </a:rPr>
              <a:t>[1]  13 12 15 14</a:t>
            </a:r>
            <a:endParaRPr lang="en-GB" dirty="0">
              <a:latin typeface="Courier New"/>
              <a:ea typeface="Tahoma"/>
              <a:cs typeface="Gill Sans Light"/>
            </a:endParaRPr>
          </a:p>
        </p:txBody>
      </p:sp>
    </p:spTree>
    <p:extLst>
      <p:ext uri="{BB962C8B-B14F-4D97-AF65-F5344CB8AC3E}">
        <p14:creationId xmlns:p14="http://schemas.microsoft.com/office/powerpoint/2010/main" val="27727702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27BD3-0FA8-AAC8-2B82-06B07785E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8B78F-9638-D75B-36FC-DCFC274BAA0E}"/>
              </a:ext>
            </a:extLst>
          </p:cNvPr>
          <p:cNvSpPr>
            <a:spLocks noGrp="1"/>
          </p:cNvSpPr>
          <p:nvPr>
            <p:ph type="title"/>
          </p:nvPr>
        </p:nvSpPr>
        <p:spPr/>
        <p:txBody>
          <a:bodyPr/>
          <a:lstStyle/>
          <a:p>
            <a:r>
              <a:rPr lang="en-GB" dirty="0">
                <a:ea typeface="Verdana"/>
                <a:cs typeface="Gill Sans"/>
              </a:rPr>
              <a:t>Vectors: manipulation (II)</a:t>
            </a:r>
            <a:endParaRPr lang="en-GB" dirty="0"/>
          </a:p>
        </p:txBody>
      </p:sp>
      <p:sp>
        <p:nvSpPr>
          <p:cNvPr id="3" name="Text Placeholder 2">
            <a:extLst>
              <a:ext uri="{FF2B5EF4-FFF2-40B4-BE49-F238E27FC236}">
                <a16:creationId xmlns:a16="http://schemas.microsoft.com/office/drawing/2014/main" id="{CF97C7FF-7FDB-15D7-5636-0F65DC95FE69}"/>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r>
              <a:rPr lang="en-GB">
                <a:latin typeface="Corbel"/>
                <a:ea typeface="Tahoma"/>
                <a:cs typeface="Gill Sans Light"/>
              </a:rPr>
              <a:t>Many functions take a vector as argument.</a:t>
            </a:r>
          </a:p>
          <a:p>
            <a:r>
              <a:rPr lang="en-GB" dirty="0">
                <a:latin typeface="Corbel"/>
                <a:ea typeface="Tahoma"/>
                <a:cs typeface="Gill Sans Light"/>
              </a:rPr>
              <a:t>Some perform an element-wise operation. Example:</a:t>
            </a:r>
          </a:p>
          <a:p>
            <a:r>
              <a:rPr lang="en-GB" dirty="0">
                <a:latin typeface="Courier New"/>
                <a:ea typeface="Tahoma"/>
                <a:cs typeface="Gill Sans Light"/>
              </a:rPr>
              <a:t>log2(a) </a:t>
            </a:r>
            <a:r>
              <a:rPr lang="en-GB" b="1">
                <a:solidFill>
                  <a:schemeClr val="accent4"/>
                </a:solidFill>
                <a:latin typeface="Courier New"/>
                <a:ea typeface="Tahoma"/>
                <a:cs typeface="Courier New"/>
              </a:rPr>
              <a:t># compute the logarithm in base 2 of each element</a:t>
            </a:r>
            <a:endParaRPr lang="en-US">
              <a:solidFill>
                <a:schemeClr val="accent4"/>
              </a:solidFill>
              <a:latin typeface="Courier New"/>
              <a:ea typeface="Tahoma"/>
              <a:cs typeface="Courier New"/>
            </a:endParaRPr>
          </a:p>
          <a:p>
            <a:r>
              <a:rPr lang="en-GB" dirty="0">
                <a:latin typeface="Courier New"/>
                <a:ea typeface="Tahoma"/>
                <a:cs typeface="Gill Sans Light"/>
              </a:rPr>
              <a:t>[1]  </a:t>
            </a:r>
            <a:r>
              <a:rPr lang="en-US" sz="1900" dirty="0">
                <a:solidFill>
                  <a:srgbClr val="000000"/>
                </a:solidFill>
                <a:latin typeface="Courier New"/>
                <a:ea typeface="+mn-lt"/>
                <a:cs typeface="+mn-lt"/>
              </a:rPr>
              <a:t>0.000000 1.000000 1.584963 2.000000</a:t>
            </a:r>
            <a:endParaRPr lang="en-GB" b="1" dirty="0">
              <a:solidFill>
                <a:srgbClr val="50B798"/>
              </a:solidFill>
              <a:latin typeface="Courier New"/>
            </a:endParaRPr>
          </a:p>
          <a:p>
            <a:endParaRPr lang="en-GB" dirty="0">
              <a:latin typeface="Courier New"/>
              <a:ea typeface="Tahoma"/>
              <a:cs typeface="Gill Sans Light"/>
            </a:endParaRPr>
          </a:p>
          <a:p>
            <a:r>
              <a:rPr lang="en-GB" dirty="0">
                <a:latin typeface="Corbel"/>
                <a:ea typeface="Tahoma"/>
                <a:cs typeface="Gill Sans Light"/>
              </a:rPr>
              <a:t>Some return a single value. Example:</a:t>
            </a:r>
          </a:p>
          <a:p>
            <a:r>
              <a:rPr lang="en-GB" dirty="0">
                <a:latin typeface="Courier New"/>
                <a:ea typeface="Tahoma"/>
                <a:cs typeface="Gill Sans Light"/>
              </a:rPr>
              <a:t>mean(a) </a:t>
            </a:r>
            <a:r>
              <a:rPr lang="en-GB" b="1" dirty="0">
                <a:solidFill>
                  <a:schemeClr val="accent4"/>
                </a:solidFill>
                <a:latin typeface="Courier New"/>
                <a:ea typeface="Tahoma"/>
                <a:cs typeface="Gill Sans Light"/>
              </a:rPr>
              <a:t># compute the mean of the elements of a</a:t>
            </a:r>
          </a:p>
          <a:p>
            <a:r>
              <a:rPr lang="en-GB" dirty="0">
                <a:latin typeface="Courier New"/>
                <a:ea typeface="Tahoma"/>
                <a:cs typeface="Gill Sans Light"/>
              </a:rPr>
              <a:t>[1]  2.5</a:t>
            </a:r>
            <a:endParaRPr lang="en-GB" dirty="0">
              <a:latin typeface="Corbel" panose="020B0503020204020204"/>
            </a:endParaRPr>
          </a:p>
        </p:txBody>
      </p:sp>
    </p:spTree>
    <p:extLst>
      <p:ext uri="{BB962C8B-B14F-4D97-AF65-F5344CB8AC3E}">
        <p14:creationId xmlns:p14="http://schemas.microsoft.com/office/powerpoint/2010/main" val="10277085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965C-4E23-B5BE-2608-82F89C3AB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FEF75-CF00-8767-33AB-10D33E6ECC04}"/>
              </a:ext>
            </a:extLst>
          </p:cNvPr>
          <p:cNvSpPr>
            <a:spLocks noGrp="1"/>
          </p:cNvSpPr>
          <p:nvPr>
            <p:ph type="title"/>
          </p:nvPr>
        </p:nvSpPr>
        <p:spPr/>
        <p:txBody>
          <a:bodyPr/>
          <a:lstStyle/>
          <a:p>
            <a:r>
              <a:rPr lang="en-GB" dirty="0">
                <a:ea typeface="Verdana"/>
                <a:cs typeface="Gill Sans"/>
              </a:rPr>
              <a:t>Coercion (I)</a:t>
            </a:r>
            <a:endParaRPr lang="en-GB" dirty="0"/>
          </a:p>
        </p:txBody>
      </p:sp>
      <p:sp>
        <p:nvSpPr>
          <p:cNvPr id="3" name="Text Placeholder 2">
            <a:extLst>
              <a:ext uri="{FF2B5EF4-FFF2-40B4-BE49-F238E27FC236}">
                <a16:creationId xmlns:a16="http://schemas.microsoft.com/office/drawing/2014/main" id="{872D739F-F265-1982-1203-4CDBE81B8A9F}"/>
              </a:ext>
            </a:extLst>
          </p:cNvPr>
          <p:cNvSpPr>
            <a:spLocks noGrp="1"/>
          </p:cNvSpPr>
          <p:nvPr>
            <p:ph type="body" sz="quarter" idx="11"/>
          </p:nvPr>
        </p:nvSpPr>
        <p:spPr>
          <a:xfrm>
            <a:off x="838200" y="1666875"/>
            <a:ext cx="10515600" cy="4503738"/>
          </a:xfrm>
        </p:spPr>
        <p:txBody>
          <a:bodyPr vert="horz" lIns="91440" tIns="45720" rIns="91440" bIns="45720" rtlCol="0" anchor="t">
            <a:normAutofit lnSpcReduction="10000"/>
          </a:bodyPr>
          <a:lstStyle/>
          <a:p>
            <a:pPr marL="342900" indent="-342900">
              <a:buChar char="•"/>
            </a:pPr>
            <a:r>
              <a:rPr lang="en-GB" dirty="0">
                <a:latin typeface="Corbel"/>
                <a:ea typeface="Tahoma"/>
                <a:cs typeface="Gill Sans Light"/>
              </a:rPr>
              <a:t>All elements of a vector must be the </a:t>
            </a:r>
            <a:r>
              <a:rPr lang="en-GB" b="1" dirty="0">
                <a:latin typeface="Corbel"/>
                <a:ea typeface="Tahoma"/>
                <a:cs typeface="Gill Sans Light"/>
              </a:rPr>
              <a:t>same type</a:t>
            </a:r>
            <a:endParaRPr lang="en-US" dirty="0"/>
          </a:p>
          <a:p>
            <a:pPr marL="342900" indent="-342900">
              <a:buChar char="•"/>
            </a:pPr>
            <a:r>
              <a:rPr lang="en-GB" dirty="0">
                <a:latin typeface="Corbel"/>
                <a:ea typeface="Tahoma"/>
                <a:cs typeface="Gill Sans Light"/>
              </a:rPr>
              <a:t>When combining different types, they are </a:t>
            </a:r>
            <a:r>
              <a:rPr lang="en-GB" b="1" dirty="0">
                <a:latin typeface="Corbel"/>
                <a:ea typeface="Tahoma"/>
                <a:cs typeface="Gill Sans Light"/>
              </a:rPr>
              <a:t>coerced to the most flexible type</a:t>
            </a:r>
          </a:p>
          <a:p>
            <a:pPr marL="342900" indent="-342900">
              <a:buChar char="•"/>
            </a:pPr>
            <a:r>
              <a:rPr lang="en-GB" dirty="0">
                <a:latin typeface="Corbel"/>
                <a:ea typeface="Tahoma"/>
                <a:cs typeface="Gill Sans Light"/>
              </a:rPr>
              <a:t>Flexibility scale: logical &lt; numeric &lt; character</a:t>
            </a:r>
          </a:p>
          <a:p>
            <a:endParaRPr lang="en-GB" dirty="0">
              <a:latin typeface="Courier New"/>
              <a:ea typeface="Tahoma"/>
              <a:cs typeface="Gill Sans Light"/>
            </a:endParaRPr>
          </a:p>
          <a:p>
            <a:r>
              <a:rPr lang="en-GB" dirty="0" err="1">
                <a:latin typeface="Courier New"/>
                <a:ea typeface="Tahoma"/>
                <a:cs typeface="Gill Sans Light"/>
              </a:rPr>
              <a:t>vec</a:t>
            </a:r>
            <a:r>
              <a:rPr lang="en-GB" dirty="0">
                <a:latin typeface="Courier New"/>
                <a:ea typeface="Tahoma"/>
                <a:cs typeface="Gill Sans Light"/>
              </a:rPr>
              <a:t> &lt;- c(12,"twelve",TRUE) </a:t>
            </a:r>
            <a:r>
              <a:rPr lang="en-GB" b="1" dirty="0">
                <a:solidFill>
                  <a:schemeClr val="accent4"/>
                </a:solidFill>
                <a:latin typeface="Courier New"/>
                <a:ea typeface="Tahoma"/>
                <a:cs typeface="Courier New"/>
              </a:rPr>
              <a:t># combine 3 data type</a:t>
            </a:r>
            <a:endParaRPr lang="en-US" dirty="0">
              <a:solidFill>
                <a:schemeClr val="accent4"/>
              </a:solidFill>
              <a:latin typeface="Courier New"/>
              <a:ea typeface="Tahoma"/>
              <a:cs typeface="Courier New"/>
            </a:endParaRPr>
          </a:p>
          <a:p>
            <a:r>
              <a:rPr lang="en-GB" sz="2600" dirty="0" err="1">
                <a:solidFill>
                  <a:srgbClr val="1E2232"/>
                </a:solidFill>
                <a:latin typeface="Courier New"/>
                <a:ea typeface="Tahoma"/>
                <a:cs typeface="Courier New"/>
              </a:rPr>
              <a:t>vec</a:t>
            </a:r>
            <a:r>
              <a:rPr lang="en-GB" sz="2600" dirty="0">
                <a:solidFill>
                  <a:srgbClr val="1E2232"/>
                </a:solidFill>
                <a:latin typeface="Courier New"/>
                <a:ea typeface="Tahoma"/>
                <a:cs typeface="Courier New"/>
              </a:rPr>
              <a:t>                     </a:t>
            </a:r>
            <a:r>
              <a:rPr lang="en-GB" sz="2600" b="1" dirty="0">
                <a:solidFill>
                  <a:schemeClr val="accent4"/>
                </a:solidFill>
                <a:latin typeface="Courier New"/>
                <a:ea typeface="Tahoma"/>
                <a:cs typeface="Courier New"/>
              </a:rPr>
              <a:t># coerced to character</a:t>
            </a:r>
            <a:endParaRPr lang="en-GB" dirty="0">
              <a:solidFill>
                <a:schemeClr val="accent4"/>
              </a:solidFill>
            </a:endParaRPr>
          </a:p>
          <a:p>
            <a:r>
              <a:rPr lang="en-GB" dirty="0">
                <a:latin typeface="Courier New"/>
                <a:ea typeface="Tahoma"/>
                <a:cs typeface="Gill Sans Light"/>
              </a:rPr>
              <a:t>[1]  </a:t>
            </a:r>
            <a:r>
              <a:rPr lang="en-US" dirty="0">
                <a:latin typeface="Courier New"/>
                <a:ea typeface="+mn-lt"/>
                <a:cs typeface="+mn-lt"/>
              </a:rPr>
              <a:t>"12" "twelve" "TRUE"</a:t>
            </a:r>
            <a:endParaRPr lang="en-US" dirty="0">
              <a:solidFill>
                <a:srgbClr val="000000"/>
              </a:solidFill>
              <a:latin typeface="Courier New"/>
            </a:endParaRPr>
          </a:p>
          <a:p>
            <a:endParaRPr lang="en-GB" dirty="0">
              <a:latin typeface="Courier New"/>
              <a:ea typeface="Tahoma"/>
              <a:cs typeface="Gill Sans Light"/>
            </a:endParaRPr>
          </a:p>
          <a:p>
            <a:r>
              <a:rPr lang="en-GB" dirty="0">
                <a:latin typeface="Courier New"/>
                <a:ea typeface="Tahoma"/>
                <a:cs typeface="Gill Sans Light"/>
              </a:rPr>
              <a:t>class(</a:t>
            </a:r>
            <a:r>
              <a:rPr lang="en-GB" dirty="0" err="1">
                <a:latin typeface="Courier New"/>
                <a:ea typeface="Tahoma"/>
                <a:cs typeface="Gill Sans Light"/>
              </a:rPr>
              <a:t>vec</a:t>
            </a:r>
            <a:r>
              <a:rPr lang="en-GB" dirty="0">
                <a:latin typeface="Courier New"/>
                <a:ea typeface="Tahoma"/>
                <a:cs typeface="Gill Sans Light"/>
              </a:rPr>
              <a:t>) </a:t>
            </a:r>
            <a:r>
              <a:rPr lang="en-GB" b="1" dirty="0">
                <a:solidFill>
                  <a:schemeClr val="accent4"/>
                </a:solidFill>
                <a:latin typeface="Courier New"/>
                <a:ea typeface="Tahoma"/>
                <a:cs typeface="Gill Sans Light"/>
              </a:rPr>
              <a:t># class() returns the type of a vector</a:t>
            </a:r>
          </a:p>
          <a:p>
            <a:r>
              <a:rPr lang="en-GB" dirty="0">
                <a:latin typeface="Courier New"/>
                <a:ea typeface="Tahoma"/>
                <a:cs typeface="Gill Sans Light"/>
              </a:rPr>
              <a:t>[1]  "character"</a:t>
            </a:r>
            <a:endParaRPr lang="en-GB" dirty="0">
              <a:latin typeface="Corbel" panose="020B0503020204020204"/>
            </a:endParaRPr>
          </a:p>
        </p:txBody>
      </p:sp>
    </p:spTree>
    <p:extLst>
      <p:ext uri="{BB962C8B-B14F-4D97-AF65-F5344CB8AC3E}">
        <p14:creationId xmlns:p14="http://schemas.microsoft.com/office/powerpoint/2010/main" val="36179495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63D18-82A1-5271-31B9-3F4FFAC36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A5D49E-1EF0-9FC7-BE57-9690645A88AB}"/>
              </a:ext>
            </a:extLst>
          </p:cNvPr>
          <p:cNvSpPr>
            <a:spLocks noGrp="1"/>
          </p:cNvSpPr>
          <p:nvPr>
            <p:ph type="title"/>
          </p:nvPr>
        </p:nvSpPr>
        <p:spPr/>
        <p:txBody>
          <a:bodyPr/>
          <a:lstStyle/>
          <a:p>
            <a:r>
              <a:rPr lang="en-GB" dirty="0">
                <a:ea typeface="Verdana"/>
                <a:cs typeface="Gill Sans"/>
              </a:rPr>
              <a:t>Coercion (II)</a:t>
            </a:r>
            <a:endParaRPr lang="en-GB" dirty="0"/>
          </a:p>
        </p:txBody>
      </p:sp>
      <p:sp>
        <p:nvSpPr>
          <p:cNvPr id="3" name="Text Placeholder 2">
            <a:extLst>
              <a:ext uri="{FF2B5EF4-FFF2-40B4-BE49-F238E27FC236}">
                <a16:creationId xmlns:a16="http://schemas.microsoft.com/office/drawing/2014/main" id="{460870D4-A78D-72C0-FF4B-D0D97F27E8AF}"/>
              </a:ext>
            </a:extLst>
          </p:cNvPr>
          <p:cNvSpPr>
            <a:spLocks noGrp="1"/>
          </p:cNvSpPr>
          <p:nvPr>
            <p:ph type="body" sz="quarter" idx="11"/>
          </p:nvPr>
        </p:nvSpPr>
        <p:spPr>
          <a:xfrm>
            <a:off x="828675" y="1666875"/>
            <a:ext cx="10515600" cy="4503738"/>
          </a:xfrm>
        </p:spPr>
        <p:txBody>
          <a:bodyPr vert="horz" lIns="91440" tIns="45720" rIns="91440" bIns="45720" rtlCol="0" anchor="t">
            <a:normAutofit fontScale="92500" lnSpcReduction="10000"/>
          </a:bodyPr>
          <a:lstStyle/>
          <a:p>
            <a:r>
              <a:rPr lang="en-GB" dirty="0">
                <a:latin typeface="Corbel"/>
                <a:ea typeface="Tahoma"/>
                <a:cs typeface="Gill Sans Light"/>
              </a:rPr>
              <a:t>We can coerce a vector to any type with: </a:t>
            </a:r>
            <a:r>
              <a:rPr lang="en-GB" dirty="0" err="1">
                <a:latin typeface="Corbel"/>
                <a:ea typeface="Tahoma"/>
                <a:cs typeface="Gill Sans Light"/>
              </a:rPr>
              <a:t>as.logical</a:t>
            </a:r>
            <a:r>
              <a:rPr lang="en-GB" dirty="0">
                <a:latin typeface="Corbel"/>
                <a:ea typeface="Tahoma"/>
                <a:cs typeface="Gill Sans Light"/>
              </a:rPr>
              <a:t>() , </a:t>
            </a:r>
            <a:r>
              <a:rPr lang="en-GB" dirty="0" err="1">
                <a:latin typeface="Corbel"/>
                <a:ea typeface="Tahoma"/>
                <a:cs typeface="Gill Sans Light"/>
              </a:rPr>
              <a:t>as.numeric</a:t>
            </a:r>
            <a:r>
              <a:rPr lang="en-GB" dirty="0">
                <a:latin typeface="Corbel"/>
                <a:ea typeface="Tahoma"/>
                <a:cs typeface="Gill Sans Light"/>
              </a:rPr>
              <a:t>(), </a:t>
            </a:r>
            <a:r>
              <a:rPr lang="en-GB" dirty="0" err="1">
                <a:latin typeface="Corbel"/>
                <a:ea typeface="Tahoma"/>
                <a:cs typeface="Gill Sans Light"/>
              </a:rPr>
              <a:t>as.character</a:t>
            </a:r>
            <a:r>
              <a:rPr lang="en-GB" dirty="0">
                <a:latin typeface="Corbel"/>
                <a:ea typeface="Tahoma"/>
                <a:cs typeface="Gill Sans Light"/>
              </a:rPr>
              <a:t>()</a:t>
            </a:r>
            <a:endParaRPr lang="en-US" dirty="0">
              <a:latin typeface="Corbel"/>
            </a:endParaRPr>
          </a:p>
          <a:p>
            <a:endParaRPr lang="en-GB" dirty="0">
              <a:latin typeface="Corbel"/>
              <a:ea typeface="Tahoma"/>
              <a:cs typeface="Gill Sans Light"/>
            </a:endParaRPr>
          </a:p>
          <a:p>
            <a:r>
              <a:rPr lang="en-GB" dirty="0">
                <a:latin typeface="Corbel"/>
                <a:ea typeface="Tahoma"/>
                <a:cs typeface="Gill Sans Light"/>
              </a:rPr>
              <a:t>Example: coerce a logical vector to numeric</a:t>
            </a:r>
          </a:p>
          <a:p>
            <a:pPr marL="342900" indent="-342900">
              <a:buChar char="•"/>
            </a:pPr>
            <a:r>
              <a:rPr lang="en-GB" dirty="0">
                <a:latin typeface="Corbel"/>
                <a:ea typeface="Tahoma"/>
                <a:cs typeface="Gill Sans Light"/>
              </a:rPr>
              <a:t>FALSE becomes 0, TRUE becomes 1</a:t>
            </a:r>
          </a:p>
          <a:p>
            <a:pPr marL="342900" indent="-342900">
              <a:buChar char="•"/>
            </a:pPr>
            <a:r>
              <a:rPr lang="en-GB" dirty="0">
                <a:latin typeface="Corbel"/>
                <a:ea typeface="Tahoma"/>
                <a:cs typeface="Gill Sans Light"/>
              </a:rPr>
              <a:t>mathematical functions automatically coerce to numeric</a:t>
            </a:r>
          </a:p>
          <a:p>
            <a:endParaRPr lang="en-GB" dirty="0">
              <a:latin typeface="Courier New"/>
              <a:ea typeface="Tahoma"/>
              <a:cs typeface="Gill Sans Light"/>
            </a:endParaRPr>
          </a:p>
          <a:p>
            <a:r>
              <a:rPr lang="en-GB" dirty="0">
                <a:latin typeface="Courier New"/>
                <a:ea typeface="Tahoma"/>
                <a:cs typeface="Gill Sans Light"/>
              </a:rPr>
              <a:t>x &lt;- c(FALSE,FALSE,TRUE)</a:t>
            </a:r>
            <a:endParaRPr lang="en-GB" dirty="0">
              <a:solidFill>
                <a:srgbClr val="50B798"/>
              </a:solidFill>
              <a:latin typeface="Corbel" panose="020B0503020204020204"/>
            </a:endParaRPr>
          </a:p>
          <a:p>
            <a:r>
              <a:rPr lang="en-GB" sz="2600" dirty="0" err="1">
                <a:solidFill>
                  <a:srgbClr val="1E2232"/>
                </a:solidFill>
                <a:latin typeface="Courier New"/>
                <a:ea typeface="Tahoma"/>
                <a:cs typeface="Courier New"/>
              </a:rPr>
              <a:t>as.numeric</a:t>
            </a:r>
            <a:r>
              <a:rPr lang="en-GB" sz="2600" dirty="0">
                <a:solidFill>
                  <a:srgbClr val="1E2232"/>
                </a:solidFill>
                <a:latin typeface="Courier New"/>
                <a:ea typeface="Tahoma"/>
                <a:cs typeface="Courier New"/>
              </a:rPr>
              <a:t>(x)</a:t>
            </a:r>
            <a:r>
              <a:rPr lang="en-GB" dirty="0">
                <a:solidFill>
                  <a:srgbClr val="1E2232"/>
                </a:solidFill>
                <a:latin typeface="Courier New"/>
                <a:ea typeface="Tahoma"/>
                <a:cs typeface="Gill Sans Light"/>
              </a:rPr>
              <a:t>[</a:t>
            </a:r>
            <a:r>
              <a:rPr lang="en-GB" dirty="0">
                <a:latin typeface="Courier New"/>
                <a:ea typeface="Tahoma"/>
                <a:cs typeface="Gill Sans Light"/>
              </a:rPr>
              <a:t>1]  0 0 1</a:t>
            </a:r>
            <a:endParaRPr lang="en-US" dirty="0">
              <a:latin typeface="Courier New"/>
              <a:ea typeface="Tahoma"/>
              <a:cs typeface="Gill Sans Light"/>
            </a:endParaRPr>
          </a:p>
          <a:p>
            <a:endParaRPr lang="en-GB" dirty="0">
              <a:latin typeface="Courier New"/>
              <a:ea typeface="Tahoma"/>
              <a:cs typeface="Gill Sans Light"/>
            </a:endParaRPr>
          </a:p>
          <a:p>
            <a:r>
              <a:rPr lang="en-GB" dirty="0">
                <a:latin typeface="Courier New"/>
                <a:ea typeface="Tahoma"/>
                <a:cs typeface="Gill Sans Light"/>
              </a:rPr>
              <a:t>sum(x) </a:t>
            </a:r>
            <a:r>
              <a:rPr lang="en-GB" dirty="0">
                <a:solidFill>
                  <a:srgbClr val="1E2232"/>
                </a:solidFill>
                <a:latin typeface="Courier New"/>
                <a:ea typeface="Tahoma"/>
                <a:cs typeface="Gill Sans Light"/>
              </a:rPr>
              <a:t> </a:t>
            </a:r>
            <a:r>
              <a:rPr lang="en-GB" b="1" dirty="0">
                <a:solidFill>
                  <a:schemeClr val="accent4"/>
                </a:solidFill>
                <a:latin typeface="Courier New"/>
                <a:ea typeface="Tahoma"/>
                <a:cs typeface="Gill Sans Light"/>
              </a:rPr>
              <a:t># number of TRUE</a:t>
            </a:r>
            <a:endParaRPr lang="en-GB" dirty="0">
              <a:solidFill>
                <a:schemeClr val="accent4"/>
              </a:solidFill>
              <a:latin typeface="Corbel" panose="020B0503020204020204"/>
              <a:ea typeface="Tahoma"/>
            </a:endParaRPr>
          </a:p>
          <a:p>
            <a:r>
              <a:rPr lang="en-GB" dirty="0">
                <a:solidFill>
                  <a:srgbClr val="1E2232"/>
                </a:solidFill>
                <a:latin typeface="Courier New"/>
                <a:ea typeface="Tahoma"/>
                <a:cs typeface="Courier New"/>
              </a:rPr>
              <a:t>mean(x) </a:t>
            </a:r>
            <a:r>
              <a:rPr lang="en-GB" b="1" dirty="0">
                <a:solidFill>
                  <a:schemeClr val="accent4"/>
                </a:solidFill>
                <a:latin typeface="Courier New"/>
                <a:ea typeface="Tahoma"/>
                <a:cs typeface="Courier New"/>
              </a:rPr>
              <a:t># proportion of TRUE</a:t>
            </a:r>
            <a:endParaRPr lang="en-GB" dirty="0">
              <a:solidFill>
                <a:schemeClr val="accent4"/>
              </a:solidFill>
              <a:latin typeface="Courier New"/>
              <a:ea typeface="Tahoma"/>
              <a:cs typeface="Courier New"/>
            </a:endParaRPr>
          </a:p>
        </p:txBody>
      </p:sp>
    </p:spTree>
    <p:extLst>
      <p:ext uri="{BB962C8B-B14F-4D97-AF65-F5344CB8AC3E}">
        <p14:creationId xmlns:p14="http://schemas.microsoft.com/office/powerpoint/2010/main" val="37385224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FECA-86DA-548A-FD8B-1BA80FC6C21E}"/>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BC7B3B69-5216-4EFC-8113-54B5B9B9A43C}"/>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- 4</a:t>
            </a:r>
            <a:endParaRPr lang="en-US" dirty="0"/>
          </a:p>
        </p:txBody>
      </p:sp>
      <p:sp>
        <p:nvSpPr>
          <p:cNvPr id="2" name="TextBox 1">
            <a:extLst>
              <a:ext uri="{FF2B5EF4-FFF2-40B4-BE49-F238E27FC236}">
                <a16:creationId xmlns:a16="http://schemas.microsoft.com/office/drawing/2014/main" id="{4A934EE1-AD9E-3BD9-20BB-D06A25422A9B}"/>
              </a:ext>
            </a:extLst>
          </p:cNvPr>
          <p:cNvSpPr txBox="1"/>
          <p:nvPr/>
        </p:nvSpPr>
        <p:spPr>
          <a:xfrm>
            <a:off x="838200" y="1019175"/>
            <a:ext cx="10553700" cy="56015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000" dirty="0">
                <a:solidFill>
                  <a:srgbClr val="262626"/>
                </a:solidFill>
                <a:latin typeface="Corbel"/>
              </a:rPr>
              <a:t>Create two vectors:</a:t>
            </a:r>
            <a:endParaRPr lang="en-US" dirty="0">
              <a:solidFill>
                <a:srgbClr val="1E2232"/>
              </a:solidFill>
              <a:latin typeface="Corbel"/>
            </a:endParaRPr>
          </a:p>
          <a:p>
            <a:pPr marL="914400" lvl="1" indent="-457200">
              <a:buFont typeface="Courier New"/>
              <a:buChar char="o"/>
            </a:pPr>
            <a:r>
              <a:rPr lang="en-US" sz="2000" b="1" dirty="0" err="1">
                <a:solidFill>
                  <a:srgbClr val="262626"/>
                </a:solidFill>
                <a:latin typeface="Corbel"/>
              </a:rPr>
              <a:t>vector_a</a:t>
            </a:r>
            <a:r>
              <a:rPr lang="en-US" sz="2000" dirty="0">
                <a:solidFill>
                  <a:srgbClr val="262626"/>
                </a:solidFill>
                <a:latin typeface="Corbel"/>
              </a:rPr>
              <a:t>,</a:t>
            </a:r>
            <a:r>
              <a:rPr lang="en-US" sz="2000" dirty="0">
                <a:solidFill>
                  <a:srgbClr val="262626"/>
                </a:solidFill>
                <a:ea typeface="+mn-lt"/>
                <a:cs typeface="+mn-lt"/>
              </a:rPr>
              <a:t> containing the values from −5 to 5 </a:t>
            </a:r>
          </a:p>
          <a:p>
            <a:pPr marL="914400" lvl="1" indent="-457200">
              <a:buFont typeface="Courier New"/>
              <a:buChar char="o"/>
            </a:pPr>
            <a:r>
              <a:rPr lang="en-US" sz="2000" b="1" dirty="0" err="1">
                <a:solidFill>
                  <a:srgbClr val="262626"/>
                </a:solidFill>
                <a:latin typeface="Corbel"/>
              </a:rPr>
              <a:t>vector_b</a:t>
            </a:r>
            <a:r>
              <a:rPr lang="en-US" sz="2000" dirty="0">
                <a:solidFill>
                  <a:srgbClr val="262626"/>
                </a:solidFill>
                <a:latin typeface="Corbel"/>
              </a:rPr>
              <a:t>, from 0 to 1 by increment of 0.1</a:t>
            </a:r>
          </a:p>
          <a:p>
            <a:pPr marL="914400" lvl="1" indent="-457200">
              <a:buFont typeface="Courier New"/>
              <a:buChar char="o"/>
            </a:pPr>
            <a:endParaRPr lang="en-US" sz="2000" dirty="0">
              <a:solidFill>
                <a:srgbClr val="262626"/>
              </a:solidFill>
              <a:latin typeface="Corbel"/>
            </a:endParaRPr>
          </a:p>
          <a:p>
            <a:pPr marL="457200" indent="-457200">
              <a:buAutoNum type="arabicPeriod"/>
            </a:pPr>
            <a:r>
              <a:rPr lang="en-US" sz="2000" dirty="0">
                <a:solidFill>
                  <a:srgbClr val="262626"/>
                </a:solidFill>
                <a:latin typeface="Corbel"/>
              </a:rPr>
              <a:t>Calculate the (element-wise) sum, difference and product between the elements of </a:t>
            </a:r>
            <a:r>
              <a:rPr lang="en-US" sz="2000" b="1" err="1">
                <a:solidFill>
                  <a:srgbClr val="262626"/>
                </a:solidFill>
                <a:latin typeface="Corbel"/>
              </a:rPr>
              <a:t>vector_a</a:t>
            </a:r>
            <a:r>
              <a:rPr lang="en-US" sz="2000" dirty="0">
                <a:solidFill>
                  <a:srgbClr val="262626"/>
                </a:solidFill>
                <a:latin typeface="Corbel"/>
              </a:rPr>
              <a:t> and </a:t>
            </a:r>
            <a:r>
              <a:rPr lang="en-US" sz="2000" b="1" err="1">
                <a:solidFill>
                  <a:srgbClr val="262626"/>
                </a:solidFill>
                <a:latin typeface="Corbel"/>
              </a:rPr>
              <a:t>vector_b</a:t>
            </a:r>
            <a:r>
              <a:rPr lang="en-US" sz="2000" dirty="0">
                <a:solidFill>
                  <a:srgbClr val="262626"/>
                </a:solidFill>
                <a:latin typeface="Corbel"/>
              </a:rPr>
              <a:t>.</a:t>
            </a:r>
            <a:r>
              <a:rPr lang="en-US" sz="2000" i="1" dirty="0">
                <a:solidFill>
                  <a:srgbClr val="262626"/>
                </a:solidFill>
                <a:latin typeface="Corbel"/>
              </a:rPr>
              <a:t> </a:t>
            </a:r>
            <a:r>
              <a:rPr lang="en-US" sz="2000" dirty="0">
                <a:solidFill>
                  <a:srgbClr val="262626"/>
                </a:solidFill>
                <a:latin typeface="Corbel"/>
              </a:rPr>
              <a:t>​</a:t>
            </a:r>
          </a:p>
          <a:p>
            <a:pPr marL="457200" indent="-457200">
              <a:buAutoNum type="arabicPeriod"/>
            </a:pPr>
            <a:r>
              <a:rPr lang="en-US" sz="2000" dirty="0">
                <a:solidFill>
                  <a:srgbClr val="262626"/>
                </a:solidFill>
                <a:latin typeface="Corbel"/>
              </a:rPr>
              <a:t>Calculate the sum of elements in </a:t>
            </a:r>
            <a:r>
              <a:rPr lang="en-US" sz="2000" b="1" err="1">
                <a:solidFill>
                  <a:srgbClr val="262626"/>
                </a:solidFill>
                <a:latin typeface="Corbel"/>
              </a:rPr>
              <a:t>vector_a</a:t>
            </a:r>
            <a:r>
              <a:rPr lang="en-US" sz="2000" dirty="0">
                <a:solidFill>
                  <a:srgbClr val="262626"/>
                </a:solidFill>
                <a:latin typeface="Corbel"/>
              </a:rPr>
              <a:t>. ​</a:t>
            </a:r>
          </a:p>
          <a:p>
            <a:pPr marL="457200" indent="-457200">
              <a:buAutoNum type="arabicPeriod"/>
            </a:pPr>
            <a:r>
              <a:rPr lang="en-US" sz="2000" dirty="0">
                <a:solidFill>
                  <a:srgbClr val="262626"/>
                </a:solidFill>
                <a:latin typeface="Corbel"/>
              </a:rPr>
              <a:t>Calculate the overall sum of elements in both </a:t>
            </a:r>
            <a:r>
              <a:rPr lang="en-US" sz="2000" b="1" err="1">
                <a:solidFill>
                  <a:srgbClr val="262626"/>
                </a:solidFill>
                <a:latin typeface="Corbel"/>
              </a:rPr>
              <a:t>vector_a</a:t>
            </a:r>
            <a:r>
              <a:rPr lang="en-US" sz="2000" dirty="0">
                <a:solidFill>
                  <a:srgbClr val="262626"/>
                </a:solidFill>
                <a:latin typeface="Corbel"/>
              </a:rPr>
              <a:t> and </a:t>
            </a:r>
            <a:r>
              <a:rPr lang="en-US" sz="2000" b="1" err="1">
                <a:solidFill>
                  <a:srgbClr val="262626"/>
                </a:solidFill>
                <a:latin typeface="Corbel"/>
              </a:rPr>
              <a:t>vector_b</a:t>
            </a:r>
            <a:r>
              <a:rPr lang="en-US" sz="2000" dirty="0">
                <a:solidFill>
                  <a:srgbClr val="262626"/>
                </a:solidFill>
                <a:latin typeface="Corbel"/>
              </a:rPr>
              <a:t>.​</a:t>
            </a:r>
          </a:p>
          <a:p>
            <a:pPr marL="457200" indent="-457200">
              <a:buAutoNum type="arabicPeriod"/>
            </a:pPr>
            <a:r>
              <a:rPr lang="en-US" sz="2000" dirty="0">
                <a:solidFill>
                  <a:srgbClr val="262626"/>
                </a:solidFill>
                <a:latin typeface="Corbel"/>
              </a:rPr>
              <a:t>Identify the smallest and the largest value in </a:t>
            </a:r>
            <a:r>
              <a:rPr lang="en-US" sz="2000" b="1" err="1">
                <a:solidFill>
                  <a:srgbClr val="262626"/>
                </a:solidFill>
                <a:latin typeface="Corbel"/>
              </a:rPr>
              <a:t>vector_a</a:t>
            </a:r>
            <a:r>
              <a:rPr lang="en-US" sz="2000" dirty="0">
                <a:solidFill>
                  <a:srgbClr val="262626"/>
                </a:solidFill>
                <a:latin typeface="Corbel"/>
              </a:rPr>
              <a:t>​</a:t>
            </a:r>
          </a:p>
          <a:p>
            <a:pPr marL="457200" indent="-457200">
              <a:buAutoNum type="arabicPeriod"/>
            </a:pPr>
            <a:r>
              <a:rPr lang="en-US" sz="2000" dirty="0">
                <a:solidFill>
                  <a:srgbClr val="262626"/>
                </a:solidFill>
                <a:ea typeface="+mn-lt"/>
                <a:cs typeface="+mn-lt"/>
              </a:rPr>
              <a:t>Identify the smallest and the largest value </a:t>
            </a:r>
            <a:r>
              <a:rPr lang="en-US" sz="2000" dirty="0">
                <a:solidFill>
                  <a:srgbClr val="262626"/>
                </a:solidFill>
                <a:latin typeface="Corbel"/>
              </a:rPr>
              <a:t>among both </a:t>
            </a:r>
            <a:r>
              <a:rPr lang="en-US" sz="2000" b="1" dirty="0" err="1">
                <a:solidFill>
                  <a:srgbClr val="262626"/>
                </a:solidFill>
                <a:latin typeface="Corbel"/>
              </a:rPr>
              <a:t>vector_a</a:t>
            </a:r>
            <a:r>
              <a:rPr lang="en-US" sz="2000" dirty="0">
                <a:solidFill>
                  <a:srgbClr val="262626"/>
                </a:solidFill>
                <a:latin typeface="Corbel"/>
              </a:rPr>
              <a:t> and  </a:t>
            </a:r>
            <a:r>
              <a:rPr lang="en-US" sz="2000" b="1" dirty="0" err="1">
                <a:solidFill>
                  <a:srgbClr val="262626"/>
                </a:solidFill>
                <a:latin typeface="Corbel"/>
              </a:rPr>
              <a:t>vector_b</a:t>
            </a:r>
            <a:r>
              <a:rPr lang="en-US" sz="2000" dirty="0">
                <a:solidFill>
                  <a:srgbClr val="262626"/>
                </a:solidFill>
                <a:latin typeface="Corbel"/>
              </a:rPr>
              <a:t>.​</a:t>
            </a:r>
          </a:p>
          <a:p>
            <a:pPr marL="457200" indent="-457200">
              <a:buAutoNum type="arabicPeriod"/>
            </a:pPr>
            <a:r>
              <a:rPr lang="en-US" sz="2000" dirty="0">
                <a:solidFill>
                  <a:srgbClr val="262626"/>
                </a:solidFill>
                <a:latin typeface="Corbel"/>
              </a:rPr>
              <a:t>Compute the overall mean of the values among both </a:t>
            </a:r>
            <a:r>
              <a:rPr lang="en-US" sz="2000" b="1" err="1">
                <a:solidFill>
                  <a:srgbClr val="262626"/>
                </a:solidFill>
                <a:latin typeface="Corbel"/>
              </a:rPr>
              <a:t>vector_a</a:t>
            </a:r>
            <a:r>
              <a:rPr lang="en-US" sz="2000" dirty="0">
                <a:solidFill>
                  <a:srgbClr val="262626"/>
                </a:solidFill>
                <a:latin typeface="Corbel"/>
              </a:rPr>
              <a:t> and </a:t>
            </a:r>
            <a:r>
              <a:rPr lang="en-US" sz="2000" b="1" err="1">
                <a:solidFill>
                  <a:srgbClr val="262626"/>
                </a:solidFill>
                <a:latin typeface="Corbel"/>
              </a:rPr>
              <a:t>vector_b</a:t>
            </a:r>
            <a:r>
              <a:rPr lang="en-US" sz="2000" dirty="0">
                <a:solidFill>
                  <a:srgbClr val="262626"/>
                </a:solidFill>
                <a:latin typeface="Corbel"/>
              </a:rPr>
              <a:t>.​</a:t>
            </a:r>
          </a:p>
          <a:p>
            <a:pPr marL="457200" indent="-457200">
              <a:buAutoNum type="arabicPeriod"/>
            </a:pPr>
            <a:endParaRPr lang="en-US" sz="2000" dirty="0">
              <a:solidFill>
                <a:srgbClr val="000000"/>
              </a:solidFill>
              <a:latin typeface="Corbel"/>
            </a:endParaRPr>
          </a:p>
          <a:p>
            <a:r>
              <a:rPr lang="en-US" sz="2000" i="1" dirty="0">
                <a:solidFill>
                  <a:srgbClr val="000000"/>
                </a:solidFill>
                <a:latin typeface="Corbel"/>
              </a:rPr>
              <a:t>Hint: Each task in exercises 1-7 can be performed in a single statement per vector </a:t>
            </a:r>
          </a:p>
          <a:p>
            <a:r>
              <a:rPr lang="en-US" sz="2000" i="1" dirty="0">
                <a:solidFill>
                  <a:srgbClr val="000000"/>
                </a:solidFill>
                <a:latin typeface="Corbel"/>
              </a:rPr>
              <a:t>   (the minimum and maximum count as 2 separate tasks)</a:t>
            </a:r>
            <a:r>
              <a:rPr lang="en-US" sz="2000" dirty="0">
                <a:solidFill>
                  <a:srgbClr val="000000"/>
                </a:solidFill>
                <a:latin typeface="Corbel"/>
              </a:rPr>
              <a:t>​</a:t>
            </a:r>
          </a:p>
          <a:p>
            <a:r>
              <a:rPr lang="en-US" sz="2000" b="1" dirty="0">
                <a:solidFill>
                  <a:srgbClr val="000000"/>
                </a:solidFill>
              </a:rPr>
              <a:t>EXTRA TASKS:</a:t>
            </a:r>
          </a:p>
          <a:p>
            <a:r>
              <a:rPr lang="en-US" sz="2000" dirty="0">
                <a:solidFill>
                  <a:srgbClr val="000000"/>
                </a:solidFill>
              </a:rPr>
              <a:t> - use the seq() function to create a vector </a:t>
            </a:r>
            <a:r>
              <a:rPr lang="en-US" sz="2000" b="1" dirty="0">
                <a:solidFill>
                  <a:srgbClr val="000000"/>
                </a:solidFill>
              </a:rPr>
              <a:t>x</a:t>
            </a:r>
            <a:r>
              <a:rPr lang="en-US" sz="2000" dirty="0">
                <a:solidFill>
                  <a:srgbClr val="000000"/>
                </a:solidFill>
              </a:rPr>
              <a:t> containing 100 values equally spread between 0 and 5</a:t>
            </a:r>
          </a:p>
          <a:p>
            <a:r>
              <a:rPr lang="en-US" sz="2000" dirty="0">
                <a:solidFill>
                  <a:srgbClr val="000000"/>
                </a:solidFill>
              </a:rPr>
              <a:t> - compute a vector </a:t>
            </a:r>
            <a:r>
              <a:rPr lang="en-US" sz="2000" b="1" dirty="0">
                <a:solidFill>
                  <a:srgbClr val="000000"/>
                </a:solidFill>
              </a:rPr>
              <a:t>y </a:t>
            </a:r>
            <a:r>
              <a:rPr lang="en-US" dirty="0">
                <a:solidFill>
                  <a:srgbClr val="1E2232"/>
                </a:solidFill>
              </a:rPr>
              <a:t>corresponding to the exponential of </a:t>
            </a:r>
            <a:r>
              <a:rPr lang="en-US" b="1" dirty="0">
                <a:solidFill>
                  <a:srgbClr val="1E2232"/>
                </a:solidFill>
              </a:rPr>
              <a:t>x</a:t>
            </a:r>
          </a:p>
          <a:p>
            <a:r>
              <a:rPr lang="en-US" b="1" dirty="0"/>
              <a:t> </a:t>
            </a:r>
            <a:r>
              <a:rPr lang="en-US" dirty="0"/>
              <a:t>- compute and compare the means and standard deviations of </a:t>
            </a:r>
            <a:r>
              <a:rPr lang="en-US" b="1" dirty="0"/>
              <a:t>x</a:t>
            </a:r>
            <a:r>
              <a:rPr lang="en-US" dirty="0"/>
              <a:t> and </a:t>
            </a:r>
            <a:r>
              <a:rPr lang="en-US" b="1" dirty="0"/>
              <a:t>y</a:t>
            </a:r>
          </a:p>
        </p:txBody>
      </p:sp>
    </p:spTree>
    <p:extLst>
      <p:ext uri="{BB962C8B-B14F-4D97-AF65-F5344CB8AC3E}">
        <p14:creationId xmlns:p14="http://schemas.microsoft.com/office/powerpoint/2010/main" val="33422614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15B92-1015-963B-3065-0D766FD23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3C99F-0F56-8B10-3E39-1D0C23EB8BB4}"/>
              </a:ext>
            </a:extLst>
          </p:cNvPr>
          <p:cNvSpPr>
            <a:spLocks noGrp="1"/>
          </p:cNvSpPr>
          <p:nvPr>
            <p:ph type="title"/>
          </p:nvPr>
        </p:nvSpPr>
        <p:spPr/>
        <p:txBody>
          <a:bodyPr/>
          <a:lstStyle/>
          <a:p>
            <a:r>
              <a:rPr lang="en-GB" dirty="0">
                <a:ea typeface="Verdana"/>
                <a:cs typeface="Gill Sans"/>
              </a:rPr>
              <a:t>Operators (most common ones)</a:t>
            </a:r>
            <a:endParaRPr lang="en-GB" dirty="0"/>
          </a:p>
        </p:txBody>
      </p:sp>
      <p:sp>
        <p:nvSpPr>
          <p:cNvPr id="3" name="Text Placeholder 2">
            <a:extLst>
              <a:ext uri="{FF2B5EF4-FFF2-40B4-BE49-F238E27FC236}">
                <a16:creationId xmlns:a16="http://schemas.microsoft.com/office/drawing/2014/main" id="{1328A96A-6682-65D4-1EF4-335C6E78D5B6}"/>
              </a:ext>
            </a:extLst>
          </p:cNvPr>
          <p:cNvSpPr>
            <a:spLocks noGrp="1"/>
          </p:cNvSpPr>
          <p:nvPr>
            <p:ph type="body" sz="quarter" idx="11"/>
          </p:nvPr>
        </p:nvSpPr>
        <p:spPr>
          <a:xfrm>
            <a:off x="828675" y="1666875"/>
            <a:ext cx="10515600" cy="4503738"/>
          </a:xfrm>
        </p:spPr>
        <p:txBody>
          <a:bodyPr vert="horz" lIns="91440" tIns="45720" rIns="91440" bIns="45720" rtlCol="0" anchor="t">
            <a:normAutofit/>
          </a:bodyPr>
          <a:lstStyle/>
          <a:p>
            <a:r>
              <a:rPr lang="en-GB" dirty="0">
                <a:latin typeface="Corbel"/>
                <a:ea typeface="Tahoma"/>
                <a:cs typeface="Gill Sans Light"/>
              </a:rPr>
              <a:t>Arithmetic:</a:t>
            </a:r>
            <a:r>
              <a:rPr lang="en-GB" dirty="0">
                <a:latin typeface="Courier New"/>
                <a:ea typeface="Tahoma"/>
                <a:cs typeface="Gill Sans Light"/>
              </a:rPr>
              <a:t> + , - , * , / , ^</a:t>
            </a:r>
          </a:p>
          <a:p>
            <a:endParaRPr lang="en-GB" dirty="0">
              <a:latin typeface="Courier New"/>
              <a:ea typeface="Tahoma"/>
              <a:cs typeface="Gill Sans Light"/>
            </a:endParaRPr>
          </a:p>
          <a:p>
            <a:r>
              <a:rPr lang="en-GB" dirty="0">
                <a:latin typeface="Corbel"/>
                <a:ea typeface="Tahoma"/>
                <a:cs typeface="Gill Sans Light"/>
              </a:rPr>
              <a:t>Comparison:  </a:t>
            </a:r>
            <a:r>
              <a:rPr lang="en-GB" dirty="0">
                <a:latin typeface="Courier New"/>
                <a:ea typeface="Tahoma"/>
                <a:cs typeface="Gill Sans Light"/>
              </a:rPr>
              <a:t>&lt; , &gt; , &lt;= , &gt;= , == (equal to), </a:t>
            </a:r>
          </a:p>
          <a:p>
            <a:r>
              <a:rPr lang="en-GB" dirty="0">
                <a:latin typeface="Courier New"/>
                <a:ea typeface="Tahoma"/>
                <a:cs typeface="Gill Sans Light"/>
              </a:rPr>
              <a:t>                 != (different from)</a:t>
            </a:r>
            <a:endParaRPr lang="en-GB"/>
          </a:p>
          <a:p>
            <a:endParaRPr lang="en-GB" dirty="0">
              <a:latin typeface="Corbel"/>
              <a:ea typeface="Tahoma"/>
              <a:cs typeface="Gill Sans Light"/>
            </a:endParaRPr>
          </a:p>
          <a:p>
            <a:r>
              <a:rPr lang="en-GB" dirty="0">
                <a:latin typeface="Corbel"/>
                <a:ea typeface="Tahoma"/>
                <a:cs typeface="Gill Sans Light"/>
              </a:rPr>
              <a:t>Logical: </a:t>
            </a:r>
            <a:r>
              <a:rPr lang="en-GB" dirty="0">
                <a:latin typeface="Courier New"/>
                <a:ea typeface="Tahoma"/>
                <a:cs typeface="Gill Sans Light"/>
              </a:rPr>
              <a:t>! (negation), &amp; (and), | (or)</a:t>
            </a:r>
            <a:endParaRPr lang="en-GB" dirty="0"/>
          </a:p>
          <a:p>
            <a:endParaRPr lang="en-GB" dirty="0">
              <a:latin typeface="Corbel"/>
              <a:ea typeface="Tahoma"/>
              <a:cs typeface="Gill Sans Light"/>
            </a:endParaRPr>
          </a:p>
          <a:p>
            <a:r>
              <a:rPr lang="en-GB" dirty="0">
                <a:latin typeface="Corbel"/>
                <a:ea typeface="Tahoma"/>
                <a:cs typeface="Gill Sans Light"/>
              </a:rPr>
              <a:t>Other:</a:t>
            </a:r>
            <a:r>
              <a:rPr lang="en-GB" dirty="0">
                <a:latin typeface="Courier New"/>
                <a:ea typeface="Tahoma"/>
                <a:cs typeface="Gill Sans Light"/>
              </a:rPr>
              <a:t> %in%</a:t>
            </a:r>
            <a:endParaRPr lang="en-GB">
              <a:solidFill>
                <a:schemeClr val="accent4"/>
              </a:solidFill>
              <a:latin typeface="Courier New"/>
              <a:ea typeface="Tahoma"/>
              <a:cs typeface="Courier New"/>
            </a:endParaRPr>
          </a:p>
        </p:txBody>
      </p:sp>
      <p:pic>
        <p:nvPicPr>
          <p:cNvPr id="5" name="Image 20" descr="A red and black logo&#10;&#10;Description automatically generated">
            <a:extLst>
              <a:ext uri="{FF2B5EF4-FFF2-40B4-BE49-F238E27FC236}">
                <a16:creationId xmlns:a16="http://schemas.microsoft.com/office/drawing/2014/main" id="{3AF7C1A5-F474-0A7A-D052-897E77840895}"/>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72B66D5D-D7D4-B02D-C41F-72969D0CD30C}"/>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Comparison, logical operators, and %in% always return logical values (TRUE/FALSE)</a:t>
            </a:r>
            <a:endParaRPr lang="en-US" dirty="0"/>
          </a:p>
        </p:txBody>
      </p:sp>
    </p:spTree>
    <p:extLst>
      <p:ext uri="{BB962C8B-B14F-4D97-AF65-F5344CB8AC3E}">
        <p14:creationId xmlns:p14="http://schemas.microsoft.com/office/powerpoint/2010/main" val="38234641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B743-7AFE-1F85-0A33-9101657EE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642C9-7F67-926B-2D69-69853F11F9E9}"/>
              </a:ext>
            </a:extLst>
          </p:cNvPr>
          <p:cNvSpPr>
            <a:spLocks noGrp="1"/>
          </p:cNvSpPr>
          <p:nvPr>
            <p:ph type="title"/>
          </p:nvPr>
        </p:nvSpPr>
        <p:spPr/>
        <p:txBody>
          <a:bodyPr/>
          <a:lstStyle/>
          <a:p>
            <a:r>
              <a:rPr lang="en-GB" dirty="0">
                <a:ea typeface="Verdana"/>
                <a:cs typeface="Gill Sans"/>
              </a:rPr>
              <a:t>Operators returning logical values</a:t>
            </a:r>
            <a:endParaRPr lang="en-GB" dirty="0"/>
          </a:p>
        </p:txBody>
      </p:sp>
      <p:sp>
        <p:nvSpPr>
          <p:cNvPr id="3" name="Text Placeholder 2">
            <a:extLst>
              <a:ext uri="{FF2B5EF4-FFF2-40B4-BE49-F238E27FC236}">
                <a16:creationId xmlns:a16="http://schemas.microsoft.com/office/drawing/2014/main" id="{BB89B27C-9A30-F91A-ADAD-A32B496F5292}"/>
              </a:ext>
            </a:extLst>
          </p:cNvPr>
          <p:cNvSpPr>
            <a:spLocks noGrp="1"/>
          </p:cNvSpPr>
          <p:nvPr>
            <p:ph type="body" sz="quarter" idx="11"/>
          </p:nvPr>
        </p:nvSpPr>
        <p:spPr>
          <a:xfrm>
            <a:off x="828675" y="1666875"/>
            <a:ext cx="10515600" cy="4503738"/>
          </a:xfrm>
        </p:spPr>
        <p:txBody>
          <a:bodyPr vert="horz" lIns="91440" tIns="45720" rIns="91440" bIns="45720" rtlCol="0" anchor="t">
            <a:normAutofit/>
          </a:bodyPr>
          <a:lstStyle/>
          <a:p>
            <a:pPr>
              <a:lnSpc>
                <a:spcPct val="100000"/>
              </a:lnSpc>
              <a:spcBef>
                <a:spcPct val="20000"/>
              </a:spcBef>
            </a:pPr>
            <a:r>
              <a:rPr lang="en-US" sz="2000" dirty="0">
                <a:latin typeface="Courier New"/>
                <a:ea typeface="+mn-lt"/>
                <a:cs typeface="+mn-lt"/>
              </a:rPr>
              <a:t>c(1,3,2) == 2</a:t>
            </a:r>
          </a:p>
          <a:p>
            <a:pPr>
              <a:lnSpc>
                <a:spcPct val="100000"/>
              </a:lnSpc>
              <a:spcBef>
                <a:spcPct val="20000"/>
              </a:spcBef>
            </a:pPr>
            <a:r>
              <a:rPr lang="en-US" sz="2000" dirty="0">
                <a:latin typeface="Courier New"/>
                <a:ea typeface="Tahoma"/>
                <a:cs typeface="Gill Sans Light"/>
              </a:rPr>
              <a:t>[1] FALSE </a:t>
            </a:r>
            <a:r>
              <a:rPr lang="en-US" sz="2000" err="1">
                <a:latin typeface="Courier New"/>
                <a:ea typeface="Tahoma"/>
                <a:cs typeface="Gill Sans Light"/>
              </a:rPr>
              <a:t>FALSE</a:t>
            </a:r>
            <a:r>
              <a:rPr lang="en-US" sz="2000" dirty="0">
                <a:latin typeface="Courier New"/>
                <a:ea typeface="Tahoma"/>
                <a:cs typeface="Gill Sans Light"/>
              </a:rPr>
              <a:t> </a:t>
            </a:r>
            <a:r>
              <a:rPr lang="en-US" sz="2000" b="1" dirty="0">
                <a:latin typeface="Courier New"/>
                <a:ea typeface="Tahoma"/>
                <a:cs typeface="Gill Sans Light"/>
              </a:rPr>
              <a:t>TRUE</a:t>
            </a:r>
            <a:endParaRPr lang="en-US" sz="2000" dirty="0">
              <a:latin typeface="Courier New"/>
              <a:ea typeface="Tahoma"/>
              <a:cs typeface="Gill Sans Light"/>
            </a:endParaRPr>
          </a:p>
          <a:p>
            <a:pPr>
              <a:lnSpc>
                <a:spcPct val="100000"/>
              </a:lnSpc>
              <a:spcBef>
                <a:spcPct val="20000"/>
              </a:spcBef>
            </a:pPr>
            <a:endParaRPr lang="en-US" sz="2000" dirty="0">
              <a:latin typeface="Courier New"/>
              <a:ea typeface="Tahoma"/>
              <a:cs typeface="Gill Sans Light"/>
            </a:endParaRPr>
          </a:p>
          <a:p>
            <a:pPr>
              <a:lnSpc>
                <a:spcPct val="100000"/>
              </a:lnSpc>
              <a:spcBef>
                <a:spcPct val="20000"/>
              </a:spcBef>
            </a:pPr>
            <a:r>
              <a:rPr lang="en-US" sz="2000" dirty="0">
                <a:latin typeface="Courier New"/>
                <a:ea typeface="Tahoma"/>
                <a:cs typeface="Courier New"/>
              </a:rPr>
              <a:t>c(1,3,2) &lt; 2</a:t>
            </a:r>
          </a:p>
          <a:p>
            <a:pPr>
              <a:lnSpc>
                <a:spcPct val="100000"/>
              </a:lnSpc>
              <a:spcBef>
                <a:spcPct val="20000"/>
              </a:spcBef>
            </a:pPr>
            <a:r>
              <a:rPr lang="en-US" sz="2000" dirty="0">
                <a:latin typeface="Courier New"/>
                <a:ea typeface="Tahoma"/>
                <a:cs typeface="Courier New"/>
              </a:rPr>
              <a:t>[1] </a:t>
            </a:r>
            <a:r>
              <a:rPr lang="en-US" sz="2000" b="1" dirty="0">
                <a:latin typeface="Courier New"/>
                <a:ea typeface="Tahoma"/>
                <a:cs typeface="Courier New"/>
              </a:rPr>
              <a:t>TRUE</a:t>
            </a:r>
            <a:r>
              <a:rPr lang="en-US" sz="2000" dirty="0">
                <a:latin typeface="Courier New"/>
                <a:ea typeface="Tahoma"/>
                <a:cs typeface="Courier New"/>
              </a:rPr>
              <a:t>  FALSE  </a:t>
            </a:r>
            <a:r>
              <a:rPr lang="en-US" sz="2000" err="1">
                <a:latin typeface="Courier New"/>
                <a:ea typeface="Tahoma"/>
                <a:cs typeface="Courier New"/>
              </a:rPr>
              <a:t>FALSE</a:t>
            </a:r>
            <a:endParaRPr lang="en-US" sz="2000">
              <a:latin typeface="Courier New"/>
              <a:ea typeface="Tahoma"/>
              <a:cs typeface="Courier New"/>
            </a:endParaRPr>
          </a:p>
          <a:p>
            <a:pPr>
              <a:lnSpc>
                <a:spcPct val="100000"/>
              </a:lnSpc>
              <a:spcBef>
                <a:spcPct val="20000"/>
              </a:spcBef>
            </a:pPr>
            <a:endParaRPr lang="en-US" sz="2000" dirty="0">
              <a:latin typeface="Courier New"/>
              <a:ea typeface="Tahoma"/>
              <a:cs typeface="Gill Sans Light"/>
            </a:endParaRPr>
          </a:p>
          <a:p>
            <a:pPr>
              <a:lnSpc>
                <a:spcPct val="100000"/>
              </a:lnSpc>
              <a:spcBef>
                <a:spcPct val="20000"/>
              </a:spcBef>
            </a:pPr>
            <a:r>
              <a:rPr lang="en-US" sz="2000" dirty="0">
                <a:latin typeface="Courier New"/>
                <a:ea typeface="+mn-lt"/>
                <a:cs typeface="+mn-lt"/>
              </a:rPr>
              <a:t>!(c(1,3,2) &lt; 2)   </a:t>
            </a:r>
            <a:r>
              <a:rPr lang="en-US" sz="2000" b="1" dirty="0">
                <a:solidFill>
                  <a:schemeClr val="accent4"/>
                </a:solidFill>
                <a:latin typeface="Courier New"/>
                <a:ea typeface="+mn-lt"/>
                <a:cs typeface="+mn-lt"/>
              </a:rPr>
              <a:t># ! Reverses TRUE and FALSE</a:t>
            </a:r>
          </a:p>
          <a:p>
            <a:pPr>
              <a:lnSpc>
                <a:spcPct val="100000"/>
              </a:lnSpc>
              <a:spcBef>
                <a:spcPct val="20000"/>
              </a:spcBef>
            </a:pPr>
            <a:r>
              <a:rPr lang="en-US" sz="2000" dirty="0">
                <a:latin typeface="Courier New"/>
                <a:ea typeface="Tahoma"/>
                <a:cs typeface="Gill Sans Light"/>
              </a:rPr>
              <a:t>[1] FALSE  </a:t>
            </a:r>
            <a:r>
              <a:rPr lang="en-US" sz="2000" b="1" dirty="0">
                <a:latin typeface="Courier New"/>
                <a:ea typeface="Tahoma"/>
                <a:cs typeface="Gill Sans Light"/>
              </a:rPr>
              <a:t>TRUE</a:t>
            </a:r>
            <a:r>
              <a:rPr lang="en-US" sz="2000" dirty="0">
                <a:latin typeface="Courier New"/>
                <a:ea typeface="Tahoma"/>
                <a:cs typeface="Gill Sans Light"/>
              </a:rPr>
              <a:t>  </a:t>
            </a:r>
            <a:r>
              <a:rPr lang="en-US" sz="2000" b="1" dirty="0" err="1">
                <a:latin typeface="Courier New"/>
                <a:ea typeface="Tahoma"/>
                <a:cs typeface="Gill Sans Light"/>
              </a:rPr>
              <a:t>TRUE</a:t>
            </a:r>
            <a:endParaRPr lang="en-US" sz="2000" dirty="0" err="1">
              <a:latin typeface="Courier New"/>
              <a:ea typeface="Tahoma"/>
              <a:cs typeface="Gill Sans Light"/>
            </a:endParaRPr>
          </a:p>
          <a:p>
            <a:pPr>
              <a:lnSpc>
                <a:spcPct val="100000"/>
              </a:lnSpc>
              <a:spcBef>
                <a:spcPct val="20000"/>
              </a:spcBef>
            </a:pPr>
            <a:endParaRPr lang="en-US" sz="2000" dirty="0">
              <a:latin typeface="Courier New"/>
              <a:ea typeface="Tahoma"/>
              <a:cs typeface="Gill Sans Light"/>
            </a:endParaRPr>
          </a:p>
          <a:p>
            <a:pPr>
              <a:lnSpc>
                <a:spcPct val="100000"/>
              </a:lnSpc>
              <a:spcBef>
                <a:spcPct val="20000"/>
              </a:spcBef>
            </a:pPr>
            <a:r>
              <a:rPr lang="en-US" sz="2000" dirty="0">
                <a:latin typeface="Courier New"/>
                <a:ea typeface="+mn-lt"/>
                <a:cs typeface="+mn-lt"/>
              </a:rPr>
              <a:t>c("Fred", "Marc", "Dan", "Ali") %in% c("Dan", "Geoff", "Ali")</a:t>
            </a:r>
          </a:p>
          <a:p>
            <a:pPr>
              <a:lnSpc>
                <a:spcPct val="100000"/>
              </a:lnSpc>
              <a:spcBef>
                <a:spcPct val="20000"/>
              </a:spcBef>
            </a:pPr>
            <a:r>
              <a:rPr lang="en-US" sz="2000" dirty="0">
                <a:latin typeface="Courier New"/>
                <a:ea typeface="Tahoma"/>
                <a:cs typeface="Gill Sans Light"/>
              </a:rPr>
              <a:t>[1] FALSE </a:t>
            </a:r>
            <a:r>
              <a:rPr lang="en-US" sz="2000" err="1">
                <a:latin typeface="Courier New"/>
                <a:ea typeface="Tahoma"/>
                <a:cs typeface="Gill Sans Light"/>
              </a:rPr>
              <a:t>FALSE</a:t>
            </a:r>
            <a:r>
              <a:rPr lang="en-US" sz="2000" dirty="0">
                <a:latin typeface="Courier New"/>
                <a:ea typeface="Tahoma"/>
                <a:cs typeface="Gill Sans Light"/>
              </a:rPr>
              <a:t> </a:t>
            </a:r>
            <a:r>
              <a:rPr lang="en-US" sz="2000" b="1" dirty="0">
                <a:latin typeface="Courier New"/>
                <a:ea typeface="Tahoma"/>
                <a:cs typeface="Gill Sans Light"/>
              </a:rPr>
              <a:t>TRUE</a:t>
            </a:r>
            <a:r>
              <a:rPr lang="en-US" sz="2000" dirty="0">
                <a:latin typeface="Courier New"/>
                <a:ea typeface="Tahoma"/>
                <a:cs typeface="Gill Sans Light"/>
              </a:rPr>
              <a:t>  </a:t>
            </a:r>
            <a:r>
              <a:rPr lang="en-US" sz="2000" b="1" err="1">
                <a:latin typeface="Courier New"/>
                <a:ea typeface="Tahoma"/>
                <a:cs typeface="Gill Sans Light"/>
              </a:rPr>
              <a:t>TRUE</a:t>
            </a:r>
            <a:endParaRPr lang="en-US" sz="2000" err="1">
              <a:latin typeface="Courier New"/>
              <a:ea typeface="Tahoma"/>
              <a:cs typeface="Gill Sans Light"/>
            </a:endParaRPr>
          </a:p>
          <a:p>
            <a:endParaRPr lang="en-GB" dirty="0">
              <a:solidFill>
                <a:srgbClr val="1E2232"/>
              </a:solidFill>
              <a:latin typeface="Corbel"/>
              <a:ea typeface="Tahoma"/>
              <a:cs typeface="Gill Sans Light"/>
            </a:endParaRPr>
          </a:p>
        </p:txBody>
      </p:sp>
    </p:spTree>
    <p:extLst>
      <p:ext uri="{BB962C8B-B14F-4D97-AF65-F5344CB8AC3E}">
        <p14:creationId xmlns:p14="http://schemas.microsoft.com/office/powerpoint/2010/main" val="32748700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4D4DA-50B3-6D9D-0E2B-04A645B2C5B3}"/>
              </a:ext>
            </a:extLst>
          </p:cNvPr>
          <p:cNvSpPr>
            <a:spLocks noGrp="1"/>
          </p:cNvSpPr>
          <p:nvPr>
            <p:ph type="title"/>
          </p:nvPr>
        </p:nvSpPr>
        <p:spPr/>
        <p:txBody>
          <a:bodyPr/>
          <a:lstStyle/>
          <a:p>
            <a:r>
              <a:rPr lang="en-GB" dirty="0">
                <a:ea typeface="Verdana"/>
                <a:cs typeface="Gill Sans"/>
              </a:rPr>
              <a:t>Using logical vectors to subset</a:t>
            </a:r>
            <a:endParaRPr lang="en-GB" dirty="0"/>
          </a:p>
        </p:txBody>
      </p:sp>
      <p:sp>
        <p:nvSpPr>
          <p:cNvPr id="3" name="Text Placeholder 2">
            <a:extLst>
              <a:ext uri="{FF2B5EF4-FFF2-40B4-BE49-F238E27FC236}">
                <a16:creationId xmlns:a16="http://schemas.microsoft.com/office/drawing/2014/main" id="{92F76A4E-1D12-20E3-1EC0-67D61C5063C6}"/>
              </a:ext>
            </a:extLst>
          </p:cNvPr>
          <p:cNvSpPr>
            <a:spLocks noGrp="1"/>
          </p:cNvSpPr>
          <p:nvPr>
            <p:ph type="body" sz="quarter" idx="11"/>
          </p:nvPr>
        </p:nvSpPr>
        <p:spPr/>
        <p:txBody>
          <a:bodyPr vert="horz" lIns="91440" tIns="45720" rIns="91440" bIns="45720" rtlCol="0" anchor="t">
            <a:noAutofit/>
          </a:bodyPr>
          <a:lstStyle/>
          <a:p>
            <a:r>
              <a:rPr lang="en-GB" sz="1800" dirty="0">
                <a:ea typeface="Tahoma"/>
                <a:cs typeface="Gill Sans Light"/>
              </a:rPr>
              <a:t>The [] operator can also accept a logical vector</a:t>
            </a:r>
          </a:p>
          <a:p>
            <a:r>
              <a:rPr lang="en-GB" sz="1800" dirty="0">
                <a:latin typeface="Courier New"/>
                <a:ea typeface="Tahoma"/>
                <a:cs typeface="Courier New"/>
              </a:rPr>
              <a:t>a &lt;- 1:4</a:t>
            </a:r>
          </a:p>
          <a:p>
            <a:r>
              <a:rPr lang="en-GB" sz="1800" dirty="0">
                <a:latin typeface="Courier New"/>
                <a:ea typeface="Tahoma"/>
                <a:cs typeface="Courier New"/>
              </a:rPr>
              <a:t>a</a:t>
            </a:r>
            <a:endParaRPr lang="en-US" sz="1800">
              <a:latin typeface="Courier New"/>
              <a:ea typeface="Tahoma"/>
              <a:cs typeface="Courier New"/>
            </a:endParaRPr>
          </a:p>
          <a:p>
            <a:r>
              <a:rPr lang="en-GB" sz="1800" dirty="0">
                <a:latin typeface="Courier New"/>
                <a:ea typeface="Tahoma"/>
                <a:cs typeface="Courier New"/>
              </a:rPr>
              <a:t>[1]  1 2 3 4 </a:t>
            </a:r>
          </a:p>
          <a:p>
            <a:endParaRPr lang="en-GB" sz="1800" dirty="0">
              <a:latin typeface="Courier New"/>
              <a:cs typeface="Courier New"/>
            </a:endParaRPr>
          </a:p>
          <a:p>
            <a:r>
              <a:rPr lang="en-GB" sz="1800" dirty="0">
                <a:latin typeface="Courier New"/>
                <a:ea typeface="Tahoma"/>
                <a:cs typeface="Courier New"/>
              </a:rPr>
              <a:t>a[ c(FALSE,FALSE,TRUE,TRUE) ] </a:t>
            </a:r>
            <a:r>
              <a:rPr lang="en-GB" sz="1800" b="1" dirty="0">
                <a:solidFill>
                  <a:schemeClr val="accent4"/>
                </a:solidFill>
                <a:latin typeface="Courier New"/>
                <a:ea typeface="Tahoma"/>
                <a:cs typeface="Courier New"/>
              </a:rPr>
              <a:t># select the elements where there is TRUE</a:t>
            </a:r>
          </a:p>
          <a:p>
            <a:r>
              <a:rPr lang="en-GB" sz="1800" dirty="0">
                <a:latin typeface="Courier New"/>
                <a:ea typeface="Tahoma"/>
                <a:cs typeface="Courier New"/>
              </a:rPr>
              <a:t>[1]  3 4</a:t>
            </a:r>
          </a:p>
          <a:p>
            <a:endParaRPr lang="en-GB" sz="1800" dirty="0">
              <a:latin typeface="Courier New"/>
              <a:cs typeface="Courier New"/>
            </a:endParaRPr>
          </a:p>
          <a:p>
            <a:r>
              <a:rPr lang="en-GB" sz="1800" dirty="0">
                <a:latin typeface="Courier New"/>
                <a:ea typeface="Tahoma"/>
                <a:cs typeface="Courier New"/>
              </a:rPr>
              <a:t>a[ a&gt;2 ] </a:t>
            </a:r>
            <a:r>
              <a:rPr lang="en-GB" sz="1800" b="1" dirty="0">
                <a:solidFill>
                  <a:schemeClr val="accent4"/>
                </a:solidFill>
                <a:latin typeface="Courier New"/>
                <a:ea typeface="Tahoma"/>
                <a:cs typeface="Courier New"/>
              </a:rPr>
              <a:t># the logical vector is provided by a logical expression</a:t>
            </a:r>
            <a:endParaRPr lang="en-GB" sz="1800">
              <a:solidFill>
                <a:schemeClr val="accent4"/>
              </a:solidFill>
              <a:latin typeface="Courier New"/>
              <a:ea typeface="Tahoma"/>
              <a:cs typeface="Courier New"/>
            </a:endParaRPr>
          </a:p>
          <a:p>
            <a:r>
              <a:rPr lang="en-GB" sz="1800" dirty="0">
                <a:latin typeface="Courier New"/>
                <a:ea typeface="Tahoma"/>
                <a:cs typeface="Courier New"/>
              </a:rPr>
              <a:t>[1]  3 4</a:t>
            </a:r>
          </a:p>
          <a:p>
            <a:endParaRPr lang="en-GB" sz="1800" dirty="0"/>
          </a:p>
          <a:p>
            <a:endParaRPr lang="en-GB" sz="1800" dirty="0"/>
          </a:p>
          <a:p>
            <a:endParaRPr lang="en-GB" sz="1800" dirty="0"/>
          </a:p>
        </p:txBody>
      </p:sp>
      <p:pic>
        <p:nvPicPr>
          <p:cNvPr id="5" name="Image 20" descr="A red and black logo&#10;&#10;Description automatically generated">
            <a:extLst>
              <a:ext uri="{FF2B5EF4-FFF2-40B4-BE49-F238E27FC236}">
                <a16:creationId xmlns:a16="http://schemas.microsoft.com/office/drawing/2014/main" id="{5831DD58-EF87-D3EF-7C48-45BEC2D3AB86}"/>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3E77B8A5-895A-C2B0-4EB5-14CC9023C1A0}"/>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This sort of operation is extremely common </a:t>
            </a:r>
          </a:p>
          <a:p>
            <a:r>
              <a:rPr lang="en-GB" sz="2400" b="1" dirty="0"/>
              <a:t>to subset some data</a:t>
            </a:r>
          </a:p>
        </p:txBody>
      </p:sp>
    </p:spTree>
    <p:extLst>
      <p:ext uri="{BB962C8B-B14F-4D97-AF65-F5344CB8AC3E}">
        <p14:creationId xmlns:p14="http://schemas.microsoft.com/office/powerpoint/2010/main" val="1361316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0008D-1615-B6B6-82FA-5E7BDF8F93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0F8C6-F44B-E906-56E8-9DFD8E6A8910}"/>
              </a:ext>
            </a:extLst>
          </p:cNvPr>
          <p:cNvSpPr>
            <a:spLocks noGrp="1"/>
          </p:cNvSpPr>
          <p:nvPr>
            <p:ph type="title"/>
          </p:nvPr>
        </p:nvSpPr>
        <p:spPr/>
        <p:txBody>
          <a:bodyPr/>
          <a:lstStyle/>
          <a:p>
            <a:r>
              <a:rPr lang="en-GB" dirty="0">
                <a:ea typeface="Verdana"/>
                <a:cs typeface="Gill Sans"/>
              </a:rPr>
              <a:t>Missing values (I)</a:t>
            </a:r>
            <a:endParaRPr lang="en-US" dirty="0"/>
          </a:p>
        </p:txBody>
      </p:sp>
      <p:sp>
        <p:nvSpPr>
          <p:cNvPr id="3" name="Text Placeholder 2">
            <a:extLst>
              <a:ext uri="{FF2B5EF4-FFF2-40B4-BE49-F238E27FC236}">
                <a16:creationId xmlns:a16="http://schemas.microsoft.com/office/drawing/2014/main" id="{4B8E71B9-41AA-9515-6B56-F0FEFE667AAD}"/>
              </a:ext>
            </a:extLst>
          </p:cNvPr>
          <p:cNvSpPr>
            <a:spLocks noGrp="1"/>
          </p:cNvSpPr>
          <p:nvPr>
            <p:ph type="body" sz="quarter" idx="11"/>
          </p:nvPr>
        </p:nvSpPr>
        <p:spPr>
          <a:xfrm>
            <a:off x="838200" y="1666875"/>
            <a:ext cx="10515600" cy="4503738"/>
          </a:xfrm>
        </p:spPr>
        <p:txBody>
          <a:bodyPr vert="horz" lIns="91440" tIns="45720" rIns="91440" bIns="45720" rtlCol="0" anchor="t">
            <a:normAutofit fontScale="92500" lnSpcReduction="20000"/>
          </a:bodyPr>
          <a:lstStyle/>
          <a:p>
            <a:pPr>
              <a:lnSpc>
                <a:spcPct val="100000"/>
              </a:lnSpc>
              <a:spcBef>
                <a:spcPct val="20000"/>
              </a:spcBef>
            </a:pPr>
            <a:r>
              <a:rPr lang="en-US" sz="2200" dirty="0">
                <a:ea typeface="+mn-lt"/>
                <a:cs typeface="+mn-lt"/>
              </a:rPr>
              <a:t>Missing values are usually represented by NA</a:t>
            </a:r>
            <a:r>
              <a:rPr lang="fr-FR" sz="2200" dirty="0">
                <a:ea typeface="+mn-lt"/>
                <a:cs typeface="+mn-lt"/>
              </a:rPr>
              <a:t>:</a:t>
            </a:r>
            <a:endParaRPr lang="da-DK" sz="2200" dirty="0">
              <a:ea typeface="+mn-lt"/>
              <a:cs typeface="+mn-lt"/>
            </a:endParaRPr>
          </a:p>
          <a:p>
            <a:pPr>
              <a:lnSpc>
                <a:spcPct val="100000"/>
              </a:lnSpc>
              <a:spcBef>
                <a:spcPct val="20000"/>
              </a:spcBef>
            </a:pPr>
            <a:r>
              <a:rPr lang="da-DK" sz="1900" dirty="0">
                <a:latin typeface="Courier New"/>
                <a:ea typeface="+mn-lt"/>
                <a:cs typeface="+mn-lt"/>
              </a:rPr>
              <a:t>y &lt;- c(1,2,3,4,5,NA,NA) </a:t>
            </a:r>
            <a:endParaRPr lang="en-US" sz="1900" dirty="0">
              <a:latin typeface="Courier New"/>
              <a:ea typeface="+mn-lt"/>
              <a:cs typeface="+mn-lt"/>
            </a:endParaRPr>
          </a:p>
          <a:p>
            <a:pPr>
              <a:lnSpc>
                <a:spcPct val="100000"/>
              </a:lnSpc>
              <a:spcBef>
                <a:spcPct val="20000"/>
              </a:spcBef>
            </a:pPr>
            <a:endParaRPr lang="da-DK" sz="1900" dirty="0">
              <a:ea typeface="+mn-lt"/>
              <a:cs typeface="+mn-lt"/>
            </a:endParaRPr>
          </a:p>
          <a:p>
            <a:pPr>
              <a:lnSpc>
                <a:spcPct val="100000"/>
              </a:lnSpc>
              <a:spcBef>
                <a:spcPct val="20000"/>
              </a:spcBef>
            </a:pPr>
            <a:r>
              <a:rPr lang="da-DK" sz="2200" dirty="0" err="1">
                <a:ea typeface="+mn-lt"/>
                <a:cs typeface="+mn-lt"/>
              </a:rPr>
              <a:t>NA's</a:t>
            </a:r>
            <a:r>
              <a:rPr lang="da-DK" sz="2200" dirty="0">
                <a:ea typeface="+mn-lt"/>
                <a:cs typeface="+mn-lt"/>
              </a:rPr>
              <a:t> </a:t>
            </a:r>
            <a:r>
              <a:rPr lang="da-DK" sz="2200" dirty="0" err="1">
                <a:ea typeface="+mn-lt"/>
                <a:cs typeface="+mn-lt"/>
              </a:rPr>
              <a:t>interfer</a:t>
            </a:r>
            <a:r>
              <a:rPr lang="da-DK" sz="2200" dirty="0">
                <a:ea typeface="+mn-lt"/>
                <a:cs typeface="+mn-lt"/>
              </a:rPr>
              <a:t> with </a:t>
            </a:r>
            <a:r>
              <a:rPr lang="da-DK" sz="2200" dirty="0" err="1">
                <a:ea typeface="+mn-lt"/>
                <a:cs typeface="+mn-lt"/>
              </a:rPr>
              <a:t>many</a:t>
            </a:r>
            <a:r>
              <a:rPr lang="da-DK" sz="2200" dirty="0">
                <a:ea typeface="+mn-lt"/>
                <a:cs typeface="+mn-lt"/>
              </a:rPr>
              <a:t> </a:t>
            </a:r>
            <a:r>
              <a:rPr lang="da-DK" sz="2200" dirty="0" err="1">
                <a:ea typeface="+mn-lt"/>
                <a:cs typeface="+mn-lt"/>
              </a:rPr>
              <a:t>functions</a:t>
            </a:r>
            <a:r>
              <a:rPr lang="da-DK" sz="2200" dirty="0">
                <a:ea typeface="+mn-lt"/>
                <a:cs typeface="+mn-lt"/>
              </a:rPr>
              <a:t>:</a:t>
            </a:r>
            <a:endParaRPr lang="en-US" sz="2200" dirty="0">
              <a:ea typeface="+mn-lt"/>
              <a:cs typeface="+mn-lt"/>
            </a:endParaRPr>
          </a:p>
          <a:p>
            <a:pPr>
              <a:lnSpc>
                <a:spcPct val="100000"/>
              </a:lnSpc>
              <a:spcBef>
                <a:spcPct val="20000"/>
              </a:spcBef>
            </a:pPr>
            <a:r>
              <a:rPr lang="da-DK" sz="1900" dirty="0" err="1">
                <a:latin typeface="Courier New"/>
                <a:ea typeface="+mn-lt"/>
                <a:cs typeface="+mn-lt"/>
              </a:rPr>
              <a:t>mean</a:t>
            </a:r>
            <a:r>
              <a:rPr lang="da-DK" sz="1900" dirty="0">
                <a:latin typeface="Courier New"/>
                <a:ea typeface="+mn-lt"/>
                <a:cs typeface="+mn-lt"/>
              </a:rPr>
              <a:t>(y) </a:t>
            </a:r>
            <a:endParaRPr lang="en-US" sz="1900" dirty="0">
              <a:latin typeface="Courier New"/>
              <a:ea typeface="+mn-lt"/>
              <a:cs typeface="+mn-lt"/>
            </a:endParaRPr>
          </a:p>
          <a:p>
            <a:pPr>
              <a:lnSpc>
                <a:spcPct val="100000"/>
              </a:lnSpc>
              <a:spcBef>
                <a:spcPct val="20000"/>
              </a:spcBef>
            </a:pPr>
            <a:r>
              <a:rPr lang="da-DK" sz="1900" dirty="0">
                <a:latin typeface="Courier New"/>
                <a:ea typeface="+mn-lt"/>
                <a:cs typeface="+mn-lt"/>
              </a:rPr>
              <a:t>[1] NA</a:t>
            </a:r>
            <a:endParaRPr lang="en-US" sz="1900" dirty="0">
              <a:latin typeface="Courier New"/>
              <a:ea typeface="+mn-lt"/>
              <a:cs typeface="+mn-lt"/>
            </a:endParaRPr>
          </a:p>
          <a:p>
            <a:pPr>
              <a:lnSpc>
                <a:spcPct val="100000"/>
              </a:lnSpc>
              <a:spcBef>
                <a:spcPct val="20000"/>
              </a:spcBef>
            </a:pPr>
            <a:endParaRPr lang="da-DK" sz="1900" dirty="0">
              <a:ea typeface="+mn-lt"/>
              <a:cs typeface="+mn-lt"/>
            </a:endParaRPr>
          </a:p>
          <a:p>
            <a:pPr>
              <a:lnSpc>
                <a:spcPct val="100000"/>
              </a:lnSpc>
              <a:spcBef>
                <a:spcPct val="20000"/>
              </a:spcBef>
            </a:pPr>
            <a:r>
              <a:rPr lang="da-DK" sz="2200" dirty="0">
                <a:ea typeface="+mn-lt"/>
                <a:cs typeface="+mn-lt"/>
              </a:rPr>
              <a:t>Arguments </a:t>
            </a:r>
            <a:r>
              <a:rPr lang="da-DK" sz="2200" dirty="0" err="1">
                <a:ea typeface="+mn-lt"/>
                <a:cs typeface="+mn-lt"/>
              </a:rPr>
              <a:t>often</a:t>
            </a:r>
            <a:r>
              <a:rPr lang="da-DK" sz="2200" dirty="0">
                <a:ea typeface="+mn-lt"/>
                <a:cs typeface="+mn-lt"/>
              </a:rPr>
              <a:t> </a:t>
            </a:r>
            <a:r>
              <a:rPr lang="da-DK" sz="2200" dirty="0" err="1">
                <a:ea typeface="+mn-lt"/>
                <a:cs typeface="+mn-lt"/>
              </a:rPr>
              <a:t>exist</a:t>
            </a:r>
            <a:r>
              <a:rPr lang="da-DK" sz="2200" dirty="0">
                <a:ea typeface="+mn-lt"/>
                <a:cs typeface="+mn-lt"/>
              </a:rPr>
              <a:t> to </a:t>
            </a:r>
            <a:r>
              <a:rPr lang="da-DK" sz="2200" dirty="0" err="1">
                <a:ea typeface="+mn-lt"/>
                <a:cs typeface="+mn-lt"/>
              </a:rPr>
              <a:t>remove</a:t>
            </a:r>
            <a:r>
              <a:rPr lang="da-DK" sz="2200" dirty="0">
                <a:ea typeface="+mn-lt"/>
                <a:cs typeface="+mn-lt"/>
              </a:rPr>
              <a:t> </a:t>
            </a:r>
            <a:r>
              <a:rPr lang="da-DK" sz="2200" dirty="0" err="1">
                <a:ea typeface="+mn-lt"/>
                <a:cs typeface="+mn-lt"/>
              </a:rPr>
              <a:t>NA's</a:t>
            </a:r>
            <a:r>
              <a:rPr lang="da-DK" sz="2200" dirty="0">
                <a:ea typeface="+mn-lt"/>
                <a:cs typeface="+mn-lt"/>
              </a:rPr>
              <a:t> </a:t>
            </a:r>
            <a:r>
              <a:rPr lang="da-DK" sz="2200" dirty="0" err="1">
                <a:ea typeface="+mn-lt"/>
                <a:cs typeface="+mn-lt"/>
              </a:rPr>
              <a:t>before</a:t>
            </a:r>
            <a:r>
              <a:rPr lang="da-DK" sz="2200" dirty="0">
                <a:ea typeface="+mn-lt"/>
                <a:cs typeface="+mn-lt"/>
              </a:rPr>
              <a:t> </a:t>
            </a:r>
            <a:r>
              <a:rPr lang="da-DK" sz="2200" dirty="0" err="1">
                <a:ea typeface="+mn-lt"/>
                <a:cs typeface="+mn-lt"/>
              </a:rPr>
              <a:t>calculation</a:t>
            </a:r>
            <a:endParaRPr lang="en-US" sz="2200" dirty="0" err="1">
              <a:ea typeface="+mn-lt"/>
              <a:cs typeface="+mn-lt"/>
            </a:endParaRPr>
          </a:p>
          <a:p>
            <a:pPr>
              <a:lnSpc>
                <a:spcPct val="100000"/>
              </a:lnSpc>
              <a:spcBef>
                <a:spcPct val="20000"/>
              </a:spcBef>
            </a:pPr>
            <a:r>
              <a:rPr lang="da-DK" sz="1900" dirty="0" err="1">
                <a:latin typeface="Courier New"/>
                <a:ea typeface="+mn-lt"/>
                <a:cs typeface="+mn-lt"/>
              </a:rPr>
              <a:t>mean</a:t>
            </a:r>
            <a:r>
              <a:rPr lang="da-DK" sz="1900" dirty="0">
                <a:latin typeface="Courier New"/>
                <a:ea typeface="+mn-lt"/>
                <a:cs typeface="+mn-lt"/>
              </a:rPr>
              <a:t>(y, na.rm=TRUE) </a:t>
            </a:r>
            <a:endParaRPr lang="en-US" sz="1900" dirty="0">
              <a:latin typeface="Courier New"/>
              <a:ea typeface="+mn-lt"/>
              <a:cs typeface="+mn-lt"/>
            </a:endParaRPr>
          </a:p>
          <a:p>
            <a:pPr>
              <a:lnSpc>
                <a:spcPct val="100000"/>
              </a:lnSpc>
              <a:spcBef>
                <a:spcPct val="20000"/>
              </a:spcBef>
            </a:pPr>
            <a:r>
              <a:rPr lang="da-DK" sz="1900" dirty="0">
                <a:latin typeface="Courier New"/>
                <a:ea typeface="+mn-lt"/>
                <a:cs typeface="+mn-lt"/>
              </a:rPr>
              <a:t>[1] 3</a:t>
            </a:r>
            <a:endParaRPr lang="en-US" sz="1900" dirty="0">
              <a:latin typeface="Courier New"/>
              <a:ea typeface="+mn-lt"/>
              <a:cs typeface="+mn-lt"/>
            </a:endParaRPr>
          </a:p>
          <a:p>
            <a:pPr>
              <a:lnSpc>
                <a:spcPct val="100000"/>
              </a:lnSpc>
              <a:spcBef>
                <a:spcPct val="20000"/>
              </a:spcBef>
            </a:pPr>
            <a:endParaRPr lang="da-DK" sz="1900" dirty="0">
              <a:ea typeface="+mn-lt"/>
              <a:cs typeface="+mn-lt"/>
            </a:endParaRPr>
          </a:p>
          <a:p>
            <a:pPr>
              <a:lnSpc>
                <a:spcPct val="100000"/>
              </a:lnSpc>
              <a:spcBef>
                <a:spcPct val="20000"/>
              </a:spcBef>
            </a:pPr>
            <a:r>
              <a:rPr lang="da-DK" sz="2200" dirty="0" err="1">
                <a:ea typeface="+mn-lt"/>
                <a:cs typeface="+mn-lt"/>
              </a:rPr>
              <a:t>Alternatively</a:t>
            </a:r>
            <a:r>
              <a:rPr lang="da-DK" sz="2200" dirty="0">
                <a:ea typeface="+mn-lt"/>
                <a:cs typeface="+mn-lt"/>
              </a:rPr>
              <a:t>, </a:t>
            </a:r>
            <a:r>
              <a:rPr lang="da-DK" sz="2200" dirty="0" err="1">
                <a:ea typeface="+mn-lt"/>
                <a:cs typeface="+mn-lt"/>
              </a:rPr>
              <a:t>use</a:t>
            </a:r>
            <a:r>
              <a:rPr lang="da-DK" sz="2200" dirty="0">
                <a:ea typeface="+mn-lt"/>
                <a:cs typeface="+mn-lt"/>
              </a:rPr>
              <a:t> </a:t>
            </a:r>
            <a:r>
              <a:rPr lang="da-DK" sz="2200" b="1" dirty="0" err="1">
                <a:ea typeface="+mn-lt"/>
                <a:cs typeface="+mn-lt"/>
              </a:rPr>
              <a:t>na.omit</a:t>
            </a:r>
            <a:r>
              <a:rPr lang="da-DK" sz="2200" b="1" dirty="0">
                <a:ea typeface="+mn-lt"/>
                <a:cs typeface="+mn-lt"/>
              </a:rPr>
              <a:t>() </a:t>
            </a:r>
            <a:r>
              <a:rPr lang="da-DK" sz="2200" dirty="0">
                <a:ea typeface="+mn-lt"/>
                <a:cs typeface="+mn-lt"/>
              </a:rPr>
              <a:t>to </a:t>
            </a:r>
            <a:r>
              <a:rPr lang="da-DK" sz="2200" dirty="0" err="1">
                <a:ea typeface="+mn-lt"/>
                <a:cs typeface="+mn-lt"/>
              </a:rPr>
              <a:t>remove</a:t>
            </a:r>
            <a:r>
              <a:rPr lang="da-DK" sz="2200" dirty="0">
                <a:ea typeface="+mn-lt"/>
                <a:cs typeface="+mn-lt"/>
              </a:rPr>
              <a:t> </a:t>
            </a:r>
            <a:r>
              <a:rPr lang="da-DK" sz="2200" dirty="0" err="1">
                <a:ea typeface="+mn-lt"/>
                <a:cs typeface="+mn-lt"/>
              </a:rPr>
              <a:t>NAs</a:t>
            </a:r>
            <a:r>
              <a:rPr lang="da-DK" sz="2200" dirty="0">
                <a:ea typeface="+mn-lt"/>
                <a:cs typeface="+mn-lt"/>
              </a:rPr>
              <a:t> from the data </a:t>
            </a:r>
            <a:endParaRPr lang="en-US" sz="2200" dirty="0">
              <a:ea typeface="+mn-lt"/>
              <a:cs typeface="+mn-lt"/>
            </a:endParaRPr>
          </a:p>
          <a:p>
            <a:pPr>
              <a:lnSpc>
                <a:spcPct val="100000"/>
              </a:lnSpc>
              <a:spcBef>
                <a:spcPct val="20000"/>
              </a:spcBef>
            </a:pPr>
            <a:r>
              <a:rPr lang="da-DK" sz="1900" dirty="0" err="1">
                <a:latin typeface="Courier New"/>
                <a:ea typeface="+mn-lt"/>
                <a:cs typeface="+mn-lt"/>
              </a:rPr>
              <a:t>y_cleaned</a:t>
            </a:r>
            <a:r>
              <a:rPr lang="da-DK" sz="1900" dirty="0">
                <a:latin typeface="Courier New"/>
                <a:ea typeface="+mn-lt"/>
                <a:cs typeface="+mn-lt"/>
              </a:rPr>
              <a:t> &lt;- </a:t>
            </a:r>
            <a:r>
              <a:rPr lang="da-DK" sz="1900" dirty="0" err="1">
                <a:latin typeface="Courier New"/>
                <a:ea typeface="+mn-lt"/>
                <a:cs typeface="+mn-lt"/>
              </a:rPr>
              <a:t>na.omit</a:t>
            </a:r>
            <a:r>
              <a:rPr lang="da-DK" sz="1900" dirty="0">
                <a:latin typeface="Courier New"/>
                <a:ea typeface="+mn-lt"/>
                <a:cs typeface="+mn-lt"/>
              </a:rPr>
              <a:t>(y)</a:t>
            </a:r>
            <a:endParaRPr lang="en-US" sz="1900" dirty="0">
              <a:latin typeface="Courier New"/>
              <a:ea typeface="+mn-lt"/>
              <a:cs typeface="+mn-lt"/>
            </a:endParaRPr>
          </a:p>
          <a:p>
            <a:pPr>
              <a:lnSpc>
                <a:spcPct val="100000"/>
              </a:lnSpc>
              <a:spcBef>
                <a:spcPct val="20000"/>
              </a:spcBef>
            </a:pPr>
            <a:r>
              <a:rPr lang="da-DK" sz="1900" dirty="0" err="1">
                <a:latin typeface="Courier New"/>
                <a:ea typeface="+mn-lt"/>
                <a:cs typeface="+mn-lt"/>
              </a:rPr>
              <a:t>mean</a:t>
            </a:r>
            <a:r>
              <a:rPr lang="da-DK" sz="1900" dirty="0">
                <a:latin typeface="Courier New"/>
                <a:ea typeface="+mn-lt"/>
                <a:cs typeface="+mn-lt"/>
              </a:rPr>
              <a:t>(</a:t>
            </a:r>
            <a:r>
              <a:rPr lang="da-DK" sz="1900" dirty="0" err="1">
                <a:latin typeface="Courier New"/>
                <a:ea typeface="+mn-lt"/>
                <a:cs typeface="+mn-lt"/>
              </a:rPr>
              <a:t>y_cleaned</a:t>
            </a:r>
            <a:r>
              <a:rPr lang="da-DK" sz="1900" dirty="0">
                <a:latin typeface="Courier New"/>
                <a:ea typeface="+mn-lt"/>
                <a:cs typeface="+mn-lt"/>
              </a:rPr>
              <a:t>)</a:t>
            </a:r>
            <a:endParaRPr lang="en-US" sz="1900" dirty="0">
              <a:latin typeface="Courier New"/>
              <a:ea typeface="+mn-lt"/>
              <a:cs typeface="+mn-lt"/>
            </a:endParaRPr>
          </a:p>
          <a:p>
            <a:pPr>
              <a:lnSpc>
                <a:spcPct val="100000"/>
              </a:lnSpc>
              <a:spcBef>
                <a:spcPct val="20000"/>
              </a:spcBef>
            </a:pPr>
            <a:r>
              <a:rPr lang="da-DK" sz="1900" dirty="0">
                <a:latin typeface="Courier New"/>
                <a:ea typeface="+mn-lt"/>
                <a:cs typeface="+mn-lt"/>
              </a:rPr>
              <a:t>[1] 3</a:t>
            </a:r>
            <a:endParaRPr lang="en-US" sz="1900" dirty="0">
              <a:latin typeface="Courier New"/>
              <a:ea typeface="+mn-lt"/>
              <a:cs typeface="+mn-lt"/>
            </a:endParaRPr>
          </a:p>
        </p:txBody>
      </p:sp>
    </p:spTree>
    <p:extLst>
      <p:ext uri="{BB962C8B-B14F-4D97-AF65-F5344CB8AC3E}">
        <p14:creationId xmlns:p14="http://schemas.microsoft.com/office/powerpoint/2010/main" val="20234008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27EAB-6B1A-E342-28DB-08FD81FFA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2DE4E-B8D1-679E-C2CD-E9BBDBDF295A}"/>
              </a:ext>
            </a:extLst>
          </p:cNvPr>
          <p:cNvSpPr>
            <a:spLocks noGrp="1"/>
          </p:cNvSpPr>
          <p:nvPr>
            <p:ph type="title"/>
          </p:nvPr>
        </p:nvSpPr>
        <p:spPr/>
        <p:txBody>
          <a:bodyPr/>
          <a:lstStyle/>
          <a:p>
            <a:r>
              <a:rPr lang="en-GB" dirty="0">
                <a:ea typeface="Verdana"/>
                <a:cs typeface="Gill Sans"/>
              </a:rPr>
              <a:t>Missing values (II)</a:t>
            </a:r>
            <a:endParaRPr lang="en-US" dirty="0"/>
          </a:p>
        </p:txBody>
      </p:sp>
      <p:sp>
        <p:nvSpPr>
          <p:cNvPr id="3" name="Text Placeholder 2">
            <a:extLst>
              <a:ext uri="{FF2B5EF4-FFF2-40B4-BE49-F238E27FC236}">
                <a16:creationId xmlns:a16="http://schemas.microsoft.com/office/drawing/2014/main" id="{4078D0D7-0668-A085-B5FB-BEED6696E30D}"/>
              </a:ext>
            </a:extLst>
          </p:cNvPr>
          <p:cNvSpPr>
            <a:spLocks noGrp="1"/>
          </p:cNvSpPr>
          <p:nvPr>
            <p:ph type="body" sz="quarter" idx="11"/>
          </p:nvPr>
        </p:nvSpPr>
        <p:spPr>
          <a:xfrm>
            <a:off x="838200" y="1666875"/>
            <a:ext cx="10515600" cy="4503738"/>
          </a:xfrm>
        </p:spPr>
        <p:txBody>
          <a:bodyPr vert="horz" lIns="91440" tIns="45720" rIns="91440" bIns="45720" rtlCol="0" anchor="t">
            <a:normAutofit fontScale="92500" lnSpcReduction="10000"/>
          </a:bodyPr>
          <a:lstStyle/>
          <a:p>
            <a:pPr>
              <a:lnSpc>
                <a:spcPct val="100000"/>
              </a:lnSpc>
              <a:spcBef>
                <a:spcPct val="20000"/>
              </a:spcBef>
            </a:pPr>
            <a:r>
              <a:rPr lang="fr-FR" sz="1800" dirty="0">
                <a:latin typeface="Courier New"/>
                <a:ea typeface="+mn-lt"/>
                <a:cs typeface="+mn-lt"/>
              </a:rPr>
              <a:t>x &lt;- c(1, NA, 0/0) </a:t>
            </a:r>
            <a:r>
              <a:rPr lang="fr-FR" sz="1700" b="1" dirty="0">
                <a:solidFill>
                  <a:schemeClr val="accent4"/>
                </a:solidFill>
                <a:latin typeface="Courier New"/>
                <a:ea typeface="+mn-lt"/>
                <a:cs typeface="Courier New"/>
              </a:rPr>
              <a:t># 0/0 </a:t>
            </a:r>
            <a:r>
              <a:rPr lang="fr-FR" sz="1700" b="1" err="1">
                <a:solidFill>
                  <a:schemeClr val="accent4"/>
                </a:solidFill>
                <a:latin typeface="Courier New"/>
                <a:ea typeface="+mn-lt"/>
                <a:cs typeface="Courier New"/>
              </a:rPr>
              <a:t>gives</a:t>
            </a:r>
            <a:r>
              <a:rPr lang="fr-FR" sz="1700" b="1" dirty="0">
                <a:solidFill>
                  <a:schemeClr val="accent4"/>
                </a:solidFill>
                <a:latin typeface="Courier New"/>
                <a:ea typeface="+mn-lt"/>
                <a:cs typeface="Courier New"/>
              </a:rPr>
              <a:t> NaN = Not a </a:t>
            </a:r>
            <a:r>
              <a:rPr lang="fr-FR" sz="1700" b="1" err="1">
                <a:solidFill>
                  <a:schemeClr val="accent4"/>
                </a:solidFill>
                <a:latin typeface="Courier New"/>
                <a:ea typeface="+mn-lt"/>
                <a:cs typeface="Courier New"/>
              </a:rPr>
              <a:t>Number</a:t>
            </a:r>
            <a:endParaRPr lang="en-US" b="1">
              <a:solidFill>
                <a:schemeClr val="accent4"/>
              </a:solidFill>
            </a:endParaRPr>
          </a:p>
          <a:p>
            <a:pPr>
              <a:lnSpc>
                <a:spcPct val="100000"/>
              </a:lnSpc>
              <a:spcBef>
                <a:spcPct val="20000"/>
              </a:spcBef>
            </a:pPr>
            <a:r>
              <a:rPr lang="fr-FR" sz="1800" dirty="0">
                <a:latin typeface="Courier New"/>
                <a:ea typeface="+mn-lt"/>
                <a:cs typeface="+mn-lt"/>
              </a:rPr>
              <a:t>x</a:t>
            </a:r>
            <a:endParaRPr lang="fr-FR" dirty="0"/>
          </a:p>
          <a:p>
            <a:pPr>
              <a:lnSpc>
                <a:spcPct val="100000"/>
              </a:lnSpc>
              <a:spcBef>
                <a:spcPct val="20000"/>
              </a:spcBef>
            </a:pPr>
            <a:r>
              <a:rPr lang="fr-FR" sz="1800" dirty="0">
                <a:latin typeface="Courier New"/>
                <a:ea typeface="+mn-lt"/>
                <a:cs typeface="+mn-lt"/>
              </a:rPr>
              <a:t>x </a:t>
            </a:r>
            <a:r>
              <a:rPr lang="da-DK" sz="1800" dirty="0">
                <a:latin typeface="Courier New"/>
                <a:ea typeface="+mn-lt"/>
                <a:cs typeface="+mn-lt"/>
              </a:rPr>
              <a:t>[1] 1 NA </a:t>
            </a:r>
            <a:r>
              <a:rPr lang="da-DK" sz="1800" dirty="0" err="1">
                <a:latin typeface="Courier New"/>
                <a:ea typeface="+mn-lt"/>
                <a:cs typeface="+mn-lt"/>
              </a:rPr>
              <a:t>NaN</a:t>
            </a:r>
            <a:endParaRPr lang="en-US" sz="1800" dirty="0">
              <a:latin typeface="Courier New"/>
              <a:ea typeface="+mn-lt"/>
              <a:cs typeface="+mn-lt"/>
            </a:endParaRPr>
          </a:p>
          <a:p>
            <a:pPr>
              <a:lnSpc>
                <a:spcPct val="100000"/>
              </a:lnSpc>
              <a:spcBef>
                <a:spcPct val="20000"/>
              </a:spcBef>
            </a:pPr>
            <a:endParaRPr lang="fr-FR" sz="1800" dirty="0">
              <a:latin typeface="Courier New"/>
              <a:ea typeface="+mn-lt"/>
              <a:cs typeface="+mn-lt"/>
            </a:endParaRPr>
          </a:p>
          <a:p>
            <a:pPr>
              <a:lnSpc>
                <a:spcPct val="100000"/>
              </a:lnSpc>
              <a:spcBef>
                <a:spcPct val="20000"/>
              </a:spcBef>
            </a:pPr>
            <a:r>
              <a:rPr lang="hu-HU" sz="1800" dirty="0">
                <a:latin typeface="Courier New"/>
                <a:ea typeface="+mn-lt"/>
                <a:cs typeface="+mn-lt"/>
              </a:rPr>
              <a:t>is.na(x) </a:t>
            </a:r>
            <a:r>
              <a:rPr lang="fr-FR" sz="1800" b="1" dirty="0">
                <a:solidFill>
                  <a:schemeClr val="accent4"/>
                </a:solidFill>
                <a:latin typeface="Courier New"/>
                <a:ea typeface="+mn-lt"/>
                <a:cs typeface="+mn-lt"/>
              </a:rPr>
              <a:t>#detects </a:t>
            </a:r>
            <a:r>
              <a:rPr lang="fr-FR" sz="1800" b="1" err="1">
                <a:solidFill>
                  <a:schemeClr val="accent4"/>
                </a:solidFill>
                <a:latin typeface="Courier New"/>
                <a:ea typeface="+mn-lt"/>
                <a:cs typeface="+mn-lt"/>
              </a:rPr>
              <a:t>NAs</a:t>
            </a:r>
            <a:r>
              <a:rPr lang="fr-FR" sz="1800" b="1" dirty="0">
                <a:solidFill>
                  <a:schemeClr val="accent4"/>
                </a:solidFill>
                <a:latin typeface="Courier New"/>
                <a:ea typeface="+mn-lt"/>
                <a:cs typeface="+mn-lt"/>
              </a:rPr>
              <a:t> and </a:t>
            </a:r>
            <a:r>
              <a:rPr lang="fr-FR" sz="1800" b="1" err="1">
                <a:solidFill>
                  <a:schemeClr val="accent4"/>
                </a:solidFill>
                <a:latin typeface="Courier New"/>
                <a:ea typeface="+mn-lt"/>
                <a:cs typeface="+mn-lt"/>
              </a:rPr>
              <a:t>NaNs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from</a:t>
            </a:r>
            <a:r>
              <a:rPr lang="fr-FR" sz="1800" b="1" dirty="0">
                <a:solidFill>
                  <a:schemeClr val="accent4"/>
                </a:solidFill>
                <a:latin typeface="Courier New"/>
                <a:ea typeface="+mn-lt"/>
                <a:cs typeface="+mn-lt"/>
              </a:rPr>
              <a:t> x </a:t>
            </a:r>
            <a:endParaRPr lang="en-US" sz="1800" b="1">
              <a:solidFill>
                <a:schemeClr val="accent4"/>
              </a:solidFill>
              <a:latin typeface="Courier New"/>
              <a:ea typeface="+mn-lt"/>
              <a:cs typeface="+mn-lt"/>
            </a:endParaRPr>
          </a:p>
          <a:p>
            <a:pPr>
              <a:lnSpc>
                <a:spcPct val="100000"/>
              </a:lnSpc>
              <a:spcBef>
                <a:spcPct val="20000"/>
              </a:spcBef>
            </a:pPr>
            <a:r>
              <a:rPr lang="fr-FR" sz="1800" dirty="0">
                <a:latin typeface="Courier New"/>
                <a:ea typeface="+mn-lt"/>
                <a:cs typeface="+mn-lt"/>
              </a:rPr>
              <a:t>[1] FALSE TRUE </a:t>
            </a:r>
            <a:r>
              <a:rPr lang="fr-FR" sz="1800" err="1">
                <a:latin typeface="Courier New"/>
                <a:ea typeface="+mn-lt"/>
                <a:cs typeface="+mn-lt"/>
              </a:rPr>
              <a:t>TRUE</a:t>
            </a:r>
            <a:endParaRPr lang="fr-FR" sz="1800">
              <a:latin typeface="Courier New"/>
              <a:ea typeface="+mn-lt"/>
              <a:cs typeface="+mn-lt"/>
            </a:endParaRPr>
          </a:p>
          <a:p>
            <a:pPr>
              <a:lnSpc>
                <a:spcPct val="100000"/>
              </a:lnSpc>
              <a:spcBef>
                <a:spcPct val="20000"/>
              </a:spcBef>
            </a:pPr>
            <a:endParaRPr lang="fr-FR" sz="1800" dirty="0">
              <a:latin typeface="Courier New"/>
              <a:ea typeface="+mn-lt"/>
              <a:cs typeface="+mn-lt"/>
            </a:endParaRPr>
          </a:p>
          <a:p>
            <a:pPr>
              <a:lnSpc>
                <a:spcPct val="100000"/>
              </a:lnSpc>
              <a:spcBef>
                <a:spcPct val="20000"/>
              </a:spcBef>
            </a:pPr>
            <a:r>
              <a:rPr lang="hu-HU" sz="1800" err="1">
                <a:latin typeface="Courier New"/>
                <a:ea typeface="+mn-lt"/>
                <a:cs typeface="+mn-lt"/>
              </a:rPr>
              <a:t>is.nan</a:t>
            </a:r>
            <a:r>
              <a:rPr lang="hu-HU" sz="1800" dirty="0">
                <a:latin typeface="Courier New"/>
                <a:ea typeface="+mn-lt"/>
                <a:cs typeface="+mn-lt"/>
              </a:rPr>
              <a:t>(x) </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detects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only</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NaNs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from</a:t>
            </a:r>
            <a:r>
              <a:rPr lang="fr-FR" sz="1800" b="1" dirty="0">
                <a:solidFill>
                  <a:schemeClr val="accent4"/>
                </a:solidFill>
                <a:latin typeface="Courier New"/>
                <a:ea typeface="+mn-lt"/>
                <a:cs typeface="+mn-lt"/>
              </a:rPr>
              <a:t> x</a:t>
            </a:r>
            <a:endParaRPr lang="en-US" sz="1800" b="1">
              <a:solidFill>
                <a:schemeClr val="accent4"/>
              </a:solidFill>
              <a:latin typeface="Courier New"/>
              <a:ea typeface="+mn-lt"/>
              <a:cs typeface="+mn-lt"/>
            </a:endParaRPr>
          </a:p>
          <a:p>
            <a:pPr>
              <a:lnSpc>
                <a:spcPct val="100000"/>
              </a:lnSpc>
              <a:spcBef>
                <a:spcPct val="20000"/>
              </a:spcBef>
            </a:pPr>
            <a:r>
              <a:rPr lang="fr-FR" sz="1800" dirty="0">
                <a:latin typeface="Courier New"/>
                <a:ea typeface="+mn-lt"/>
                <a:cs typeface="+mn-lt"/>
              </a:rPr>
              <a:t>[1] FALSE </a:t>
            </a:r>
            <a:r>
              <a:rPr lang="fr-FR" sz="1800" err="1">
                <a:latin typeface="Courier New"/>
                <a:ea typeface="+mn-lt"/>
                <a:cs typeface="+mn-lt"/>
              </a:rPr>
              <a:t>FALSE</a:t>
            </a:r>
            <a:r>
              <a:rPr lang="fr-FR" sz="1800" dirty="0">
                <a:latin typeface="Courier New"/>
                <a:ea typeface="+mn-lt"/>
                <a:cs typeface="+mn-lt"/>
              </a:rPr>
              <a:t> TRUE</a:t>
            </a:r>
            <a:endParaRPr lang="en-US" sz="1800">
              <a:latin typeface="Courier New"/>
              <a:ea typeface="+mn-lt"/>
              <a:cs typeface="+mn-lt"/>
            </a:endParaRPr>
          </a:p>
          <a:p>
            <a:pPr>
              <a:lnSpc>
                <a:spcPct val="100000"/>
              </a:lnSpc>
              <a:spcBef>
                <a:spcPct val="20000"/>
              </a:spcBef>
            </a:pPr>
            <a:endParaRPr lang="fr-FR" sz="1800" dirty="0">
              <a:latin typeface="Courier New"/>
              <a:ea typeface="+mn-lt"/>
              <a:cs typeface="+mn-lt"/>
            </a:endParaRPr>
          </a:p>
          <a:p>
            <a:pPr>
              <a:lnSpc>
                <a:spcPct val="100000"/>
              </a:lnSpc>
              <a:spcBef>
                <a:spcPct val="20000"/>
              </a:spcBef>
            </a:pPr>
            <a:r>
              <a:rPr lang="fr-FR" sz="1800" dirty="0">
                <a:latin typeface="Courier New"/>
                <a:ea typeface="+mn-lt"/>
                <a:cs typeface="+mn-lt"/>
              </a:rPr>
              <a:t>x &gt; 2  </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what</a:t>
            </a:r>
            <a:r>
              <a:rPr lang="fr-FR" sz="1800" b="1" dirty="0">
                <a:solidFill>
                  <a:schemeClr val="accent4"/>
                </a:solidFill>
                <a:latin typeface="Courier New"/>
                <a:ea typeface="+mn-lt"/>
                <a:cs typeface="+mn-lt"/>
              </a:rPr>
              <a:t> if </a:t>
            </a:r>
            <a:r>
              <a:rPr lang="fr-FR" sz="1800" b="1" err="1">
                <a:solidFill>
                  <a:schemeClr val="accent4"/>
                </a:solidFill>
                <a:latin typeface="Courier New"/>
                <a:ea typeface="+mn-lt"/>
                <a:cs typeface="+mn-lt"/>
              </a:rPr>
              <a:t>we</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try</a:t>
            </a:r>
            <a:r>
              <a:rPr lang="fr-FR" sz="1800" b="1" dirty="0">
                <a:solidFill>
                  <a:schemeClr val="accent4"/>
                </a:solidFill>
                <a:latin typeface="Courier New"/>
                <a:ea typeface="+mn-lt"/>
                <a:cs typeface="+mn-lt"/>
              </a:rPr>
              <a:t> to compare NA and NaN to a </a:t>
            </a:r>
            <a:r>
              <a:rPr lang="fr-FR" sz="1800" b="1" err="1">
                <a:solidFill>
                  <a:schemeClr val="accent4"/>
                </a:solidFill>
                <a:latin typeface="Courier New"/>
                <a:ea typeface="+mn-lt"/>
                <a:cs typeface="+mn-lt"/>
              </a:rPr>
              <a:t>number</a:t>
            </a:r>
            <a:r>
              <a:rPr lang="fr-FR" sz="1800" b="1" dirty="0">
                <a:solidFill>
                  <a:schemeClr val="accent4"/>
                </a:solidFill>
                <a:latin typeface="Courier New"/>
                <a:ea typeface="+mn-lt"/>
                <a:cs typeface="+mn-lt"/>
              </a:rPr>
              <a:t>?</a:t>
            </a:r>
            <a:endParaRPr lang="en-US" sz="1800" b="1">
              <a:solidFill>
                <a:schemeClr val="accent4"/>
              </a:solidFill>
              <a:latin typeface="Courier New"/>
              <a:ea typeface="+mn-lt"/>
              <a:cs typeface="+mn-lt"/>
            </a:endParaRPr>
          </a:p>
          <a:p>
            <a:pPr>
              <a:lnSpc>
                <a:spcPct val="100000"/>
              </a:lnSpc>
              <a:spcBef>
                <a:spcPct val="20000"/>
              </a:spcBef>
            </a:pPr>
            <a:r>
              <a:rPr lang="fr-FR" sz="1800" dirty="0">
                <a:latin typeface="Courier New"/>
                <a:ea typeface="+mn-lt"/>
                <a:cs typeface="+mn-lt"/>
              </a:rPr>
              <a:t>[1] FALSE NA </a:t>
            </a:r>
            <a:r>
              <a:rPr lang="fr-FR" sz="1800" err="1">
                <a:latin typeface="Courier New"/>
                <a:ea typeface="+mn-lt"/>
                <a:cs typeface="+mn-lt"/>
              </a:rPr>
              <a:t>NA</a:t>
            </a:r>
            <a:endParaRPr lang="fr-FR" sz="1800">
              <a:latin typeface="Courier New"/>
              <a:ea typeface="+mn-lt"/>
              <a:cs typeface="+mn-lt"/>
            </a:endParaRPr>
          </a:p>
          <a:p>
            <a:pPr>
              <a:lnSpc>
                <a:spcPct val="100000"/>
              </a:lnSpc>
              <a:spcBef>
                <a:spcPct val="20000"/>
              </a:spcBef>
            </a:pPr>
            <a:endParaRPr lang="fr-FR" sz="1800" dirty="0">
              <a:latin typeface="Courier New"/>
              <a:ea typeface="+mn-lt"/>
              <a:cs typeface="+mn-lt"/>
            </a:endParaRPr>
          </a:p>
          <a:p>
            <a:pPr>
              <a:lnSpc>
                <a:spcPct val="100000"/>
              </a:lnSpc>
              <a:spcBef>
                <a:spcPct val="20000"/>
              </a:spcBef>
            </a:pPr>
            <a:r>
              <a:rPr lang="fr-FR" sz="1800" dirty="0">
                <a:latin typeface="Courier New"/>
                <a:ea typeface="+mn-lt"/>
                <a:cs typeface="+mn-lt"/>
              </a:rPr>
              <a:t>x[!is.na(x)]  </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removes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NAs</a:t>
            </a:r>
            <a:r>
              <a:rPr lang="fr-FR" sz="1800" b="1" dirty="0">
                <a:solidFill>
                  <a:schemeClr val="accent4"/>
                </a:solidFill>
                <a:latin typeface="Courier New"/>
                <a:ea typeface="+mn-lt"/>
                <a:cs typeface="+mn-lt"/>
              </a:rPr>
              <a:t> and </a:t>
            </a:r>
            <a:r>
              <a:rPr lang="fr-FR" sz="1800" b="1" err="1">
                <a:solidFill>
                  <a:schemeClr val="accent4"/>
                </a:solidFill>
                <a:latin typeface="Courier New"/>
                <a:ea typeface="+mn-lt"/>
                <a:cs typeface="+mn-lt"/>
              </a:rPr>
              <a:t>NaNs</a:t>
            </a:r>
            <a:r>
              <a:rPr lang="fr-FR" sz="1800" b="1" dirty="0">
                <a:solidFill>
                  <a:schemeClr val="accent4"/>
                </a:solidFill>
                <a:latin typeface="Courier New"/>
                <a:ea typeface="+mn-lt"/>
                <a:cs typeface="+mn-lt"/>
              </a:rPr>
              <a:t> </a:t>
            </a:r>
            <a:r>
              <a:rPr lang="fr-FR" sz="1800" b="1" err="1">
                <a:solidFill>
                  <a:schemeClr val="accent4"/>
                </a:solidFill>
                <a:latin typeface="Courier New"/>
                <a:ea typeface="+mn-lt"/>
                <a:cs typeface="+mn-lt"/>
              </a:rPr>
              <a:t>from</a:t>
            </a:r>
            <a:r>
              <a:rPr lang="fr-FR" sz="1800" b="1" dirty="0">
                <a:solidFill>
                  <a:schemeClr val="accent4"/>
                </a:solidFill>
                <a:latin typeface="Courier New"/>
                <a:ea typeface="+mn-lt"/>
                <a:cs typeface="+mn-lt"/>
              </a:rPr>
              <a:t> x</a:t>
            </a:r>
            <a:endParaRPr lang="en-US" sz="1800" b="1">
              <a:solidFill>
                <a:schemeClr val="accent4"/>
              </a:solidFill>
              <a:latin typeface="Courier New"/>
              <a:ea typeface="+mn-lt"/>
              <a:cs typeface="+mn-lt"/>
            </a:endParaRPr>
          </a:p>
          <a:p>
            <a:pPr>
              <a:lnSpc>
                <a:spcPct val="100000"/>
              </a:lnSpc>
              <a:spcBef>
                <a:spcPct val="20000"/>
              </a:spcBef>
            </a:pPr>
            <a:r>
              <a:rPr lang="da-DK" sz="1800" dirty="0">
                <a:latin typeface="Courier New"/>
                <a:ea typeface="+mn-lt"/>
                <a:cs typeface="+mn-lt"/>
              </a:rPr>
              <a:t>[1] 1</a:t>
            </a:r>
            <a:endParaRPr lang="en-US" sz="1800">
              <a:latin typeface="Courier New"/>
              <a:ea typeface="+mn-lt"/>
              <a:cs typeface="+mn-lt"/>
            </a:endParaRPr>
          </a:p>
          <a:p>
            <a:pPr>
              <a:lnSpc>
                <a:spcPct val="100000"/>
              </a:lnSpc>
              <a:spcBef>
                <a:spcPct val="20000"/>
              </a:spcBef>
            </a:pPr>
            <a:endParaRPr lang="da-DK" sz="1800" dirty="0">
              <a:latin typeface="Courier New"/>
              <a:ea typeface="+mn-lt"/>
              <a:cs typeface="+mn-lt"/>
            </a:endParaRPr>
          </a:p>
          <a:p>
            <a:pPr>
              <a:lnSpc>
                <a:spcPct val="100000"/>
              </a:lnSpc>
              <a:spcBef>
                <a:spcPct val="20000"/>
              </a:spcBef>
            </a:pPr>
            <a:endParaRPr lang="fr-FR" sz="2200" dirty="0">
              <a:latin typeface="Courier New"/>
              <a:ea typeface="+mn-lt"/>
              <a:cs typeface="+mn-lt"/>
            </a:endParaRPr>
          </a:p>
        </p:txBody>
      </p:sp>
    </p:spTree>
    <p:extLst>
      <p:ext uri="{BB962C8B-B14F-4D97-AF65-F5344CB8AC3E}">
        <p14:creationId xmlns:p14="http://schemas.microsoft.com/office/powerpoint/2010/main" val="20300119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E01D8-71D7-E4BE-51C3-6968FA8A4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0E84C-346E-803F-F102-9B0E7D631119}"/>
              </a:ext>
            </a:extLst>
          </p:cNvPr>
          <p:cNvSpPr>
            <a:spLocks noGrp="1"/>
          </p:cNvSpPr>
          <p:nvPr>
            <p:ph type="title"/>
          </p:nvPr>
        </p:nvSpPr>
        <p:spPr/>
        <p:txBody>
          <a:bodyPr/>
          <a:lstStyle/>
          <a:p>
            <a:r>
              <a:rPr lang="en-GB" dirty="0">
                <a:ea typeface="Verdana"/>
                <a:cs typeface="Gill Sans"/>
              </a:rPr>
              <a:t>Data frame: creation</a:t>
            </a:r>
            <a:endParaRPr lang="en-US" dirty="0"/>
          </a:p>
        </p:txBody>
      </p:sp>
      <p:sp>
        <p:nvSpPr>
          <p:cNvPr id="3" name="Text Placeholder 2">
            <a:extLst>
              <a:ext uri="{FF2B5EF4-FFF2-40B4-BE49-F238E27FC236}">
                <a16:creationId xmlns:a16="http://schemas.microsoft.com/office/drawing/2014/main" id="{F7740591-47DD-CFD8-79F5-069E71D0080F}"/>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pPr>
              <a:lnSpc>
                <a:spcPct val="100000"/>
              </a:lnSpc>
              <a:spcBef>
                <a:spcPct val="20000"/>
              </a:spcBef>
            </a:pPr>
            <a:r>
              <a:rPr lang="fr-FR" sz="1800" err="1">
                <a:latin typeface="Corbel"/>
                <a:ea typeface="+mn-lt"/>
                <a:cs typeface="+mn-lt"/>
              </a:rPr>
              <a:t>We</a:t>
            </a:r>
            <a:r>
              <a:rPr lang="fr-FR" sz="1800" dirty="0">
                <a:latin typeface="Corbel"/>
                <a:ea typeface="+mn-lt"/>
                <a:cs typeface="+mn-lt"/>
              </a:rPr>
              <a:t> can </a:t>
            </a:r>
            <a:r>
              <a:rPr lang="fr-FR" sz="1800" err="1">
                <a:latin typeface="Corbel"/>
                <a:ea typeface="+mn-lt"/>
                <a:cs typeface="+mn-lt"/>
              </a:rPr>
              <a:t>create</a:t>
            </a:r>
            <a:r>
              <a:rPr lang="fr-FR" sz="1800" dirty="0">
                <a:latin typeface="Corbel"/>
                <a:ea typeface="+mn-lt"/>
                <a:cs typeface="+mn-lt"/>
              </a:rPr>
              <a:t> a </a:t>
            </a:r>
            <a:r>
              <a:rPr lang="fr-FR" sz="1800" err="1">
                <a:latin typeface="Corbel"/>
                <a:ea typeface="+mn-lt"/>
                <a:cs typeface="+mn-lt"/>
              </a:rPr>
              <a:t>dataframe</a:t>
            </a:r>
            <a:r>
              <a:rPr lang="fr-FR" sz="1800" dirty="0">
                <a:latin typeface="Corbel"/>
                <a:ea typeface="+mn-lt"/>
                <a:cs typeface="+mn-lt"/>
              </a:rPr>
              <a:t> </a:t>
            </a:r>
            <a:r>
              <a:rPr lang="fr-FR" sz="1800" err="1">
                <a:latin typeface="Corbel"/>
                <a:ea typeface="+mn-lt"/>
                <a:cs typeface="+mn-lt"/>
              </a:rPr>
              <a:t>from</a:t>
            </a:r>
            <a:r>
              <a:rPr lang="fr-FR" sz="1800" dirty="0">
                <a:latin typeface="Corbel"/>
                <a:ea typeface="+mn-lt"/>
                <a:cs typeface="+mn-lt"/>
              </a:rPr>
              <a:t> </a:t>
            </a:r>
            <a:r>
              <a:rPr lang="fr-FR" sz="1800" err="1">
                <a:latin typeface="Corbel"/>
                <a:ea typeface="+mn-lt"/>
                <a:cs typeface="+mn-lt"/>
              </a:rPr>
              <a:t>its</a:t>
            </a:r>
            <a:r>
              <a:rPr lang="fr-FR" sz="1800" dirty="0">
                <a:latin typeface="Corbel"/>
                <a:ea typeface="+mn-lt"/>
                <a:cs typeface="+mn-lt"/>
              </a:rPr>
              <a:t> </a:t>
            </a:r>
            <a:r>
              <a:rPr lang="fr-FR" sz="1800" err="1">
                <a:latin typeface="Corbel"/>
                <a:ea typeface="+mn-lt"/>
                <a:cs typeface="+mn-lt"/>
              </a:rPr>
              <a:t>individual</a:t>
            </a:r>
            <a:r>
              <a:rPr lang="fr-FR" sz="1800" dirty="0">
                <a:latin typeface="Corbel"/>
                <a:ea typeface="+mn-lt"/>
                <a:cs typeface="+mn-lt"/>
              </a:rPr>
              <a:t> </a:t>
            </a:r>
            <a:r>
              <a:rPr lang="fr-FR" sz="1800" err="1">
                <a:latin typeface="Corbel"/>
                <a:ea typeface="+mn-lt"/>
                <a:cs typeface="+mn-lt"/>
              </a:rPr>
              <a:t>column</a:t>
            </a:r>
            <a:r>
              <a:rPr lang="fr-FR" sz="1800" dirty="0">
                <a:latin typeface="Corbel"/>
                <a:ea typeface="+mn-lt"/>
                <a:cs typeface="+mn-lt"/>
              </a:rPr>
              <a:t> (</a:t>
            </a:r>
            <a:r>
              <a:rPr lang="fr-FR" sz="1800" err="1">
                <a:latin typeface="Corbel"/>
                <a:ea typeface="+mn-lt"/>
                <a:cs typeface="+mn-lt"/>
              </a:rPr>
              <a:t>each</a:t>
            </a:r>
            <a:r>
              <a:rPr lang="fr-FR" sz="1800" dirty="0">
                <a:latin typeface="Corbel"/>
                <a:ea typeface="+mn-lt"/>
                <a:cs typeface="+mn-lt"/>
              </a:rPr>
              <a:t> one </a:t>
            </a:r>
            <a:r>
              <a:rPr lang="fr-FR" sz="1800" err="1">
                <a:latin typeface="Corbel"/>
                <a:ea typeface="+mn-lt"/>
                <a:cs typeface="+mn-lt"/>
              </a:rPr>
              <a:t>is</a:t>
            </a:r>
            <a:r>
              <a:rPr lang="fr-FR" sz="1800" dirty="0">
                <a:latin typeface="Corbel"/>
                <a:ea typeface="+mn-lt"/>
                <a:cs typeface="+mn-lt"/>
              </a:rPr>
              <a:t> a </a:t>
            </a:r>
            <a:r>
              <a:rPr lang="fr-FR" sz="1800" err="1">
                <a:latin typeface="Corbel"/>
                <a:ea typeface="+mn-lt"/>
                <a:cs typeface="+mn-lt"/>
              </a:rPr>
              <a:t>vector</a:t>
            </a:r>
            <a:r>
              <a:rPr lang="fr-FR" sz="1800" dirty="0">
                <a:latin typeface="Corbel"/>
                <a:ea typeface="+mn-lt"/>
                <a:cs typeface="+mn-lt"/>
              </a:rPr>
              <a:t>)</a:t>
            </a:r>
          </a:p>
          <a:p>
            <a:pPr marL="0" indent="0">
              <a:lnSpc>
                <a:spcPct val="100000"/>
              </a:lnSpc>
              <a:spcBef>
                <a:spcPct val="20000"/>
              </a:spcBef>
              <a:buFont typeface="Arial" panose="020B0604020202020204" pitchFamily="34" charset="0"/>
              <a:buNone/>
            </a:pPr>
            <a:endParaRPr lang="fr-FR" sz="1800">
              <a:latin typeface="Corbel"/>
              <a:ea typeface="+mn-lt"/>
              <a:cs typeface="+mn-lt"/>
            </a:endParaRPr>
          </a:p>
          <a:p>
            <a:pPr marL="0" lvl="1" indent="0">
              <a:lnSpc>
                <a:spcPct val="100000"/>
              </a:lnSpc>
              <a:spcBef>
                <a:spcPct val="20000"/>
              </a:spcBef>
              <a:buNone/>
            </a:pPr>
            <a:r>
              <a:rPr lang="fr-FR" sz="1800">
                <a:latin typeface="Courier New"/>
                <a:ea typeface="+mn-lt"/>
                <a:cs typeface="+mn-lt"/>
              </a:rPr>
              <a:t>name          &lt;- c("Joyce", "Chaucer", "Homer")</a:t>
            </a:r>
          </a:p>
          <a:p>
            <a:pPr marL="0" lvl="1" indent="0">
              <a:lnSpc>
                <a:spcPct val="100000"/>
              </a:lnSpc>
              <a:spcBef>
                <a:spcPct val="20000"/>
              </a:spcBef>
              <a:buNone/>
            </a:pPr>
            <a:r>
              <a:rPr lang="fr-FR" sz="1800">
                <a:latin typeface="Courier New"/>
                <a:ea typeface="+mn-lt"/>
                <a:cs typeface="+mn-lt"/>
              </a:rPr>
              <a:t>status        &lt;- c("dead", "deader", "deadest")</a:t>
            </a:r>
          </a:p>
          <a:p>
            <a:pPr marL="0" lvl="1" indent="0">
              <a:lnSpc>
                <a:spcPct val="100000"/>
              </a:lnSpc>
              <a:spcBef>
                <a:spcPct val="20000"/>
              </a:spcBef>
              <a:buNone/>
            </a:pPr>
            <a:r>
              <a:rPr lang="fr-FR" sz="1800" err="1">
                <a:latin typeface="Courier New"/>
                <a:ea typeface="+mn-lt"/>
                <a:cs typeface="+mn-lt"/>
              </a:rPr>
              <a:t>reader_rating</a:t>
            </a:r>
            <a:r>
              <a:rPr lang="fr-FR" sz="1800">
                <a:latin typeface="Courier New"/>
                <a:ea typeface="+mn-lt"/>
                <a:cs typeface="+mn-lt"/>
              </a:rPr>
              <a:t> &lt;- c(55, 22, 100)</a:t>
            </a:r>
            <a:endParaRPr lang="en-US" sz="1800">
              <a:latin typeface="Courier New"/>
              <a:ea typeface="+mn-lt"/>
              <a:cs typeface="+mn-lt"/>
            </a:endParaRPr>
          </a:p>
          <a:p>
            <a:pPr marL="0" lvl="1" indent="0">
              <a:lnSpc>
                <a:spcPct val="100000"/>
              </a:lnSpc>
              <a:spcBef>
                <a:spcPct val="20000"/>
              </a:spcBef>
              <a:buNone/>
            </a:pPr>
            <a:endParaRPr lang="fr-FR" sz="1800" dirty="0">
              <a:latin typeface="Courier New"/>
              <a:ea typeface="+mn-lt"/>
              <a:cs typeface="+mn-lt"/>
            </a:endParaRPr>
          </a:p>
          <a:p>
            <a:pPr marL="0" lvl="1" indent="0">
              <a:lnSpc>
                <a:spcPct val="100000"/>
              </a:lnSpc>
              <a:spcBef>
                <a:spcPct val="20000"/>
              </a:spcBef>
              <a:buNone/>
            </a:pPr>
            <a:r>
              <a:rPr lang="fr-FR" sz="1800">
                <a:latin typeface="Courier New"/>
                <a:ea typeface="+mn-lt"/>
                <a:cs typeface="+mn-lt"/>
              </a:rPr>
              <a:t>poets &lt;- </a:t>
            </a:r>
            <a:r>
              <a:rPr lang="fr-FR" sz="1800" b="1">
                <a:latin typeface="Courier New"/>
                <a:ea typeface="+mn-lt"/>
                <a:cs typeface="+mn-lt"/>
              </a:rPr>
              <a:t>data.frame</a:t>
            </a:r>
            <a:r>
              <a:rPr lang="fr-FR" sz="1800">
                <a:latin typeface="Courier New"/>
                <a:ea typeface="+mn-lt"/>
                <a:cs typeface="+mn-lt"/>
              </a:rPr>
              <a:t>(name, status, reader_rating)</a:t>
            </a:r>
            <a:endParaRPr lang="fr-FR" sz="1800" dirty="0">
              <a:latin typeface="Courier New"/>
              <a:ea typeface="+mn-lt"/>
              <a:cs typeface="+mn-lt"/>
            </a:endParaRPr>
          </a:p>
          <a:p>
            <a:pPr marL="0" lvl="1" indent="0">
              <a:lnSpc>
                <a:spcPct val="100000"/>
              </a:lnSpc>
              <a:spcBef>
                <a:spcPct val="20000"/>
              </a:spcBef>
              <a:buNone/>
            </a:pPr>
            <a:r>
              <a:rPr lang="fr-FR" sz="1800" err="1">
                <a:latin typeface="Courier New"/>
                <a:ea typeface="+mn-lt"/>
                <a:cs typeface="+mn-lt"/>
              </a:rPr>
              <a:t>poets</a:t>
            </a:r>
            <a:endParaRPr lang="fr-FR" sz="1800">
              <a:latin typeface="Courier New"/>
              <a:ea typeface="+mn-lt"/>
              <a:cs typeface="+mn-lt"/>
            </a:endParaRPr>
          </a:p>
          <a:p>
            <a:pPr marL="0" lvl="1" indent="0">
              <a:lnSpc>
                <a:spcPct val="100000"/>
              </a:lnSpc>
              <a:spcBef>
                <a:spcPct val="20000"/>
              </a:spcBef>
              <a:buNone/>
            </a:pPr>
            <a:endParaRPr lang="fr-FR" sz="1800" dirty="0">
              <a:latin typeface="Courier New"/>
              <a:ea typeface="+mn-lt"/>
              <a:cs typeface="+mn-lt"/>
            </a:endParaRPr>
          </a:p>
          <a:p>
            <a:pPr marL="0" lvl="1" indent="0">
              <a:lnSpc>
                <a:spcPct val="100000"/>
              </a:lnSpc>
              <a:spcBef>
                <a:spcPct val="20000"/>
              </a:spcBef>
              <a:buNone/>
            </a:pPr>
            <a:r>
              <a:rPr lang="fr-FR" sz="1800">
                <a:latin typeface="Courier New"/>
                <a:ea typeface="+mn-lt"/>
                <a:cs typeface="+mn-lt"/>
              </a:rPr>
              <a:t>     name  status reader_rating</a:t>
            </a:r>
            <a:endParaRPr lang="fr-FR" sz="1800">
              <a:solidFill>
                <a:srgbClr val="000000"/>
              </a:solidFill>
              <a:latin typeface="Courier New"/>
              <a:ea typeface="+mn-lt"/>
              <a:cs typeface="+mn-lt"/>
            </a:endParaRPr>
          </a:p>
          <a:p>
            <a:pPr marL="0" lvl="1" indent="0">
              <a:lnSpc>
                <a:spcPct val="100000"/>
              </a:lnSpc>
              <a:spcBef>
                <a:spcPct val="20000"/>
              </a:spcBef>
              <a:buNone/>
            </a:pPr>
            <a:r>
              <a:rPr lang="fr-FR" sz="1800">
                <a:latin typeface="Courier New"/>
                <a:ea typeface="+mn-lt"/>
                <a:cs typeface="+mn-lt"/>
              </a:rPr>
              <a:t>1   Joyce    dead            55</a:t>
            </a:r>
            <a:endParaRPr lang="en-US" sz="1800">
              <a:solidFill>
                <a:srgbClr val="000000"/>
              </a:solidFill>
              <a:latin typeface="Courier New"/>
              <a:ea typeface="+mn-lt"/>
              <a:cs typeface="+mn-lt"/>
            </a:endParaRPr>
          </a:p>
          <a:p>
            <a:pPr marL="0" lvl="1" indent="0">
              <a:lnSpc>
                <a:spcPct val="100000"/>
              </a:lnSpc>
              <a:spcBef>
                <a:spcPct val="20000"/>
              </a:spcBef>
              <a:buNone/>
            </a:pPr>
            <a:r>
              <a:rPr lang="fr-FR" sz="1800">
                <a:latin typeface="Courier New"/>
                <a:ea typeface="+mn-lt"/>
                <a:cs typeface="+mn-lt"/>
              </a:rPr>
              <a:t>2 Chaucer  </a:t>
            </a:r>
            <a:r>
              <a:rPr lang="fr-FR" sz="1800" err="1">
                <a:latin typeface="Courier New"/>
                <a:ea typeface="+mn-lt"/>
                <a:cs typeface="+mn-lt"/>
              </a:rPr>
              <a:t>deader</a:t>
            </a:r>
            <a:r>
              <a:rPr lang="fr-FR" sz="1800">
                <a:latin typeface="Courier New"/>
                <a:ea typeface="+mn-lt"/>
                <a:cs typeface="+mn-lt"/>
              </a:rPr>
              <a:t>            22</a:t>
            </a:r>
            <a:br>
              <a:rPr lang="fr-FR" sz="1800" dirty="0">
                <a:latin typeface="Courier New"/>
                <a:ea typeface="+mn-lt"/>
                <a:cs typeface="+mn-lt"/>
              </a:rPr>
            </a:br>
            <a:r>
              <a:rPr lang="fr-FR" sz="1800">
                <a:latin typeface="Courier New"/>
                <a:ea typeface="+mn-lt"/>
                <a:cs typeface="+mn-lt"/>
              </a:rPr>
              <a:t>3   Homer </a:t>
            </a:r>
            <a:r>
              <a:rPr lang="fr-FR" sz="1800" err="1">
                <a:latin typeface="Courier New"/>
                <a:ea typeface="+mn-lt"/>
                <a:cs typeface="+mn-lt"/>
              </a:rPr>
              <a:t>deadest</a:t>
            </a:r>
            <a:r>
              <a:rPr lang="fr-FR" sz="1800">
                <a:latin typeface="Courier New"/>
                <a:ea typeface="+mn-lt"/>
                <a:cs typeface="+mn-lt"/>
              </a:rPr>
              <a:t>           100</a:t>
            </a:r>
            <a:endParaRPr lang="fr-FR" sz="1800">
              <a:solidFill>
                <a:srgbClr val="000000"/>
              </a:solidFill>
              <a:latin typeface="Courier New"/>
              <a:ea typeface="+mn-lt"/>
              <a:cs typeface="+mn-lt"/>
            </a:endParaRPr>
          </a:p>
          <a:p>
            <a:pPr lvl="1">
              <a:lnSpc>
                <a:spcPct val="100000"/>
              </a:lnSpc>
              <a:spcBef>
                <a:spcPct val="20000"/>
              </a:spcBef>
            </a:pPr>
            <a:endParaRPr lang="fr-FR" sz="2000" dirty="0">
              <a:solidFill>
                <a:srgbClr val="000000"/>
              </a:solidFill>
              <a:ea typeface="+mn-lt"/>
              <a:cs typeface="+mn-lt"/>
            </a:endParaRPr>
          </a:p>
          <a:p>
            <a:pPr lvl="1">
              <a:lnSpc>
                <a:spcPct val="100000"/>
              </a:lnSpc>
              <a:spcBef>
                <a:spcPct val="20000"/>
              </a:spcBef>
            </a:pPr>
            <a:endParaRPr lang="fr-FR" sz="2000" dirty="0">
              <a:solidFill>
                <a:srgbClr val="000000"/>
              </a:solidFill>
              <a:ea typeface="+mn-lt"/>
              <a:cs typeface="+mn-lt"/>
            </a:endParaRPr>
          </a:p>
          <a:p>
            <a:pPr marL="0" lvl="1" indent="0">
              <a:lnSpc>
                <a:spcPct val="100000"/>
              </a:lnSpc>
              <a:spcBef>
                <a:spcPct val="20000"/>
              </a:spcBef>
              <a:buNone/>
            </a:pPr>
            <a:endParaRPr lang="fr-FR" sz="2000" dirty="0">
              <a:solidFill>
                <a:srgbClr val="000000"/>
              </a:solidFill>
              <a:ea typeface="+mn-lt"/>
              <a:cs typeface="+mn-lt"/>
            </a:endParaRPr>
          </a:p>
          <a:p>
            <a:pPr>
              <a:lnSpc>
                <a:spcPct val="100000"/>
              </a:lnSpc>
              <a:spcBef>
                <a:spcPct val="20000"/>
              </a:spcBef>
            </a:pPr>
            <a:endParaRPr lang="fr-FR" sz="1700" b="1" dirty="0">
              <a:solidFill>
                <a:schemeClr val="accent4"/>
              </a:solidFill>
              <a:latin typeface="Courier New"/>
              <a:ea typeface="+mn-lt"/>
              <a:cs typeface="Courier New"/>
            </a:endParaRPr>
          </a:p>
          <a:p>
            <a:pPr>
              <a:lnSpc>
                <a:spcPct val="100000"/>
              </a:lnSpc>
              <a:spcBef>
                <a:spcPct val="20000"/>
              </a:spcBef>
            </a:pPr>
            <a:endParaRPr lang="en-US" sz="1800">
              <a:latin typeface="Courier New"/>
              <a:ea typeface="+mn-lt"/>
              <a:cs typeface="+mn-lt"/>
            </a:endParaRPr>
          </a:p>
          <a:p>
            <a:pPr>
              <a:lnSpc>
                <a:spcPct val="100000"/>
              </a:lnSpc>
              <a:spcBef>
                <a:spcPct val="20000"/>
              </a:spcBef>
            </a:pPr>
            <a:endParaRPr lang="en-US" b="1">
              <a:solidFill>
                <a:schemeClr val="accent4"/>
              </a:solidFill>
            </a:endParaRPr>
          </a:p>
        </p:txBody>
      </p:sp>
    </p:spTree>
    <p:extLst>
      <p:ext uri="{BB962C8B-B14F-4D97-AF65-F5344CB8AC3E}">
        <p14:creationId xmlns:p14="http://schemas.microsoft.com/office/powerpoint/2010/main" val="10709566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3C790-6AEF-0456-B69C-82F47506C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B18AA-91A9-9559-54F2-BA17ED33289D}"/>
              </a:ext>
            </a:extLst>
          </p:cNvPr>
          <p:cNvSpPr>
            <a:spLocks noGrp="1"/>
          </p:cNvSpPr>
          <p:nvPr>
            <p:ph type="title"/>
          </p:nvPr>
        </p:nvSpPr>
        <p:spPr/>
        <p:txBody>
          <a:bodyPr/>
          <a:lstStyle/>
          <a:p>
            <a:r>
              <a:rPr lang="en-GB" dirty="0">
                <a:ea typeface="Verdana"/>
                <a:cs typeface="Gill Sans"/>
              </a:rPr>
              <a:t>Data frame: manipulation</a:t>
            </a:r>
            <a:endParaRPr lang="en-US" dirty="0"/>
          </a:p>
        </p:txBody>
      </p:sp>
      <p:sp>
        <p:nvSpPr>
          <p:cNvPr id="3" name="Text Placeholder 2">
            <a:extLst>
              <a:ext uri="{FF2B5EF4-FFF2-40B4-BE49-F238E27FC236}">
                <a16:creationId xmlns:a16="http://schemas.microsoft.com/office/drawing/2014/main" id="{CA95FBDE-3626-D798-AC76-2AC0A794FD4B}"/>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pPr>
              <a:lnSpc>
                <a:spcPct val="100000"/>
              </a:lnSpc>
              <a:spcBef>
                <a:spcPct val="20000"/>
              </a:spcBef>
            </a:pPr>
            <a:r>
              <a:rPr lang="en-US" sz="1800" dirty="0">
                <a:latin typeface="Courier New"/>
                <a:ea typeface="+mn-lt"/>
                <a:cs typeface="+mn-lt"/>
              </a:rPr>
              <a:t>poets[ 2 , 2 ]      </a:t>
            </a:r>
            <a:r>
              <a:rPr lang="en-US" sz="1800" b="1" dirty="0">
                <a:solidFill>
                  <a:schemeClr val="accent4"/>
                </a:solidFill>
                <a:latin typeface="Courier New"/>
                <a:ea typeface="+mn-lt"/>
                <a:cs typeface="+mn-lt"/>
              </a:rPr>
              <a:t># gets the element on row 2 in column 2</a:t>
            </a:r>
          </a:p>
          <a:p>
            <a:pPr marL="0" lvl="1" indent="0">
              <a:lnSpc>
                <a:spcPct val="100000"/>
              </a:lnSpc>
              <a:spcBef>
                <a:spcPct val="20000"/>
              </a:spcBef>
              <a:buNone/>
            </a:pPr>
            <a:r>
              <a:rPr lang="en-US" sz="1800">
                <a:latin typeface="Courier New"/>
                <a:ea typeface="+mn-lt"/>
                <a:cs typeface="+mn-lt"/>
              </a:rPr>
              <a:t>poets[ , c(1,3) ]   </a:t>
            </a:r>
            <a:r>
              <a:rPr lang="en-US" sz="1800" b="1">
                <a:solidFill>
                  <a:schemeClr val="accent4"/>
                </a:solidFill>
                <a:latin typeface="Courier New"/>
                <a:ea typeface="+mn-lt"/>
                <a:cs typeface="+mn-lt"/>
              </a:rPr>
              <a:t># gets columns 1 and 3</a:t>
            </a:r>
          </a:p>
          <a:p>
            <a:pPr marL="0" lvl="1" indent="0">
              <a:lnSpc>
                <a:spcPct val="100000"/>
              </a:lnSpc>
              <a:spcBef>
                <a:spcPct val="20000"/>
              </a:spcBef>
              <a:buNone/>
            </a:pPr>
            <a:r>
              <a:rPr lang="en-US" sz="1800">
                <a:latin typeface="Courier New"/>
                <a:ea typeface="+mn-lt"/>
                <a:cs typeface="+mn-lt"/>
              </a:rPr>
              <a:t>poets[ , c("name", "reader_rating") ] </a:t>
            </a:r>
            <a:r>
              <a:rPr lang="en-US" sz="1800" b="1">
                <a:solidFill>
                  <a:schemeClr val="accent4"/>
                </a:solidFill>
                <a:latin typeface="Courier New"/>
                <a:ea typeface="+mn-lt"/>
                <a:cs typeface="+mn-lt"/>
              </a:rPr>
              <a:t># gets columns "name" and </a:t>
            </a:r>
          </a:p>
          <a:p>
            <a:pPr marL="0" lvl="1" indent="0">
              <a:lnSpc>
                <a:spcPct val="100000"/>
              </a:lnSpc>
              <a:spcBef>
                <a:spcPct val="20000"/>
              </a:spcBef>
              <a:buNone/>
            </a:pPr>
            <a:r>
              <a:rPr lang="en-US" sz="1800" b="1">
                <a:solidFill>
                  <a:schemeClr val="accent4"/>
                </a:solidFill>
                <a:latin typeface="Courier New"/>
                <a:ea typeface="+mn-lt"/>
                <a:cs typeface="+mn-lt"/>
              </a:rPr>
              <a:t>                                      # "reader_rating"</a:t>
            </a:r>
            <a:endParaRPr lang="en-US">
              <a:solidFill>
                <a:schemeClr val="accent4"/>
              </a:solidFill>
            </a:endParaRPr>
          </a:p>
          <a:p>
            <a:pPr marL="0" lvl="1" indent="0">
              <a:lnSpc>
                <a:spcPct val="100000"/>
              </a:lnSpc>
              <a:spcBef>
                <a:spcPct val="20000"/>
              </a:spcBef>
              <a:buNone/>
            </a:pPr>
            <a:r>
              <a:rPr lang="en-US" sz="1800">
                <a:latin typeface="Courier New"/>
                <a:ea typeface="+mn-lt"/>
                <a:cs typeface="+mn-lt"/>
              </a:rPr>
              <a:t>poets$name       </a:t>
            </a:r>
            <a:r>
              <a:rPr lang="en-US" sz="1800" b="1">
                <a:solidFill>
                  <a:schemeClr val="accent4"/>
                </a:solidFill>
                <a:latin typeface="Courier New"/>
                <a:ea typeface="+mn-lt"/>
                <a:cs typeface="+mn-lt"/>
              </a:rPr>
              <a:t># gets column "name"</a:t>
            </a:r>
          </a:p>
          <a:p>
            <a:pPr marL="0" lvl="1" indent="0">
              <a:lnSpc>
                <a:spcPct val="100000"/>
              </a:lnSpc>
              <a:spcBef>
                <a:spcPct val="20000"/>
              </a:spcBef>
              <a:buNone/>
            </a:pPr>
            <a:endParaRPr lang="en-US" sz="1800">
              <a:latin typeface="Courier New"/>
              <a:ea typeface="+mn-lt"/>
              <a:cs typeface="+mn-lt"/>
            </a:endParaRPr>
          </a:p>
          <a:p>
            <a:pPr marL="0" lvl="1" indent="0">
              <a:lnSpc>
                <a:spcPct val="100000"/>
              </a:lnSpc>
              <a:spcBef>
                <a:spcPct val="20000"/>
              </a:spcBef>
              <a:buNone/>
            </a:pPr>
            <a:endParaRPr lang="en-US" sz="1800">
              <a:latin typeface="Courier New"/>
              <a:ea typeface="+mn-lt"/>
              <a:cs typeface="+mn-lt"/>
            </a:endParaRPr>
          </a:p>
          <a:p>
            <a:pPr marL="0" lvl="1" indent="0">
              <a:lnSpc>
                <a:spcPct val="100000"/>
              </a:lnSpc>
              <a:spcBef>
                <a:spcPct val="20000"/>
              </a:spcBef>
              <a:buNone/>
            </a:pPr>
            <a:endParaRPr lang="en-US" sz="1800">
              <a:latin typeface="Courier New"/>
              <a:ea typeface="+mn-lt"/>
              <a:cs typeface="+mn-lt"/>
            </a:endParaRPr>
          </a:p>
          <a:p>
            <a:pPr marL="0" lvl="1" indent="0">
              <a:lnSpc>
                <a:spcPct val="100000"/>
              </a:lnSpc>
              <a:spcBef>
                <a:spcPct val="20000"/>
              </a:spcBef>
              <a:buNone/>
            </a:pPr>
            <a:r>
              <a:rPr lang="en-US" sz="1800" err="1">
                <a:latin typeface="Courier New"/>
                <a:ea typeface="+mn-lt"/>
                <a:cs typeface="+mn-lt"/>
              </a:rPr>
              <a:t>rownames</a:t>
            </a:r>
            <a:r>
              <a:rPr lang="en-US" sz="1800">
                <a:latin typeface="Courier New"/>
                <a:ea typeface="+mn-lt"/>
                <a:cs typeface="+mn-lt"/>
              </a:rPr>
              <a:t>(poets) </a:t>
            </a:r>
            <a:r>
              <a:rPr lang="en-US" sz="1800" b="1">
                <a:solidFill>
                  <a:schemeClr val="accent4"/>
                </a:solidFill>
                <a:latin typeface="Courier New"/>
                <a:ea typeface="+mn-lt"/>
                <a:cs typeface="+mn-lt"/>
              </a:rPr>
              <a:t># gets the row names</a:t>
            </a:r>
            <a:r>
              <a:rPr lang="en-US" sz="1800">
                <a:latin typeface="Courier New"/>
                <a:ea typeface="+mn-lt"/>
                <a:cs typeface="+mn-lt"/>
              </a:rPr>
              <a:t> </a:t>
            </a:r>
            <a:endParaRPr lang="en-US">
              <a:latin typeface="Courier New"/>
            </a:endParaRPr>
          </a:p>
          <a:p>
            <a:pPr marL="0" lvl="1" indent="0">
              <a:lnSpc>
                <a:spcPct val="100000"/>
              </a:lnSpc>
              <a:spcBef>
                <a:spcPct val="20000"/>
              </a:spcBef>
              <a:buNone/>
            </a:pPr>
            <a:r>
              <a:rPr lang="en-US" sz="1800" err="1">
                <a:latin typeface="Courier New"/>
                <a:ea typeface="+mn-lt"/>
                <a:cs typeface="+mn-lt"/>
              </a:rPr>
              <a:t>colnames</a:t>
            </a:r>
            <a:r>
              <a:rPr lang="en-US" sz="1800">
                <a:latin typeface="Courier New"/>
                <a:ea typeface="+mn-lt"/>
                <a:cs typeface="+mn-lt"/>
              </a:rPr>
              <a:t>(poets) </a:t>
            </a:r>
            <a:r>
              <a:rPr lang="en-US" sz="1800" b="1">
                <a:solidFill>
                  <a:schemeClr val="accent4"/>
                </a:solidFill>
                <a:latin typeface="Courier New"/>
                <a:ea typeface="+mn-lt"/>
                <a:cs typeface="+mn-lt"/>
              </a:rPr>
              <a:t># gets the column names</a:t>
            </a:r>
          </a:p>
          <a:p>
            <a:pPr marL="0" lvl="1" indent="0">
              <a:lnSpc>
                <a:spcPct val="100000"/>
              </a:lnSpc>
              <a:spcBef>
                <a:spcPct val="20000"/>
              </a:spcBef>
              <a:buNone/>
            </a:pPr>
            <a:endParaRPr lang="en-US" sz="2000" dirty="0">
              <a:latin typeface="Courier New"/>
              <a:ea typeface="+mn-lt"/>
              <a:cs typeface="+mn-lt"/>
            </a:endParaRPr>
          </a:p>
          <a:p>
            <a:pPr marL="0" lvl="1" indent="0">
              <a:lnSpc>
                <a:spcPct val="100000"/>
              </a:lnSpc>
              <a:spcBef>
                <a:spcPct val="20000"/>
              </a:spcBef>
              <a:buNone/>
            </a:pPr>
            <a:r>
              <a:rPr lang="en-US" sz="1800">
                <a:latin typeface="Courier New"/>
                <a:ea typeface="+mn-lt"/>
                <a:cs typeface="+mn-lt"/>
              </a:rPr>
              <a:t>rownames(poets) &lt;- c("J", "C", "H") </a:t>
            </a:r>
            <a:r>
              <a:rPr lang="en-US" sz="1800" b="1">
                <a:solidFill>
                  <a:schemeClr val="accent4"/>
                </a:solidFill>
                <a:latin typeface="Courier New"/>
                <a:ea typeface="+mn-lt"/>
                <a:cs typeface="+mn-lt"/>
              </a:rPr>
              <a:t># overwrites row names</a:t>
            </a:r>
          </a:p>
        </p:txBody>
      </p:sp>
    </p:spTree>
    <p:extLst>
      <p:ext uri="{BB962C8B-B14F-4D97-AF65-F5344CB8AC3E}">
        <p14:creationId xmlns:p14="http://schemas.microsoft.com/office/powerpoint/2010/main" val="35773848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5B9EA-D338-DB94-73C2-1110523DB04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17E07BD-88AE-5532-C5FD-12885B3E88BA}"/>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- 5</a:t>
            </a:r>
            <a:endParaRPr lang="en-US" dirty="0"/>
          </a:p>
        </p:txBody>
      </p:sp>
      <p:sp>
        <p:nvSpPr>
          <p:cNvPr id="2" name="TextBox 1">
            <a:extLst>
              <a:ext uri="{FF2B5EF4-FFF2-40B4-BE49-F238E27FC236}">
                <a16:creationId xmlns:a16="http://schemas.microsoft.com/office/drawing/2014/main" id="{6FAAF467-AC50-724D-6880-D26FBFCB9862}"/>
              </a:ext>
            </a:extLst>
          </p:cNvPr>
          <p:cNvSpPr txBox="1"/>
          <p:nvPr/>
        </p:nvSpPr>
        <p:spPr>
          <a:xfrm>
            <a:off x="838200" y="1019175"/>
            <a:ext cx="10553700" cy="63504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00"/>
              </a:spcBef>
            </a:pPr>
            <a:r>
              <a:rPr lang="de-CH" sz="2000" dirty="0">
                <a:solidFill>
                  <a:srgbClr val="000000"/>
                </a:solidFill>
                <a:ea typeface="+mn-lt"/>
                <a:cs typeface="+mn-lt"/>
              </a:rPr>
              <a:t>Open a </a:t>
            </a:r>
            <a:r>
              <a:rPr lang="de-CH" sz="2000" dirty="0" err="1">
                <a:solidFill>
                  <a:srgbClr val="000000"/>
                </a:solidFill>
                <a:ea typeface="+mn-lt"/>
                <a:cs typeface="+mn-lt"/>
              </a:rPr>
              <a:t>new</a:t>
            </a:r>
            <a:r>
              <a:rPr lang="de-CH" sz="2000" dirty="0">
                <a:solidFill>
                  <a:srgbClr val="000000"/>
                </a:solidFill>
                <a:ea typeface="+mn-lt"/>
                <a:cs typeface="+mn-lt"/>
              </a:rPr>
              <a:t> </a:t>
            </a:r>
            <a:r>
              <a:rPr lang="de-CH" sz="2000" dirty="0" err="1">
                <a:solidFill>
                  <a:srgbClr val="000000"/>
                </a:solidFill>
                <a:ea typeface="+mn-lt"/>
                <a:cs typeface="+mn-lt"/>
              </a:rPr>
              <a:t>script</a:t>
            </a:r>
            <a:r>
              <a:rPr lang="de-CH" sz="2000" dirty="0">
                <a:solidFill>
                  <a:srgbClr val="000000"/>
                </a:solidFill>
                <a:ea typeface="+mn-lt"/>
                <a:cs typeface="+mn-lt"/>
              </a:rPr>
              <a:t> and save </a:t>
            </a:r>
            <a:r>
              <a:rPr lang="de-CH" sz="2000" dirty="0" err="1">
                <a:solidFill>
                  <a:srgbClr val="000000"/>
                </a:solidFill>
                <a:ea typeface="+mn-lt"/>
                <a:cs typeface="+mn-lt"/>
              </a:rPr>
              <a:t>it</a:t>
            </a:r>
            <a:r>
              <a:rPr lang="de-CH" sz="2000" dirty="0">
                <a:solidFill>
                  <a:srgbClr val="000000"/>
                </a:solidFill>
                <a:ea typeface="+mn-lt"/>
                <a:cs typeface="+mn-lt"/>
              </a:rPr>
              <a:t> </a:t>
            </a:r>
            <a:r>
              <a:rPr lang="de-CH" sz="2000" dirty="0" err="1">
                <a:solidFill>
                  <a:srgbClr val="000000"/>
                </a:solidFill>
                <a:ea typeface="+mn-lt"/>
                <a:cs typeface="+mn-lt"/>
              </a:rPr>
              <a:t>as</a:t>
            </a:r>
            <a:r>
              <a:rPr lang="de-CH" sz="2000" dirty="0">
                <a:solidFill>
                  <a:srgbClr val="000000"/>
                </a:solidFill>
                <a:ea typeface="+mn-lt"/>
                <a:cs typeface="+mn-lt"/>
              </a:rPr>
              <a:t> "Ex5.R".</a:t>
            </a:r>
            <a:endParaRPr lang="en-US" sz="2000" dirty="0">
              <a:solidFill>
                <a:srgbClr val="000000"/>
              </a:solidFill>
              <a:latin typeface="Corbel"/>
              <a:cs typeface="Arial"/>
            </a:endParaRPr>
          </a:p>
          <a:p>
            <a:pPr marL="457200" indent="-457200">
              <a:spcBef>
                <a:spcPts val="400"/>
              </a:spcBef>
              <a:buAutoNum type="arabicPeriod"/>
            </a:pPr>
            <a:r>
              <a:rPr lang="de-CH" sz="2000" dirty="0">
                <a:solidFill>
                  <a:srgbClr val="000000"/>
                </a:solidFill>
                <a:latin typeface="Corbel"/>
                <a:cs typeface="Arial"/>
              </a:rPr>
              <a:t>In </a:t>
            </a:r>
            <a:r>
              <a:rPr lang="de-CH" sz="2000" dirty="0" err="1">
                <a:solidFill>
                  <a:srgbClr val="000000"/>
                </a:solidFill>
                <a:latin typeface="Corbel"/>
                <a:cs typeface="Arial"/>
              </a:rPr>
              <a:t>your</a:t>
            </a:r>
            <a:r>
              <a:rPr lang="de-CH" sz="2000" dirty="0">
                <a:solidFill>
                  <a:srgbClr val="000000"/>
                </a:solidFill>
                <a:latin typeface="Corbel"/>
                <a:cs typeface="Arial"/>
              </a:rPr>
              <a:t> </a:t>
            </a:r>
            <a:r>
              <a:rPr lang="de-CH" sz="2000" dirty="0" err="1">
                <a:solidFill>
                  <a:srgbClr val="000000"/>
                </a:solidFill>
                <a:latin typeface="Corbel"/>
                <a:cs typeface="Arial"/>
              </a:rPr>
              <a:t>script</a:t>
            </a:r>
            <a:r>
              <a:rPr lang="de-CH" sz="2000" dirty="0">
                <a:solidFill>
                  <a:srgbClr val="000000"/>
                </a:solidFill>
                <a:latin typeface="Corbel"/>
                <a:cs typeface="Arial"/>
              </a:rPr>
              <a:t>, </a:t>
            </a:r>
            <a:r>
              <a:rPr lang="de-CH" sz="2000" dirty="0" err="1">
                <a:solidFill>
                  <a:srgbClr val="000000"/>
                </a:solidFill>
                <a:latin typeface="Corbel"/>
                <a:cs typeface="Arial"/>
              </a:rPr>
              <a:t>write</a:t>
            </a:r>
            <a:r>
              <a:rPr lang="de-CH" sz="2000" dirty="0">
                <a:solidFill>
                  <a:srgbClr val="000000"/>
                </a:solidFill>
                <a:latin typeface="Corbel"/>
                <a:cs typeface="Arial"/>
              </a:rPr>
              <a:t> and </a:t>
            </a:r>
            <a:r>
              <a:rPr lang="de-CH" sz="2000" dirty="0" err="1">
                <a:solidFill>
                  <a:srgbClr val="000000"/>
                </a:solidFill>
                <a:latin typeface="Corbel"/>
                <a:cs typeface="Arial"/>
              </a:rPr>
              <a:t>execute</a:t>
            </a:r>
            <a:r>
              <a:rPr lang="de-CH" sz="2000" dirty="0">
                <a:solidFill>
                  <a:srgbClr val="000000"/>
                </a:solidFill>
                <a:latin typeface="Corbel"/>
                <a:cs typeface="Arial"/>
              </a:rPr>
              <a:t> </a:t>
            </a:r>
            <a:r>
              <a:rPr lang="de-CH" sz="2000" dirty="0" err="1">
                <a:solidFill>
                  <a:srgbClr val="000000"/>
                </a:solidFill>
                <a:latin typeface="Corbel"/>
                <a:cs typeface="Arial"/>
              </a:rPr>
              <a:t>the</a:t>
            </a:r>
            <a:r>
              <a:rPr lang="de-CH" sz="2000" dirty="0">
                <a:solidFill>
                  <a:srgbClr val="000000"/>
                </a:solidFill>
                <a:latin typeface="Corbel"/>
                <a:cs typeface="Arial"/>
              </a:rPr>
              <a:t> </a:t>
            </a:r>
            <a:r>
              <a:rPr lang="de-CH" sz="2000" dirty="0" err="1">
                <a:solidFill>
                  <a:srgbClr val="000000"/>
                </a:solidFill>
                <a:latin typeface="Corbel"/>
                <a:cs typeface="Arial"/>
              </a:rPr>
              <a:t>commands</a:t>
            </a:r>
            <a:r>
              <a:rPr lang="de-CH" sz="2000" dirty="0">
                <a:solidFill>
                  <a:srgbClr val="000000"/>
                </a:solidFill>
                <a:latin typeface="Corbel"/>
                <a:cs typeface="Arial"/>
              </a:rPr>
              <a:t> </a:t>
            </a:r>
            <a:endParaRPr lang="en-US" sz="2000" dirty="0">
              <a:solidFill>
                <a:srgbClr val="000000"/>
              </a:solidFill>
              <a:latin typeface="Corbel"/>
              <a:cs typeface="Arial"/>
            </a:endParaRPr>
          </a:p>
          <a:p>
            <a:pPr lvl="1">
              <a:spcBef>
                <a:spcPts val="400"/>
              </a:spcBef>
            </a:pPr>
            <a:r>
              <a:rPr lang="de-CH" sz="2000" err="1">
                <a:latin typeface="Courier New"/>
                <a:cs typeface="Arial"/>
              </a:rPr>
              <a:t>library</a:t>
            </a:r>
            <a:r>
              <a:rPr lang="de-CH" sz="2000" dirty="0">
                <a:latin typeface="Courier New"/>
                <a:cs typeface="Arial"/>
              </a:rPr>
              <a:t>(MASS) </a:t>
            </a:r>
            <a:r>
              <a:rPr lang="de-CH" sz="2000" b="1" dirty="0">
                <a:solidFill>
                  <a:schemeClr val="accent4"/>
                </a:solidFill>
                <a:latin typeface="Courier New"/>
                <a:cs typeface="Arial"/>
              </a:rPr>
              <a:t># </a:t>
            </a:r>
            <a:r>
              <a:rPr lang="de-CH" sz="2000" b="1" err="1">
                <a:solidFill>
                  <a:schemeClr val="accent4"/>
                </a:solidFill>
                <a:latin typeface="Courier New"/>
                <a:cs typeface="Arial"/>
              </a:rPr>
              <a:t>loads</a:t>
            </a:r>
            <a:r>
              <a:rPr lang="de-CH" sz="2000" b="1" dirty="0">
                <a:solidFill>
                  <a:schemeClr val="accent4"/>
                </a:solidFill>
                <a:latin typeface="Courier New"/>
                <a:cs typeface="Arial"/>
              </a:rPr>
              <a:t> </a:t>
            </a:r>
            <a:r>
              <a:rPr lang="de-CH" sz="2000" b="1" err="1">
                <a:solidFill>
                  <a:schemeClr val="accent4"/>
                </a:solidFill>
                <a:latin typeface="Courier New"/>
                <a:cs typeface="Arial"/>
              </a:rPr>
              <a:t>the</a:t>
            </a:r>
            <a:r>
              <a:rPr lang="de-CH" sz="2000" b="1" dirty="0">
                <a:solidFill>
                  <a:schemeClr val="accent4"/>
                </a:solidFill>
                <a:latin typeface="Courier New"/>
                <a:cs typeface="Arial"/>
              </a:rPr>
              <a:t> </a:t>
            </a:r>
            <a:r>
              <a:rPr lang="de-CH" sz="2000" b="1" err="1">
                <a:solidFill>
                  <a:schemeClr val="accent4"/>
                </a:solidFill>
                <a:latin typeface="Courier New"/>
                <a:cs typeface="Arial"/>
              </a:rPr>
              <a:t>library</a:t>
            </a:r>
            <a:r>
              <a:rPr lang="de-CH" sz="2000" b="1" dirty="0">
                <a:solidFill>
                  <a:schemeClr val="accent4"/>
                </a:solidFill>
                <a:latin typeface="Courier New"/>
                <a:cs typeface="Arial"/>
              </a:rPr>
              <a:t> MASS</a:t>
            </a:r>
          </a:p>
          <a:p>
            <a:pPr lvl="1">
              <a:spcBef>
                <a:spcPts val="400"/>
              </a:spcBef>
            </a:pPr>
            <a:r>
              <a:rPr lang="de-CH" sz="2000" dirty="0" err="1">
                <a:latin typeface="Courier New"/>
                <a:cs typeface="Arial"/>
              </a:rPr>
              <a:t>data</a:t>
            </a:r>
            <a:r>
              <a:rPr lang="de-CH" sz="2000" dirty="0">
                <a:latin typeface="Courier New"/>
                <a:cs typeface="Arial"/>
              </a:rPr>
              <a:t>(</a:t>
            </a:r>
            <a:r>
              <a:rPr lang="de-CH" sz="2000" dirty="0" err="1">
                <a:latin typeface="Courier New"/>
                <a:cs typeface="Arial"/>
              </a:rPr>
              <a:t>bacteria</a:t>
            </a:r>
            <a:r>
              <a:rPr lang="de-CH" sz="2000" dirty="0">
                <a:latin typeface="Courier New"/>
                <a:cs typeface="Arial"/>
              </a:rPr>
              <a:t>) </a:t>
            </a:r>
            <a:r>
              <a:rPr lang="de-CH" sz="2000" b="1" dirty="0">
                <a:solidFill>
                  <a:schemeClr val="accent4"/>
                </a:solidFill>
                <a:latin typeface="Courier New"/>
                <a:cs typeface="Arial"/>
              </a:rPr>
              <a:t># </a:t>
            </a:r>
            <a:r>
              <a:rPr lang="de-CH" sz="2000" b="1" dirty="0" err="1">
                <a:solidFill>
                  <a:schemeClr val="accent4"/>
                </a:solidFill>
                <a:latin typeface="Courier New"/>
                <a:cs typeface="Arial"/>
              </a:rPr>
              <a:t>loads</a:t>
            </a:r>
            <a:r>
              <a:rPr lang="de-CH" sz="2000" b="1" dirty="0">
                <a:solidFill>
                  <a:schemeClr val="accent4"/>
                </a:solidFill>
                <a:latin typeface="Courier New"/>
                <a:cs typeface="Arial"/>
              </a:rPr>
              <a:t> </a:t>
            </a:r>
            <a:r>
              <a:rPr lang="de-CH" sz="2000" b="1" dirty="0" err="1">
                <a:solidFill>
                  <a:schemeClr val="accent4"/>
                </a:solidFill>
                <a:latin typeface="Courier New"/>
                <a:cs typeface="Arial"/>
              </a:rPr>
              <a:t>the</a:t>
            </a:r>
            <a:r>
              <a:rPr lang="de-CH" sz="2000" b="1" dirty="0">
                <a:solidFill>
                  <a:schemeClr val="accent4"/>
                </a:solidFill>
                <a:latin typeface="Courier New"/>
                <a:cs typeface="Arial"/>
              </a:rPr>
              <a:t> </a:t>
            </a:r>
            <a:r>
              <a:rPr lang="de-CH" sz="2000" b="1" dirty="0" err="1">
                <a:solidFill>
                  <a:schemeClr val="accent4"/>
                </a:solidFill>
                <a:latin typeface="Courier New"/>
                <a:cs typeface="Arial"/>
              </a:rPr>
              <a:t>bacteria</a:t>
            </a:r>
            <a:r>
              <a:rPr lang="de-CH" sz="2000" b="1" dirty="0">
                <a:solidFill>
                  <a:schemeClr val="accent4"/>
                </a:solidFill>
                <a:latin typeface="Courier New"/>
                <a:cs typeface="Arial"/>
              </a:rPr>
              <a:t> </a:t>
            </a:r>
            <a:r>
              <a:rPr lang="de-CH" sz="2000" b="1" dirty="0" err="1">
                <a:solidFill>
                  <a:schemeClr val="accent4"/>
                </a:solidFill>
                <a:latin typeface="Courier New"/>
                <a:cs typeface="Arial"/>
              </a:rPr>
              <a:t>data</a:t>
            </a:r>
            <a:r>
              <a:rPr lang="de-CH" sz="2000" b="1" dirty="0">
                <a:solidFill>
                  <a:schemeClr val="accent4"/>
                </a:solidFill>
                <a:latin typeface="Courier New"/>
                <a:cs typeface="Arial"/>
              </a:rPr>
              <a:t> </a:t>
            </a:r>
            <a:r>
              <a:rPr lang="de-CH" sz="2000" b="1" dirty="0" err="1">
                <a:solidFill>
                  <a:schemeClr val="accent4"/>
                </a:solidFill>
                <a:latin typeface="Courier New"/>
                <a:cs typeface="Arial"/>
              </a:rPr>
              <a:t>set</a:t>
            </a:r>
            <a:r>
              <a:rPr lang="de-CH" sz="2000" b="1" dirty="0">
                <a:solidFill>
                  <a:schemeClr val="accent4"/>
                </a:solidFill>
                <a:latin typeface="Courier New"/>
                <a:cs typeface="Arial"/>
              </a:rPr>
              <a:t> (</a:t>
            </a:r>
            <a:r>
              <a:rPr lang="de-CH" sz="2000" b="1" dirty="0" err="1">
                <a:solidFill>
                  <a:schemeClr val="accent4"/>
                </a:solidFill>
                <a:latin typeface="Courier New"/>
                <a:cs typeface="Arial"/>
              </a:rPr>
              <a:t>from</a:t>
            </a:r>
            <a:r>
              <a:rPr lang="de-CH" sz="2000" b="1" dirty="0">
                <a:solidFill>
                  <a:schemeClr val="accent4"/>
                </a:solidFill>
                <a:latin typeface="Courier New"/>
                <a:cs typeface="Arial"/>
              </a:rPr>
              <a:t> MASS)</a:t>
            </a:r>
            <a:r>
              <a:rPr lang="de-CH" sz="2000" dirty="0">
                <a:latin typeface="Courier New"/>
                <a:cs typeface="Arial"/>
              </a:rPr>
              <a:t> </a:t>
            </a:r>
            <a:endParaRPr lang="en-US" sz="2000" dirty="0">
              <a:latin typeface="Courier New"/>
              <a:cs typeface="Arial"/>
            </a:endParaRPr>
          </a:p>
          <a:p>
            <a:pPr lvl="1">
              <a:spcBef>
                <a:spcPts val="400"/>
              </a:spcBef>
            </a:pPr>
            <a:r>
              <a:rPr lang="de-CH" sz="2000" dirty="0">
                <a:solidFill>
                  <a:srgbClr val="000000"/>
                </a:solidFill>
                <a:ea typeface="+mn-lt"/>
                <a:cs typeface="+mn-lt"/>
              </a:rPr>
              <a:t>Check: </a:t>
            </a:r>
            <a:r>
              <a:rPr lang="de-CH" sz="2000" dirty="0" err="1">
                <a:solidFill>
                  <a:srgbClr val="000000"/>
                </a:solidFill>
                <a:ea typeface="+mn-lt"/>
                <a:cs typeface="+mn-lt"/>
              </a:rPr>
              <a:t>You</a:t>
            </a:r>
            <a:r>
              <a:rPr lang="de-CH" sz="2000" dirty="0">
                <a:solidFill>
                  <a:srgbClr val="000000"/>
                </a:solidFill>
                <a:ea typeface="+mn-lt"/>
                <a:cs typeface="+mn-lt"/>
              </a:rPr>
              <a:t> </a:t>
            </a:r>
            <a:r>
              <a:rPr lang="de-CH" sz="2000" dirty="0" err="1">
                <a:solidFill>
                  <a:srgbClr val="000000"/>
                </a:solidFill>
                <a:ea typeface="+mn-lt"/>
                <a:cs typeface="+mn-lt"/>
              </a:rPr>
              <a:t>should</a:t>
            </a:r>
            <a:r>
              <a:rPr lang="de-CH" sz="2000" dirty="0">
                <a:solidFill>
                  <a:srgbClr val="000000"/>
                </a:solidFill>
                <a:ea typeface="+mn-lt"/>
                <a:cs typeface="+mn-lt"/>
              </a:rPr>
              <a:t> </a:t>
            </a:r>
            <a:r>
              <a:rPr lang="de-CH" sz="2000" dirty="0" err="1">
                <a:solidFill>
                  <a:srgbClr val="000000"/>
                </a:solidFill>
                <a:ea typeface="+mn-lt"/>
                <a:cs typeface="+mn-lt"/>
              </a:rPr>
              <a:t>have</a:t>
            </a:r>
            <a:r>
              <a:rPr lang="de-CH" sz="2000" dirty="0">
                <a:solidFill>
                  <a:srgbClr val="000000"/>
                </a:solidFill>
                <a:ea typeface="+mn-lt"/>
                <a:cs typeface="+mn-lt"/>
              </a:rPr>
              <a:t> a variable </a:t>
            </a:r>
            <a:r>
              <a:rPr lang="de-CH" sz="2000" dirty="0" err="1">
                <a:solidFill>
                  <a:srgbClr val="000000"/>
                </a:solidFill>
                <a:ea typeface="+mn-lt"/>
                <a:cs typeface="+mn-lt"/>
              </a:rPr>
              <a:t>named</a:t>
            </a:r>
            <a:r>
              <a:rPr lang="de-CH" sz="2000" dirty="0">
                <a:solidFill>
                  <a:srgbClr val="000000"/>
                </a:solidFill>
                <a:ea typeface="+mn-lt"/>
                <a:cs typeface="+mn-lt"/>
              </a:rPr>
              <a:t> "</a:t>
            </a:r>
            <a:r>
              <a:rPr lang="de-CH" sz="2000" dirty="0" err="1">
                <a:solidFill>
                  <a:srgbClr val="000000"/>
                </a:solidFill>
                <a:ea typeface="+mn-lt"/>
                <a:cs typeface="+mn-lt"/>
              </a:rPr>
              <a:t>bacteria</a:t>
            </a:r>
            <a:r>
              <a:rPr lang="de-CH" sz="2000" dirty="0">
                <a:solidFill>
                  <a:srgbClr val="000000"/>
                </a:solidFill>
                <a:ea typeface="+mn-lt"/>
                <a:cs typeface="+mn-lt"/>
              </a:rPr>
              <a:t>" in </a:t>
            </a:r>
            <a:r>
              <a:rPr lang="de-CH" sz="2000" dirty="0" err="1">
                <a:solidFill>
                  <a:srgbClr val="000000"/>
                </a:solidFill>
                <a:ea typeface="+mn-lt"/>
                <a:cs typeface="+mn-lt"/>
              </a:rPr>
              <a:t>your</a:t>
            </a:r>
            <a:r>
              <a:rPr lang="de-CH" sz="2000" dirty="0">
                <a:solidFill>
                  <a:srgbClr val="000000"/>
                </a:solidFill>
                <a:ea typeface="+mn-lt"/>
                <a:cs typeface="+mn-lt"/>
              </a:rPr>
              <a:t> Environment.</a:t>
            </a:r>
            <a:endParaRPr lang="en-US" sz="2000" dirty="0">
              <a:solidFill>
                <a:srgbClr val="000000"/>
              </a:solidFill>
              <a:ea typeface="+mn-lt"/>
              <a:cs typeface="+mn-lt"/>
            </a:endParaRPr>
          </a:p>
          <a:p>
            <a:pPr marL="285750" indent="-285750">
              <a:spcBef>
                <a:spcPts val="400"/>
              </a:spcBef>
              <a:buAutoNum type="arabicPeriod"/>
            </a:pPr>
            <a:r>
              <a:rPr lang="en-US" sz="2000" dirty="0">
                <a:solidFill>
                  <a:srgbClr val="000000"/>
                </a:solidFill>
                <a:ea typeface="+mn-lt"/>
                <a:cs typeface="+mn-lt"/>
              </a:rPr>
              <a:t> What are the names of the columns of the </a:t>
            </a:r>
            <a:r>
              <a:rPr lang="en-US" sz="2000" b="1" dirty="0">
                <a:solidFill>
                  <a:srgbClr val="000000"/>
                </a:solidFill>
                <a:ea typeface="+mn-lt"/>
                <a:cs typeface="+mn-lt"/>
              </a:rPr>
              <a:t>bacteria</a:t>
            </a:r>
            <a:r>
              <a:rPr lang="en-US" sz="2000" dirty="0">
                <a:solidFill>
                  <a:srgbClr val="000000"/>
                </a:solidFill>
                <a:ea typeface="+mn-lt"/>
                <a:cs typeface="+mn-lt"/>
              </a:rPr>
              <a:t> </a:t>
            </a:r>
            <a:r>
              <a:rPr lang="en-US" sz="2000" err="1">
                <a:solidFill>
                  <a:srgbClr val="000000"/>
                </a:solidFill>
                <a:ea typeface="+mn-lt"/>
                <a:cs typeface="+mn-lt"/>
              </a:rPr>
              <a:t>data.frame</a:t>
            </a:r>
            <a:r>
              <a:rPr lang="en-US" sz="2000" dirty="0">
                <a:solidFill>
                  <a:srgbClr val="000000"/>
                </a:solidFill>
                <a:ea typeface="+mn-lt"/>
                <a:cs typeface="+mn-lt"/>
              </a:rPr>
              <a:t> ?</a:t>
            </a:r>
          </a:p>
          <a:p>
            <a:pPr marL="285750" indent="-285750">
              <a:spcBef>
                <a:spcPts val="400"/>
              </a:spcBef>
              <a:buAutoNum type="arabicPeriod"/>
            </a:pPr>
            <a:r>
              <a:rPr lang="en-US" sz="2000" dirty="0">
                <a:solidFill>
                  <a:srgbClr val="000000"/>
                </a:solidFill>
                <a:ea typeface="+mn-lt"/>
                <a:cs typeface="+mn-lt"/>
              </a:rPr>
              <a:t> Use </a:t>
            </a:r>
            <a:r>
              <a:rPr lang="en-US" sz="2000" b="1" dirty="0">
                <a:solidFill>
                  <a:srgbClr val="000000"/>
                </a:solidFill>
                <a:ea typeface="+mn-lt"/>
                <a:cs typeface="+mn-lt"/>
              </a:rPr>
              <a:t>[]</a:t>
            </a:r>
            <a:r>
              <a:rPr lang="en-US" sz="2000" dirty="0">
                <a:solidFill>
                  <a:srgbClr val="000000"/>
                </a:solidFill>
                <a:ea typeface="+mn-lt"/>
                <a:cs typeface="+mn-lt"/>
              </a:rPr>
              <a:t>  to select rows 100 to 119 of the column </a:t>
            </a:r>
            <a:r>
              <a:rPr lang="en-US" sz="2000" dirty="0">
                <a:solidFill>
                  <a:srgbClr val="000000"/>
                </a:solidFill>
                <a:latin typeface="Courier New"/>
                <a:ea typeface="+mn-lt"/>
                <a:cs typeface="+mn-lt"/>
              </a:rPr>
              <a:t>ap</a:t>
            </a:r>
            <a:r>
              <a:rPr lang="en-US" sz="2000" dirty="0">
                <a:solidFill>
                  <a:srgbClr val="000000"/>
                </a:solidFill>
                <a:ea typeface="+mn-lt"/>
                <a:cs typeface="+mn-lt"/>
              </a:rPr>
              <a:t> .</a:t>
            </a:r>
          </a:p>
          <a:p>
            <a:pPr marL="285750" indent="-285750">
              <a:spcBef>
                <a:spcPts val="400"/>
              </a:spcBef>
              <a:buAutoNum type="arabicPeriod"/>
            </a:pPr>
            <a:r>
              <a:rPr lang="de-CH" sz="2000" dirty="0">
                <a:solidFill>
                  <a:srgbClr val="000000"/>
                </a:solidFill>
                <a:ea typeface="+mn-lt"/>
                <a:cs typeface="+mn-lt"/>
              </a:rPr>
              <a:t> Use $ </a:t>
            </a:r>
            <a:r>
              <a:rPr lang="de-CH" sz="2000" dirty="0" err="1">
                <a:solidFill>
                  <a:srgbClr val="000000"/>
                </a:solidFill>
                <a:ea typeface="+mn-lt"/>
                <a:cs typeface="+mn-lt"/>
              </a:rPr>
              <a:t>to</a:t>
            </a:r>
            <a:r>
              <a:rPr lang="de-CH" sz="2000" dirty="0">
                <a:solidFill>
                  <a:srgbClr val="000000"/>
                </a:solidFill>
                <a:ea typeface="+mn-lt"/>
                <a:cs typeface="+mn-lt"/>
              </a:rPr>
              <a:t> </a:t>
            </a:r>
            <a:r>
              <a:rPr lang="de-CH" sz="2000" dirty="0" err="1">
                <a:solidFill>
                  <a:srgbClr val="000000"/>
                </a:solidFill>
                <a:ea typeface="+mn-lt"/>
                <a:cs typeface="+mn-lt"/>
              </a:rPr>
              <a:t>get</a:t>
            </a:r>
            <a:r>
              <a:rPr lang="de-CH" sz="2000" dirty="0">
                <a:solidFill>
                  <a:srgbClr val="000000"/>
                </a:solidFill>
                <a:ea typeface="+mn-lt"/>
                <a:cs typeface="+mn-lt"/>
              </a:rPr>
              <a:t> </a:t>
            </a:r>
            <a:r>
              <a:rPr lang="de-CH" sz="2000" dirty="0" err="1">
                <a:solidFill>
                  <a:srgbClr val="000000"/>
                </a:solidFill>
                <a:ea typeface="+mn-lt"/>
                <a:cs typeface="+mn-lt"/>
              </a:rPr>
              <a:t>the</a:t>
            </a:r>
            <a:r>
              <a:rPr lang="de-CH" sz="2000" dirty="0">
                <a:solidFill>
                  <a:srgbClr val="000000"/>
                </a:solidFill>
                <a:ea typeface="+mn-lt"/>
                <a:cs typeface="+mn-lt"/>
              </a:rPr>
              <a:t> </a:t>
            </a:r>
            <a:r>
              <a:rPr lang="de-CH" sz="2000" dirty="0" err="1">
                <a:solidFill>
                  <a:srgbClr val="000000"/>
                </a:solidFill>
                <a:ea typeface="+mn-lt"/>
                <a:cs typeface="+mn-lt"/>
              </a:rPr>
              <a:t>column</a:t>
            </a:r>
            <a:r>
              <a:rPr lang="de-CH" sz="2000" dirty="0">
                <a:solidFill>
                  <a:srgbClr val="000000"/>
                </a:solidFill>
                <a:ea typeface="+mn-lt"/>
                <a:cs typeface="+mn-lt"/>
              </a:rPr>
              <a:t> </a:t>
            </a:r>
            <a:r>
              <a:rPr lang="de-CH" sz="2000" dirty="0" err="1">
                <a:solidFill>
                  <a:srgbClr val="000000"/>
                </a:solidFill>
                <a:latin typeface="Courier New"/>
                <a:ea typeface="+mn-lt"/>
                <a:cs typeface="+mn-lt"/>
              </a:rPr>
              <a:t>week</a:t>
            </a:r>
            <a:r>
              <a:rPr lang="de-CH" sz="2000" dirty="0">
                <a:solidFill>
                  <a:srgbClr val="000000"/>
                </a:solidFill>
                <a:ea typeface="+mn-lt"/>
                <a:cs typeface="+mn-lt"/>
              </a:rPr>
              <a:t> and check </a:t>
            </a:r>
            <a:r>
              <a:rPr lang="de-CH" sz="2000" dirty="0" err="1">
                <a:solidFill>
                  <a:srgbClr val="000000"/>
                </a:solidFill>
                <a:ea typeface="+mn-lt"/>
                <a:cs typeface="+mn-lt"/>
              </a:rPr>
              <a:t>how</a:t>
            </a:r>
            <a:r>
              <a:rPr lang="de-CH" sz="2000" dirty="0">
                <a:solidFill>
                  <a:srgbClr val="000000"/>
                </a:solidFill>
                <a:ea typeface="+mn-lt"/>
                <a:cs typeface="+mn-lt"/>
              </a:rPr>
              <a:t> </a:t>
            </a:r>
            <a:r>
              <a:rPr lang="de-CH" sz="2000" dirty="0" err="1">
                <a:solidFill>
                  <a:srgbClr val="000000"/>
                </a:solidFill>
                <a:ea typeface="+mn-lt"/>
                <a:cs typeface="+mn-lt"/>
              </a:rPr>
              <a:t>many</a:t>
            </a:r>
            <a:r>
              <a:rPr lang="de-CH" sz="2000" dirty="0">
                <a:solidFill>
                  <a:srgbClr val="000000"/>
                </a:solidFill>
                <a:ea typeface="+mn-lt"/>
                <a:cs typeface="+mn-lt"/>
              </a:rPr>
              <a:t> </a:t>
            </a:r>
            <a:r>
              <a:rPr lang="de-CH" sz="2000" dirty="0">
                <a:solidFill>
                  <a:srgbClr val="000000"/>
                </a:solidFill>
                <a:latin typeface="Courier New"/>
                <a:ea typeface="+mn-lt"/>
                <a:cs typeface="+mn-lt"/>
              </a:rPr>
              <a:t>0</a:t>
            </a:r>
            <a:r>
              <a:rPr lang="de-CH" sz="2000" dirty="0">
                <a:solidFill>
                  <a:srgbClr val="000000"/>
                </a:solidFill>
                <a:ea typeface="+mn-lt"/>
                <a:cs typeface="+mn-lt"/>
              </a:rPr>
              <a:t> </a:t>
            </a:r>
            <a:r>
              <a:rPr lang="de-CH" sz="2000" dirty="0" err="1">
                <a:solidFill>
                  <a:srgbClr val="000000"/>
                </a:solidFill>
                <a:ea typeface="+mn-lt"/>
                <a:cs typeface="+mn-lt"/>
              </a:rPr>
              <a:t>values</a:t>
            </a:r>
            <a:r>
              <a:rPr lang="de-CH" sz="2000" dirty="0">
                <a:solidFill>
                  <a:srgbClr val="000000"/>
                </a:solidFill>
                <a:ea typeface="+mn-lt"/>
                <a:cs typeface="+mn-lt"/>
              </a:rPr>
              <a:t> </a:t>
            </a:r>
            <a:r>
              <a:rPr lang="de-CH" sz="2000" dirty="0" err="1">
                <a:solidFill>
                  <a:srgbClr val="000000"/>
                </a:solidFill>
                <a:ea typeface="+mn-lt"/>
                <a:cs typeface="+mn-lt"/>
              </a:rPr>
              <a:t>it</a:t>
            </a:r>
            <a:r>
              <a:rPr lang="de-CH" sz="2000" dirty="0">
                <a:solidFill>
                  <a:srgbClr val="000000"/>
                </a:solidFill>
                <a:ea typeface="+mn-lt"/>
                <a:cs typeface="+mn-lt"/>
              </a:rPr>
              <a:t> </a:t>
            </a:r>
            <a:r>
              <a:rPr lang="de-CH" sz="2000" dirty="0" err="1">
                <a:solidFill>
                  <a:srgbClr val="000000"/>
                </a:solidFill>
                <a:ea typeface="+mn-lt"/>
                <a:cs typeface="+mn-lt"/>
              </a:rPr>
              <a:t>has</a:t>
            </a:r>
            <a:r>
              <a:rPr lang="de-CH" sz="2000" dirty="0">
                <a:solidFill>
                  <a:srgbClr val="000000"/>
                </a:solidFill>
                <a:ea typeface="+mn-lt"/>
                <a:cs typeface="+mn-lt"/>
              </a:rPr>
              <a:t>.</a:t>
            </a:r>
            <a:endParaRPr lang="en-US" sz="2000" dirty="0">
              <a:solidFill>
                <a:srgbClr val="000000"/>
              </a:solidFill>
              <a:ea typeface="+mn-lt"/>
              <a:cs typeface="+mn-lt"/>
            </a:endParaRPr>
          </a:p>
          <a:p>
            <a:pPr marL="285750" indent="-285750">
              <a:spcBef>
                <a:spcPts val="400"/>
              </a:spcBef>
              <a:buAutoNum type="arabicPeriod"/>
            </a:pPr>
            <a:endParaRPr lang="en-US" sz="2000" dirty="0">
              <a:solidFill>
                <a:srgbClr val="000000"/>
              </a:solidFill>
              <a:latin typeface="Corbel"/>
              <a:cs typeface="Arial"/>
            </a:endParaRPr>
          </a:p>
          <a:p>
            <a:pPr>
              <a:spcBef>
                <a:spcPts val="400"/>
              </a:spcBef>
            </a:pPr>
            <a:r>
              <a:rPr lang="en-US" sz="2000" b="1" dirty="0">
                <a:solidFill>
                  <a:srgbClr val="262626"/>
                </a:solidFill>
                <a:ea typeface="+mn-lt"/>
                <a:cs typeface="+mn-lt"/>
              </a:rPr>
              <a:t>EXTRA TASKS</a:t>
            </a:r>
          </a:p>
          <a:p>
            <a:pPr marL="285750" indent="-285750">
              <a:spcBef>
                <a:spcPts val="400"/>
              </a:spcBef>
              <a:buAutoNum type="arabicPeriod"/>
            </a:pPr>
            <a:r>
              <a:rPr lang="en-US" sz="2000" dirty="0">
                <a:solidFill>
                  <a:srgbClr val="262626"/>
                </a:solidFill>
                <a:ea typeface="+mn-lt"/>
                <a:cs typeface="+mn-lt"/>
              </a:rPr>
              <a:t>using a comparison operator and [], select the rows which correspond to a “placebo” treatment (in the </a:t>
            </a:r>
            <a:r>
              <a:rPr lang="en-US" sz="2000" err="1">
                <a:solidFill>
                  <a:srgbClr val="262626"/>
                </a:solidFill>
                <a:latin typeface="Courier New"/>
                <a:ea typeface="+mn-lt"/>
                <a:cs typeface="+mn-lt"/>
              </a:rPr>
              <a:t>trt</a:t>
            </a:r>
            <a:r>
              <a:rPr lang="en-US" sz="2000" dirty="0">
                <a:solidFill>
                  <a:srgbClr val="262626"/>
                </a:solidFill>
                <a:ea typeface="+mn-lt"/>
                <a:cs typeface="+mn-lt"/>
              </a:rPr>
              <a:t> column).</a:t>
            </a:r>
            <a:endParaRPr lang="en-US" dirty="0">
              <a:solidFill>
                <a:srgbClr val="1E2232"/>
              </a:solidFill>
              <a:ea typeface="+mn-lt"/>
              <a:cs typeface="+mn-lt"/>
            </a:endParaRPr>
          </a:p>
          <a:p>
            <a:pPr marL="285750" indent="-285750">
              <a:spcBef>
                <a:spcPts val="400"/>
              </a:spcBef>
              <a:buAutoNum type="arabicPeriod"/>
            </a:pPr>
            <a:r>
              <a:rPr lang="en-US" sz="2000" dirty="0">
                <a:solidFill>
                  <a:srgbClr val="262626"/>
                </a:solidFill>
              </a:rPr>
              <a:t>Compute the fraction of "y" in columns </a:t>
            </a:r>
            <a:r>
              <a:rPr lang="en-US" sz="2000" dirty="0">
                <a:solidFill>
                  <a:srgbClr val="262626"/>
                </a:solidFill>
                <a:latin typeface="Courier New"/>
                <a:cs typeface="Courier New"/>
              </a:rPr>
              <a:t>y</a:t>
            </a:r>
            <a:r>
              <a:rPr lang="en-US" sz="2000" b="1" dirty="0">
                <a:solidFill>
                  <a:srgbClr val="262626"/>
                </a:solidFill>
              </a:rPr>
              <a:t> </a:t>
            </a:r>
            <a:r>
              <a:rPr lang="en-US" sz="2000" dirty="0">
                <a:solidFill>
                  <a:srgbClr val="262626"/>
                </a:solidFill>
              </a:rPr>
              <a:t>(</a:t>
            </a:r>
            <a:r>
              <a:rPr lang="en-US" sz="2000" i="1" dirty="0">
                <a:solidFill>
                  <a:srgbClr val="262626"/>
                </a:solidFill>
              </a:rPr>
              <a:t>hint: the function mean() can help</a:t>
            </a:r>
            <a:r>
              <a:rPr lang="en-US" sz="2000" dirty="0">
                <a:solidFill>
                  <a:srgbClr val="262626"/>
                </a:solidFill>
              </a:rPr>
              <a:t>).</a:t>
            </a:r>
            <a:endParaRPr lang="en-US" sz="1400" dirty="0">
              <a:solidFill>
                <a:srgbClr val="000000"/>
              </a:solidFill>
              <a:latin typeface="sans-serif"/>
              <a:cs typeface="Arial"/>
            </a:endParaRPr>
          </a:p>
          <a:p>
            <a:pPr marL="285750" indent="-285750">
              <a:spcBef>
                <a:spcPts val="400"/>
              </a:spcBef>
              <a:buAutoNum type="arabicPeriod"/>
            </a:pPr>
            <a:r>
              <a:rPr lang="en-US" sz="2000" dirty="0">
                <a:solidFill>
                  <a:srgbClr val="262626"/>
                </a:solidFill>
                <a:cs typeface="Arial"/>
              </a:rPr>
              <a:t>Compute the same fraction but only among the rows corresponding to a "placebo" treatment. Same with a "drug" treatment, and with a "drug+" treatment.</a:t>
            </a:r>
          </a:p>
          <a:p>
            <a:pPr>
              <a:spcBef>
                <a:spcPts val="400"/>
              </a:spcBef>
            </a:pPr>
            <a:endParaRPr lang="en-US" sz="2000" dirty="0">
              <a:solidFill>
                <a:srgbClr val="262626"/>
              </a:solidFill>
              <a:cs typeface="Arial"/>
            </a:endParaRPr>
          </a:p>
          <a:p>
            <a:pPr marL="285750" indent="-285750">
              <a:spcBef>
                <a:spcPts val="400"/>
              </a:spcBef>
              <a:buAutoNum type="arabicPeriod"/>
            </a:pPr>
            <a:endParaRPr lang="en-US" sz="2000" dirty="0">
              <a:solidFill>
                <a:srgbClr val="000000"/>
              </a:solidFill>
              <a:cs typeface="Arial"/>
            </a:endParaRPr>
          </a:p>
          <a:p>
            <a:pPr marL="457200" indent="-457200">
              <a:buAutoNum type="arabicPeriod"/>
            </a:pPr>
            <a:endParaRPr lang="en-US" sz="2000" dirty="0">
              <a:solidFill>
                <a:srgbClr val="262626"/>
              </a:solidFill>
            </a:endParaRPr>
          </a:p>
        </p:txBody>
      </p:sp>
    </p:spTree>
    <p:extLst>
      <p:ext uri="{BB962C8B-B14F-4D97-AF65-F5344CB8AC3E}">
        <p14:creationId xmlns:p14="http://schemas.microsoft.com/office/powerpoint/2010/main" val="29722489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2A342-B6F5-823E-5D5B-03BE154FC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B2E6B-1362-5251-03E8-EE4A2CDCE14C}"/>
              </a:ext>
            </a:extLst>
          </p:cNvPr>
          <p:cNvSpPr>
            <a:spLocks noGrp="1"/>
          </p:cNvSpPr>
          <p:nvPr>
            <p:ph type="title"/>
          </p:nvPr>
        </p:nvSpPr>
        <p:spPr/>
        <p:txBody>
          <a:bodyPr/>
          <a:lstStyle/>
          <a:p>
            <a:r>
              <a:rPr lang="en-GB" dirty="0">
                <a:ea typeface="Verdana"/>
                <a:cs typeface="Gill Sans"/>
              </a:rPr>
              <a:t>Lists: creation</a:t>
            </a:r>
            <a:endParaRPr lang="en-US" dirty="0"/>
          </a:p>
        </p:txBody>
      </p:sp>
      <p:sp>
        <p:nvSpPr>
          <p:cNvPr id="3" name="Text Placeholder 2">
            <a:extLst>
              <a:ext uri="{FF2B5EF4-FFF2-40B4-BE49-F238E27FC236}">
                <a16:creationId xmlns:a16="http://schemas.microsoft.com/office/drawing/2014/main" id="{DEC13573-7305-638E-A4D4-948688624AFB}"/>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pPr>
              <a:lnSpc>
                <a:spcPct val="100000"/>
              </a:lnSpc>
              <a:spcBef>
                <a:spcPct val="20000"/>
              </a:spcBef>
            </a:pPr>
            <a:r>
              <a:rPr lang="en-US" sz="2000" dirty="0">
                <a:latin typeface="Corbel"/>
                <a:ea typeface="+mn-lt"/>
                <a:cs typeface="+mn-lt"/>
              </a:rPr>
              <a:t>Lists are collections of object which may be of different classes and sizes</a:t>
            </a:r>
          </a:p>
          <a:p>
            <a:pPr marL="0" lvl="1" indent="0">
              <a:lnSpc>
                <a:spcPct val="100000"/>
              </a:lnSpc>
              <a:spcBef>
                <a:spcPct val="20000"/>
              </a:spcBef>
              <a:buNone/>
            </a:pPr>
            <a:r>
              <a:rPr lang="fr-FR" sz="2000" err="1">
                <a:ea typeface="+mn-lt"/>
                <a:cs typeface="+mn-lt"/>
              </a:rPr>
              <a:t>Create</a:t>
            </a:r>
            <a:r>
              <a:rPr lang="fr-FR" sz="2000">
                <a:ea typeface="+mn-lt"/>
                <a:cs typeface="+mn-lt"/>
              </a:rPr>
              <a:t> a few objects:</a:t>
            </a:r>
            <a:endParaRPr lang="en-US" sz="2000">
              <a:ea typeface="+mn-lt"/>
              <a:cs typeface="+mn-lt"/>
            </a:endParaRPr>
          </a:p>
          <a:p>
            <a:pPr marL="0" lvl="1" indent="0">
              <a:lnSpc>
                <a:spcPct val="100000"/>
              </a:lnSpc>
              <a:spcBef>
                <a:spcPct val="20000"/>
              </a:spcBef>
              <a:buNone/>
            </a:pPr>
            <a:r>
              <a:rPr lang="fr-FR" sz="1800" err="1">
                <a:latin typeface="Courier New"/>
                <a:ea typeface="+mn-lt"/>
                <a:cs typeface="+mn-lt"/>
              </a:rPr>
              <a:t>vec</a:t>
            </a:r>
            <a:r>
              <a:rPr lang="fr-FR" sz="1800">
                <a:latin typeface="Courier New"/>
                <a:ea typeface="+mn-lt"/>
                <a:cs typeface="+mn-lt"/>
              </a:rPr>
              <a:t> &lt;- c(0.4, 0.9, 0.6)</a:t>
            </a:r>
            <a:endParaRPr lang="en-US" sz="1800">
              <a:latin typeface="Courier New"/>
              <a:ea typeface="+mn-lt"/>
              <a:cs typeface="+mn-lt"/>
            </a:endParaRPr>
          </a:p>
          <a:p>
            <a:pPr marL="0" lvl="1" indent="0">
              <a:lnSpc>
                <a:spcPct val="100000"/>
              </a:lnSpc>
              <a:spcBef>
                <a:spcPct val="20000"/>
              </a:spcBef>
              <a:buNone/>
            </a:pPr>
            <a:r>
              <a:rPr lang="fr-FR" sz="1800">
                <a:latin typeface="Courier New"/>
                <a:ea typeface="+mn-lt"/>
                <a:cs typeface="+mn-lt"/>
              </a:rPr>
              <a:t>mat &lt;- </a:t>
            </a:r>
            <a:r>
              <a:rPr lang="fr-FR" sz="1800" err="1">
                <a:latin typeface="Courier New"/>
                <a:ea typeface="+mn-lt"/>
                <a:cs typeface="+mn-lt"/>
              </a:rPr>
              <a:t>cbind</a:t>
            </a:r>
            <a:r>
              <a:rPr lang="fr-FR" sz="1800">
                <a:latin typeface="Courier New"/>
                <a:ea typeface="+mn-lt"/>
                <a:cs typeface="+mn-lt"/>
              </a:rPr>
              <a:t>(c(1,1), c(2,1))</a:t>
            </a:r>
            <a:endParaRPr lang="en-US" sz="1800">
              <a:latin typeface="Courier New"/>
              <a:ea typeface="+mn-lt"/>
              <a:cs typeface="+mn-lt"/>
            </a:endParaRPr>
          </a:p>
          <a:p>
            <a:pPr marL="0" lvl="1" indent="0">
              <a:lnSpc>
                <a:spcPct val="100000"/>
              </a:lnSpc>
              <a:spcBef>
                <a:spcPct val="20000"/>
              </a:spcBef>
              <a:buNone/>
            </a:pPr>
            <a:r>
              <a:rPr lang="fr-FR" sz="1800">
                <a:latin typeface="Courier New"/>
                <a:ea typeface="+mn-lt"/>
                <a:cs typeface="+mn-lt"/>
              </a:rPr>
              <a:t>df &lt;- data.frame(name=c("Ed", "Lisa"), age=c(61, 71))</a:t>
            </a:r>
            <a:endParaRPr lang="en-US" sz="1800">
              <a:latin typeface="Courier New"/>
              <a:ea typeface="+mn-lt"/>
              <a:cs typeface="+mn-lt"/>
            </a:endParaRPr>
          </a:p>
          <a:p>
            <a:pPr marL="0" lvl="1" indent="0">
              <a:lnSpc>
                <a:spcPct val="100000"/>
              </a:lnSpc>
              <a:spcBef>
                <a:spcPct val="20000"/>
              </a:spcBef>
              <a:buNone/>
            </a:pPr>
            <a:endParaRPr lang="fr-FR" sz="2000" dirty="0">
              <a:ea typeface="+mn-lt"/>
              <a:cs typeface="+mn-lt"/>
            </a:endParaRPr>
          </a:p>
          <a:p>
            <a:pPr marL="0" lvl="1" indent="0">
              <a:lnSpc>
                <a:spcPct val="100000"/>
              </a:lnSpc>
              <a:spcBef>
                <a:spcPct val="20000"/>
              </a:spcBef>
              <a:buNone/>
            </a:pPr>
            <a:r>
              <a:rPr lang="fr-FR" sz="2000">
                <a:ea typeface="+mn-lt"/>
                <a:cs typeface="+mn-lt"/>
              </a:rPr>
              <a:t>Unnamed list - collect these objects in a list, using the function </a:t>
            </a:r>
            <a:r>
              <a:rPr lang="fr-FR" sz="2000" b="1">
                <a:ea typeface="+mn-lt"/>
                <a:cs typeface="+mn-lt"/>
              </a:rPr>
              <a:t>list():</a:t>
            </a:r>
            <a:endParaRPr lang="en-US" sz="2000">
              <a:ea typeface="+mn-lt"/>
              <a:cs typeface="+mn-lt"/>
            </a:endParaRPr>
          </a:p>
          <a:p>
            <a:pPr marL="0" lvl="1" indent="0">
              <a:lnSpc>
                <a:spcPct val="100000"/>
              </a:lnSpc>
              <a:spcBef>
                <a:spcPct val="20000"/>
              </a:spcBef>
              <a:buNone/>
            </a:pPr>
            <a:r>
              <a:rPr lang="fr-FR" sz="1800">
                <a:latin typeface="Courier New"/>
                <a:ea typeface="+mn-lt"/>
                <a:cs typeface="+mn-lt"/>
              </a:rPr>
              <a:t>l &lt;- list(vec, mat, df)</a:t>
            </a:r>
            <a:endParaRPr lang="en-US" sz="1800">
              <a:latin typeface="Courier New"/>
              <a:ea typeface="+mn-lt"/>
              <a:cs typeface="+mn-lt"/>
            </a:endParaRPr>
          </a:p>
          <a:p>
            <a:pPr marL="0" lvl="1" indent="0">
              <a:lnSpc>
                <a:spcPct val="100000"/>
              </a:lnSpc>
              <a:spcBef>
                <a:spcPct val="20000"/>
              </a:spcBef>
              <a:buNone/>
            </a:pPr>
            <a:endParaRPr lang="fr-FR" sz="2000" dirty="0">
              <a:ea typeface="+mn-lt"/>
              <a:cs typeface="+mn-lt"/>
            </a:endParaRPr>
          </a:p>
          <a:p>
            <a:pPr marL="0" lvl="1" indent="0">
              <a:lnSpc>
                <a:spcPct val="100000"/>
              </a:lnSpc>
              <a:spcBef>
                <a:spcPct val="20000"/>
              </a:spcBef>
              <a:buNone/>
            </a:pPr>
            <a:r>
              <a:rPr lang="fr-FR" sz="2000">
                <a:ea typeface="+mn-lt"/>
                <a:cs typeface="+mn-lt"/>
              </a:rPr>
              <a:t>Named list - collect these objects in a list with named elements:</a:t>
            </a:r>
            <a:endParaRPr lang="en-US" sz="2000">
              <a:ea typeface="+mn-lt"/>
              <a:cs typeface="+mn-lt"/>
            </a:endParaRPr>
          </a:p>
          <a:p>
            <a:pPr marL="0" lvl="1" indent="0">
              <a:lnSpc>
                <a:spcPct val="100000"/>
              </a:lnSpc>
              <a:spcBef>
                <a:spcPct val="20000"/>
              </a:spcBef>
              <a:buNone/>
            </a:pPr>
            <a:r>
              <a:rPr lang="fr-FR" sz="1800">
                <a:latin typeface="Courier New"/>
                <a:ea typeface="+mn-lt"/>
                <a:cs typeface="+mn-lt"/>
              </a:rPr>
              <a:t>l_with_names &lt;- list(myvector=vec, mymatrix=mat, mydata=df)</a:t>
            </a:r>
            <a:endParaRPr lang="en-US" sz="1800">
              <a:latin typeface="Courier New"/>
              <a:ea typeface="+mn-lt"/>
              <a:cs typeface="+mn-lt"/>
            </a:endParaRPr>
          </a:p>
          <a:p>
            <a:pPr marL="0" lvl="1" indent="0">
              <a:lnSpc>
                <a:spcPct val="100000"/>
              </a:lnSpc>
              <a:spcBef>
                <a:spcPct val="20000"/>
              </a:spcBef>
              <a:buNone/>
            </a:pPr>
            <a:endParaRPr lang="fr-FR" sz="2000" dirty="0">
              <a:solidFill>
                <a:srgbClr val="000000"/>
              </a:solidFill>
              <a:ea typeface="+mn-lt"/>
              <a:cs typeface="+mn-lt"/>
            </a:endParaRPr>
          </a:p>
          <a:p>
            <a:pPr>
              <a:lnSpc>
                <a:spcPct val="100000"/>
              </a:lnSpc>
              <a:spcBef>
                <a:spcPct val="20000"/>
              </a:spcBef>
            </a:pPr>
            <a:endParaRPr lang="en-US" sz="1800" dirty="0">
              <a:solidFill>
                <a:srgbClr val="1E2232"/>
              </a:solidFill>
              <a:latin typeface="Corbel"/>
              <a:ea typeface="+mn-lt"/>
              <a:cs typeface="+mn-lt"/>
            </a:endParaRPr>
          </a:p>
        </p:txBody>
      </p:sp>
    </p:spTree>
    <p:extLst>
      <p:ext uri="{BB962C8B-B14F-4D97-AF65-F5344CB8AC3E}">
        <p14:creationId xmlns:p14="http://schemas.microsoft.com/office/powerpoint/2010/main" val="83209257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37FF0-6916-0F6F-9480-5C28FB04B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F0839-598E-95E9-0BB8-489814D15C11}"/>
              </a:ext>
            </a:extLst>
          </p:cNvPr>
          <p:cNvSpPr>
            <a:spLocks noGrp="1"/>
          </p:cNvSpPr>
          <p:nvPr>
            <p:ph type="title"/>
          </p:nvPr>
        </p:nvSpPr>
        <p:spPr/>
        <p:txBody>
          <a:bodyPr/>
          <a:lstStyle/>
          <a:p>
            <a:r>
              <a:rPr lang="en-GB" dirty="0">
                <a:ea typeface="Verdana"/>
                <a:cs typeface="Gill Sans"/>
              </a:rPr>
              <a:t>Lists: manipulation</a:t>
            </a:r>
            <a:endParaRPr lang="en-US" dirty="0"/>
          </a:p>
        </p:txBody>
      </p:sp>
      <p:sp>
        <p:nvSpPr>
          <p:cNvPr id="3" name="Text Placeholder 2">
            <a:extLst>
              <a:ext uri="{FF2B5EF4-FFF2-40B4-BE49-F238E27FC236}">
                <a16:creationId xmlns:a16="http://schemas.microsoft.com/office/drawing/2014/main" id="{90662D19-853C-23C1-862E-AE8CCE4BFE83}"/>
              </a:ext>
            </a:extLst>
          </p:cNvPr>
          <p:cNvSpPr>
            <a:spLocks noGrp="1"/>
          </p:cNvSpPr>
          <p:nvPr>
            <p:ph type="body" sz="quarter" idx="11"/>
          </p:nvPr>
        </p:nvSpPr>
        <p:spPr>
          <a:xfrm>
            <a:off x="838200" y="1666875"/>
            <a:ext cx="10515600" cy="4503738"/>
          </a:xfrm>
        </p:spPr>
        <p:txBody>
          <a:bodyPr vert="horz" lIns="91440" tIns="45720" rIns="91440" bIns="45720" rtlCol="0" anchor="t">
            <a:normAutofit/>
          </a:bodyPr>
          <a:lstStyle/>
          <a:p>
            <a:pPr marL="0" lvl="1" indent="0">
              <a:lnSpc>
                <a:spcPct val="100000"/>
              </a:lnSpc>
              <a:spcBef>
                <a:spcPct val="20000"/>
              </a:spcBef>
              <a:buNone/>
            </a:pPr>
            <a:r>
              <a:rPr lang="fr-FR" sz="2000">
                <a:latin typeface="Courier New"/>
                <a:ea typeface="+mn-lt"/>
                <a:cs typeface="+mn-lt"/>
              </a:rPr>
              <a:t>l</a:t>
            </a:r>
            <a:r>
              <a:rPr lang="fr-FR" sz="2000" b="1">
                <a:latin typeface="Courier New"/>
                <a:ea typeface="+mn-lt"/>
                <a:cs typeface="+mn-lt"/>
              </a:rPr>
              <a:t>[[</a:t>
            </a:r>
            <a:r>
              <a:rPr lang="fr-FR" sz="2000">
                <a:latin typeface="Courier New"/>
                <a:ea typeface="+mn-lt"/>
                <a:cs typeface="+mn-lt"/>
              </a:rPr>
              <a:t>1</a:t>
            </a:r>
            <a:r>
              <a:rPr lang="fr-FR" sz="2000" b="1">
                <a:latin typeface="Courier New"/>
                <a:ea typeface="+mn-lt"/>
                <a:cs typeface="+mn-lt"/>
              </a:rPr>
              <a:t>]]</a:t>
            </a:r>
            <a:r>
              <a:rPr lang="fr-FR" sz="2000">
                <a:latin typeface="Courier New"/>
                <a:ea typeface="+mn-lt"/>
                <a:cs typeface="+mn-lt"/>
              </a:rPr>
              <a:t>                   </a:t>
            </a:r>
            <a:r>
              <a:rPr lang="fr-FR" sz="2000" b="1">
                <a:solidFill>
                  <a:schemeClr val="accent4"/>
                </a:solidFill>
                <a:latin typeface="Courier New"/>
                <a:ea typeface="+mn-lt"/>
                <a:cs typeface="+mn-lt"/>
              </a:rPr>
              <a:t># gets the first object</a:t>
            </a:r>
          </a:p>
          <a:p>
            <a:pPr marL="0" lvl="1" indent="0">
              <a:lnSpc>
                <a:spcPct val="100000"/>
              </a:lnSpc>
              <a:spcBef>
                <a:spcPct val="20000"/>
              </a:spcBef>
              <a:buNone/>
            </a:pPr>
            <a:r>
              <a:rPr lang="fr-FR" sz="2000" err="1">
                <a:latin typeface="Courier New"/>
                <a:ea typeface="+mn-lt"/>
                <a:cs typeface="+mn-lt"/>
              </a:rPr>
              <a:t>l_with_names</a:t>
            </a:r>
            <a:r>
              <a:rPr lang="fr-FR" sz="2000" b="1">
                <a:latin typeface="Courier New"/>
                <a:ea typeface="+mn-lt"/>
                <a:cs typeface="+mn-lt"/>
              </a:rPr>
              <a:t>[[</a:t>
            </a:r>
            <a:r>
              <a:rPr lang="fr-FR" sz="2000">
                <a:latin typeface="Courier New"/>
                <a:ea typeface="+mn-lt"/>
                <a:cs typeface="+mn-lt"/>
              </a:rPr>
              <a:t>"</a:t>
            </a:r>
            <a:r>
              <a:rPr lang="fr-FR" sz="2000" err="1">
                <a:latin typeface="Courier New"/>
                <a:ea typeface="+mn-lt"/>
                <a:cs typeface="+mn-lt"/>
              </a:rPr>
              <a:t>myvec</a:t>
            </a:r>
            <a:r>
              <a:rPr lang="fr-FR" sz="2000">
                <a:latin typeface="Courier New"/>
                <a:ea typeface="+mn-lt"/>
                <a:cs typeface="+mn-lt"/>
              </a:rPr>
              <a:t>"</a:t>
            </a:r>
            <a:r>
              <a:rPr lang="fr-FR" sz="2000" b="1">
                <a:latin typeface="Courier New"/>
                <a:ea typeface="+mn-lt"/>
                <a:cs typeface="+mn-lt"/>
              </a:rPr>
              <a:t>]]  </a:t>
            </a:r>
            <a:r>
              <a:rPr lang="fr-FR" sz="2000" b="1">
                <a:solidFill>
                  <a:schemeClr val="accent4"/>
                </a:solidFill>
                <a:latin typeface="Courier New"/>
                <a:ea typeface="+mn-lt"/>
                <a:cs typeface="+mn-lt"/>
              </a:rPr>
              <a:t># </a:t>
            </a:r>
            <a:r>
              <a:rPr lang="fr-FR" sz="2000" b="1" err="1">
                <a:solidFill>
                  <a:schemeClr val="accent4"/>
                </a:solidFill>
                <a:latin typeface="Courier New"/>
                <a:ea typeface="+mn-lt"/>
                <a:cs typeface="+mn-lt"/>
              </a:rPr>
              <a:t>gets</a:t>
            </a:r>
            <a:r>
              <a:rPr lang="fr-FR" sz="2000" b="1">
                <a:solidFill>
                  <a:schemeClr val="accent4"/>
                </a:solidFill>
                <a:latin typeface="Courier New"/>
                <a:ea typeface="+mn-lt"/>
                <a:cs typeface="+mn-lt"/>
              </a:rPr>
              <a:t> the </a:t>
            </a:r>
            <a:r>
              <a:rPr lang="fr-FR" sz="2000" b="1" err="1">
                <a:solidFill>
                  <a:schemeClr val="accent4"/>
                </a:solidFill>
                <a:latin typeface="Courier New"/>
                <a:ea typeface="+mn-lt"/>
                <a:cs typeface="+mn-lt"/>
              </a:rPr>
              <a:t>object</a:t>
            </a:r>
            <a:r>
              <a:rPr lang="fr-FR" sz="2000" b="1">
                <a:solidFill>
                  <a:schemeClr val="accent4"/>
                </a:solidFill>
                <a:latin typeface="Courier New"/>
                <a:ea typeface="+mn-lt"/>
                <a:cs typeface="+mn-lt"/>
              </a:rPr>
              <a:t> named "myvec"</a:t>
            </a:r>
            <a:endParaRPr lang="en-US" sz="2000" b="1">
              <a:solidFill>
                <a:schemeClr val="accent4"/>
              </a:solidFill>
              <a:latin typeface="Courier New"/>
              <a:ea typeface="+mn-lt"/>
              <a:cs typeface="+mn-lt"/>
            </a:endParaRPr>
          </a:p>
          <a:p>
            <a:pPr marL="0" lvl="1" indent="0">
              <a:lnSpc>
                <a:spcPct val="100000"/>
              </a:lnSpc>
              <a:spcBef>
                <a:spcPct val="20000"/>
              </a:spcBef>
              <a:buNone/>
            </a:pPr>
            <a:r>
              <a:rPr lang="fr-FR" sz="2000" err="1">
                <a:latin typeface="Courier New"/>
                <a:ea typeface="+mn-lt"/>
                <a:cs typeface="+mn-lt"/>
              </a:rPr>
              <a:t>l_with_names</a:t>
            </a:r>
            <a:r>
              <a:rPr lang="fr-FR" sz="2000" b="1" err="1">
                <a:latin typeface="Courier New"/>
                <a:ea typeface="+mn-lt"/>
                <a:cs typeface="+mn-lt"/>
              </a:rPr>
              <a:t>$</a:t>
            </a:r>
            <a:r>
              <a:rPr lang="fr-FR" sz="2000" err="1">
                <a:latin typeface="Courier New"/>
                <a:ea typeface="+mn-lt"/>
                <a:cs typeface="+mn-lt"/>
              </a:rPr>
              <a:t>myvec</a:t>
            </a:r>
            <a:r>
              <a:rPr lang="fr-FR" sz="2000">
                <a:latin typeface="Courier New"/>
                <a:ea typeface="+mn-lt"/>
                <a:cs typeface="+mn-lt"/>
              </a:rPr>
              <a:t>       </a:t>
            </a:r>
            <a:r>
              <a:rPr lang="fr-FR" sz="2000" b="1">
                <a:solidFill>
                  <a:schemeClr val="accent4"/>
                </a:solidFill>
                <a:latin typeface="Courier New"/>
                <a:ea typeface="+mn-lt"/>
                <a:cs typeface="+mn-lt"/>
              </a:rPr>
              <a:t># gets the object named "myvec"</a:t>
            </a:r>
          </a:p>
          <a:p>
            <a:pPr marL="0" lvl="1" indent="0">
              <a:lnSpc>
                <a:spcPct val="100000"/>
              </a:lnSpc>
              <a:spcBef>
                <a:spcPct val="20000"/>
              </a:spcBef>
              <a:buNone/>
            </a:pPr>
            <a:endParaRPr lang="fr-FR" sz="2000">
              <a:latin typeface="Courier New"/>
              <a:ea typeface="+mn-lt"/>
              <a:cs typeface="+mn-lt"/>
            </a:endParaRPr>
          </a:p>
          <a:p>
            <a:pPr marL="0" lvl="1" indent="0">
              <a:lnSpc>
                <a:spcPct val="100000"/>
              </a:lnSpc>
              <a:spcBef>
                <a:spcPct val="20000"/>
              </a:spcBef>
              <a:buNone/>
            </a:pPr>
            <a:endParaRPr lang="fr-FR" sz="2000">
              <a:latin typeface="Courier New"/>
              <a:ea typeface="+mn-lt"/>
              <a:cs typeface="+mn-lt"/>
            </a:endParaRPr>
          </a:p>
          <a:p>
            <a:pPr marL="0" lvl="1" indent="0">
              <a:lnSpc>
                <a:spcPct val="100000"/>
              </a:lnSpc>
              <a:spcBef>
                <a:spcPct val="20000"/>
              </a:spcBef>
              <a:buNone/>
            </a:pPr>
            <a:r>
              <a:rPr lang="fr-FR" sz="2000">
                <a:latin typeface="Courier New"/>
                <a:ea typeface="+mn-lt"/>
                <a:cs typeface="+mn-lt"/>
              </a:rPr>
              <a:t>names(l_with_names) </a:t>
            </a:r>
            <a:r>
              <a:rPr lang="fr-FR" sz="2000" b="1">
                <a:solidFill>
                  <a:schemeClr val="accent4"/>
                </a:solidFill>
                <a:latin typeface="Courier New"/>
                <a:ea typeface="+mn-lt"/>
                <a:cs typeface="+mn-lt"/>
              </a:rPr>
              <a:t># gets the list elements' names</a:t>
            </a:r>
          </a:p>
          <a:p>
            <a:pPr marL="0" lvl="1" indent="0">
              <a:lnSpc>
                <a:spcPct val="100000"/>
              </a:lnSpc>
              <a:spcBef>
                <a:spcPct val="20000"/>
              </a:spcBef>
              <a:buNone/>
            </a:pPr>
            <a:r>
              <a:rPr lang="fr-FR" sz="2000">
                <a:latin typeface="Courier New"/>
                <a:ea typeface="+mn-lt"/>
                <a:cs typeface="+mn-lt"/>
              </a:rPr>
              <a:t>names(l_with_names) &lt;- c("A", "B", "C") </a:t>
            </a:r>
            <a:r>
              <a:rPr lang="fr-FR" sz="2000" b="1">
                <a:solidFill>
                  <a:schemeClr val="accent4"/>
                </a:solidFill>
                <a:latin typeface="Courier New"/>
                <a:ea typeface="+mn-lt"/>
                <a:cs typeface="+mn-lt"/>
              </a:rPr>
              <a:t># overwrites names</a:t>
            </a:r>
          </a:p>
          <a:p>
            <a:pPr>
              <a:lnSpc>
                <a:spcPct val="100000"/>
              </a:lnSpc>
              <a:spcBef>
                <a:spcPct val="20000"/>
              </a:spcBef>
            </a:pPr>
            <a:endParaRPr lang="en-US" sz="2000" dirty="0">
              <a:solidFill>
                <a:srgbClr val="1E2232"/>
              </a:solidFill>
              <a:latin typeface="Corbel"/>
              <a:ea typeface="+mn-lt"/>
              <a:cs typeface="+mn-lt"/>
            </a:endParaRPr>
          </a:p>
        </p:txBody>
      </p:sp>
      <p:pic>
        <p:nvPicPr>
          <p:cNvPr id="5" name="Image 20" descr="A red and black logo&#10;&#10;Description automatically generated">
            <a:extLst>
              <a:ext uri="{FF2B5EF4-FFF2-40B4-BE49-F238E27FC236}">
                <a16:creationId xmlns:a16="http://schemas.microsoft.com/office/drawing/2014/main" id="{C8F77C8B-A074-3435-EFDE-365932DADD25}"/>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077777FD-AE68-0290-A43A-BE4498430E41}"/>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Lists can be used to collect a diverse sets of objects related to the same analysis</a:t>
            </a:r>
          </a:p>
        </p:txBody>
      </p:sp>
    </p:spTree>
    <p:extLst>
      <p:ext uri="{BB962C8B-B14F-4D97-AF65-F5344CB8AC3E}">
        <p14:creationId xmlns:p14="http://schemas.microsoft.com/office/powerpoint/2010/main" val="23882042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1AF97-6A08-DC0D-BAD0-727BCED15940}"/>
              </a:ext>
            </a:extLst>
          </p:cNvPr>
          <p:cNvSpPr>
            <a:spLocks noGrp="1"/>
          </p:cNvSpPr>
          <p:nvPr>
            <p:ph type="title"/>
          </p:nvPr>
        </p:nvSpPr>
        <p:spPr/>
        <p:txBody>
          <a:bodyPr/>
          <a:lstStyle/>
          <a:p>
            <a:r>
              <a:rPr lang="en-GB" dirty="0">
                <a:ea typeface="Verdana"/>
                <a:cs typeface="Gill Sans"/>
              </a:rPr>
              <a:t>Everything in R is an object</a:t>
            </a:r>
            <a:br>
              <a:rPr lang="en-GB" dirty="0">
                <a:ea typeface="Verdana"/>
                <a:cs typeface="Gill Sans"/>
              </a:rPr>
            </a:br>
            <a:br>
              <a:rPr lang="en-GB" dirty="0">
                <a:ea typeface="Verdana"/>
                <a:cs typeface="Gill Sans"/>
              </a:rPr>
            </a:br>
            <a:r>
              <a:rPr lang="en-GB" dirty="0">
                <a:ea typeface="Verdana"/>
                <a:cs typeface="Gill Sans"/>
              </a:rPr>
              <a:t>Using R is all about creating and manipulating data objects using functions</a:t>
            </a:r>
            <a:br>
              <a:rPr lang="en-GB" dirty="0">
                <a:ea typeface="Verdana"/>
                <a:cs typeface="Gill Sans"/>
              </a:rPr>
            </a:br>
            <a:br>
              <a:rPr lang="en-GB" dirty="0"/>
            </a:br>
            <a:r>
              <a:rPr lang="en-GB" dirty="0">
                <a:ea typeface="Verdana"/>
                <a:cs typeface="Gill Sans"/>
              </a:rPr>
              <a:t>Objects have a class (vector, data frame, list,…)</a:t>
            </a:r>
            <a:br>
              <a:rPr lang="en-GB" dirty="0">
                <a:ea typeface="Verdana"/>
                <a:cs typeface="Gill Sans"/>
              </a:rPr>
            </a:br>
            <a:br>
              <a:rPr lang="en-GB" dirty="0"/>
            </a:br>
            <a:r>
              <a:rPr lang="en-GB" dirty="0">
                <a:ea typeface="Verdana"/>
                <a:cs typeface="Gill Sans"/>
              </a:rPr>
              <a:t>Data in objects have a type (numeric, character, logical)</a:t>
            </a:r>
            <a:endParaRPr lang="en-GB" dirty="0"/>
          </a:p>
        </p:txBody>
      </p:sp>
    </p:spTree>
    <p:extLst>
      <p:ext uri="{BB962C8B-B14F-4D97-AF65-F5344CB8AC3E}">
        <p14:creationId xmlns:p14="http://schemas.microsoft.com/office/powerpoint/2010/main" val="28450400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62926A-13DF-2904-A827-7A3931D698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0D670-6DC0-A25D-2166-C70D33829A93}"/>
              </a:ext>
            </a:extLst>
          </p:cNvPr>
          <p:cNvSpPr>
            <a:spLocks noGrp="1"/>
          </p:cNvSpPr>
          <p:nvPr>
            <p:ph type="title"/>
          </p:nvPr>
        </p:nvSpPr>
        <p:spPr/>
        <p:txBody>
          <a:bodyPr/>
          <a:lstStyle/>
          <a:p>
            <a:pPr marL="815975" lvl="1" indent="-457200" algn="ctr">
              <a:lnSpc>
                <a:spcPct val="90000"/>
              </a:lnSpc>
              <a:spcBef>
                <a:spcPts val="500"/>
              </a:spcBef>
            </a:pPr>
            <a:r>
              <a:rPr lang="en-GB" sz="3600" dirty="0">
                <a:solidFill>
                  <a:srgbClr val="1E2232"/>
                </a:solidFill>
                <a:latin typeface="Corbel"/>
                <a:ea typeface="Verdana"/>
                <a:cs typeface="Arial"/>
              </a:rPr>
              <a:t>Formatting your Data</a:t>
            </a:r>
            <a:endParaRPr lang="en-US"/>
          </a:p>
        </p:txBody>
      </p:sp>
    </p:spTree>
    <p:extLst>
      <p:ext uri="{BB962C8B-B14F-4D97-AF65-F5344CB8AC3E}">
        <p14:creationId xmlns:p14="http://schemas.microsoft.com/office/powerpoint/2010/main" val="20093879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9B545-CDA8-8A7C-121C-F1FF6FBC92BC}"/>
              </a:ext>
            </a:extLst>
          </p:cNvPr>
          <p:cNvSpPr>
            <a:spLocks noGrp="1"/>
          </p:cNvSpPr>
          <p:nvPr>
            <p:ph type="title"/>
          </p:nvPr>
        </p:nvSpPr>
        <p:spPr/>
        <p:txBody>
          <a:bodyPr/>
          <a:lstStyle/>
          <a:p>
            <a:r>
              <a:rPr lang="en-GB" dirty="0">
                <a:ea typeface="Verdana"/>
                <a:cs typeface="Gill Sans"/>
              </a:rPr>
              <a:t>Prepare your Data outside of R</a:t>
            </a:r>
            <a:endParaRPr lang="en-GB" dirty="0"/>
          </a:p>
        </p:txBody>
      </p:sp>
      <p:sp>
        <p:nvSpPr>
          <p:cNvPr id="3" name="Text Placeholder 2">
            <a:extLst>
              <a:ext uri="{FF2B5EF4-FFF2-40B4-BE49-F238E27FC236}">
                <a16:creationId xmlns:a16="http://schemas.microsoft.com/office/drawing/2014/main" id="{1D111C65-9024-DEF1-E85F-95F3DD402A21}"/>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To make importation of your data in R easy, you have to format it properly beforehand.</a:t>
            </a:r>
            <a:endParaRPr lang="en-GB" dirty="0"/>
          </a:p>
          <a:p>
            <a:endParaRPr lang="en-GB" dirty="0">
              <a:ea typeface="Tahoma"/>
              <a:cs typeface="Gill Sans Light"/>
            </a:endParaRPr>
          </a:p>
          <a:p>
            <a:r>
              <a:rPr lang="en-GB" dirty="0">
                <a:ea typeface="Tahoma"/>
                <a:cs typeface="Gill Sans Light"/>
              </a:rPr>
              <a:t>Excel or OpenOffice can be used for that task.</a:t>
            </a:r>
          </a:p>
          <a:p>
            <a:endParaRPr lang="en-GB" dirty="0"/>
          </a:p>
          <a:p>
            <a:r>
              <a:rPr lang="en-GB" dirty="0">
                <a:ea typeface="Tahoma"/>
                <a:cs typeface="Gill Sans Light"/>
              </a:rPr>
              <a:t>Three main precepts of tidy data:</a:t>
            </a:r>
          </a:p>
          <a:p>
            <a:pPr marL="342900" indent="-342900">
              <a:buChar char="•"/>
            </a:pPr>
            <a:r>
              <a:rPr lang="en-GB" dirty="0">
                <a:ea typeface="Tahoma"/>
                <a:cs typeface="Gill Sans Light"/>
              </a:rPr>
              <a:t>Each variable forms a column</a:t>
            </a:r>
            <a:endParaRPr lang="en-GB" dirty="0"/>
          </a:p>
          <a:p>
            <a:pPr marL="342900" indent="-342900">
              <a:buChar char="•"/>
            </a:pPr>
            <a:r>
              <a:rPr lang="en-GB" dirty="0">
                <a:ea typeface="Tahoma"/>
                <a:cs typeface="Gill Sans Light"/>
              </a:rPr>
              <a:t>Each observation forms a row</a:t>
            </a:r>
          </a:p>
          <a:p>
            <a:pPr marL="342900" indent="-342900">
              <a:buChar char="•"/>
            </a:pPr>
            <a:r>
              <a:rPr lang="en-GB" dirty="0">
                <a:ea typeface="Tahoma"/>
                <a:cs typeface="Gill Sans Light"/>
              </a:rPr>
              <a:t>Each type of observational unit forms a table</a:t>
            </a:r>
            <a:endParaRPr lang="en-GB" dirty="0"/>
          </a:p>
          <a:p>
            <a:pPr>
              <a:lnSpc>
                <a:spcPct val="100000"/>
              </a:lnSpc>
              <a:spcBef>
                <a:spcPct val="20000"/>
              </a:spcBef>
            </a:pPr>
            <a:r>
              <a:rPr lang="en-GB" sz="2000" dirty="0">
                <a:ea typeface="+mn-lt"/>
                <a:cs typeface="+mn-lt"/>
                <a:hlinkClick r:id="rId2"/>
              </a:rPr>
              <a:t>http://www.ucd.ie/ecomodel/pdf/TidyData.pdf</a:t>
            </a:r>
            <a:endParaRPr lang="en-GB"/>
          </a:p>
        </p:txBody>
      </p:sp>
    </p:spTree>
    <p:extLst>
      <p:ext uri="{BB962C8B-B14F-4D97-AF65-F5344CB8AC3E}">
        <p14:creationId xmlns:p14="http://schemas.microsoft.com/office/powerpoint/2010/main" val="20168061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15968-0939-D6BF-2340-11D07DB45408}"/>
              </a:ext>
            </a:extLst>
          </p:cNvPr>
          <p:cNvSpPr>
            <a:spLocks noGrp="1"/>
          </p:cNvSpPr>
          <p:nvPr>
            <p:ph type="title"/>
          </p:nvPr>
        </p:nvSpPr>
        <p:spPr/>
        <p:txBody>
          <a:bodyPr/>
          <a:lstStyle/>
          <a:p>
            <a:r>
              <a:rPr lang="en-GB" dirty="0">
                <a:ea typeface="Verdana"/>
                <a:cs typeface="Gill Sans"/>
              </a:rPr>
              <a:t>Example of a well-formatted dataset</a:t>
            </a:r>
            <a:endParaRPr lang="en-GB" dirty="0"/>
          </a:p>
        </p:txBody>
      </p:sp>
      <p:sp>
        <p:nvSpPr>
          <p:cNvPr id="3" name="Text Placeholder 2">
            <a:extLst>
              <a:ext uri="{FF2B5EF4-FFF2-40B4-BE49-F238E27FC236}">
                <a16:creationId xmlns:a16="http://schemas.microsoft.com/office/drawing/2014/main" id="{1DCBEC16-95B4-62AC-8367-E0ED4CB47682}"/>
              </a:ext>
            </a:extLst>
          </p:cNvPr>
          <p:cNvSpPr>
            <a:spLocks noGrp="1"/>
          </p:cNvSpPr>
          <p:nvPr>
            <p:ph type="body" sz="quarter" idx="11"/>
          </p:nvPr>
        </p:nvSpPr>
        <p:spPr>
          <a:xfrm>
            <a:off x="6096000" y="1819275"/>
            <a:ext cx="5257800" cy="4351338"/>
          </a:xfrm>
        </p:spPr>
        <p:txBody>
          <a:bodyPr vert="horz" lIns="91440" tIns="45720" rIns="91440" bIns="45720" rtlCol="0" anchor="t">
            <a:normAutofit/>
          </a:bodyPr>
          <a:lstStyle/>
          <a:p>
            <a:pPr marL="342900" indent="-342900">
              <a:buChar char="•"/>
            </a:pPr>
            <a:r>
              <a:rPr lang="en-GB" dirty="0">
                <a:ea typeface="Tahoma"/>
                <a:cs typeface="Gill Sans Light"/>
              </a:rPr>
              <a:t>A header line with variable names</a:t>
            </a:r>
          </a:p>
          <a:p>
            <a:pPr marL="342900" indent="-342900">
              <a:buChar char="•"/>
            </a:pPr>
            <a:r>
              <a:rPr lang="en-GB" dirty="0">
                <a:ea typeface="Tahoma"/>
                <a:cs typeface="Gill Sans Light"/>
              </a:rPr>
              <a:t>4 variables, 1 in each column</a:t>
            </a:r>
          </a:p>
          <a:p>
            <a:pPr marL="342900" indent="-342900">
              <a:buChar char="•"/>
            </a:pPr>
            <a:r>
              <a:rPr lang="en-GB" dirty="0">
                <a:ea typeface="Tahoma"/>
                <a:cs typeface="Gill Sans Light"/>
              </a:rPr>
              <a:t>One observation per row </a:t>
            </a:r>
            <a:endParaRPr lang="en-GB" dirty="0"/>
          </a:p>
        </p:txBody>
      </p:sp>
      <p:pic>
        <p:nvPicPr>
          <p:cNvPr id="4" name="Picture 3" descr="A screenshot of a table&#10;&#10;Description automatically generated">
            <a:extLst>
              <a:ext uri="{FF2B5EF4-FFF2-40B4-BE49-F238E27FC236}">
                <a16:creationId xmlns:a16="http://schemas.microsoft.com/office/drawing/2014/main" id="{BE71F439-5329-68E2-F981-67DAC4C9CA27}"/>
              </a:ext>
            </a:extLst>
          </p:cNvPr>
          <p:cNvPicPr>
            <a:picLocks noChangeAspect="1"/>
          </p:cNvPicPr>
          <p:nvPr/>
        </p:nvPicPr>
        <p:blipFill>
          <a:blip r:embed="rId2"/>
          <a:stretch>
            <a:fillRect/>
          </a:stretch>
        </p:blipFill>
        <p:spPr>
          <a:xfrm>
            <a:off x="838200" y="842963"/>
            <a:ext cx="4210050" cy="5457825"/>
          </a:xfrm>
          <a:prstGeom prst="rect">
            <a:avLst/>
          </a:prstGeom>
        </p:spPr>
      </p:pic>
    </p:spTree>
    <p:extLst>
      <p:ext uri="{BB962C8B-B14F-4D97-AF65-F5344CB8AC3E}">
        <p14:creationId xmlns:p14="http://schemas.microsoft.com/office/powerpoint/2010/main" val="30196007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3F312-6CA0-135C-B370-33A35734A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54B16-BFAE-D541-CAFF-18421208393C}"/>
              </a:ext>
            </a:extLst>
          </p:cNvPr>
          <p:cNvSpPr>
            <a:spLocks noGrp="1"/>
          </p:cNvSpPr>
          <p:nvPr>
            <p:ph type="title"/>
          </p:nvPr>
        </p:nvSpPr>
        <p:spPr/>
        <p:txBody>
          <a:bodyPr/>
          <a:lstStyle/>
          <a:p>
            <a:r>
              <a:rPr lang="en-GB" dirty="0">
                <a:ea typeface="Verdana"/>
                <a:cs typeface="Gill Sans"/>
              </a:rPr>
              <a:t>Example of a well-formatted dataset - metadata</a:t>
            </a:r>
            <a:endParaRPr lang="en-GB" dirty="0"/>
          </a:p>
        </p:txBody>
      </p:sp>
      <p:sp>
        <p:nvSpPr>
          <p:cNvPr id="3" name="Text Placeholder 2">
            <a:extLst>
              <a:ext uri="{FF2B5EF4-FFF2-40B4-BE49-F238E27FC236}">
                <a16:creationId xmlns:a16="http://schemas.microsoft.com/office/drawing/2014/main" id="{2EEE4B9C-8F62-0701-C191-3E8AFB7BFB92}"/>
              </a:ext>
            </a:extLst>
          </p:cNvPr>
          <p:cNvSpPr>
            <a:spLocks noGrp="1"/>
          </p:cNvSpPr>
          <p:nvPr>
            <p:ph type="body" sz="quarter" idx="11"/>
          </p:nvPr>
        </p:nvSpPr>
        <p:spPr>
          <a:xfrm>
            <a:off x="6096000" y="1000125"/>
            <a:ext cx="5257800" cy="4351338"/>
          </a:xfrm>
        </p:spPr>
        <p:txBody>
          <a:bodyPr vert="horz" lIns="91440" tIns="45720" rIns="91440" bIns="45720" rtlCol="0" anchor="t">
            <a:normAutofit lnSpcReduction="10000"/>
          </a:bodyPr>
          <a:lstStyle/>
          <a:p>
            <a:pPr>
              <a:lnSpc>
                <a:spcPct val="100000"/>
              </a:lnSpc>
              <a:spcBef>
                <a:spcPct val="20000"/>
              </a:spcBef>
            </a:pPr>
            <a:r>
              <a:rPr lang="en-US" sz="2000" b="1" dirty="0">
                <a:solidFill>
                  <a:srgbClr val="333333"/>
                </a:solidFill>
                <a:ea typeface="+mn-lt"/>
                <a:cs typeface="+mn-lt"/>
              </a:rPr>
              <a:t>Glossary for the </a:t>
            </a:r>
            <a:r>
              <a:rPr lang="en-US" sz="2000" b="1" dirty="0" err="1">
                <a:solidFill>
                  <a:srgbClr val="333333"/>
                </a:solidFill>
                <a:ea typeface="+mn-lt"/>
                <a:cs typeface="+mn-lt"/>
              </a:rPr>
              <a:t>snp</a:t>
            </a:r>
            <a:r>
              <a:rPr lang="en-US" sz="2000" b="1" dirty="0">
                <a:solidFill>
                  <a:srgbClr val="333333"/>
                </a:solidFill>
                <a:ea typeface="+mn-lt"/>
                <a:cs typeface="+mn-lt"/>
              </a:rPr>
              <a:t> data</a:t>
            </a:r>
            <a:endParaRPr lang="en-US" sz="2000" dirty="0">
              <a:solidFill>
                <a:srgbClr val="333333"/>
              </a:solidFill>
              <a:ea typeface="+mn-lt"/>
              <a:cs typeface="+mn-lt"/>
            </a:endParaRPr>
          </a:p>
          <a:p>
            <a:pPr>
              <a:lnSpc>
                <a:spcPct val="100000"/>
              </a:lnSpc>
              <a:spcBef>
                <a:spcPct val="20000"/>
              </a:spcBef>
            </a:pPr>
            <a:endParaRPr lang="en-US" sz="2000" dirty="0">
              <a:solidFill>
                <a:srgbClr val="333333"/>
              </a:solidFill>
              <a:ea typeface="+mn-lt"/>
              <a:cs typeface="+mn-lt"/>
            </a:endParaRPr>
          </a:p>
          <a:p>
            <a:pPr>
              <a:lnSpc>
                <a:spcPct val="100000"/>
              </a:lnSpc>
              <a:spcBef>
                <a:spcPct val="20000"/>
              </a:spcBef>
              <a:spcAft>
                <a:spcPts val="1200"/>
              </a:spcAft>
            </a:pPr>
            <a:r>
              <a:rPr lang="en-US" sz="2000" b="1" dirty="0" err="1">
                <a:solidFill>
                  <a:srgbClr val="333333"/>
                </a:solidFill>
                <a:ea typeface="+mn-lt"/>
                <a:cs typeface="+mn-lt"/>
              </a:rPr>
              <a:t>snp</a:t>
            </a:r>
            <a:r>
              <a:rPr lang="en-US" sz="2000" dirty="0">
                <a:solidFill>
                  <a:srgbClr val="333333"/>
                </a:solidFill>
                <a:ea typeface="+mn-lt"/>
                <a:cs typeface="+mn-lt"/>
              </a:rPr>
              <a:t> single nucleotide polymorphism</a:t>
            </a:r>
          </a:p>
          <a:p>
            <a:pPr>
              <a:lnSpc>
                <a:spcPct val="100000"/>
              </a:lnSpc>
              <a:spcBef>
                <a:spcPct val="20000"/>
              </a:spcBef>
            </a:pPr>
            <a:r>
              <a:rPr lang="en-US" sz="2000" b="1" dirty="0">
                <a:solidFill>
                  <a:srgbClr val="333333"/>
                </a:solidFill>
                <a:ea typeface="+mn-lt"/>
                <a:cs typeface="+mn-lt"/>
              </a:rPr>
              <a:t>chr</a:t>
            </a:r>
            <a:r>
              <a:rPr lang="en-US" sz="2000" dirty="0">
                <a:solidFill>
                  <a:srgbClr val="333333"/>
                </a:solidFill>
                <a:ea typeface="+mn-lt"/>
                <a:cs typeface="+mn-lt"/>
              </a:rPr>
              <a:t> chromosome</a:t>
            </a:r>
          </a:p>
          <a:p>
            <a:pPr>
              <a:lnSpc>
                <a:spcPct val="100000"/>
              </a:lnSpc>
              <a:spcBef>
                <a:spcPct val="20000"/>
              </a:spcBef>
            </a:pPr>
            <a:r>
              <a:rPr lang="en-US" sz="2000" b="1" dirty="0">
                <a:solidFill>
                  <a:srgbClr val="333333"/>
                </a:solidFill>
                <a:ea typeface="+mn-lt"/>
                <a:cs typeface="+mn-lt"/>
              </a:rPr>
              <a:t>pos</a:t>
            </a:r>
            <a:r>
              <a:rPr lang="en-US" sz="2000" dirty="0">
                <a:solidFill>
                  <a:srgbClr val="333333"/>
                </a:solidFill>
                <a:ea typeface="+mn-lt"/>
                <a:cs typeface="+mn-lt"/>
              </a:rPr>
              <a:t> position</a:t>
            </a:r>
          </a:p>
          <a:p>
            <a:pPr>
              <a:lnSpc>
                <a:spcPct val="100000"/>
              </a:lnSpc>
              <a:spcBef>
                <a:spcPct val="20000"/>
              </a:spcBef>
            </a:pPr>
            <a:r>
              <a:rPr lang="en-US" sz="2000" b="1" dirty="0">
                <a:solidFill>
                  <a:srgbClr val="333333"/>
                </a:solidFill>
                <a:ea typeface="+mn-lt"/>
                <a:cs typeface="+mn-lt"/>
              </a:rPr>
              <a:t>minor</a:t>
            </a:r>
            <a:r>
              <a:rPr lang="en-US" sz="2000" dirty="0">
                <a:solidFill>
                  <a:srgbClr val="333333"/>
                </a:solidFill>
                <a:ea typeface="+mn-lt"/>
                <a:cs typeface="+mn-lt"/>
              </a:rPr>
              <a:t> </a:t>
            </a:r>
            <a:r>
              <a:rPr lang="en-US" sz="2000" dirty="0" err="1">
                <a:solidFill>
                  <a:srgbClr val="333333"/>
                </a:solidFill>
                <a:ea typeface="+mn-lt"/>
                <a:cs typeface="+mn-lt"/>
              </a:rPr>
              <a:t>minor</a:t>
            </a:r>
            <a:r>
              <a:rPr lang="en-US" sz="2000" dirty="0">
                <a:solidFill>
                  <a:srgbClr val="333333"/>
                </a:solidFill>
                <a:ea typeface="+mn-lt"/>
                <a:cs typeface="+mn-lt"/>
              </a:rPr>
              <a:t> allele  (a minority of individuals</a:t>
            </a:r>
          </a:p>
          <a:p>
            <a:pPr>
              <a:lnSpc>
                <a:spcPct val="100000"/>
              </a:lnSpc>
              <a:spcBef>
                <a:spcPct val="20000"/>
              </a:spcBef>
            </a:pPr>
            <a:r>
              <a:rPr lang="en-US" sz="2000" dirty="0">
                <a:solidFill>
                  <a:srgbClr val="333333"/>
                </a:solidFill>
                <a:ea typeface="+mn-lt"/>
                <a:cs typeface="+mn-lt"/>
              </a:rPr>
              <a:t>                                   have this letter at this position)</a:t>
            </a:r>
          </a:p>
          <a:p>
            <a:pPr>
              <a:lnSpc>
                <a:spcPct val="100000"/>
              </a:lnSpc>
              <a:spcBef>
                <a:spcPct val="20000"/>
              </a:spcBef>
            </a:pPr>
            <a:r>
              <a:rPr lang="en-US" sz="2000" b="1" dirty="0">
                <a:solidFill>
                  <a:srgbClr val="333333"/>
                </a:solidFill>
                <a:ea typeface="+mn-lt"/>
                <a:cs typeface="+mn-lt"/>
              </a:rPr>
              <a:t>major</a:t>
            </a:r>
            <a:r>
              <a:rPr lang="en-US" sz="2000" dirty="0">
                <a:solidFill>
                  <a:srgbClr val="333333"/>
                </a:solidFill>
                <a:ea typeface="+mn-lt"/>
                <a:cs typeface="+mn-lt"/>
              </a:rPr>
              <a:t> </a:t>
            </a:r>
            <a:r>
              <a:rPr lang="en-US" sz="2000" dirty="0" err="1">
                <a:solidFill>
                  <a:srgbClr val="333333"/>
                </a:solidFill>
                <a:ea typeface="+mn-lt"/>
                <a:cs typeface="+mn-lt"/>
              </a:rPr>
              <a:t>major</a:t>
            </a:r>
            <a:r>
              <a:rPr lang="en-US" sz="2000" dirty="0">
                <a:solidFill>
                  <a:srgbClr val="333333"/>
                </a:solidFill>
                <a:ea typeface="+mn-lt"/>
                <a:cs typeface="+mn-lt"/>
              </a:rPr>
              <a:t> allele ( a majority of individuals</a:t>
            </a:r>
          </a:p>
          <a:p>
            <a:pPr>
              <a:lnSpc>
                <a:spcPct val="100000"/>
              </a:lnSpc>
              <a:spcBef>
                <a:spcPct val="20000"/>
              </a:spcBef>
            </a:pPr>
            <a:r>
              <a:rPr lang="en-US" sz="2000" dirty="0">
                <a:solidFill>
                  <a:srgbClr val="333333"/>
                </a:solidFill>
                <a:ea typeface="+mn-lt"/>
                <a:cs typeface="+mn-lt"/>
              </a:rPr>
              <a:t>                                    have this letter at this position)</a:t>
            </a:r>
          </a:p>
          <a:p>
            <a:endParaRPr lang="en-GB" dirty="0"/>
          </a:p>
          <a:p>
            <a:r>
              <a:rPr lang="en-GB" dirty="0">
                <a:ea typeface="Tahoma"/>
                <a:cs typeface="Gill Sans Light"/>
              </a:rPr>
              <a:t>+ data source, date of collection,...</a:t>
            </a:r>
            <a:endParaRPr lang="en-GB" dirty="0"/>
          </a:p>
        </p:txBody>
      </p:sp>
      <p:pic>
        <p:nvPicPr>
          <p:cNvPr id="4" name="Picture 3" descr="A screenshot of a table&#10;&#10;Description automatically generated">
            <a:extLst>
              <a:ext uri="{FF2B5EF4-FFF2-40B4-BE49-F238E27FC236}">
                <a16:creationId xmlns:a16="http://schemas.microsoft.com/office/drawing/2014/main" id="{EE020C51-790C-9FD4-F49F-5795EDBB0A4E}"/>
              </a:ext>
            </a:extLst>
          </p:cNvPr>
          <p:cNvPicPr>
            <a:picLocks noChangeAspect="1"/>
          </p:cNvPicPr>
          <p:nvPr/>
        </p:nvPicPr>
        <p:blipFill>
          <a:blip r:embed="rId2"/>
          <a:stretch>
            <a:fillRect/>
          </a:stretch>
        </p:blipFill>
        <p:spPr>
          <a:xfrm>
            <a:off x="838200" y="842963"/>
            <a:ext cx="4210050" cy="5457825"/>
          </a:xfrm>
          <a:prstGeom prst="rect">
            <a:avLst/>
          </a:prstGeom>
        </p:spPr>
      </p:pic>
      <p:pic>
        <p:nvPicPr>
          <p:cNvPr id="6" name="Image 20" descr="A red and black logo&#10;&#10;Description automatically generated">
            <a:extLst>
              <a:ext uri="{FF2B5EF4-FFF2-40B4-BE49-F238E27FC236}">
                <a16:creationId xmlns:a16="http://schemas.microsoft.com/office/drawing/2014/main" id="{01A3F6BB-4F4D-36C6-2164-078A0EB6BD35}"/>
              </a:ext>
            </a:extLst>
          </p:cNvPr>
          <p:cNvPicPr>
            <a:picLocks noChangeAspect="1"/>
          </p:cNvPicPr>
          <p:nvPr/>
        </p:nvPicPr>
        <p:blipFill>
          <a:blip r:embed="rId3"/>
          <a:stretch>
            <a:fillRect/>
          </a:stretch>
        </p:blipFill>
        <p:spPr>
          <a:xfrm>
            <a:off x="5350778" y="5336753"/>
            <a:ext cx="1067033" cy="823140"/>
          </a:xfrm>
          <a:prstGeom prst="rect">
            <a:avLst/>
          </a:prstGeom>
        </p:spPr>
      </p:pic>
      <p:sp>
        <p:nvSpPr>
          <p:cNvPr id="8" name="TextBox 7">
            <a:extLst>
              <a:ext uri="{FF2B5EF4-FFF2-40B4-BE49-F238E27FC236}">
                <a16:creationId xmlns:a16="http://schemas.microsoft.com/office/drawing/2014/main" id="{442DC3A8-F0AE-42FD-BFA0-275DE7A602B7}"/>
              </a:ext>
            </a:extLst>
          </p:cNvPr>
          <p:cNvSpPr txBox="1"/>
          <p:nvPr/>
        </p:nvSpPr>
        <p:spPr>
          <a:xfrm>
            <a:off x="6505575" y="5334000"/>
            <a:ext cx="55245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Data is often useless without the accompanying metadata</a:t>
            </a:r>
            <a:endParaRPr lang="en-US" dirty="0"/>
          </a:p>
        </p:txBody>
      </p:sp>
    </p:spTree>
    <p:extLst>
      <p:ext uri="{BB962C8B-B14F-4D97-AF65-F5344CB8AC3E}">
        <p14:creationId xmlns:p14="http://schemas.microsoft.com/office/powerpoint/2010/main" val="17357435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387B0-1CDE-8AF8-60DF-10AB1F9D6B3D}"/>
              </a:ext>
            </a:extLst>
          </p:cNvPr>
          <p:cNvSpPr>
            <a:spLocks noGrp="1"/>
          </p:cNvSpPr>
          <p:nvPr>
            <p:ph type="title"/>
          </p:nvPr>
        </p:nvSpPr>
        <p:spPr/>
        <p:txBody>
          <a:bodyPr/>
          <a:lstStyle/>
          <a:p>
            <a:r>
              <a:rPr lang="en-GB" dirty="0">
                <a:ea typeface="Verdana"/>
                <a:cs typeface="Gill Sans"/>
              </a:rPr>
              <a:t>But the reality is not </a:t>
            </a:r>
            <a:r>
              <a:rPr lang="en-GB" dirty="0" err="1">
                <a:ea typeface="Verdana"/>
                <a:cs typeface="Gill Sans"/>
              </a:rPr>
              <a:t>awlways</a:t>
            </a:r>
            <a:r>
              <a:rPr lang="en-GB" dirty="0">
                <a:ea typeface="Verdana"/>
                <a:cs typeface="Gill Sans"/>
              </a:rPr>
              <a:t> as simple…</a:t>
            </a:r>
            <a:endParaRPr lang="en-GB" dirty="0"/>
          </a:p>
        </p:txBody>
      </p:sp>
      <p:sp>
        <p:nvSpPr>
          <p:cNvPr id="3" name="Text Placeholder 2">
            <a:extLst>
              <a:ext uri="{FF2B5EF4-FFF2-40B4-BE49-F238E27FC236}">
                <a16:creationId xmlns:a16="http://schemas.microsoft.com/office/drawing/2014/main" id="{43C3939C-40CA-A61E-4947-9EFD13DE8E58}"/>
              </a:ext>
            </a:extLst>
          </p:cNvPr>
          <p:cNvSpPr>
            <a:spLocks noGrp="1"/>
          </p:cNvSpPr>
          <p:nvPr>
            <p:ph type="body" sz="quarter" idx="11"/>
          </p:nvPr>
        </p:nvSpPr>
        <p:spPr>
          <a:xfrm>
            <a:off x="6924675" y="5657850"/>
            <a:ext cx="3733800" cy="255588"/>
          </a:xfrm>
        </p:spPr>
        <p:txBody>
          <a:bodyPr vert="horz" lIns="91440" tIns="45720" rIns="91440" bIns="45720" rtlCol="0" anchor="t">
            <a:normAutofit fontScale="55000" lnSpcReduction="20000"/>
          </a:bodyPr>
          <a:lstStyle/>
          <a:p>
            <a:r>
              <a:rPr lang="en-GB" dirty="0">
                <a:ea typeface="Tahoma"/>
                <a:cs typeface="Gill Sans Light"/>
              </a:rPr>
              <a:t>Courtesy of Frederic Schuetz</a:t>
            </a:r>
            <a:endParaRPr lang="en-GB" dirty="0"/>
          </a:p>
        </p:txBody>
      </p:sp>
      <p:pic>
        <p:nvPicPr>
          <p:cNvPr id="6" name="Image 20" descr="A red and black logo&#10;&#10;Description automatically generated">
            <a:extLst>
              <a:ext uri="{FF2B5EF4-FFF2-40B4-BE49-F238E27FC236}">
                <a16:creationId xmlns:a16="http://schemas.microsoft.com/office/drawing/2014/main" id="{DA5B6116-81DA-A4A7-31B3-883425AEBD9C}"/>
              </a:ext>
            </a:extLst>
          </p:cNvPr>
          <p:cNvPicPr>
            <a:picLocks noChangeAspect="1"/>
          </p:cNvPicPr>
          <p:nvPr/>
        </p:nvPicPr>
        <p:blipFill>
          <a:blip r:embed="rId2"/>
          <a:stretch>
            <a:fillRect/>
          </a:stretch>
        </p:blipFill>
        <p:spPr>
          <a:xfrm>
            <a:off x="635903" y="5660603"/>
            <a:ext cx="1067033" cy="823140"/>
          </a:xfrm>
          <a:prstGeom prst="rect">
            <a:avLst/>
          </a:prstGeom>
        </p:spPr>
      </p:pic>
      <p:sp>
        <p:nvSpPr>
          <p:cNvPr id="8" name="TextBox 7">
            <a:extLst>
              <a:ext uri="{FF2B5EF4-FFF2-40B4-BE49-F238E27FC236}">
                <a16:creationId xmlns:a16="http://schemas.microsoft.com/office/drawing/2014/main" id="{1F02CE83-96AD-30C8-953C-75B44BE1A0B3}"/>
              </a:ext>
            </a:extLst>
          </p:cNvPr>
          <p:cNvSpPr txBox="1"/>
          <p:nvPr/>
        </p:nvSpPr>
        <p:spPr>
          <a:xfrm>
            <a:off x="1704975" y="5657850"/>
            <a:ext cx="922972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Difficult to use with any</a:t>
            </a:r>
          </a:p>
          <a:p>
            <a:r>
              <a:rPr lang="en-GB" sz="2400" b="1" dirty="0"/>
              <a:t>Statistical program</a:t>
            </a:r>
          </a:p>
        </p:txBody>
      </p:sp>
      <p:sp>
        <p:nvSpPr>
          <p:cNvPr id="5" name="ZoneTexte 4">
            <a:extLst>
              <a:ext uri="{FF2B5EF4-FFF2-40B4-BE49-F238E27FC236}">
                <a16:creationId xmlns:a16="http://schemas.microsoft.com/office/drawing/2014/main" id="{5AC59D10-6729-314B-F438-618994E6AC78}"/>
              </a:ext>
            </a:extLst>
          </p:cNvPr>
          <p:cNvSpPr txBox="1"/>
          <p:nvPr/>
        </p:nvSpPr>
        <p:spPr>
          <a:xfrm>
            <a:off x="838200" y="1854926"/>
            <a:ext cx="9925594" cy="1815882"/>
          </a:xfrm>
          <a:prstGeom prst="rect">
            <a:avLst/>
          </a:prstGeom>
          <a:noFill/>
        </p:spPr>
        <p:txBody>
          <a:bodyPr wrap="square" rtlCol="0">
            <a:spAutoFit/>
          </a:bodyPr>
          <a:lstStyle/>
          <a:p>
            <a:r>
              <a:rPr lang="fr-FR" sz="2800" dirty="0" err="1"/>
              <a:t>Two</a:t>
            </a:r>
            <a:r>
              <a:rPr lang="fr-FR" sz="2800" dirty="0"/>
              <a:t> exercice: A) </a:t>
            </a:r>
            <a:r>
              <a:rPr lang="fr-FR" sz="2800" dirty="0" err="1"/>
              <a:t>metabolites_table</a:t>
            </a:r>
            <a:r>
              <a:rPr lang="fr-FR" sz="2800" dirty="0"/>
              <a:t> and </a:t>
            </a:r>
            <a:r>
              <a:rPr lang="fr-FR" sz="2800" dirty="0" err="1"/>
              <a:t>optional</a:t>
            </a:r>
            <a:r>
              <a:rPr lang="fr-FR" sz="2800" dirty="0"/>
              <a:t>: B) </a:t>
            </a:r>
            <a:r>
              <a:rPr lang="fr-FR" sz="2800" dirty="0" err="1"/>
              <a:t>Cell_lines_table</a:t>
            </a:r>
            <a:endParaRPr lang="fr-FR" sz="2800" dirty="0"/>
          </a:p>
          <a:p>
            <a:endParaRPr lang="fr-FR" sz="2800" dirty="0"/>
          </a:p>
          <a:p>
            <a:endParaRPr lang="fr-FR" sz="2800" dirty="0"/>
          </a:p>
        </p:txBody>
      </p:sp>
    </p:spTree>
    <p:extLst>
      <p:ext uri="{BB962C8B-B14F-4D97-AF65-F5344CB8AC3E}">
        <p14:creationId xmlns:p14="http://schemas.microsoft.com/office/powerpoint/2010/main" val="317186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C7AC6-26B5-4D3B-5564-A0ECA75321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56ABAA-1BF2-B49D-83FE-17EBE74816FF}"/>
              </a:ext>
            </a:extLst>
          </p:cNvPr>
          <p:cNvSpPr>
            <a:spLocks noGrp="1"/>
          </p:cNvSpPr>
          <p:nvPr>
            <p:ph type="title"/>
          </p:nvPr>
        </p:nvSpPr>
        <p:spPr/>
        <p:txBody>
          <a:bodyPr/>
          <a:lstStyle/>
          <a:p>
            <a:r>
              <a:rPr lang="en-GB" dirty="0">
                <a:ea typeface="Verdana"/>
                <a:cs typeface="Gill Sans"/>
              </a:rPr>
              <a:t>Importing data</a:t>
            </a:r>
            <a:endParaRPr lang="en-GB" dirty="0"/>
          </a:p>
        </p:txBody>
      </p:sp>
      <p:sp>
        <p:nvSpPr>
          <p:cNvPr id="3" name="Text Placeholder 2">
            <a:extLst>
              <a:ext uri="{FF2B5EF4-FFF2-40B4-BE49-F238E27FC236}">
                <a16:creationId xmlns:a16="http://schemas.microsoft.com/office/drawing/2014/main" id="{BE722598-D087-9899-06F0-F74439B394DA}"/>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Most flexible function to read tabular data: </a:t>
            </a:r>
            <a:r>
              <a:rPr lang="en-GB" err="1">
                <a:latin typeface="Courier New"/>
                <a:ea typeface="Tahoma"/>
                <a:cs typeface="Gill Sans Light"/>
              </a:rPr>
              <a:t>read.table</a:t>
            </a:r>
            <a:r>
              <a:rPr lang="en-GB" dirty="0">
                <a:latin typeface="Courier New"/>
                <a:ea typeface="Tahoma"/>
                <a:cs typeface="Gill Sans Light"/>
              </a:rPr>
              <a:t>()</a:t>
            </a:r>
          </a:p>
          <a:p>
            <a:pPr marL="342900" indent="-342900">
              <a:buChar char="•"/>
            </a:pPr>
            <a:r>
              <a:rPr lang="en-GB" dirty="0">
                <a:ea typeface="Tahoma"/>
                <a:cs typeface="Gill Sans Light"/>
              </a:rPr>
              <a:t>Reads a formatted text file</a:t>
            </a:r>
          </a:p>
          <a:p>
            <a:pPr marL="342900" indent="-342900">
              <a:buChar char="•"/>
            </a:pPr>
            <a:r>
              <a:rPr lang="en-GB" dirty="0">
                <a:ea typeface="Tahoma"/>
                <a:cs typeface="Gill Sans Light"/>
              </a:rPr>
              <a:t>Imports it as a </a:t>
            </a:r>
            <a:r>
              <a:rPr lang="en-GB" b="1" dirty="0">
                <a:ea typeface="Tahoma"/>
                <a:cs typeface="Gill Sans Light"/>
              </a:rPr>
              <a:t>data frame</a:t>
            </a:r>
          </a:p>
          <a:p>
            <a:pPr marL="342900" indent="-342900">
              <a:buChar char="•"/>
            </a:pPr>
            <a:r>
              <a:rPr lang="en-GB" b="1" dirty="0">
                <a:ea typeface="Tahoma"/>
                <a:cs typeface="Gill Sans Light"/>
              </a:rPr>
              <a:t>Many</a:t>
            </a:r>
            <a:r>
              <a:rPr lang="en-GB" dirty="0">
                <a:ea typeface="Tahoma"/>
                <a:cs typeface="Gill Sans Light"/>
              </a:rPr>
              <a:t> options, to accommodate most text files</a:t>
            </a:r>
            <a:endParaRPr lang="en-GB" dirty="0"/>
          </a:p>
          <a:p>
            <a:pPr marL="342900" indent="-342900">
              <a:buChar char="•"/>
            </a:pPr>
            <a:endParaRPr lang="en-GB" dirty="0"/>
          </a:p>
          <a:p>
            <a:r>
              <a:rPr lang="en-GB" dirty="0">
                <a:ea typeface="Tahoma"/>
                <a:cs typeface="Gill Sans Light"/>
              </a:rPr>
              <a:t>Two main elements to give to </a:t>
            </a:r>
            <a:r>
              <a:rPr lang="en-GB" dirty="0" err="1">
                <a:latin typeface="Courier New"/>
                <a:ea typeface="Tahoma"/>
                <a:cs typeface="Courier New"/>
              </a:rPr>
              <a:t>read.table</a:t>
            </a:r>
            <a:r>
              <a:rPr lang="en-GB" dirty="0">
                <a:latin typeface="Courier New"/>
                <a:ea typeface="Tahoma"/>
                <a:cs typeface="Courier New"/>
              </a:rPr>
              <a:t>()</a:t>
            </a:r>
            <a:r>
              <a:rPr lang="en-GB" dirty="0">
                <a:latin typeface="Corbel"/>
                <a:ea typeface="Tahoma"/>
                <a:cs typeface="Gill Sans Light"/>
              </a:rPr>
              <a:t>:</a:t>
            </a:r>
            <a:endParaRPr lang="en-GB" dirty="0"/>
          </a:p>
          <a:p>
            <a:pPr marL="342900" indent="-342900">
              <a:buChar char="•"/>
            </a:pPr>
            <a:r>
              <a:rPr lang="en-GB" dirty="0">
                <a:ea typeface="Tahoma"/>
                <a:cs typeface="Gill Sans Light"/>
              </a:rPr>
              <a:t>What/where is the file to read</a:t>
            </a:r>
            <a:endParaRPr lang="en-GB" dirty="0"/>
          </a:p>
          <a:p>
            <a:pPr marL="342900" indent="-342900">
              <a:buChar char="•"/>
            </a:pPr>
            <a:r>
              <a:rPr lang="en-GB" dirty="0">
                <a:ea typeface="Tahoma"/>
                <a:cs typeface="Gill Sans Light"/>
              </a:rPr>
              <a:t>What are the formatting options</a:t>
            </a:r>
            <a:endParaRPr lang="en-GB" dirty="0"/>
          </a:p>
          <a:p>
            <a:pPr marL="342900" indent="-342900">
              <a:buChar char="•"/>
            </a:pPr>
            <a:endParaRPr lang="en-GB" dirty="0"/>
          </a:p>
        </p:txBody>
      </p:sp>
    </p:spTree>
    <p:extLst>
      <p:ext uri="{BB962C8B-B14F-4D97-AF65-F5344CB8AC3E}">
        <p14:creationId xmlns:p14="http://schemas.microsoft.com/office/powerpoint/2010/main" val="20303043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BC076-B43A-99DA-6C78-8DB833E44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7F6A9-B097-5A55-69A7-BB1DE6E6CEF4}"/>
              </a:ext>
            </a:extLst>
          </p:cNvPr>
          <p:cNvSpPr>
            <a:spLocks noGrp="1"/>
          </p:cNvSpPr>
          <p:nvPr>
            <p:ph type="title"/>
          </p:nvPr>
        </p:nvSpPr>
        <p:spPr/>
        <p:txBody>
          <a:bodyPr/>
          <a:lstStyle/>
          <a:p>
            <a:r>
              <a:rPr lang="en-GB" dirty="0">
                <a:ea typeface="Verdana"/>
                <a:cs typeface="Gill Sans"/>
              </a:rPr>
              <a:t>Specifying the file to read (I)</a:t>
            </a:r>
            <a:endParaRPr lang="en-US" dirty="0"/>
          </a:p>
        </p:txBody>
      </p:sp>
      <p:sp>
        <p:nvSpPr>
          <p:cNvPr id="3" name="Text Placeholder 2">
            <a:extLst>
              <a:ext uri="{FF2B5EF4-FFF2-40B4-BE49-F238E27FC236}">
                <a16:creationId xmlns:a16="http://schemas.microsoft.com/office/drawing/2014/main" id="{160FEC98-109C-AB65-4314-7CBCC8FFF56A}"/>
              </a:ext>
            </a:extLst>
          </p:cNvPr>
          <p:cNvSpPr>
            <a:spLocks noGrp="1"/>
          </p:cNvSpPr>
          <p:nvPr>
            <p:ph type="body" sz="quarter" idx="11"/>
          </p:nvPr>
        </p:nvSpPr>
        <p:spPr>
          <a:xfrm>
            <a:off x="838200" y="1819275"/>
            <a:ext cx="11163300" cy="4351338"/>
          </a:xfrm>
        </p:spPr>
        <p:txBody>
          <a:bodyPr vert="horz" lIns="91440" tIns="45720" rIns="91440" bIns="45720" rtlCol="0" anchor="t">
            <a:normAutofit/>
          </a:bodyPr>
          <a:lstStyle/>
          <a:p>
            <a:pPr marL="4445">
              <a:lnSpc>
                <a:spcPct val="100000"/>
              </a:lnSpc>
              <a:spcBef>
                <a:spcPts val="561"/>
              </a:spcBef>
            </a:pPr>
            <a:r>
              <a:rPr lang="en-US" dirty="0">
                <a:solidFill>
                  <a:srgbClr val="000000"/>
                </a:solidFill>
                <a:latin typeface="Corbel"/>
                <a:ea typeface="Tahoma"/>
                <a:cs typeface="Arial"/>
              </a:rPr>
              <a:t>Where is the file I want to import?</a:t>
            </a:r>
          </a:p>
          <a:p>
            <a:pPr marL="775335" lvl="2" indent="-342900">
              <a:lnSpc>
                <a:spcPct val="100000"/>
              </a:lnSpc>
              <a:spcBef>
                <a:spcPts val="561"/>
              </a:spcBef>
              <a:buFont typeface="Arial"/>
              <a:buChar char="•"/>
            </a:pPr>
            <a:r>
              <a:rPr lang="en-US">
                <a:solidFill>
                  <a:srgbClr val="000000"/>
                </a:solidFill>
                <a:latin typeface="Corbel"/>
                <a:ea typeface="Tahoma"/>
                <a:cs typeface="Arial"/>
              </a:rPr>
              <a:t>Look for your file in the file system. </a:t>
            </a:r>
            <a:endParaRPr lang="en-US" dirty="0">
              <a:solidFill>
                <a:srgbClr val="000000"/>
              </a:solidFill>
              <a:latin typeface="Corbel"/>
              <a:ea typeface="Tahoma"/>
              <a:cs typeface="Arial"/>
            </a:endParaRPr>
          </a:p>
          <a:p>
            <a:pPr marL="775335" lvl="2" indent="-342900">
              <a:lnSpc>
                <a:spcPct val="100000"/>
              </a:lnSpc>
              <a:spcBef>
                <a:spcPts val="561"/>
              </a:spcBef>
              <a:buFont typeface="Arial"/>
              <a:buChar char="•"/>
            </a:pPr>
            <a:r>
              <a:rPr lang="en-US">
                <a:solidFill>
                  <a:srgbClr val="000000"/>
                </a:solidFill>
                <a:latin typeface="Corbel"/>
                <a:ea typeface="Tahoma"/>
                <a:cs typeface="Arial"/>
              </a:rPr>
              <a:t>Note its </a:t>
            </a:r>
            <a:r>
              <a:rPr lang="en-US" b="1">
                <a:solidFill>
                  <a:srgbClr val="000000"/>
                </a:solidFill>
                <a:latin typeface="Corbel"/>
                <a:ea typeface="Tahoma"/>
                <a:cs typeface="Arial"/>
              </a:rPr>
              <a:t>path</a:t>
            </a:r>
            <a:r>
              <a:rPr lang="en-US">
                <a:solidFill>
                  <a:srgbClr val="000000"/>
                </a:solidFill>
                <a:latin typeface="Corbel"/>
                <a:ea typeface="Tahoma"/>
                <a:cs typeface="Arial"/>
              </a:rPr>
              <a:t>: the succession of folders to access it</a:t>
            </a:r>
            <a:endParaRPr lang="en-US" dirty="0">
              <a:solidFill>
                <a:srgbClr val="000000"/>
              </a:solidFill>
              <a:latin typeface="Corbel"/>
              <a:ea typeface="Tahoma"/>
              <a:cs typeface="Arial"/>
            </a:endParaRPr>
          </a:p>
          <a:p>
            <a:pPr>
              <a:lnSpc>
                <a:spcPct val="100000"/>
              </a:lnSpc>
              <a:spcBef>
                <a:spcPts val="561"/>
              </a:spcBef>
            </a:pPr>
            <a:endParaRPr lang="en-US" dirty="0">
              <a:solidFill>
                <a:srgbClr val="000000"/>
              </a:solidFill>
              <a:latin typeface="Corbel"/>
              <a:cs typeface="Arial"/>
            </a:endParaRPr>
          </a:p>
          <a:p>
            <a:pPr>
              <a:lnSpc>
                <a:spcPct val="100000"/>
              </a:lnSpc>
              <a:spcBef>
                <a:spcPts val="561"/>
              </a:spcBef>
            </a:pPr>
            <a:r>
              <a:rPr lang="en-US" dirty="0">
                <a:latin typeface="Corbel"/>
                <a:ea typeface="Tahoma"/>
                <a:cs typeface="Arial"/>
              </a:rPr>
              <a:t>File paths can be specified as a string with </a:t>
            </a:r>
            <a:r>
              <a:rPr lang="en-US" b="1" dirty="0">
                <a:latin typeface="Corbel"/>
                <a:ea typeface="Tahoma"/>
                <a:cs typeface="Arial"/>
              </a:rPr>
              <a:t>'/'</a:t>
            </a:r>
            <a:r>
              <a:rPr lang="en-US" dirty="0">
                <a:latin typeface="Corbel"/>
                <a:ea typeface="Tahoma"/>
                <a:cs typeface="Arial"/>
              </a:rPr>
              <a:t> as separator:</a:t>
            </a:r>
          </a:p>
          <a:p>
            <a:pPr>
              <a:lnSpc>
                <a:spcPct val="100000"/>
              </a:lnSpc>
              <a:spcBef>
                <a:spcPct val="20000"/>
              </a:spcBef>
            </a:pPr>
            <a:r>
              <a:rPr lang="en-US" dirty="0">
                <a:latin typeface="Courier New"/>
                <a:ea typeface="+mn-lt"/>
                <a:cs typeface="+mn-lt"/>
              </a:rPr>
              <a:t>"C:/Users/Leo/courses/data/snp.csv"  </a:t>
            </a:r>
          </a:p>
          <a:p>
            <a:pPr>
              <a:lnSpc>
                <a:spcPct val="100000"/>
              </a:lnSpc>
              <a:spcBef>
                <a:spcPct val="20000"/>
              </a:spcBef>
            </a:pPr>
            <a:endParaRPr lang="en-US" dirty="0">
              <a:ea typeface="+mn-lt"/>
              <a:cs typeface="+mn-lt"/>
            </a:endParaRPr>
          </a:p>
          <a:p>
            <a:pPr>
              <a:lnSpc>
                <a:spcPct val="100000"/>
              </a:lnSpc>
              <a:spcBef>
                <a:spcPct val="20000"/>
              </a:spcBef>
            </a:pPr>
            <a:r>
              <a:rPr lang="en-US" dirty="0">
                <a:latin typeface="Corbel"/>
                <a:ea typeface="Tahoma"/>
                <a:cs typeface="Arial"/>
              </a:rPr>
              <a:t>Or with a little help from the function </a:t>
            </a:r>
            <a:r>
              <a:rPr lang="en-US" b="1" dirty="0" err="1">
                <a:latin typeface="Corbel"/>
                <a:ea typeface="Tahoma"/>
                <a:cs typeface="Arial"/>
              </a:rPr>
              <a:t>file.path</a:t>
            </a:r>
            <a:r>
              <a:rPr lang="en-US" b="1" dirty="0">
                <a:latin typeface="Corbel"/>
                <a:ea typeface="Tahoma"/>
                <a:cs typeface="Arial"/>
              </a:rPr>
              <a:t>():</a:t>
            </a:r>
            <a:endParaRPr lang="en-US" dirty="0">
              <a:latin typeface="Corbel"/>
              <a:ea typeface="Tahoma"/>
              <a:cs typeface="Arial"/>
            </a:endParaRPr>
          </a:p>
          <a:p>
            <a:pPr>
              <a:lnSpc>
                <a:spcPct val="100000"/>
              </a:lnSpc>
              <a:spcBef>
                <a:spcPct val="20000"/>
              </a:spcBef>
            </a:pPr>
            <a:r>
              <a:rPr lang="en-US" dirty="0" err="1">
                <a:latin typeface="Courier New"/>
                <a:ea typeface="+mn-lt"/>
                <a:cs typeface="+mn-lt"/>
              </a:rPr>
              <a:t>file.path</a:t>
            </a:r>
            <a:r>
              <a:rPr lang="en-US" dirty="0">
                <a:latin typeface="Courier New"/>
                <a:ea typeface="+mn-lt"/>
                <a:cs typeface="+mn-lt"/>
              </a:rPr>
              <a:t>("</a:t>
            </a:r>
            <a:r>
              <a:rPr lang="en-US" dirty="0" err="1">
                <a:latin typeface="Courier New"/>
                <a:ea typeface="+mn-lt"/>
                <a:cs typeface="+mn-lt"/>
              </a:rPr>
              <a:t>C:","Users</a:t>
            </a:r>
            <a:r>
              <a:rPr lang="en-US" dirty="0">
                <a:latin typeface="Courier New"/>
                <a:ea typeface="+mn-lt"/>
                <a:cs typeface="+mn-lt"/>
              </a:rPr>
              <a:t>", "Leo", "courses", "data", "snp.csv")</a:t>
            </a:r>
          </a:p>
          <a:p>
            <a:pPr>
              <a:lnSpc>
                <a:spcPct val="100000"/>
              </a:lnSpc>
              <a:spcBef>
                <a:spcPct val="20000"/>
              </a:spcBef>
            </a:pPr>
            <a:endParaRPr lang="de-CH" sz="1800" dirty="0">
              <a:solidFill>
                <a:srgbClr val="4F81BD"/>
              </a:solidFill>
              <a:ea typeface="+mn-lt"/>
              <a:cs typeface="+mn-lt"/>
            </a:endParaRPr>
          </a:p>
          <a:p>
            <a:pPr>
              <a:lnSpc>
                <a:spcPct val="100000"/>
              </a:lnSpc>
              <a:spcBef>
                <a:spcPts val="561"/>
              </a:spcBef>
            </a:pPr>
            <a:endParaRPr lang="en-US" dirty="0">
              <a:solidFill>
                <a:srgbClr val="000000"/>
              </a:solidFill>
              <a:latin typeface="Corbel"/>
              <a:cs typeface="Arial"/>
            </a:endParaRPr>
          </a:p>
        </p:txBody>
      </p:sp>
    </p:spTree>
    <p:extLst>
      <p:ext uri="{BB962C8B-B14F-4D97-AF65-F5344CB8AC3E}">
        <p14:creationId xmlns:p14="http://schemas.microsoft.com/office/powerpoint/2010/main" val="421177074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CFD63-325A-4D55-82CF-ACAD7CCBE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D3966-BCCC-39F3-37C9-9137974D3F03}"/>
              </a:ext>
            </a:extLst>
          </p:cNvPr>
          <p:cNvSpPr>
            <a:spLocks noGrp="1"/>
          </p:cNvSpPr>
          <p:nvPr>
            <p:ph type="title"/>
          </p:nvPr>
        </p:nvSpPr>
        <p:spPr/>
        <p:txBody>
          <a:bodyPr/>
          <a:lstStyle/>
          <a:p>
            <a:r>
              <a:rPr lang="en-GB" dirty="0">
                <a:ea typeface="Verdana"/>
                <a:cs typeface="Gill Sans"/>
              </a:rPr>
              <a:t>Specifying the file to read (II)</a:t>
            </a:r>
            <a:endParaRPr lang="en-US" dirty="0"/>
          </a:p>
        </p:txBody>
      </p:sp>
      <p:sp>
        <p:nvSpPr>
          <p:cNvPr id="3" name="Text Placeholder 2">
            <a:extLst>
              <a:ext uri="{FF2B5EF4-FFF2-40B4-BE49-F238E27FC236}">
                <a16:creationId xmlns:a16="http://schemas.microsoft.com/office/drawing/2014/main" id="{2628CC74-80CB-1382-4DA8-17E3FF9260B1}"/>
              </a:ext>
            </a:extLst>
          </p:cNvPr>
          <p:cNvSpPr>
            <a:spLocks noGrp="1"/>
          </p:cNvSpPr>
          <p:nvPr>
            <p:ph type="body" sz="quarter" idx="11"/>
          </p:nvPr>
        </p:nvSpPr>
        <p:spPr>
          <a:xfrm>
            <a:off x="838200" y="1819275"/>
            <a:ext cx="11163300" cy="4351338"/>
          </a:xfrm>
        </p:spPr>
        <p:txBody>
          <a:bodyPr vert="horz" lIns="91440" tIns="45720" rIns="91440" bIns="45720" rtlCol="0" anchor="t">
            <a:normAutofit/>
          </a:bodyPr>
          <a:lstStyle/>
          <a:p>
            <a:pPr marL="4445">
              <a:lnSpc>
                <a:spcPct val="100000"/>
              </a:lnSpc>
              <a:spcBef>
                <a:spcPts val="561"/>
              </a:spcBef>
            </a:pPr>
            <a:r>
              <a:rPr lang="en-US" dirty="0">
                <a:solidFill>
                  <a:srgbClr val="000000"/>
                </a:solidFill>
                <a:latin typeface="Corbel"/>
                <a:ea typeface="Tahoma"/>
                <a:cs typeface="Arial"/>
              </a:rPr>
              <a:t>Files path can be </a:t>
            </a:r>
            <a:r>
              <a:rPr lang="en-US" b="1" dirty="0">
                <a:solidFill>
                  <a:srgbClr val="000000"/>
                </a:solidFill>
                <a:latin typeface="Corbel"/>
                <a:ea typeface="Tahoma"/>
                <a:cs typeface="Arial"/>
              </a:rPr>
              <a:t>absolute</a:t>
            </a:r>
            <a:endParaRPr lang="en-US" b="1" dirty="0">
              <a:solidFill>
                <a:srgbClr val="000000"/>
              </a:solidFill>
              <a:cs typeface="Arial"/>
            </a:endParaRPr>
          </a:p>
          <a:p>
            <a:pPr>
              <a:lnSpc>
                <a:spcPct val="100000"/>
              </a:lnSpc>
              <a:spcBef>
                <a:spcPct val="20000"/>
              </a:spcBef>
            </a:pPr>
            <a:r>
              <a:rPr lang="en-US" dirty="0">
                <a:latin typeface="Courier New"/>
                <a:ea typeface="+mn-lt"/>
                <a:cs typeface="+mn-lt"/>
              </a:rPr>
              <a:t>"C:/Users/Leo/courses/data/snp.csv"  </a:t>
            </a:r>
          </a:p>
          <a:p>
            <a:pPr>
              <a:lnSpc>
                <a:spcPct val="100000"/>
              </a:lnSpc>
              <a:spcBef>
                <a:spcPct val="20000"/>
              </a:spcBef>
            </a:pPr>
            <a:endParaRPr lang="en-US" dirty="0">
              <a:ea typeface="+mn-lt"/>
              <a:cs typeface="+mn-lt"/>
            </a:endParaRPr>
          </a:p>
          <a:p>
            <a:pPr>
              <a:lnSpc>
                <a:spcPct val="100000"/>
              </a:lnSpc>
              <a:spcBef>
                <a:spcPct val="20000"/>
              </a:spcBef>
            </a:pPr>
            <a:r>
              <a:rPr lang="en-US" dirty="0">
                <a:latin typeface="Corbel"/>
                <a:ea typeface="Tahoma"/>
                <a:cs typeface="Arial"/>
              </a:rPr>
              <a:t>Or </a:t>
            </a:r>
            <a:r>
              <a:rPr lang="en-US" b="1" dirty="0">
                <a:solidFill>
                  <a:srgbClr val="1E2232"/>
                </a:solidFill>
                <a:ea typeface="Tahoma"/>
                <a:cs typeface="Arial"/>
              </a:rPr>
              <a:t>relative</a:t>
            </a:r>
            <a:r>
              <a:rPr lang="en-US">
                <a:latin typeface="Corbel"/>
                <a:ea typeface="Tahoma"/>
                <a:cs typeface="Arial"/>
              </a:rPr>
              <a:t> (to the working directory)</a:t>
            </a:r>
          </a:p>
          <a:p>
            <a:pPr>
              <a:lnSpc>
                <a:spcPct val="100000"/>
              </a:lnSpc>
              <a:spcBef>
                <a:spcPct val="20000"/>
              </a:spcBef>
            </a:pPr>
            <a:r>
              <a:rPr lang="en-US" dirty="0">
                <a:latin typeface="Courier New"/>
                <a:ea typeface="+mn-lt"/>
                <a:cs typeface="Courier New"/>
              </a:rPr>
              <a:t>"data/snp.csv"                   "../data/snp.csv" </a:t>
            </a:r>
          </a:p>
          <a:p>
            <a:pPr>
              <a:lnSpc>
                <a:spcPct val="100000"/>
              </a:lnSpc>
              <a:spcBef>
                <a:spcPct val="20000"/>
              </a:spcBef>
            </a:pPr>
            <a:endParaRPr lang="en-US" dirty="0">
              <a:latin typeface="Courier New"/>
              <a:ea typeface="+mn-lt"/>
              <a:cs typeface="+mn-lt"/>
            </a:endParaRPr>
          </a:p>
          <a:p>
            <a:pPr>
              <a:lnSpc>
                <a:spcPct val="100000"/>
              </a:lnSpc>
              <a:spcBef>
                <a:spcPct val="20000"/>
              </a:spcBef>
            </a:pPr>
            <a:endParaRPr lang="de-CH" sz="1800" dirty="0">
              <a:solidFill>
                <a:srgbClr val="4F81BD"/>
              </a:solidFill>
              <a:ea typeface="+mn-lt"/>
              <a:cs typeface="+mn-lt"/>
            </a:endParaRPr>
          </a:p>
          <a:p>
            <a:pPr>
              <a:lnSpc>
                <a:spcPct val="100000"/>
              </a:lnSpc>
              <a:spcBef>
                <a:spcPts val="561"/>
              </a:spcBef>
            </a:pPr>
            <a:endParaRPr lang="en-US" dirty="0">
              <a:solidFill>
                <a:srgbClr val="000000"/>
              </a:solidFill>
              <a:latin typeface="Corbel"/>
              <a:cs typeface="Arial"/>
            </a:endParaRPr>
          </a:p>
        </p:txBody>
      </p:sp>
      <p:pic>
        <p:nvPicPr>
          <p:cNvPr id="4" name="Picture 3" descr="A computer screen with a black background&#10;&#10;Description automatically generated">
            <a:extLst>
              <a:ext uri="{FF2B5EF4-FFF2-40B4-BE49-F238E27FC236}">
                <a16:creationId xmlns:a16="http://schemas.microsoft.com/office/drawing/2014/main" id="{232A28AD-95DB-CE58-BF6C-7797AA685C5F}"/>
              </a:ext>
            </a:extLst>
          </p:cNvPr>
          <p:cNvPicPr>
            <a:picLocks noChangeAspect="1"/>
          </p:cNvPicPr>
          <p:nvPr/>
        </p:nvPicPr>
        <p:blipFill>
          <a:blip r:embed="rId2"/>
          <a:stretch>
            <a:fillRect/>
          </a:stretch>
        </p:blipFill>
        <p:spPr>
          <a:xfrm>
            <a:off x="1015783" y="4352925"/>
            <a:ext cx="2997635" cy="2047875"/>
          </a:xfrm>
          <a:prstGeom prst="rect">
            <a:avLst/>
          </a:prstGeom>
        </p:spPr>
      </p:pic>
      <p:pic>
        <p:nvPicPr>
          <p:cNvPr id="5" name="Picture 4" descr="A screenshot of a computer screen&#10;&#10;Description automatically generated">
            <a:extLst>
              <a:ext uri="{FF2B5EF4-FFF2-40B4-BE49-F238E27FC236}">
                <a16:creationId xmlns:a16="http://schemas.microsoft.com/office/drawing/2014/main" id="{7D0AA85E-DF5D-489A-2105-1256CCB1969D}"/>
              </a:ext>
            </a:extLst>
          </p:cNvPr>
          <p:cNvPicPr>
            <a:picLocks noChangeAspect="1"/>
          </p:cNvPicPr>
          <p:nvPr/>
        </p:nvPicPr>
        <p:blipFill>
          <a:blip r:embed="rId3"/>
          <a:stretch>
            <a:fillRect/>
          </a:stretch>
        </p:blipFill>
        <p:spPr>
          <a:xfrm>
            <a:off x="6913142" y="4000500"/>
            <a:ext cx="3547316" cy="2667000"/>
          </a:xfrm>
          <a:prstGeom prst="rect">
            <a:avLst/>
          </a:prstGeom>
        </p:spPr>
      </p:pic>
    </p:spTree>
    <p:extLst>
      <p:ext uri="{BB962C8B-B14F-4D97-AF65-F5344CB8AC3E}">
        <p14:creationId xmlns:p14="http://schemas.microsoft.com/office/powerpoint/2010/main" val="11328805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5355E-7C1E-A857-DB8D-672A33436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986475-6442-3013-BF12-A43B14D42C9D}"/>
              </a:ext>
            </a:extLst>
          </p:cNvPr>
          <p:cNvSpPr>
            <a:spLocks noGrp="1"/>
          </p:cNvSpPr>
          <p:nvPr>
            <p:ph type="title"/>
          </p:nvPr>
        </p:nvSpPr>
        <p:spPr/>
        <p:txBody>
          <a:bodyPr/>
          <a:lstStyle/>
          <a:p>
            <a:r>
              <a:rPr lang="en-GB" dirty="0">
                <a:ea typeface="Verdana"/>
                <a:cs typeface="Gill Sans"/>
              </a:rPr>
              <a:t>Format options</a:t>
            </a:r>
            <a:endParaRPr lang="en-GB" dirty="0"/>
          </a:p>
        </p:txBody>
      </p:sp>
      <p:sp>
        <p:nvSpPr>
          <p:cNvPr id="3" name="Text Placeholder 2">
            <a:extLst>
              <a:ext uri="{FF2B5EF4-FFF2-40B4-BE49-F238E27FC236}">
                <a16:creationId xmlns:a16="http://schemas.microsoft.com/office/drawing/2014/main" id="{879F9C10-A137-F600-E018-BA41259E6874}"/>
              </a:ext>
            </a:extLst>
          </p:cNvPr>
          <p:cNvSpPr>
            <a:spLocks noGrp="1"/>
          </p:cNvSpPr>
          <p:nvPr>
            <p:ph type="body" sz="quarter" idx="11"/>
          </p:nvPr>
        </p:nvSpPr>
        <p:spPr/>
        <p:txBody>
          <a:bodyPr vert="horz" lIns="91440" tIns="45720" rIns="91440" bIns="45720" rtlCol="0" anchor="t">
            <a:normAutofit/>
          </a:bodyPr>
          <a:lstStyle/>
          <a:p>
            <a:pPr marL="1270">
              <a:lnSpc>
                <a:spcPct val="100000"/>
              </a:lnSpc>
              <a:spcBef>
                <a:spcPts val="1417"/>
              </a:spcBef>
            </a:pPr>
            <a:r>
              <a:rPr lang="en-US" sz="2000" dirty="0">
                <a:ea typeface="+mn-lt"/>
                <a:cs typeface="+mn-lt"/>
              </a:rPr>
              <a:t>Most important optional arguments of </a:t>
            </a:r>
            <a:r>
              <a:rPr lang="en-US" sz="2000" dirty="0" err="1">
                <a:latin typeface="Courier New"/>
                <a:ea typeface="+mn-lt"/>
                <a:cs typeface="+mn-lt"/>
              </a:rPr>
              <a:t>read.table</a:t>
            </a:r>
            <a:r>
              <a:rPr lang="en-US" sz="2000" dirty="0">
                <a:latin typeface="Courier New"/>
                <a:ea typeface="+mn-lt"/>
                <a:cs typeface="+mn-lt"/>
              </a:rPr>
              <a:t>()</a:t>
            </a:r>
            <a:r>
              <a:rPr lang="en-US" sz="2000" dirty="0">
                <a:ea typeface="+mn-lt"/>
                <a:cs typeface="+mn-lt"/>
              </a:rPr>
              <a:t>, </a:t>
            </a:r>
            <a:r>
              <a:rPr lang="en-US" sz="2000" dirty="0">
                <a:latin typeface="Courier New"/>
                <a:ea typeface="+mn-lt"/>
                <a:cs typeface="+mn-lt"/>
              </a:rPr>
              <a:t>read.csv()</a:t>
            </a:r>
            <a:r>
              <a:rPr lang="en-US" sz="2000" dirty="0">
                <a:ea typeface="+mn-lt"/>
                <a:cs typeface="+mn-lt"/>
              </a:rPr>
              <a:t>, </a:t>
            </a:r>
            <a:r>
              <a:rPr lang="en-US" sz="2000" dirty="0" err="1">
                <a:latin typeface="Courier New"/>
                <a:ea typeface="+mn-lt"/>
                <a:cs typeface="+mn-lt"/>
              </a:rPr>
              <a:t>read.delim</a:t>
            </a:r>
            <a:r>
              <a:rPr lang="en-US" sz="2000" dirty="0">
                <a:latin typeface="Courier New"/>
                <a:ea typeface="+mn-lt"/>
                <a:cs typeface="+mn-lt"/>
              </a:rPr>
              <a:t>()</a:t>
            </a:r>
          </a:p>
          <a:p>
            <a:pPr marL="88900" indent="-180975">
              <a:lnSpc>
                <a:spcPct val="100000"/>
              </a:lnSpc>
              <a:spcBef>
                <a:spcPts val="400"/>
              </a:spcBef>
              <a:buFont typeface="Arial,Sans-Serif"/>
              <a:buChar char="•"/>
            </a:pPr>
            <a:r>
              <a:rPr lang="en-US" sz="2000" b="1" dirty="0">
                <a:latin typeface="Corbel"/>
                <a:ea typeface="Tahoma"/>
                <a:cs typeface="Arial"/>
              </a:rPr>
              <a:t>header</a:t>
            </a:r>
            <a:r>
              <a:rPr lang="en-US" sz="2000" dirty="0">
                <a:latin typeface="Corbel"/>
                <a:ea typeface="Tahoma"/>
                <a:cs typeface="Arial"/>
              </a:rPr>
              <a:t> (TRUE/FALSE): specifies whether the first line contains column names </a:t>
            </a:r>
            <a:endParaRPr lang="en-US" sz="2000">
              <a:latin typeface="Corbel"/>
            </a:endParaRPr>
          </a:p>
          <a:p>
            <a:pPr marL="447675" lvl="1" indent="-180975">
              <a:lnSpc>
                <a:spcPct val="100000"/>
              </a:lnSpc>
              <a:spcBef>
                <a:spcPts val="400"/>
              </a:spcBef>
              <a:buFont typeface="Arial,Sans-Serif"/>
              <a:buChar char="•"/>
            </a:pPr>
            <a:r>
              <a:rPr lang="en-US" sz="2000">
                <a:latin typeface="Corbel"/>
                <a:ea typeface="Tahoma"/>
                <a:cs typeface="Arial"/>
              </a:rPr>
              <a:t>Default</a:t>
            </a:r>
            <a:r>
              <a:rPr lang="en-US" sz="2000">
                <a:ea typeface="+mn-lt"/>
                <a:cs typeface="+mn-lt"/>
              </a:rPr>
              <a:t> in </a:t>
            </a:r>
            <a:r>
              <a:rPr lang="en-US" sz="2000" err="1">
                <a:latin typeface="Courier New"/>
                <a:ea typeface="+mn-lt"/>
                <a:cs typeface="+mn-lt"/>
              </a:rPr>
              <a:t>read.table</a:t>
            </a:r>
            <a:r>
              <a:rPr lang="en-US" sz="2000">
                <a:latin typeface="Courier New"/>
                <a:ea typeface="+mn-lt"/>
                <a:cs typeface="+mn-lt"/>
              </a:rPr>
              <a:t>()</a:t>
            </a:r>
            <a:r>
              <a:rPr lang="en-US" sz="2000">
                <a:ea typeface="+mn-lt"/>
                <a:cs typeface="+mn-lt"/>
              </a:rPr>
              <a:t> is FALSE. </a:t>
            </a:r>
            <a:endParaRPr lang="en-US" sz="2000"/>
          </a:p>
          <a:p>
            <a:pPr marL="447675" lvl="1" indent="-180975">
              <a:lnSpc>
                <a:spcPct val="100000"/>
              </a:lnSpc>
              <a:spcBef>
                <a:spcPts val="400"/>
              </a:spcBef>
              <a:buFont typeface="Arial,Sans-Serif"/>
              <a:buChar char="•"/>
            </a:pPr>
            <a:r>
              <a:rPr lang="en-US" sz="2000">
                <a:ea typeface="+mn-lt"/>
                <a:cs typeface="+mn-lt"/>
              </a:rPr>
              <a:t>Default in </a:t>
            </a:r>
            <a:r>
              <a:rPr lang="en-US" sz="2000">
                <a:latin typeface="Courier New"/>
                <a:ea typeface="+mn-lt"/>
                <a:cs typeface="+mn-lt"/>
              </a:rPr>
              <a:t>read.csv()</a:t>
            </a:r>
            <a:r>
              <a:rPr lang="en-US" sz="2000">
                <a:ea typeface="+mn-lt"/>
                <a:cs typeface="+mn-lt"/>
              </a:rPr>
              <a:t> and </a:t>
            </a:r>
            <a:r>
              <a:rPr lang="en-US" sz="2000" err="1">
                <a:latin typeface="Courier New"/>
                <a:ea typeface="+mn-lt"/>
                <a:cs typeface="+mn-lt"/>
              </a:rPr>
              <a:t>read.delim</a:t>
            </a:r>
            <a:r>
              <a:rPr lang="en-US" sz="2000">
                <a:latin typeface="Courier New"/>
                <a:ea typeface="+mn-lt"/>
                <a:cs typeface="+mn-lt"/>
              </a:rPr>
              <a:t>()</a:t>
            </a:r>
            <a:r>
              <a:rPr lang="en-US" sz="2000">
                <a:ea typeface="+mn-lt"/>
                <a:cs typeface="+mn-lt"/>
              </a:rPr>
              <a:t> is TRUE.</a:t>
            </a:r>
            <a:endParaRPr lang="en-US" sz="2000"/>
          </a:p>
          <a:p>
            <a:pPr>
              <a:lnSpc>
                <a:spcPct val="100000"/>
              </a:lnSpc>
              <a:spcBef>
                <a:spcPts val="1134"/>
              </a:spcBef>
            </a:pPr>
            <a:endParaRPr lang="en-US" sz="2000" dirty="0">
              <a:latin typeface="Corbel"/>
              <a:cs typeface="Arial"/>
            </a:endParaRPr>
          </a:p>
          <a:p>
            <a:pPr marL="90170" indent="-180975">
              <a:lnSpc>
                <a:spcPct val="100000"/>
              </a:lnSpc>
              <a:spcBef>
                <a:spcPts val="400"/>
              </a:spcBef>
              <a:buFont typeface="Arial,Sans-Serif"/>
              <a:buChar char="•"/>
            </a:pPr>
            <a:r>
              <a:rPr lang="en-US" sz="2000" b="1" dirty="0" err="1">
                <a:latin typeface="Corbel"/>
                <a:ea typeface="Tahoma"/>
                <a:cs typeface="Arial"/>
              </a:rPr>
              <a:t>sep</a:t>
            </a:r>
            <a:r>
              <a:rPr lang="en-US" sz="2000" b="1" dirty="0">
                <a:latin typeface="Corbel"/>
                <a:ea typeface="Tahoma"/>
                <a:cs typeface="Arial"/>
              </a:rPr>
              <a:t>:</a:t>
            </a:r>
            <a:r>
              <a:rPr lang="en-US" sz="2000" dirty="0">
                <a:latin typeface="Corbel"/>
                <a:ea typeface="Tahoma"/>
                <a:cs typeface="Arial"/>
              </a:rPr>
              <a:t> specifies the field separator character (e.g. "," or tab "\t"). </a:t>
            </a:r>
            <a:endParaRPr lang="en-US" sz="2000" dirty="0">
              <a:ea typeface="Tahoma"/>
              <a:cs typeface="Arial"/>
            </a:endParaRPr>
          </a:p>
          <a:p>
            <a:pPr marL="448945" lvl="1" indent="-180975">
              <a:lnSpc>
                <a:spcPct val="100000"/>
              </a:lnSpc>
              <a:spcBef>
                <a:spcPts val="400"/>
              </a:spcBef>
              <a:buFont typeface="Arial,Sans-Serif"/>
              <a:buChar char="•"/>
            </a:pPr>
            <a:r>
              <a:rPr lang="en-US" sz="2000">
                <a:ea typeface="+mn-lt"/>
                <a:cs typeface="+mn-lt"/>
              </a:rPr>
              <a:t>Default in </a:t>
            </a:r>
            <a:r>
              <a:rPr lang="en-US" sz="2000" err="1">
                <a:latin typeface="Courier New"/>
                <a:ea typeface="+mn-lt"/>
                <a:cs typeface="+mn-lt"/>
              </a:rPr>
              <a:t>read.table</a:t>
            </a:r>
            <a:r>
              <a:rPr lang="en-US" sz="2000">
                <a:latin typeface="Courier New"/>
                <a:ea typeface="+mn-lt"/>
                <a:cs typeface="+mn-lt"/>
              </a:rPr>
              <a:t>()</a:t>
            </a:r>
            <a:r>
              <a:rPr lang="en-US" sz="2000">
                <a:ea typeface="+mn-lt"/>
                <a:cs typeface="+mn-lt"/>
              </a:rPr>
              <a:t> is any white space characters (space, tab, newline and carriage return). </a:t>
            </a:r>
            <a:endParaRPr lang="en-US"/>
          </a:p>
          <a:p>
            <a:pPr marL="448945" lvl="1" indent="-180975">
              <a:lnSpc>
                <a:spcPct val="100000"/>
              </a:lnSpc>
              <a:spcBef>
                <a:spcPts val="400"/>
              </a:spcBef>
              <a:buFont typeface="Arial,Sans-Serif"/>
              <a:buChar char="•"/>
            </a:pPr>
            <a:r>
              <a:rPr lang="en-US" sz="2000">
                <a:ea typeface="+mn-lt"/>
                <a:cs typeface="+mn-lt"/>
              </a:rPr>
              <a:t>Default in </a:t>
            </a:r>
            <a:r>
              <a:rPr lang="en-US" sz="2000">
                <a:latin typeface="Courier New"/>
                <a:ea typeface="+mn-lt"/>
                <a:cs typeface="+mn-lt"/>
              </a:rPr>
              <a:t>read.csv()</a:t>
            </a:r>
            <a:r>
              <a:rPr lang="en-US" sz="2000">
                <a:ea typeface="+mn-lt"/>
                <a:cs typeface="+mn-lt"/>
              </a:rPr>
              <a:t> is comma. </a:t>
            </a:r>
            <a:endParaRPr lang="en-US"/>
          </a:p>
          <a:p>
            <a:pPr marL="448945" lvl="1" indent="-180975">
              <a:lnSpc>
                <a:spcPct val="100000"/>
              </a:lnSpc>
              <a:spcBef>
                <a:spcPts val="400"/>
              </a:spcBef>
              <a:buFont typeface="Arial,Sans-Serif"/>
              <a:buChar char="•"/>
            </a:pPr>
            <a:r>
              <a:rPr lang="en-US" sz="2000">
                <a:ea typeface="+mn-lt"/>
                <a:cs typeface="+mn-lt"/>
              </a:rPr>
              <a:t>Default in</a:t>
            </a:r>
            <a:r>
              <a:rPr lang="en-US" sz="2000">
                <a:latin typeface="Corbel"/>
                <a:ea typeface="+mn-lt"/>
                <a:cs typeface="+mn-lt"/>
              </a:rPr>
              <a:t> </a:t>
            </a:r>
            <a:r>
              <a:rPr lang="en-US" sz="2000" err="1">
                <a:latin typeface="Courier New"/>
                <a:ea typeface="+mn-lt"/>
                <a:cs typeface="+mn-lt"/>
              </a:rPr>
              <a:t>read.delim</a:t>
            </a:r>
            <a:r>
              <a:rPr lang="en-US" sz="2000">
                <a:latin typeface="Courier New"/>
                <a:ea typeface="+mn-lt"/>
                <a:cs typeface="+mn-lt"/>
              </a:rPr>
              <a:t>()</a:t>
            </a:r>
            <a:r>
              <a:rPr lang="en-US" sz="2000">
                <a:ea typeface="+mn-lt"/>
                <a:cs typeface="+mn-lt"/>
              </a:rPr>
              <a:t> is tab.</a:t>
            </a:r>
            <a:endParaRPr lang="en-US"/>
          </a:p>
          <a:p>
            <a:pPr marL="631190">
              <a:lnSpc>
                <a:spcPct val="100000"/>
              </a:lnSpc>
              <a:spcBef>
                <a:spcPts val="400"/>
              </a:spcBef>
            </a:pPr>
            <a:endParaRPr lang="en-US" sz="2000" dirty="0">
              <a:latin typeface="Corbel"/>
              <a:cs typeface="Arial"/>
            </a:endParaRPr>
          </a:p>
          <a:p>
            <a:endParaRPr lang="en-GB" dirty="0"/>
          </a:p>
        </p:txBody>
      </p:sp>
      <p:pic>
        <p:nvPicPr>
          <p:cNvPr id="5" name="Image 20" descr="A red and black logo&#10;&#10;Description automatically generated">
            <a:extLst>
              <a:ext uri="{FF2B5EF4-FFF2-40B4-BE49-F238E27FC236}">
                <a16:creationId xmlns:a16="http://schemas.microsoft.com/office/drawing/2014/main" id="{1C37E823-6D35-F02B-EB0F-3D4CDC1279DC}"/>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CC5A8CAA-144B-96E8-85E7-F746C10D28FB}"/>
              </a:ext>
            </a:extLst>
          </p:cNvPr>
          <p:cNvSpPr txBox="1"/>
          <p:nvPr/>
        </p:nvSpPr>
        <p:spPr>
          <a:xfrm>
            <a:off x="1704975" y="5848350"/>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When in doubt, use help(</a:t>
            </a:r>
            <a:r>
              <a:rPr lang="en-GB" sz="2400" b="1" dirty="0" err="1"/>
              <a:t>read.table</a:t>
            </a:r>
            <a:r>
              <a:rPr lang="en-GB" sz="2400" b="1" dirty="0"/>
              <a:t>)</a:t>
            </a:r>
            <a:endParaRPr lang="en-US" dirty="0"/>
          </a:p>
        </p:txBody>
      </p:sp>
    </p:spTree>
    <p:extLst>
      <p:ext uri="{BB962C8B-B14F-4D97-AF65-F5344CB8AC3E}">
        <p14:creationId xmlns:p14="http://schemas.microsoft.com/office/powerpoint/2010/main" val="38904545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0FB1A-A960-D396-EAAA-A04735DB9D55}"/>
              </a:ext>
            </a:extLst>
          </p:cNvPr>
          <p:cNvSpPr>
            <a:spLocks noGrp="1"/>
          </p:cNvSpPr>
          <p:nvPr>
            <p:ph type="title"/>
          </p:nvPr>
        </p:nvSpPr>
        <p:spPr/>
        <p:txBody>
          <a:bodyPr/>
          <a:lstStyle/>
          <a:p>
            <a:r>
              <a:rPr lang="en-GB" dirty="0">
                <a:ea typeface="Verdana"/>
                <a:cs typeface="Gill Sans"/>
              </a:rPr>
              <a:t>Importing data</a:t>
            </a:r>
            <a:endParaRPr lang="en-GB" dirty="0"/>
          </a:p>
        </p:txBody>
      </p:sp>
      <p:sp>
        <p:nvSpPr>
          <p:cNvPr id="3" name="Text Placeholder 2">
            <a:extLst>
              <a:ext uri="{FF2B5EF4-FFF2-40B4-BE49-F238E27FC236}">
                <a16:creationId xmlns:a16="http://schemas.microsoft.com/office/drawing/2014/main" id="{833CF1D1-20A5-9597-1D87-0AC601776C9B}"/>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Most flexible function to read tabular data: </a:t>
            </a:r>
            <a:r>
              <a:rPr lang="en-GB" err="1">
                <a:latin typeface="Courier New"/>
                <a:ea typeface="Tahoma"/>
                <a:cs typeface="Gill Sans Light"/>
              </a:rPr>
              <a:t>read.table</a:t>
            </a:r>
            <a:r>
              <a:rPr lang="en-GB" dirty="0">
                <a:latin typeface="Courier New"/>
                <a:ea typeface="Tahoma"/>
                <a:cs typeface="Gill Sans Light"/>
              </a:rPr>
              <a:t>()</a:t>
            </a:r>
          </a:p>
          <a:p>
            <a:pPr marL="342900" indent="-342900">
              <a:buChar char="•"/>
            </a:pPr>
            <a:r>
              <a:rPr lang="en-GB" dirty="0">
                <a:ea typeface="Tahoma"/>
                <a:cs typeface="Gill Sans Light"/>
              </a:rPr>
              <a:t>Reads a formatted text file</a:t>
            </a:r>
          </a:p>
          <a:p>
            <a:pPr marL="342900" indent="-342900">
              <a:buChar char="•"/>
            </a:pPr>
            <a:r>
              <a:rPr lang="en-GB" dirty="0">
                <a:ea typeface="Tahoma"/>
                <a:cs typeface="Gill Sans Light"/>
              </a:rPr>
              <a:t>Imports it as a </a:t>
            </a:r>
            <a:r>
              <a:rPr lang="en-GB" b="1" dirty="0">
                <a:ea typeface="Tahoma"/>
                <a:cs typeface="Gill Sans Light"/>
              </a:rPr>
              <a:t>data frame</a:t>
            </a:r>
          </a:p>
          <a:p>
            <a:pPr marL="342900" indent="-342900">
              <a:buChar char="•"/>
            </a:pPr>
            <a:r>
              <a:rPr lang="en-GB" b="1" dirty="0">
                <a:ea typeface="Tahoma"/>
                <a:cs typeface="Gill Sans Light"/>
              </a:rPr>
              <a:t>Many</a:t>
            </a:r>
            <a:r>
              <a:rPr lang="en-GB" dirty="0">
                <a:ea typeface="Tahoma"/>
                <a:cs typeface="Gill Sans Light"/>
              </a:rPr>
              <a:t> options, to accommodate most text files</a:t>
            </a:r>
            <a:endParaRPr lang="en-GB" dirty="0"/>
          </a:p>
          <a:p>
            <a:pPr marL="342900" indent="-342900">
              <a:buChar char="•"/>
            </a:pPr>
            <a:endParaRPr lang="en-GB" dirty="0"/>
          </a:p>
          <a:p>
            <a:r>
              <a:rPr lang="en-GB" dirty="0">
                <a:ea typeface="Tahoma"/>
                <a:cs typeface="Gill Sans Light"/>
              </a:rPr>
              <a:t>Two main elements to give to </a:t>
            </a:r>
            <a:r>
              <a:rPr lang="en-GB" dirty="0" err="1">
                <a:latin typeface="Courier New"/>
                <a:ea typeface="Tahoma"/>
                <a:cs typeface="Courier New"/>
              </a:rPr>
              <a:t>read.table</a:t>
            </a:r>
            <a:r>
              <a:rPr lang="en-GB" dirty="0">
                <a:latin typeface="Courier New"/>
                <a:ea typeface="Tahoma"/>
                <a:cs typeface="Courier New"/>
              </a:rPr>
              <a:t>()</a:t>
            </a:r>
            <a:r>
              <a:rPr lang="en-GB" dirty="0">
                <a:latin typeface="Corbel"/>
                <a:ea typeface="Tahoma"/>
                <a:cs typeface="Gill Sans Light"/>
              </a:rPr>
              <a:t>:</a:t>
            </a:r>
            <a:endParaRPr lang="en-GB" dirty="0"/>
          </a:p>
          <a:p>
            <a:pPr marL="342900" indent="-342900">
              <a:buChar char="•"/>
            </a:pPr>
            <a:r>
              <a:rPr lang="en-GB" dirty="0">
                <a:ea typeface="Tahoma"/>
                <a:cs typeface="Gill Sans Light"/>
              </a:rPr>
              <a:t>What/where is the file to read</a:t>
            </a:r>
            <a:endParaRPr lang="en-GB" dirty="0"/>
          </a:p>
          <a:p>
            <a:pPr marL="342900" indent="-342900">
              <a:buChar char="•"/>
            </a:pPr>
            <a:r>
              <a:rPr lang="en-GB" dirty="0">
                <a:ea typeface="Tahoma"/>
                <a:cs typeface="Gill Sans Light"/>
              </a:rPr>
              <a:t>What are the formatting options</a:t>
            </a:r>
            <a:endParaRPr lang="en-GB" dirty="0"/>
          </a:p>
          <a:p>
            <a:pPr marL="342900" indent="-342900">
              <a:buChar char="•"/>
            </a:pPr>
            <a:endParaRPr lang="en-GB" dirty="0"/>
          </a:p>
        </p:txBody>
      </p:sp>
    </p:spTree>
    <p:extLst>
      <p:ext uri="{BB962C8B-B14F-4D97-AF65-F5344CB8AC3E}">
        <p14:creationId xmlns:p14="http://schemas.microsoft.com/office/powerpoint/2010/main" val="15966603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4465A-76DA-299D-E226-8B2318DCCE4C}"/>
              </a:ext>
            </a:extLst>
          </p:cNvPr>
          <p:cNvSpPr>
            <a:spLocks noGrp="1"/>
          </p:cNvSpPr>
          <p:nvPr>
            <p:ph type="title"/>
          </p:nvPr>
        </p:nvSpPr>
        <p:spPr/>
        <p:txBody>
          <a:bodyPr/>
          <a:lstStyle/>
          <a:p>
            <a:r>
              <a:rPr lang="en-GB" dirty="0">
                <a:ea typeface="Verdana"/>
                <a:cs typeface="Gill Sans"/>
              </a:rPr>
              <a:t>Specifying the file to read (I)</a:t>
            </a:r>
            <a:endParaRPr lang="en-US" dirty="0"/>
          </a:p>
        </p:txBody>
      </p:sp>
      <p:sp>
        <p:nvSpPr>
          <p:cNvPr id="3" name="Text Placeholder 2">
            <a:extLst>
              <a:ext uri="{FF2B5EF4-FFF2-40B4-BE49-F238E27FC236}">
                <a16:creationId xmlns:a16="http://schemas.microsoft.com/office/drawing/2014/main" id="{62C8108A-0D70-EAAD-D9CE-50E015F856BC}"/>
              </a:ext>
            </a:extLst>
          </p:cNvPr>
          <p:cNvSpPr>
            <a:spLocks noGrp="1"/>
          </p:cNvSpPr>
          <p:nvPr>
            <p:ph type="body" sz="quarter" idx="11"/>
          </p:nvPr>
        </p:nvSpPr>
        <p:spPr>
          <a:xfrm>
            <a:off x="838200" y="1819275"/>
            <a:ext cx="11163300" cy="4351338"/>
          </a:xfrm>
        </p:spPr>
        <p:txBody>
          <a:bodyPr vert="horz" lIns="91440" tIns="45720" rIns="91440" bIns="45720" rtlCol="0" anchor="t">
            <a:normAutofit/>
          </a:bodyPr>
          <a:lstStyle/>
          <a:p>
            <a:pPr marL="4445">
              <a:lnSpc>
                <a:spcPct val="100000"/>
              </a:lnSpc>
              <a:spcBef>
                <a:spcPts val="561"/>
              </a:spcBef>
            </a:pPr>
            <a:r>
              <a:rPr lang="en-US" dirty="0">
                <a:solidFill>
                  <a:srgbClr val="000000"/>
                </a:solidFill>
                <a:latin typeface="Corbel"/>
                <a:ea typeface="Tahoma"/>
                <a:cs typeface="Arial"/>
              </a:rPr>
              <a:t>Where is the file I want to import?</a:t>
            </a:r>
          </a:p>
          <a:p>
            <a:pPr marL="775335" lvl="2" indent="-342900">
              <a:lnSpc>
                <a:spcPct val="100000"/>
              </a:lnSpc>
              <a:spcBef>
                <a:spcPts val="561"/>
              </a:spcBef>
              <a:buFont typeface="Arial"/>
              <a:buChar char="•"/>
            </a:pPr>
            <a:r>
              <a:rPr lang="en-US">
                <a:solidFill>
                  <a:srgbClr val="000000"/>
                </a:solidFill>
                <a:latin typeface="Corbel"/>
                <a:ea typeface="Tahoma"/>
                <a:cs typeface="Arial"/>
              </a:rPr>
              <a:t>Look for your file in the file system. </a:t>
            </a:r>
            <a:endParaRPr lang="en-US" dirty="0">
              <a:solidFill>
                <a:srgbClr val="000000"/>
              </a:solidFill>
              <a:latin typeface="Corbel"/>
              <a:ea typeface="Tahoma"/>
              <a:cs typeface="Arial"/>
            </a:endParaRPr>
          </a:p>
          <a:p>
            <a:pPr marL="775335" lvl="2" indent="-342900">
              <a:lnSpc>
                <a:spcPct val="100000"/>
              </a:lnSpc>
              <a:spcBef>
                <a:spcPts val="561"/>
              </a:spcBef>
              <a:buFont typeface="Arial"/>
              <a:buChar char="•"/>
            </a:pPr>
            <a:r>
              <a:rPr lang="en-US">
                <a:solidFill>
                  <a:srgbClr val="000000"/>
                </a:solidFill>
                <a:latin typeface="Corbel"/>
                <a:ea typeface="Tahoma"/>
                <a:cs typeface="Arial"/>
              </a:rPr>
              <a:t>Note its </a:t>
            </a:r>
            <a:r>
              <a:rPr lang="en-US" b="1">
                <a:solidFill>
                  <a:srgbClr val="000000"/>
                </a:solidFill>
                <a:latin typeface="Corbel"/>
                <a:ea typeface="Tahoma"/>
                <a:cs typeface="Arial"/>
              </a:rPr>
              <a:t>path</a:t>
            </a:r>
            <a:r>
              <a:rPr lang="en-US">
                <a:solidFill>
                  <a:srgbClr val="000000"/>
                </a:solidFill>
                <a:latin typeface="Corbel"/>
                <a:ea typeface="Tahoma"/>
                <a:cs typeface="Arial"/>
              </a:rPr>
              <a:t>: the succession of folders to access it</a:t>
            </a:r>
            <a:endParaRPr lang="en-US" dirty="0">
              <a:solidFill>
                <a:srgbClr val="000000"/>
              </a:solidFill>
              <a:latin typeface="Corbel"/>
              <a:ea typeface="Tahoma"/>
              <a:cs typeface="Arial"/>
            </a:endParaRPr>
          </a:p>
          <a:p>
            <a:pPr>
              <a:lnSpc>
                <a:spcPct val="100000"/>
              </a:lnSpc>
              <a:spcBef>
                <a:spcPts val="561"/>
              </a:spcBef>
            </a:pPr>
            <a:endParaRPr lang="en-US" dirty="0">
              <a:solidFill>
                <a:srgbClr val="000000"/>
              </a:solidFill>
              <a:latin typeface="Corbel"/>
              <a:cs typeface="Arial"/>
            </a:endParaRPr>
          </a:p>
          <a:p>
            <a:pPr>
              <a:lnSpc>
                <a:spcPct val="100000"/>
              </a:lnSpc>
              <a:spcBef>
                <a:spcPts val="561"/>
              </a:spcBef>
            </a:pPr>
            <a:r>
              <a:rPr lang="en-US" dirty="0">
                <a:latin typeface="Corbel"/>
                <a:ea typeface="Tahoma"/>
                <a:cs typeface="Arial"/>
              </a:rPr>
              <a:t>File paths can be specified as a string with </a:t>
            </a:r>
            <a:r>
              <a:rPr lang="en-US" b="1" dirty="0">
                <a:latin typeface="Corbel"/>
                <a:ea typeface="Tahoma"/>
                <a:cs typeface="Arial"/>
              </a:rPr>
              <a:t>'/'</a:t>
            </a:r>
            <a:r>
              <a:rPr lang="en-US" dirty="0">
                <a:latin typeface="Corbel"/>
                <a:ea typeface="Tahoma"/>
                <a:cs typeface="Arial"/>
              </a:rPr>
              <a:t> as separator:</a:t>
            </a:r>
          </a:p>
          <a:p>
            <a:pPr>
              <a:lnSpc>
                <a:spcPct val="100000"/>
              </a:lnSpc>
              <a:spcBef>
                <a:spcPct val="20000"/>
              </a:spcBef>
            </a:pPr>
            <a:r>
              <a:rPr lang="en-US" dirty="0">
                <a:latin typeface="Courier New"/>
                <a:ea typeface="+mn-lt"/>
                <a:cs typeface="+mn-lt"/>
              </a:rPr>
              <a:t>"C:/Users/Leo/courses/data/snp.csv"  </a:t>
            </a:r>
          </a:p>
          <a:p>
            <a:pPr>
              <a:lnSpc>
                <a:spcPct val="100000"/>
              </a:lnSpc>
              <a:spcBef>
                <a:spcPct val="20000"/>
              </a:spcBef>
            </a:pPr>
            <a:endParaRPr lang="en-US" dirty="0">
              <a:ea typeface="+mn-lt"/>
              <a:cs typeface="+mn-lt"/>
            </a:endParaRPr>
          </a:p>
          <a:p>
            <a:pPr>
              <a:lnSpc>
                <a:spcPct val="100000"/>
              </a:lnSpc>
              <a:spcBef>
                <a:spcPct val="20000"/>
              </a:spcBef>
            </a:pPr>
            <a:r>
              <a:rPr lang="en-US" dirty="0">
                <a:latin typeface="Corbel"/>
                <a:ea typeface="Tahoma"/>
                <a:cs typeface="Arial"/>
              </a:rPr>
              <a:t>Or with a little help from the function </a:t>
            </a:r>
            <a:r>
              <a:rPr lang="en-US" b="1" dirty="0" err="1">
                <a:latin typeface="Corbel"/>
                <a:ea typeface="Tahoma"/>
                <a:cs typeface="Arial"/>
              </a:rPr>
              <a:t>file.path</a:t>
            </a:r>
            <a:r>
              <a:rPr lang="en-US" b="1" dirty="0">
                <a:latin typeface="Corbel"/>
                <a:ea typeface="Tahoma"/>
                <a:cs typeface="Arial"/>
              </a:rPr>
              <a:t>():</a:t>
            </a:r>
            <a:endParaRPr lang="en-US" dirty="0">
              <a:latin typeface="Corbel"/>
              <a:ea typeface="Tahoma"/>
              <a:cs typeface="Arial"/>
            </a:endParaRPr>
          </a:p>
          <a:p>
            <a:pPr>
              <a:lnSpc>
                <a:spcPct val="100000"/>
              </a:lnSpc>
              <a:spcBef>
                <a:spcPct val="20000"/>
              </a:spcBef>
            </a:pPr>
            <a:r>
              <a:rPr lang="en-US" dirty="0" err="1">
                <a:latin typeface="Courier New"/>
                <a:ea typeface="+mn-lt"/>
                <a:cs typeface="+mn-lt"/>
              </a:rPr>
              <a:t>file.path</a:t>
            </a:r>
            <a:r>
              <a:rPr lang="en-US" dirty="0">
                <a:latin typeface="Courier New"/>
                <a:ea typeface="+mn-lt"/>
                <a:cs typeface="+mn-lt"/>
              </a:rPr>
              <a:t>("</a:t>
            </a:r>
            <a:r>
              <a:rPr lang="en-US" dirty="0" err="1">
                <a:latin typeface="Courier New"/>
                <a:ea typeface="+mn-lt"/>
                <a:cs typeface="+mn-lt"/>
              </a:rPr>
              <a:t>C:","Users</a:t>
            </a:r>
            <a:r>
              <a:rPr lang="en-US" dirty="0">
                <a:latin typeface="Courier New"/>
                <a:ea typeface="+mn-lt"/>
                <a:cs typeface="+mn-lt"/>
              </a:rPr>
              <a:t>", "Leo", "courses", "data", "snp.csv")</a:t>
            </a:r>
          </a:p>
          <a:p>
            <a:pPr>
              <a:lnSpc>
                <a:spcPct val="100000"/>
              </a:lnSpc>
              <a:spcBef>
                <a:spcPct val="20000"/>
              </a:spcBef>
            </a:pPr>
            <a:endParaRPr lang="de-CH" sz="1800" dirty="0">
              <a:solidFill>
                <a:srgbClr val="4F81BD"/>
              </a:solidFill>
              <a:ea typeface="+mn-lt"/>
              <a:cs typeface="+mn-lt"/>
            </a:endParaRPr>
          </a:p>
          <a:p>
            <a:pPr>
              <a:lnSpc>
                <a:spcPct val="100000"/>
              </a:lnSpc>
              <a:spcBef>
                <a:spcPts val="561"/>
              </a:spcBef>
            </a:pPr>
            <a:endParaRPr lang="en-US" dirty="0">
              <a:solidFill>
                <a:srgbClr val="000000"/>
              </a:solidFill>
              <a:latin typeface="Corbel"/>
              <a:cs typeface="Arial"/>
            </a:endParaRPr>
          </a:p>
        </p:txBody>
      </p:sp>
    </p:spTree>
    <p:extLst>
      <p:ext uri="{BB962C8B-B14F-4D97-AF65-F5344CB8AC3E}">
        <p14:creationId xmlns:p14="http://schemas.microsoft.com/office/powerpoint/2010/main" val="17507762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205F2-9398-962B-A64D-E45F496D2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8BB90-7870-9A63-B218-100C2AA8CDB8}"/>
              </a:ext>
            </a:extLst>
          </p:cNvPr>
          <p:cNvSpPr>
            <a:spLocks noGrp="1"/>
          </p:cNvSpPr>
          <p:nvPr>
            <p:ph type="title"/>
          </p:nvPr>
        </p:nvSpPr>
        <p:spPr/>
        <p:txBody>
          <a:bodyPr/>
          <a:lstStyle/>
          <a:p>
            <a:r>
              <a:rPr lang="en-GB" dirty="0">
                <a:ea typeface="Verdana"/>
                <a:cs typeface="Gill Sans"/>
              </a:rPr>
              <a:t>Specifying the file to read (II)</a:t>
            </a:r>
            <a:endParaRPr lang="en-US" dirty="0"/>
          </a:p>
        </p:txBody>
      </p:sp>
      <p:sp>
        <p:nvSpPr>
          <p:cNvPr id="3" name="Text Placeholder 2">
            <a:extLst>
              <a:ext uri="{FF2B5EF4-FFF2-40B4-BE49-F238E27FC236}">
                <a16:creationId xmlns:a16="http://schemas.microsoft.com/office/drawing/2014/main" id="{DF184DC6-682D-5F28-DD0B-F623C571C251}"/>
              </a:ext>
            </a:extLst>
          </p:cNvPr>
          <p:cNvSpPr>
            <a:spLocks noGrp="1"/>
          </p:cNvSpPr>
          <p:nvPr>
            <p:ph type="body" sz="quarter" idx="11"/>
          </p:nvPr>
        </p:nvSpPr>
        <p:spPr>
          <a:xfrm>
            <a:off x="838200" y="1819275"/>
            <a:ext cx="11163300" cy="4351338"/>
          </a:xfrm>
        </p:spPr>
        <p:txBody>
          <a:bodyPr vert="horz" lIns="91440" tIns="45720" rIns="91440" bIns="45720" rtlCol="0" anchor="t">
            <a:normAutofit/>
          </a:bodyPr>
          <a:lstStyle/>
          <a:p>
            <a:pPr marL="4445">
              <a:lnSpc>
                <a:spcPct val="100000"/>
              </a:lnSpc>
              <a:spcBef>
                <a:spcPts val="561"/>
              </a:spcBef>
            </a:pPr>
            <a:r>
              <a:rPr lang="en-US" dirty="0">
                <a:solidFill>
                  <a:srgbClr val="000000"/>
                </a:solidFill>
                <a:latin typeface="Corbel"/>
                <a:ea typeface="Tahoma"/>
                <a:cs typeface="Arial"/>
              </a:rPr>
              <a:t>Files path can be </a:t>
            </a:r>
            <a:r>
              <a:rPr lang="en-US" b="1" dirty="0">
                <a:solidFill>
                  <a:srgbClr val="000000"/>
                </a:solidFill>
                <a:latin typeface="Corbel"/>
                <a:ea typeface="Tahoma"/>
                <a:cs typeface="Arial"/>
              </a:rPr>
              <a:t>absolute</a:t>
            </a:r>
            <a:endParaRPr lang="en-US" b="1" dirty="0">
              <a:solidFill>
                <a:srgbClr val="000000"/>
              </a:solidFill>
              <a:cs typeface="Arial"/>
            </a:endParaRPr>
          </a:p>
          <a:p>
            <a:pPr>
              <a:lnSpc>
                <a:spcPct val="100000"/>
              </a:lnSpc>
              <a:spcBef>
                <a:spcPct val="20000"/>
              </a:spcBef>
            </a:pPr>
            <a:r>
              <a:rPr lang="en-US" dirty="0">
                <a:latin typeface="Courier New"/>
                <a:ea typeface="+mn-lt"/>
                <a:cs typeface="+mn-lt"/>
              </a:rPr>
              <a:t>"C:/Users/Leo/courses/data/snp.csv"  </a:t>
            </a:r>
          </a:p>
          <a:p>
            <a:pPr>
              <a:lnSpc>
                <a:spcPct val="100000"/>
              </a:lnSpc>
              <a:spcBef>
                <a:spcPct val="20000"/>
              </a:spcBef>
            </a:pPr>
            <a:endParaRPr lang="en-US" dirty="0">
              <a:ea typeface="+mn-lt"/>
              <a:cs typeface="+mn-lt"/>
            </a:endParaRPr>
          </a:p>
          <a:p>
            <a:pPr>
              <a:lnSpc>
                <a:spcPct val="100000"/>
              </a:lnSpc>
              <a:spcBef>
                <a:spcPct val="20000"/>
              </a:spcBef>
            </a:pPr>
            <a:r>
              <a:rPr lang="en-US" dirty="0">
                <a:latin typeface="Corbel"/>
                <a:ea typeface="Tahoma"/>
                <a:cs typeface="Arial"/>
              </a:rPr>
              <a:t>Or </a:t>
            </a:r>
            <a:r>
              <a:rPr lang="en-US" b="1" dirty="0">
                <a:solidFill>
                  <a:srgbClr val="1E2232"/>
                </a:solidFill>
                <a:ea typeface="Tahoma"/>
                <a:cs typeface="Arial"/>
              </a:rPr>
              <a:t>relative</a:t>
            </a:r>
            <a:r>
              <a:rPr lang="en-US">
                <a:latin typeface="Corbel"/>
                <a:ea typeface="Tahoma"/>
                <a:cs typeface="Arial"/>
              </a:rPr>
              <a:t> (to the working directory)</a:t>
            </a:r>
          </a:p>
          <a:p>
            <a:pPr>
              <a:lnSpc>
                <a:spcPct val="100000"/>
              </a:lnSpc>
              <a:spcBef>
                <a:spcPct val="20000"/>
              </a:spcBef>
            </a:pPr>
            <a:r>
              <a:rPr lang="en-US" dirty="0">
                <a:latin typeface="Courier New"/>
                <a:ea typeface="+mn-lt"/>
                <a:cs typeface="Courier New"/>
              </a:rPr>
              <a:t>"data/snp.csv"                   "../data/snp.csv" </a:t>
            </a:r>
          </a:p>
          <a:p>
            <a:pPr>
              <a:lnSpc>
                <a:spcPct val="100000"/>
              </a:lnSpc>
              <a:spcBef>
                <a:spcPct val="20000"/>
              </a:spcBef>
            </a:pPr>
            <a:endParaRPr lang="en-US" dirty="0">
              <a:latin typeface="Courier New"/>
              <a:ea typeface="+mn-lt"/>
              <a:cs typeface="+mn-lt"/>
            </a:endParaRPr>
          </a:p>
          <a:p>
            <a:pPr>
              <a:lnSpc>
                <a:spcPct val="100000"/>
              </a:lnSpc>
              <a:spcBef>
                <a:spcPct val="20000"/>
              </a:spcBef>
            </a:pPr>
            <a:endParaRPr lang="de-CH" sz="1800" dirty="0">
              <a:solidFill>
                <a:srgbClr val="4F81BD"/>
              </a:solidFill>
              <a:ea typeface="+mn-lt"/>
              <a:cs typeface="+mn-lt"/>
            </a:endParaRPr>
          </a:p>
          <a:p>
            <a:pPr>
              <a:lnSpc>
                <a:spcPct val="100000"/>
              </a:lnSpc>
              <a:spcBef>
                <a:spcPts val="561"/>
              </a:spcBef>
            </a:pPr>
            <a:endParaRPr lang="en-US" dirty="0">
              <a:solidFill>
                <a:srgbClr val="000000"/>
              </a:solidFill>
              <a:latin typeface="Corbel"/>
              <a:cs typeface="Arial"/>
            </a:endParaRPr>
          </a:p>
        </p:txBody>
      </p:sp>
      <p:pic>
        <p:nvPicPr>
          <p:cNvPr id="4" name="Picture 3" descr="A computer screen with a black background&#10;&#10;Description automatically generated">
            <a:extLst>
              <a:ext uri="{FF2B5EF4-FFF2-40B4-BE49-F238E27FC236}">
                <a16:creationId xmlns:a16="http://schemas.microsoft.com/office/drawing/2014/main" id="{BB367628-5651-384D-BDEA-B716AC5FEDB9}"/>
              </a:ext>
            </a:extLst>
          </p:cNvPr>
          <p:cNvPicPr>
            <a:picLocks noChangeAspect="1"/>
          </p:cNvPicPr>
          <p:nvPr/>
        </p:nvPicPr>
        <p:blipFill>
          <a:blip r:embed="rId2"/>
          <a:stretch>
            <a:fillRect/>
          </a:stretch>
        </p:blipFill>
        <p:spPr>
          <a:xfrm>
            <a:off x="1015783" y="4352925"/>
            <a:ext cx="2997635" cy="2047875"/>
          </a:xfrm>
          <a:prstGeom prst="rect">
            <a:avLst/>
          </a:prstGeom>
        </p:spPr>
      </p:pic>
      <p:pic>
        <p:nvPicPr>
          <p:cNvPr id="5" name="Picture 4" descr="A screenshot of a computer screen&#10;&#10;Description automatically generated">
            <a:extLst>
              <a:ext uri="{FF2B5EF4-FFF2-40B4-BE49-F238E27FC236}">
                <a16:creationId xmlns:a16="http://schemas.microsoft.com/office/drawing/2014/main" id="{D9EEC9E4-2B89-A771-0C8E-8F1A2652AAB8}"/>
              </a:ext>
            </a:extLst>
          </p:cNvPr>
          <p:cNvPicPr>
            <a:picLocks noChangeAspect="1"/>
          </p:cNvPicPr>
          <p:nvPr/>
        </p:nvPicPr>
        <p:blipFill>
          <a:blip r:embed="rId3"/>
          <a:stretch>
            <a:fillRect/>
          </a:stretch>
        </p:blipFill>
        <p:spPr>
          <a:xfrm>
            <a:off x="6913142" y="4000500"/>
            <a:ext cx="3547316" cy="2667000"/>
          </a:xfrm>
          <a:prstGeom prst="rect">
            <a:avLst/>
          </a:prstGeom>
        </p:spPr>
      </p:pic>
    </p:spTree>
    <p:extLst>
      <p:ext uri="{BB962C8B-B14F-4D97-AF65-F5344CB8AC3E}">
        <p14:creationId xmlns:p14="http://schemas.microsoft.com/office/powerpoint/2010/main" val="33553342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40916-DA8F-A3EF-5F34-7CBFD8529136}"/>
              </a:ext>
            </a:extLst>
          </p:cNvPr>
          <p:cNvSpPr>
            <a:spLocks noGrp="1"/>
          </p:cNvSpPr>
          <p:nvPr>
            <p:ph type="title"/>
          </p:nvPr>
        </p:nvSpPr>
        <p:spPr/>
        <p:txBody>
          <a:bodyPr/>
          <a:lstStyle/>
          <a:p>
            <a:r>
              <a:rPr lang="en-GB" dirty="0">
                <a:ea typeface="Verdana"/>
                <a:cs typeface="Gill Sans"/>
              </a:rPr>
              <a:t>Format options</a:t>
            </a:r>
            <a:endParaRPr lang="en-GB" dirty="0"/>
          </a:p>
        </p:txBody>
      </p:sp>
      <p:sp>
        <p:nvSpPr>
          <p:cNvPr id="3" name="Text Placeholder 2">
            <a:extLst>
              <a:ext uri="{FF2B5EF4-FFF2-40B4-BE49-F238E27FC236}">
                <a16:creationId xmlns:a16="http://schemas.microsoft.com/office/drawing/2014/main" id="{D4522DBD-AC53-DBCE-58E6-282048E2E308}"/>
              </a:ext>
            </a:extLst>
          </p:cNvPr>
          <p:cNvSpPr>
            <a:spLocks noGrp="1"/>
          </p:cNvSpPr>
          <p:nvPr>
            <p:ph type="body" sz="quarter" idx="11"/>
          </p:nvPr>
        </p:nvSpPr>
        <p:spPr/>
        <p:txBody>
          <a:bodyPr vert="horz" lIns="91440" tIns="45720" rIns="91440" bIns="45720" rtlCol="0" anchor="t">
            <a:normAutofit/>
          </a:bodyPr>
          <a:lstStyle/>
          <a:p>
            <a:pPr marL="1270">
              <a:lnSpc>
                <a:spcPct val="100000"/>
              </a:lnSpc>
              <a:spcBef>
                <a:spcPts val="1417"/>
              </a:spcBef>
            </a:pPr>
            <a:r>
              <a:rPr lang="en-US" sz="2000" dirty="0">
                <a:ea typeface="+mn-lt"/>
                <a:cs typeface="+mn-lt"/>
              </a:rPr>
              <a:t>Most important optional arguments of </a:t>
            </a:r>
            <a:r>
              <a:rPr lang="en-US" sz="2000" dirty="0" err="1">
                <a:latin typeface="Courier New"/>
                <a:ea typeface="+mn-lt"/>
                <a:cs typeface="+mn-lt"/>
              </a:rPr>
              <a:t>read.table</a:t>
            </a:r>
            <a:r>
              <a:rPr lang="en-US" sz="2000" dirty="0">
                <a:latin typeface="Courier New"/>
                <a:ea typeface="+mn-lt"/>
                <a:cs typeface="+mn-lt"/>
              </a:rPr>
              <a:t>()</a:t>
            </a:r>
            <a:r>
              <a:rPr lang="en-US" sz="2000" dirty="0">
                <a:ea typeface="+mn-lt"/>
                <a:cs typeface="+mn-lt"/>
              </a:rPr>
              <a:t>, </a:t>
            </a:r>
            <a:r>
              <a:rPr lang="en-US" sz="2000" dirty="0">
                <a:latin typeface="Courier New"/>
                <a:ea typeface="+mn-lt"/>
                <a:cs typeface="+mn-lt"/>
              </a:rPr>
              <a:t>read.csv()</a:t>
            </a:r>
            <a:r>
              <a:rPr lang="en-US" sz="2000" dirty="0">
                <a:ea typeface="+mn-lt"/>
                <a:cs typeface="+mn-lt"/>
              </a:rPr>
              <a:t>, </a:t>
            </a:r>
            <a:r>
              <a:rPr lang="en-US" sz="2000" dirty="0" err="1">
                <a:latin typeface="Courier New"/>
                <a:ea typeface="+mn-lt"/>
                <a:cs typeface="+mn-lt"/>
              </a:rPr>
              <a:t>read.delim</a:t>
            </a:r>
            <a:r>
              <a:rPr lang="en-US" sz="2000" dirty="0">
                <a:latin typeface="Courier New"/>
                <a:ea typeface="+mn-lt"/>
                <a:cs typeface="+mn-lt"/>
              </a:rPr>
              <a:t>()</a:t>
            </a:r>
          </a:p>
          <a:p>
            <a:pPr marL="88900" indent="-180975">
              <a:lnSpc>
                <a:spcPct val="100000"/>
              </a:lnSpc>
              <a:spcBef>
                <a:spcPts val="400"/>
              </a:spcBef>
              <a:buFont typeface="Arial,Sans-Serif"/>
              <a:buChar char="•"/>
            </a:pPr>
            <a:r>
              <a:rPr lang="en-US" sz="2000" b="1" dirty="0">
                <a:latin typeface="Corbel"/>
                <a:ea typeface="Tahoma"/>
                <a:cs typeface="Arial"/>
              </a:rPr>
              <a:t>header</a:t>
            </a:r>
            <a:r>
              <a:rPr lang="en-US" sz="2000" dirty="0">
                <a:latin typeface="Corbel"/>
                <a:ea typeface="Tahoma"/>
                <a:cs typeface="Arial"/>
              </a:rPr>
              <a:t> (TRUE/FALSE): specifies whether the first line contains column names </a:t>
            </a:r>
            <a:endParaRPr lang="en-US" sz="2000">
              <a:latin typeface="Corbel"/>
            </a:endParaRPr>
          </a:p>
          <a:p>
            <a:pPr marL="447675" lvl="1" indent="-180975">
              <a:lnSpc>
                <a:spcPct val="100000"/>
              </a:lnSpc>
              <a:spcBef>
                <a:spcPts val="400"/>
              </a:spcBef>
              <a:buFont typeface="Arial,Sans-Serif"/>
              <a:buChar char="•"/>
            </a:pPr>
            <a:r>
              <a:rPr lang="en-US" sz="2000">
                <a:latin typeface="Corbel"/>
                <a:ea typeface="Tahoma"/>
                <a:cs typeface="Arial"/>
              </a:rPr>
              <a:t>Default</a:t>
            </a:r>
            <a:r>
              <a:rPr lang="en-US" sz="2000">
                <a:ea typeface="+mn-lt"/>
                <a:cs typeface="+mn-lt"/>
              </a:rPr>
              <a:t> in </a:t>
            </a:r>
            <a:r>
              <a:rPr lang="en-US" sz="2000" err="1">
                <a:latin typeface="Courier New"/>
                <a:ea typeface="+mn-lt"/>
                <a:cs typeface="+mn-lt"/>
              </a:rPr>
              <a:t>read.table</a:t>
            </a:r>
            <a:r>
              <a:rPr lang="en-US" sz="2000">
                <a:latin typeface="Courier New"/>
                <a:ea typeface="+mn-lt"/>
                <a:cs typeface="+mn-lt"/>
              </a:rPr>
              <a:t>()</a:t>
            </a:r>
            <a:r>
              <a:rPr lang="en-US" sz="2000">
                <a:ea typeface="+mn-lt"/>
                <a:cs typeface="+mn-lt"/>
              </a:rPr>
              <a:t> is FALSE. </a:t>
            </a:r>
            <a:endParaRPr lang="en-US" sz="2000"/>
          </a:p>
          <a:p>
            <a:pPr marL="447675" lvl="1" indent="-180975">
              <a:lnSpc>
                <a:spcPct val="100000"/>
              </a:lnSpc>
              <a:spcBef>
                <a:spcPts val="400"/>
              </a:spcBef>
              <a:buFont typeface="Arial,Sans-Serif"/>
              <a:buChar char="•"/>
            </a:pPr>
            <a:r>
              <a:rPr lang="en-US" sz="2000">
                <a:ea typeface="+mn-lt"/>
                <a:cs typeface="+mn-lt"/>
              </a:rPr>
              <a:t>Default in </a:t>
            </a:r>
            <a:r>
              <a:rPr lang="en-US" sz="2000">
                <a:latin typeface="Courier New"/>
                <a:ea typeface="+mn-lt"/>
                <a:cs typeface="+mn-lt"/>
              </a:rPr>
              <a:t>read.csv()</a:t>
            </a:r>
            <a:r>
              <a:rPr lang="en-US" sz="2000">
                <a:ea typeface="+mn-lt"/>
                <a:cs typeface="+mn-lt"/>
              </a:rPr>
              <a:t> and </a:t>
            </a:r>
            <a:r>
              <a:rPr lang="en-US" sz="2000" err="1">
                <a:latin typeface="Courier New"/>
                <a:ea typeface="+mn-lt"/>
                <a:cs typeface="+mn-lt"/>
              </a:rPr>
              <a:t>read.delim</a:t>
            </a:r>
            <a:r>
              <a:rPr lang="en-US" sz="2000">
                <a:latin typeface="Courier New"/>
                <a:ea typeface="+mn-lt"/>
                <a:cs typeface="+mn-lt"/>
              </a:rPr>
              <a:t>()</a:t>
            </a:r>
            <a:r>
              <a:rPr lang="en-US" sz="2000">
                <a:ea typeface="+mn-lt"/>
                <a:cs typeface="+mn-lt"/>
              </a:rPr>
              <a:t> is TRUE.</a:t>
            </a:r>
            <a:endParaRPr lang="en-US" sz="2000"/>
          </a:p>
          <a:p>
            <a:pPr>
              <a:lnSpc>
                <a:spcPct val="100000"/>
              </a:lnSpc>
              <a:spcBef>
                <a:spcPts val="1134"/>
              </a:spcBef>
            </a:pPr>
            <a:endParaRPr lang="en-US" sz="2000" dirty="0">
              <a:latin typeface="Corbel"/>
              <a:cs typeface="Arial"/>
            </a:endParaRPr>
          </a:p>
          <a:p>
            <a:pPr marL="90170" indent="-180975">
              <a:lnSpc>
                <a:spcPct val="100000"/>
              </a:lnSpc>
              <a:spcBef>
                <a:spcPts val="400"/>
              </a:spcBef>
              <a:buFont typeface="Arial,Sans-Serif"/>
              <a:buChar char="•"/>
            </a:pPr>
            <a:r>
              <a:rPr lang="en-US" sz="2000" b="1" dirty="0" err="1">
                <a:latin typeface="Corbel"/>
                <a:ea typeface="Tahoma"/>
                <a:cs typeface="Arial"/>
              </a:rPr>
              <a:t>sep</a:t>
            </a:r>
            <a:r>
              <a:rPr lang="en-US" sz="2000" b="1" dirty="0">
                <a:latin typeface="Corbel"/>
                <a:ea typeface="Tahoma"/>
                <a:cs typeface="Arial"/>
              </a:rPr>
              <a:t>:</a:t>
            </a:r>
            <a:r>
              <a:rPr lang="en-US" sz="2000" dirty="0">
                <a:latin typeface="Corbel"/>
                <a:ea typeface="Tahoma"/>
                <a:cs typeface="Arial"/>
              </a:rPr>
              <a:t> specifies the field separator character (e.g. "," or tab "\t"). </a:t>
            </a:r>
            <a:endParaRPr lang="en-US" sz="2000" dirty="0">
              <a:ea typeface="Tahoma"/>
              <a:cs typeface="Arial"/>
            </a:endParaRPr>
          </a:p>
          <a:p>
            <a:pPr marL="448945" lvl="1" indent="-180975">
              <a:lnSpc>
                <a:spcPct val="100000"/>
              </a:lnSpc>
              <a:spcBef>
                <a:spcPts val="400"/>
              </a:spcBef>
              <a:buFont typeface="Arial,Sans-Serif"/>
              <a:buChar char="•"/>
            </a:pPr>
            <a:r>
              <a:rPr lang="en-US" sz="2000">
                <a:ea typeface="+mn-lt"/>
                <a:cs typeface="+mn-lt"/>
              </a:rPr>
              <a:t>Default in </a:t>
            </a:r>
            <a:r>
              <a:rPr lang="en-US" sz="2000" err="1">
                <a:latin typeface="Courier New"/>
                <a:ea typeface="+mn-lt"/>
                <a:cs typeface="+mn-lt"/>
              </a:rPr>
              <a:t>read.table</a:t>
            </a:r>
            <a:r>
              <a:rPr lang="en-US" sz="2000">
                <a:latin typeface="Courier New"/>
                <a:ea typeface="+mn-lt"/>
                <a:cs typeface="+mn-lt"/>
              </a:rPr>
              <a:t>()</a:t>
            </a:r>
            <a:r>
              <a:rPr lang="en-US" sz="2000">
                <a:ea typeface="+mn-lt"/>
                <a:cs typeface="+mn-lt"/>
              </a:rPr>
              <a:t> is any white space characters (space, tab, newline and carriage return). </a:t>
            </a:r>
            <a:endParaRPr lang="en-US"/>
          </a:p>
          <a:p>
            <a:pPr marL="448945" lvl="1" indent="-180975">
              <a:lnSpc>
                <a:spcPct val="100000"/>
              </a:lnSpc>
              <a:spcBef>
                <a:spcPts val="400"/>
              </a:spcBef>
              <a:buFont typeface="Arial,Sans-Serif"/>
              <a:buChar char="•"/>
            </a:pPr>
            <a:r>
              <a:rPr lang="en-US" sz="2000">
                <a:ea typeface="+mn-lt"/>
                <a:cs typeface="+mn-lt"/>
              </a:rPr>
              <a:t>Default in </a:t>
            </a:r>
            <a:r>
              <a:rPr lang="en-US" sz="2000">
                <a:latin typeface="Courier New"/>
                <a:ea typeface="+mn-lt"/>
                <a:cs typeface="+mn-lt"/>
              </a:rPr>
              <a:t>read.csv()</a:t>
            </a:r>
            <a:r>
              <a:rPr lang="en-US" sz="2000">
                <a:ea typeface="+mn-lt"/>
                <a:cs typeface="+mn-lt"/>
              </a:rPr>
              <a:t> is comma. </a:t>
            </a:r>
            <a:endParaRPr lang="en-US"/>
          </a:p>
          <a:p>
            <a:pPr marL="448945" lvl="1" indent="-180975">
              <a:lnSpc>
                <a:spcPct val="100000"/>
              </a:lnSpc>
              <a:spcBef>
                <a:spcPts val="400"/>
              </a:spcBef>
              <a:buFont typeface="Arial,Sans-Serif"/>
              <a:buChar char="•"/>
            </a:pPr>
            <a:r>
              <a:rPr lang="en-US" sz="2000">
                <a:ea typeface="+mn-lt"/>
                <a:cs typeface="+mn-lt"/>
              </a:rPr>
              <a:t>Default in</a:t>
            </a:r>
            <a:r>
              <a:rPr lang="en-US" sz="2000">
                <a:latin typeface="Corbel"/>
                <a:ea typeface="+mn-lt"/>
                <a:cs typeface="+mn-lt"/>
              </a:rPr>
              <a:t> </a:t>
            </a:r>
            <a:r>
              <a:rPr lang="en-US" sz="2000" err="1">
                <a:latin typeface="Courier New"/>
                <a:ea typeface="+mn-lt"/>
                <a:cs typeface="+mn-lt"/>
              </a:rPr>
              <a:t>read.delim</a:t>
            </a:r>
            <a:r>
              <a:rPr lang="en-US" sz="2000">
                <a:latin typeface="Courier New"/>
                <a:ea typeface="+mn-lt"/>
                <a:cs typeface="+mn-lt"/>
              </a:rPr>
              <a:t>()</a:t>
            </a:r>
            <a:r>
              <a:rPr lang="en-US" sz="2000">
                <a:ea typeface="+mn-lt"/>
                <a:cs typeface="+mn-lt"/>
              </a:rPr>
              <a:t> is tab.</a:t>
            </a:r>
            <a:endParaRPr lang="en-US"/>
          </a:p>
          <a:p>
            <a:pPr marL="631190">
              <a:lnSpc>
                <a:spcPct val="100000"/>
              </a:lnSpc>
              <a:spcBef>
                <a:spcPts val="400"/>
              </a:spcBef>
            </a:pPr>
            <a:endParaRPr lang="en-US" sz="2000" dirty="0">
              <a:latin typeface="Corbel"/>
              <a:cs typeface="Arial"/>
            </a:endParaRPr>
          </a:p>
          <a:p>
            <a:endParaRPr lang="en-GB" dirty="0"/>
          </a:p>
        </p:txBody>
      </p:sp>
      <p:pic>
        <p:nvPicPr>
          <p:cNvPr id="5" name="Image 20" descr="A red and black logo&#10;&#10;Description automatically generated">
            <a:extLst>
              <a:ext uri="{FF2B5EF4-FFF2-40B4-BE49-F238E27FC236}">
                <a16:creationId xmlns:a16="http://schemas.microsoft.com/office/drawing/2014/main" id="{109527D5-28A7-C3F1-2C43-8CF869CE821B}"/>
              </a:ext>
            </a:extLst>
          </p:cNvPr>
          <p:cNvPicPr>
            <a:picLocks noChangeAspect="1"/>
          </p:cNvPicPr>
          <p:nvPr/>
        </p:nvPicPr>
        <p:blipFill>
          <a:blip r:embed="rId2"/>
          <a:stretch>
            <a:fillRect/>
          </a:stretch>
        </p:blipFill>
        <p:spPr>
          <a:xfrm>
            <a:off x="635903" y="5660603"/>
            <a:ext cx="1067033" cy="823140"/>
          </a:xfrm>
          <a:prstGeom prst="rect">
            <a:avLst/>
          </a:prstGeom>
        </p:spPr>
      </p:pic>
      <p:sp>
        <p:nvSpPr>
          <p:cNvPr id="7" name="TextBox 6">
            <a:extLst>
              <a:ext uri="{FF2B5EF4-FFF2-40B4-BE49-F238E27FC236}">
                <a16:creationId xmlns:a16="http://schemas.microsoft.com/office/drawing/2014/main" id="{A1097BAF-8BEC-D521-4924-D574F848025C}"/>
              </a:ext>
            </a:extLst>
          </p:cNvPr>
          <p:cNvSpPr txBox="1"/>
          <p:nvPr/>
        </p:nvSpPr>
        <p:spPr>
          <a:xfrm>
            <a:off x="1704975" y="5848350"/>
            <a:ext cx="92297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When in doubt, use help(</a:t>
            </a:r>
            <a:r>
              <a:rPr lang="en-GB" sz="2400" b="1" dirty="0" err="1"/>
              <a:t>read.table</a:t>
            </a:r>
            <a:r>
              <a:rPr lang="en-GB" sz="2400" b="1" dirty="0"/>
              <a:t>)</a:t>
            </a:r>
            <a:endParaRPr lang="en-US" dirty="0"/>
          </a:p>
        </p:txBody>
      </p:sp>
    </p:spTree>
    <p:extLst>
      <p:ext uri="{BB962C8B-B14F-4D97-AF65-F5344CB8AC3E}">
        <p14:creationId xmlns:p14="http://schemas.microsoft.com/office/powerpoint/2010/main" val="4092504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6BC15-7ED1-6D0B-AFED-DF3FB67033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2397B-5B17-24B3-06BC-E3CF66E564EA}"/>
              </a:ext>
            </a:extLst>
          </p:cNvPr>
          <p:cNvSpPr>
            <a:spLocks noGrp="1"/>
          </p:cNvSpPr>
          <p:nvPr>
            <p:ph type="title"/>
          </p:nvPr>
        </p:nvSpPr>
        <p:spPr/>
        <p:txBody>
          <a:bodyPr/>
          <a:lstStyle/>
          <a:p>
            <a:r>
              <a:rPr lang="en-GB" dirty="0">
                <a:ea typeface="Verdana"/>
                <a:cs typeface="Gill Sans"/>
              </a:rPr>
              <a:t>Reading Excel files</a:t>
            </a:r>
            <a:endParaRPr lang="en-GB" dirty="0"/>
          </a:p>
        </p:txBody>
      </p:sp>
      <p:sp>
        <p:nvSpPr>
          <p:cNvPr id="3" name="Text Placeholder 2">
            <a:extLst>
              <a:ext uri="{FF2B5EF4-FFF2-40B4-BE49-F238E27FC236}">
                <a16:creationId xmlns:a16="http://schemas.microsoft.com/office/drawing/2014/main" id="{90389E32-12C7-AA23-C6D5-1C714F969FC6}"/>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Although it is recommended to export your data files to a non-proprietary text format, it is still possible to read directly from an excel file.</a:t>
            </a:r>
          </a:p>
          <a:p>
            <a:r>
              <a:rPr lang="en-GB" err="1">
                <a:latin typeface="Courier New"/>
                <a:ea typeface="+mn-lt"/>
                <a:cs typeface="+mn-lt"/>
              </a:rPr>
              <a:t>install.packages</a:t>
            </a:r>
            <a:r>
              <a:rPr lang="en-GB" dirty="0">
                <a:latin typeface="Courier New"/>
                <a:ea typeface="+mn-lt"/>
                <a:cs typeface="+mn-lt"/>
              </a:rPr>
              <a:t>("</a:t>
            </a:r>
            <a:r>
              <a:rPr lang="en-GB" err="1">
                <a:latin typeface="Courier New"/>
                <a:ea typeface="+mn-lt"/>
                <a:cs typeface="+mn-lt"/>
              </a:rPr>
              <a:t>readxl</a:t>
            </a:r>
            <a:r>
              <a:rPr lang="en-GB" dirty="0">
                <a:latin typeface="Courier New"/>
                <a:ea typeface="+mn-lt"/>
                <a:cs typeface="+mn-lt"/>
              </a:rPr>
              <a:t>")</a:t>
            </a:r>
            <a:endParaRPr lang="en-GB" dirty="0">
              <a:latin typeface="Courier New"/>
            </a:endParaRPr>
          </a:p>
          <a:p>
            <a:r>
              <a:rPr lang="en-GB" b="1" dirty="0">
                <a:solidFill>
                  <a:schemeClr val="accent4"/>
                </a:solidFill>
                <a:latin typeface="Courier New"/>
                <a:ea typeface="+mn-lt"/>
                <a:cs typeface="+mn-lt"/>
              </a:rPr>
              <a:t># Loading</a:t>
            </a:r>
            <a:r>
              <a:rPr lang="en-GB" dirty="0">
                <a:latin typeface="Courier New"/>
                <a:ea typeface="+mn-lt"/>
                <a:cs typeface="+mn-lt"/>
              </a:rPr>
              <a:t>
library(</a:t>
            </a:r>
            <a:r>
              <a:rPr lang="en-GB" dirty="0" err="1">
                <a:latin typeface="Courier New"/>
                <a:ea typeface="+mn-lt"/>
                <a:cs typeface="+mn-lt"/>
              </a:rPr>
              <a:t>readxl</a:t>
            </a:r>
            <a:r>
              <a:rPr lang="en-GB" dirty="0">
                <a:latin typeface="Courier New"/>
                <a:ea typeface="+mn-lt"/>
                <a:cs typeface="+mn-lt"/>
              </a:rPr>
              <a:t>)
</a:t>
            </a:r>
            <a:endParaRPr lang="en-GB" dirty="0">
              <a:solidFill>
                <a:srgbClr val="1E2232"/>
              </a:solidFill>
              <a:latin typeface="Courier New"/>
              <a:ea typeface="+mn-lt"/>
              <a:cs typeface="+mn-lt"/>
            </a:endParaRPr>
          </a:p>
          <a:p>
            <a:r>
              <a:rPr lang="en-GB" b="1" dirty="0">
                <a:solidFill>
                  <a:schemeClr val="accent4"/>
                </a:solidFill>
                <a:latin typeface="Courier New"/>
                <a:ea typeface="+mn-lt"/>
                <a:cs typeface="+mn-lt"/>
              </a:rPr>
              <a:t># reading the sheet named 'my data' from an excel file
</a:t>
            </a:r>
            <a:r>
              <a:rPr lang="en-GB" dirty="0" err="1">
                <a:latin typeface="Courier New"/>
                <a:ea typeface="+mn-lt"/>
                <a:cs typeface="+mn-lt"/>
              </a:rPr>
              <a:t>my_data</a:t>
            </a:r>
            <a:r>
              <a:rPr lang="en-GB" dirty="0">
                <a:latin typeface="Courier New"/>
                <a:ea typeface="+mn-lt"/>
                <a:cs typeface="+mn-lt"/>
              </a:rPr>
              <a:t> &lt;- </a:t>
            </a:r>
            <a:r>
              <a:rPr lang="en-GB" dirty="0" err="1">
                <a:latin typeface="Courier New"/>
                <a:ea typeface="+mn-lt"/>
                <a:cs typeface="+mn-lt"/>
              </a:rPr>
              <a:t>read_excel</a:t>
            </a:r>
            <a:r>
              <a:rPr lang="en-GB" dirty="0">
                <a:latin typeface="Courier New"/>
                <a:ea typeface="+mn-lt"/>
                <a:cs typeface="+mn-lt"/>
              </a:rPr>
              <a:t>("my_file.</a:t>
            </a:r>
            <a:r>
              <a:rPr lang="en-GB" dirty="0" err="1">
                <a:latin typeface="Courier New"/>
                <a:ea typeface="+mn-lt"/>
                <a:cs typeface="+mn-lt"/>
              </a:rPr>
              <a:t>xls</a:t>
            </a:r>
            <a:r>
              <a:rPr lang="en-GB" dirty="0">
                <a:latin typeface="Courier New"/>
                <a:ea typeface="+mn-lt"/>
                <a:cs typeface="+mn-lt"/>
              </a:rPr>
              <a:t>",sheet='my data')</a:t>
            </a:r>
            <a:endParaRPr lang="en-GB">
              <a:latin typeface="Courier New"/>
            </a:endParaRPr>
          </a:p>
        </p:txBody>
      </p:sp>
    </p:spTree>
    <p:extLst>
      <p:ext uri="{BB962C8B-B14F-4D97-AF65-F5344CB8AC3E}">
        <p14:creationId xmlns:p14="http://schemas.microsoft.com/office/powerpoint/2010/main" val="426648919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0749F-4E54-9487-962B-64B23779C0E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7E9210A-F512-D922-4AA4-CA4238AC2B9B}"/>
              </a:ext>
            </a:extLst>
          </p:cNvPr>
          <p:cNvSpPr>
            <a:spLocks noGrp="1"/>
          </p:cNvSpPr>
          <p:nvPr>
            <p:ph type="title"/>
          </p:nvPr>
        </p:nvSpPr>
        <p:spPr/>
        <p:txBody>
          <a:bodyPr/>
          <a:lstStyle/>
          <a:p>
            <a:r>
              <a:rPr lang="fr-FR" dirty="0" err="1"/>
              <a:t>Metabolites</a:t>
            </a:r>
            <a:r>
              <a:rPr lang="fr-FR" dirty="0"/>
              <a:t> </a:t>
            </a:r>
            <a:r>
              <a:rPr lang="fr-FR" dirty="0" err="1"/>
              <a:t>dataset</a:t>
            </a:r>
            <a:r>
              <a:rPr lang="fr-FR" dirty="0"/>
              <a:t> (</a:t>
            </a:r>
            <a:r>
              <a:rPr lang="fr-FR" dirty="0" err="1"/>
              <a:t>from</a:t>
            </a:r>
            <a:r>
              <a:rPr lang="fr-FR" dirty="0"/>
              <a:t> </a:t>
            </a:r>
            <a:r>
              <a:rPr lang="fr-FR" dirty="0" err="1"/>
              <a:t>Bosnjakovic</a:t>
            </a:r>
            <a:r>
              <a:rPr lang="fr-FR" dirty="0"/>
              <a:t> et al., </a:t>
            </a:r>
            <a:r>
              <a:rPr lang="fr-FR" dirty="0" err="1"/>
              <a:t>BioRxiv</a:t>
            </a:r>
            <a:r>
              <a:rPr lang="fr-FR" dirty="0"/>
              <a:t>, 2025)</a:t>
            </a:r>
          </a:p>
        </p:txBody>
      </p:sp>
      <p:sp>
        <p:nvSpPr>
          <p:cNvPr id="3" name="Espace réservé du contenu 2">
            <a:extLst>
              <a:ext uri="{FF2B5EF4-FFF2-40B4-BE49-F238E27FC236}">
                <a16:creationId xmlns:a16="http://schemas.microsoft.com/office/drawing/2014/main" id="{EF3AEB42-36C5-7636-05EF-D934BCA28B69}"/>
              </a:ext>
            </a:extLst>
          </p:cNvPr>
          <p:cNvSpPr>
            <a:spLocks noGrp="1"/>
          </p:cNvSpPr>
          <p:nvPr>
            <p:ph idx="1"/>
          </p:nvPr>
        </p:nvSpPr>
        <p:spPr/>
        <p:txBody>
          <a:bodyPr/>
          <a:lstStyle/>
          <a:p>
            <a:pPr marL="0" indent="0">
              <a:buNone/>
            </a:pPr>
            <a:r>
              <a:rPr lang="fr-CH" dirty="0" err="1"/>
              <a:t>doi:</a:t>
            </a:r>
            <a:r>
              <a:rPr lang="fr-CH" dirty="0" err="1">
                <a:hlinkClick r:id="rId2"/>
              </a:rPr>
              <a:t>https</a:t>
            </a:r>
            <a:r>
              <a:rPr lang="fr-CH" dirty="0">
                <a:hlinkClick r:id="rId2"/>
              </a:rPr>
              <a:t>://doi.org/10.1101/2025.07.10.663939</a:t>
            </a:r>
            <a:endParaRPr lang="fr-CH" dirty="0"/>
          </a:p>
          <a:p>
            <a:r>
              <a:rPr lang="fr-CH" dirty="0"/>
              <a:t>Bosnjakovic2025_metabolites_dataset.xlsx</a:t>
            </a:r>
            <a:endParaRPr lang="fr-FR" dirty="0"/>
          </a:p>
          <a:p>
            <a:pPr marL="0" indent="0">
              <a:buNone/>
            </a:pPr>
            <a:endParaRPr lang="fr-FR" dirty="0"/>
          </a:p>
          <a:p>
            <a:pPr marL="0" indent="0">
              <a:buNone/>
            </a:pPr>
            <a:r>
              <a:rPr lang="fr-FR" dirty="0"/>
              <a:t>Try to </a:t>
            </a:r>
            <a:r>
              <a:rPr lang="fr-FR" dirty="0" err="1"/>
              <a:t>read</a:t>
            </a:r>
            <a:r>
              <a:rPr lang="fr-FR" dirty="0"/>
              <a:t> </a:t>
            </a:r>
            <a:r>
              <a:rPr lang="fr-FR" dirty="0" err="1"/>
              <a:t>this</a:t>
            </a:r>
            <a:r>
              <a:rPr lang="fr-FR" dirty="0"/>
              <a:t> </a:t>
            </a:r>
            <a:r>
              <a:rPr lang="fr-FR" dirty="0" err="1"/>
              <a:t>into</a:t>
            </a:r>
            <a:r>
              <a:rPr lang="fr-FR" dirty="0"/>
              <a:t> R. Remember </a:t>
            </a:r>
            <a:r>
              <a:rPr lang="fr-FR" dirty="0" err="1"/>
              <a:t>we</a:t>
            </a:r>
            <a:r>
              <a:rPr lang="fr-FR" dirty="0"/>
              <a:t> </a:t>
            </a:r>
            <a:r>
              <a:rPr lang="fr-FR" dirty="0" err="1"/>
              <a:t>talked</a:t>
            </a:r>
            <a:r>
              <a:rPr lang="fr-FR" dirty="0"/>
              <a:t> about </a:t>
            </a:r>
            <a:r>
              <a:rPr lang="fr-FR" dirty="0" err="1"/>
              <a:t>read.delim</a:t>
            </a:r>
            <a:r>
              <a:rPr lang="fr-FR" dirty="0"/>
              <a:t>, </a:t>
            </a:r>
            <a:r>
              <a:rPr lang="fr-FR" dirty="0" err="1"/>
              <a:t>read.table</a:t>
            </a:r>
            <a:r>
              <a:rPr lang="fr-FR" dirty="0"/>
              <a:t>, </a:t>
            </a:r>
            <a:r>
              <a:rPr lang="fr-FR" dirty="0" err="1"/>
              <a:t>read.xlsx</a:t>
            </a:r>
            <a:r>
              <a:rPr lang="fr-FR" dirty="0"/>
              <a:t>…</a:t>
            </a:r>
          </a:p>
          <a:p>
            <a:pPr>
              <a:buFont typeface="Wingdings" pitchFamily="2" charset="2"/>
              <a:buChar char="Ø"/>
            </a:pPr>
            <a:r>
              <a:rPr lang="fr-FR" dirty="0"/>
              <a:t> </a:t>
            </a:r>
            <a:r>
              <a:rPr lang="fr-FR" dirty="0" err="1"/>
              <a:t>What</a:t>
            </a:r>
            <a:r>
              <a:rPr lang="fr-FR" dirty="0"/>
              <a:t> do </a:t>
            </a:r>
            <a:r>
              <a:rPr lang="fr-FR" dirty="0" err="1"/>
              <a:t>you</a:t>
            </a:r>
            <a:r>
              <a:rPr lang="fr-FR" dirty="0"/>
              <a:t> observe?</a:t>
            </a:r>
          </a:p>
        </p:txBody>
      </p:sp>
    </p:spTree>
    <p:extLst>
      <p:ext uri="{BB962C8B-B14F-4D97-AF65-F5344CB8AC3E}">
        <p14:creationId xmlns:p14="http://schemas.microsoft.com/office/powerpoint/2010/main" val="39679864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141911-E13C-9BB3-278B-41BB3C4F3F7C}"/>
              </a:ext>
            </a:extLst>
          </p:cNvPr>
          <p:cNvSpPr>
            <a:spLocks noGrp="1"/>
          </p:cNvSpPr>
          <p:nvPr>
            <p:ph type="title"/>
          </p:nvPr>
        </p:nvSpPr>
        <p:spPr/>
        <p:txBody>
          <a:bodyPr/>
          <a:lstStyle/>
          <a:p>
            <a:r>
              <a:rPr lang="fr-FR" dirty="0" err="1"/>
              <a:t>Metabolites</a:t>
            </a:r>
            <a:r>
              <a:rPr lang="fr-FR" dirty="0"/>
              <a:t> </a:t>
            </a:r>
            <a:r>
              <a:rPr lang="fr-FR" dirty="0" err="1"/>
              <a:t>dataset</a:t>
            </a:r>
            <a:endParaRPr lang="fr-FR" dirty="0"/>
          </a:p>
        </p:txBody>
      </p:sp>
      <p:sp>
        <p:nvSpPr>
          <p:cNvPr id="3" name="Espace réservé du contenu 2">
            <a:extLst>
              <a:ext uri="{FF2B5EF4-FFF2-40B4-BE49-F238E27FC236}">
                <a16:creationId xmlns:a16="http://schemas.microsoft.com/office/drawing/2014/main" id="{7DF5902F-685C-9DAC-D2DC-9224CD1B61C2}"/>
              </a:ext>
            </a:extLst>
          </p:cNvPr>
          <p:cNvSpPr>
            <a:spLocks noGrp="1"/>
          </p:cNvSpPr>
          <p:nvPr>
            <p:ph idx="1"/>
          </p:nvPr>
        </p:nvSpPr>
        <p:spPr>
          <a:xfrm>
            <a:off x="776514" y="1796597"/>
            <a:ext cx="10515600" cy="4351338"/>
          </a:xfrm>
        </p:spPr>
        <p:txBody>
          <a:bodyPr/>
          <a:lstStyle/>
          <a:p>
            <a:r>
              <a:rPr lang="fr-CH" dirty="0"/>
              <a:t>Bosnjakovic2025_metabolites_dataset.xlsx</a:t>
            </a:r>
            <a:endParaRPr lang="fr-FR" dirty="0"/>
          </a:p>
          <a:p>
            <a:endParaRPr lang="fr-FR" dirty="0"/>
          </a:p>
          <a:p>
            <a:r>
              <a:rPr lang="fr-FR" dirty="0"/>
              <a:t>Row 1 : </a:t>
            </a:r>
            <a:r>
              <a:rPr lang="fr-FR" dirty="0" err="1"/>
              <a:t>treatment</a:t>
            </a:r>
            <a:r>
              <a:rPr lang="fr-FR" dirty="0"/>
              <a:t>  →  None  None  None  None  None  "VC, </a:t>
            </a:r>
            <a:r>
              <a:rPr lang="fr-FR" dirty="0" err="1"/>
              <a:t>BaP</a:t>
            </a:r>
            <a:r>
              <a:rPr lang="fr-FR" dirty="0"/>
              <a:t>"  "VC, </a:t>
            </a:r>
            <a:r>
              <a:rPr lang="fr-FR" dirty="0" err="1"/>
              <a:t>BaP</a:t>
            </a:r>
            <a:r>
              <a:rPr lang="fr-FR" dirty="0"/>
              <a:t>"  "</a:t>
            </a:r>
            <a:r>
              <a:rPr lang="fr-FR" dirty="0" err="1"/>
              <a:t>BaP</a:t>
            </a:r>
            <a:r>
              <a:rPr lang="fr-FR" dirty="0"/>
              <a:t>" …</a:t>
            </a:r>
          </a:p>
          <a:p>
            <a:r>
              <a:rPr lang="fr-FR" dirty="0"/>
              <a:t>Row 2 : condition   →  None  None  None  None  None  "0.2% DMSO"  "0.2% DMSO"  "20µM </a:t>
            </a:r>
            <a:r>
              <a:rPr lang="fr-FR" dirty="0" err="1"/>
              <a:t>BaP</a:t>
            </a:r>
            <a:r>
              <a:rPr lang="fr-FR" dirty="0"/>
              <a:t>" …</a:t>
            </a:r>
          </a:p>
          <a:p>
            <a:r>
              <a:rPr lang="fr-FR" dirty="0"/>
              <a:t>Row 3 : real </a:t>
            </a:r>
            <a:r>
              <a:rPr lang="fr-FR" dirty="0" err="1"/>
              <a:t>names</a:t>
            </a:r>
            <a:r>
              <a:rPr lang="fr-FR" dirty="0"/>
              <a:t>  →  "</a:t>
            </a:r>
            <a:r>
              <a:rPr lang="fr-FR" dirty="0" err="1"/>
              <a:t>Precursor</a:t>
            </a:r>
            <a:r>
              <a:rPr lang="fr-FR" dirty="0"/>
              <a:t> Name"  "Prec. </a:t>
            </a:r>
            <a:r>
              <a:rPr lang="fr-FR" dirty="0" err="1"/>
              <a:t>Form</a:t>
            </a:r>
            <a:r>
              <a:rPr lang="fr-FR" dirty="0"/>
              <a:t>."  …  "24h"  "24h"  "24h" …</a:t>
            </a:r>
          </a:p>
        </p:txBody>
      </p:sp>
    </p:spTree>
    <p:extLst>
      <p:ext uri="{BB962C8B-B14F-4D97-AF65-F5344CB8AC3E}">
        <p14:creationId xmlns:p14="http://schemas.microsoft.com/office/powerpoint/2010/main" val="414401078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A936B-8B39-3674-449A-3BC2B9320FD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E60A1E1-EE20-1152-B32A-3662AE7ED940}"/>
              </a:ext>
            </a:extLst>
          </p:cNvPr>
          <p:cNvSpPr>
            <a:spLocks noGrp="1"/>
          </p:cNvSpPr>
          <p:nvPr>
            <p:ph type="title"/>
          </p:nvPr>
        </p:nvSpPr>
        <p:spPr/>
        <p:txBody>
          <a:bodyPr/>
          <a:lstStyle/>
          <a:p>
            <a:r>
              <a:rPr lang="fr-FR" dirty="0" err="1"/>
              <a:t>Step</a:t>
            </a:r>
            <a:r>
              <a:rPr lang="fr-FR" dirty="0"/>
              <a:t>-by-</a:t>
            </a:r>
            <a:r>
              <a:rPr lang="fr-FR" dirty="0" err="1"/>
              <a:t>step</a:t>
            </a:r>
            <a:endParaRPr lang="fr-FR" dirty="0"/>
          </a:p>
        </p:txBody>
      </p:sp>
      <p:pic>
        <p:nvPicPr>
          <p:cNvPr id="9" name="Image 8">
            <a:extLst>
              <a:ext uri="{FF2B5EF4-FFF2-40B4-BE49-F238E27FC236}">
                <a16:creationId xmlns:a16="http://schemas.microsoft.com/office/drawing/2014/main" id="{4FE4F362-2B1D-F4B9-068A-86518142F26C}"/>
              </a:ext>
            </a:extLst>
          </p:cNvPr>
          <p:cNvPicPr>
            <a:picLocks noChangeAspect="1"/>
          </p:cNvPicPr>
          <p:nvPr/>
        </p:nvPicPr>
        <p:blipFill>
          <a:blip r:embed="rId2"/>
          <a:stretch>
            <a:fillRect/>
          </a:stretch>
        </p:blipFill>
        <p:spPr>
          <a:xfrm>
            <a:off x="1531870" y="6004835"/>
            <a:ext cx="6923315" cy="735342"/>
          </a:xfrm>
          <a:prstGeom prst="rect">
            <a:avLst/>
          </a:prstGeom>
        </p:spPr>
      </p:pic>
      <p:sp>
        <p:nvSpPr>
          <p:cNvPr id="12" name="ZoneTexte 11">
            <a:extLst>
              <a:ext uri="{FF2B5EF4-FFF2-40B4-BE49-F238E27FC236}">
                <a16:creationId xmlns:a16="http://schemas.microsoft.com/office/drawing/2014/main" id="{A0B2EC71-F134-7EAD-4F95-8D17E15E8B6F}"/>
              </a:ext>
            </a:extLst>
          </p:cNvPr>
          <p:cNvSpPr txBox="1"/>
          <p:nvPr/>
        </p:nvSpPr>
        <p:spPr>
          <a:xfrm>
            <a:off x="1531870" y="990254"/>
            <a:ext cx="6545944" cy="1200329"/>
          </a:xfrm>
          <a:prstGeom prst="rect">
            <a:avLst/>
          </a:prstGeom>
          <a:noFill/>
        </p:spPr>
        <p:txBody>
          <a:bodyPr wrap="square" rtlCol="0">
            <a:spAutoFit/>
          </a:bodyPr>
          <a:lstStyle/>
          <a:p>
            <a:r>
              <a:rPr lang="fr-FR" b="1" dirty="0"/>
              <a:t>If </a:t>
            </a:r>
            <a:r>
              <a:rPr lang="fr-FR" b="1" dirty="0" err="1"/>
              <a:t>you</a:t>
            </a:r>
            <a:r>
              <a:rPr lang="fr-FR" b="1" dirty="0"/>
              <a:t> </a:t>
            </a:r>
            <a:r>
              <a:rPr lang="fr-FR" b="1" dirty="0" err="1"/>
              <a:t>want</a:t>
            </a:r>
            <a:r>
              <a:rPr lang="fr-FR" b="1" dirty="0"/>
              <a:t> to use base R </a:t>
            </a:r>
            <a:r>
              <a:rPr lang="fr-FR" b="1" dirty="0" err="1"/>
              <a:t>read.delim</a:t>
            </a:r>
            <a:r>
              <a:rPr lang="fr-FR" b="1" dirty="0"/>
              <a:t> or </a:t>
            </a:r>
            <a:r>
              <a:rPr lang="fr-FR" b="1" dirty="0" err="1"/>
              <a:t>read.table</a:t>
            </a:r>
            <a:r>
              <a:rPr lang="fr-FR" b="1" dirty="0"/>
              <a:t>, </a:t>
            </a:r>
            <a:r>
              <a:rPr lang="fr-FR" b="1" dirty="0" err="1"/>
              <a:t>you</a:t>
            </a:r>
            <a:r>
              <a:rPr lang="fr-FR" b="1" dirty="0"/>
              <a:t> </a:t>
            </a:r>
            <a:r>
              <a:rPr lang="fr-FR" b="1" dirty="0" err="1"/>
              <a:t>need</a:t>
            </a:r>
            <a:r>
              <a:rPr lang="fr-FR" b="1" dirty="0"/>
              <a:t> to:</a:t>
            </a:r>
          </a:p>
          <a:p>
            <a:pPr marL="342900" indent="-342900">
              <a:buAutoNum type="arabicParenR"/>
            </a:pPr>
            <a:r>
              <a:rPr lang="fr-FR" b="1" dirty="0"/>
              <a:t>Open the </a:t>
            </a:r>
            <a:r>
              <a:rPr lang="fr-FR" b="1" dirty="0" err="1"/>
              <a:t>excel</a:t>
            </a:r>
            <a:r>
              <a:rPr lang="fr-FR" b="1" dirty="0"/>
              <a:t> file</a:t>
            </a:r>
          </a:p>
          <a:p>
            <a:pPr marL="342900" indent="-342900">
              <a:buAutoNum type="arabicParenR"/>
            </a:pPr>
            <a:r>
              <a:rPr lang="fr-FR" b="1" dirty="0"/>
              <a:t>Save  the </a:t>
            </a:r>
            <a:r>
              <a:rPr lang="fr-FR" b="1" dirty="0" err="1"/>
              <a:t>sheet</a:t>
            </a:r>
            <a:r>
              <a:rPr lang="fr-FR" b="1" dirty="0"/>
              <a:t> </a:t>
            </a:r>
            <a:r>
              <a:rPr lang="fr-FR" b="1" dirty="0" err="1"/>
              <a:t>you</a:t>
            </a:r>
            <a:r>
              <a:rPr lang="fr-FR" b="1" dirty="0"/>
              <a:t> are </a:t>
            </a:r>
            <a:r>
              <a:rPr lang="fr-FR" b="1" dirty="0" err="1"/>
              <a:t>interested</a:t>
            </a:r>
            <a:r>
              <a:rPr lang="fr-FR" b="1" dirty="0"/>
              <a:t> in as tab </a:t>
            </a:r>
            <a:r>
              <a:rPr lang="fr-FR" b="1" dirty="0" err="1"/>
              <a:t>delimited</a:t>
            </a:r>
            <a:r>
              <a:rPr lang="fr-FR" b="1" dirty="0"/>
              <a:t> txt file</a:t>
            </a:r>
          </a:p>
          <a:p>
            <a:pPr marL="342900" indent="-342900">
              <a:buAutoNum type="arabicParenR"/>
            </a:pPr>
            <a:r>
              <a:rPr lang="fr-FR" b="1" dirty="0"/>
              <a:t>Read </a:t>
            </a:r>
            <a:r>
              <a:rPr lang="fr-FR" b="1" dirty="0" err="1"/>
              <a:t>it</a:t>
            </a:r>
            <a:r>
              <a:rPr lang="fr-FR" b="1" dirty="0"/>
              <a:t> in R</a:t>
            </a:r>
          </a:p>
        </p:txBody>
      </p:sp>
      <p:pic>
        <p:nvPicPr>
          <p:cNvPr id="14" name="Image 13">
            <a:extLst>
              <a:ext uri="{FF2B5EF4-FFF2-40B4-BE49-F238E27FC236}">
                <a16:creationId xmlns:a16="http://schemas.microsoft.com/office/drawing/2014/main" id="{9C44B30D-E8EB-B674-7EF2-D4D76417E3D7}"/>
              </a:ext>
            </a:extLst>
          </p:cNvPr>
          <p:cNvPicPr>
            <a:picLocks noChangeAspect="1"/>
          </p:cNvPicPr>
          <p:nvPr/>
        </p:nvPicPr>
        <p:blipFill>
          <a:blip r:embed="rId3"/>
          <a:stretch>
            <a:fillRect/>
          </a:stretch>
        </p:blipFill>
        <p:spPr>
          <a:xfrm>
            <a:off x="1531870" y="2190583"/>
            <a:ext cx="6923315" cy="3776353"/>
          </a:xfrm>
          <a:prstGeom prst="rect">
            <a:avLst/>
          </a:prstGeom>
        </p:spPr>
      </p:pic>
    </p:spTree>
    <p:extLst>
      <p:ext uri="{BB962C8B-B14F-4D97-AF65-F5344CB8AC3E}">
        <p14:creationId xmlns:p14="http://schemas.microsoft.com/office/powerpoint/2010/main" val="27088491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7BA1C7-ED19-8EB9-BEAA-644FE4A4FA32}"/>
              </a:ext>
            </a:extLst>
          </p:cNvPr>
          <p:cNvSpPr>
            <a:spLocks noGrp="1"/>
          </p:cNvSpPr>
          <p:nvPr>
            <p:ph type="title"/>
          </p:nvPr>
        </p:nvSpPr>
        <p:spPr/>
        <p:txBody>
          <a:bodyPr/>
          <a:lstStyle/>
          <a:p>
            <a:r>
              <a:rPr lang="fr-FR" dirty="0" err="1"/>
              <a:t>Step</a:t>
            </a:r>
            <a:r>
              <a:rPr lang="fr-FR" dirty="0"/>
              <a:t>-by-</a:t>
            </a:r>
            <a:r>
              <a:rPr lang="fr-FR" dirty="0" err="1"/>
              <a:t>step</a:t>
            </a:r>
            <a:endParaRPr lang="fr-FR" dirty="0"/>
          </a:p>
        </p:txBody>
      </p:sp>
      <p:pic>
        <p:nvPicPr>
          <p:cNvPr id="7" name="Image 6">
            <a:extLst>
              <a:ext uri="{FF2B5EF4-FFF2-40B4-BE49-F238E27FC236}">
                <a16:creationId xmlns:a16="http://schemas.microsoft.com/office/drawing/2014/main" id="{F66DB2C4-30E9-04D5-8CED-DE930B1B36F5}"/>
              </a:ext>
            </a:extLst>
          </p:cNvPr>
          <p:cNvPicPr>
            <a:picLocks noChangeAspect="1"/>
          </p:cNvPicPr>
          <p:nvPr/>
        </p:nvPicPr>
        <p:blipFill>
          <a:blip r:embed="rId2"/>
          <a:stretch>
            <a:fillRect/>
          </a:stretch>
        </p:blipFill>
        <p:spPr>
          <a:xfrm>
            <a:off x="1755681" y="829653"/>
            <a:ext cx="6836777" cy="5767753"/>
          </a:xfrm>
          <a:prstGeom prst="rect">
            <a:avLst/>
          </a:prstGeom>
        </p:spPr>
      </p:pic>
    </p:spTree>
    <p:extLst>
      <p:ext uri="{BB962C8B-B14F-4D97-AF65-F5344CB8AC3E}">
        <p14:creationId xmlns:p14="http://schemas.microsoft.com/office/powerpoint/2010/main" val="30442492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3DCE0D-78B3-B20C-772E-EC7DF3E6794E}"/>
              </a:ext>
            </a:extLst>
          </p:cNvPr>
          <p:cNvSpPr>
            <a:spLocks noGrp="1"/>
          </p:cNvSpPr>
          <p:nvPr>
            <p:ph type="title"/>
          </p:nvPr>
        </p:nvSpPr>
        <p:spPr/>
        <p:txBody>
          <a:bodyPr/>
          <a:lstStyle/>
          <a:p>
            <a:r>
              <a:rPr lang="fr-FR" dirty="0"/>
              <a:t>Cell </a:t>
            </a:r>
            <a:r>
              <a:rPr lang="fr-FR" dirty="0" err="1"/>
              <a:t>lines</a:t>
            </a:r>
            <a:r>
              <a:rPr lang="fr-FR" dirty="0"/>
              <a:t> </a:t>
            </a:r>
            <a:r>
              <a:rPr lang="fr-FR" dirty="0" err="1"/>
              <a:t>dataset</a:t>
            </a:r>
            <a:r>
              <a:rPr lang="fr-FR" dirty="0"/>
              <a:t> (</a:t>
            </a:r>
            <a:r>
              <a:rPr lang="fr-FR" dirty="0" err="1"/>
              <a:t>from</a:t>
            </a:r>
            <a:r>
              <a:rPr lang="fr-CH" dirty="0"/>
              <a:t> Ujiie, </a:t>
            </a:r>
            <a:r>
              <a:rPr lang="fr-CH" dirty="0" err="1"/>
              <a:t>Sakyo</a:t>
            </a:r>
            <a:r>
              <a:rPr lang="fr-CH" dirty="0"/>
              <a:t>, Oya, et al., Cancer Medicine, 2025)</a:t>
            </a:r>
            <a:endParaRPr lang="fr-FR" dirty="0"/>
          </a:p>
        </p:txBody>
      </p:sp>
      <p:sp>
        <p:nvSpPr>
          <p:cNvPr id="3" name="Espace réservé du contenu 2">
            <a:extLst>
              <a:ext uri="{FF2B5EF4-FFF2-40B4-BE49-F238E27FC236}">
                <a16:creationId xmlns:a16="http://schemas.microsoft.com/office/drawing/2014/main" id="{F94AA70B-7266-C4A7-6A17-5924272DB06C}"/>
              </a:ext>
            </a:extLst>
          </p:cNvPr>
          <p:cNvSpPr>
            <a:spLocks noGrp="1"/>
          </p:cNvSpPr>
          <p:nvPr>
            <p:ph idx="1"/>
          </p:nvPr>
        </p:nvSpPr>
        <p:spPr/>
        <p:txBody>
          <a:bodyPr/>
          <a:lstStyle/>
          <a:p>
            <a:pPr marL="0" indent="0">
              <a:buNone/>
            </a:pPr>
            <a:r>
              <a:rPr lang="fr-CH" b="1" dirty="0"/>
              <a:t>Doi: </a:t>
            </a:r>
            <a:r>
              <a:rPr lang="fr-CH" b="1" dirty="0">
                <a:hlinkClick r:id="rId2"/>
              </a:rPr>
              <a:t>https://doi.org/10.1002/cam4.71373</a:t>
            </a:r>
            <a:endParaRPr lang="fr-CH" b="1" dirty="0"/>
          </a:p>
          <a:p>
            <a:r>
              <a:rPr lang="fr-CH" b="1" dirty="0"/>
              <a:t>Ujiie2025_Supplementary Table S3.xlsx</a:t>
            </a:r>
          </a:p>
          <a:p>
            <a:pPr marL="0" indent="0">
              <a:buNone/>
            </a:pPr>
            <a:r>
              <a:rPr lang="fr-FR" dirty="0" err="1"/>
              <a:t>Again</a:t>
            </a:r>
            <a:r>
              <a:rPr lang="fr-FR" dirty="0"/>
              <a:t>, </a:t>
            </a:r>
            <a:r>
              <a:rPr lang="fr-FR" dirty="0" err="1"/>
              <a:t>try</a:t>
            </a:r>
            <a:r>
              <a:rPr lang="fr-FR" dirty="0"/>
              <a:t> to </a:t>
            </a:r>
            <a:r>
              <a:rPr lang="fr-FR" dirty="0" err="1"/>
              <a:t>read</a:t>
            </a:r>
            <a:r>
              <a:rPr lang="fr-FR" dirty="0"/>
              <a:t> </a:t>
            </a:r>
            <a:r>
              <a:rPr lang="fr-FR" dirty="0" err="1"/>
              <a:t>this</a:t>
            </a:r>
            <a:r>
              <a:rPr lang="fr-FR" dirty="0"/>
              <a:t> </a:t>
            </a:r>
            <a:r>
              <a:rPr lang="fr-FR" dirty="0" err="1"/>
              <a:t>into</a:t>
            </a:r>
            <a:r>
              <a:rPr lang="fr-FR" dirty="0"/>
              <a:t> R</a:t>
            </a:r>
          </a:p>
          <a:p>
            <a:r>
              <a:rPr lang="fr-FR" dirty="0"/>
              <a:t> </a:t>
            </a:r>
            <a:r>
              <a:rPr lang="fr-FR" dirty="0" err="1"/>
              <a:t>What</a:t>
            </a:r>
            <a:r>
              <a:rPr lang="fr-FR" dirty="0"/>
              <a:t> do </a:t>
            </a:r>
            <a:r>
              <a:rPr lang="fr-FR" dirty="0" err="1"/>
              <a:t>you</a:t>
            </a:r>
            <a:r>
              <a:rPr lang="fr-FR" dirty="0"/>
              <a:t> observe in </a:t>
            </a:r>
            <a:r>
              <a:rPr lang="fr-FR" dirty="0" err="1"/>
              <a:t>this</a:t>
            </a:r>
            <a:r>
              <a:rPr lang="fr-FR" dirty="0"/>
              <a:t> case?</a:t>
            </a:r>
          </a:p>
        </p:txBody>
      </p:sp>
    </p:spTree>
    <p:extLst>
      <p:ext uri="{BB962C8B-B14F-4D97-AF65-F5344CB8AC3E}">
        <p14:creationId xmlns:p14="http://schemas.microsoft.com/office/powerpoint/2010/main" val="41465213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B5731-1FE0-DD5F-5FB6-EA3B8D3013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2862876-B03C-12DE-5BFB-F4BAE5CE08E2}"/>
              </a:ext>
            </a:extLst>
          </p:cNvPr>
          <p:cNvSpPr>
            <a:spLocks noGrp="1"/>
          </p:cNvSpPr>
          <p:nvPr>
            <p:ph type="title"/>
          </p:nvPr>
        </p:nvSpPr>
        <p:spPr/>
        <p:txBody>
          <a:bodyPr/>
          <a:lstStyle/>
          <a:p>
            <a:r>
              <a:rPr lang="fr-FR" dirty="0"/>
              <a:t>Cell </a:t>
            </a:r>
            <a:r>
              <a:rPr lang="fr-FR" dirty="0" err="1"/>
              <a:t>lines</a:t>
            </a:r>
            <a:r>
              <a:rPr lang="fr-FR" dirty="0"/>
              <a:t> </a:t>
            </a:r>
            <a:r>
              <a:rPr lang="fr-FR" dirty="0" err="1"/>
              <a:t>dataset</a:t>
            </a:r>
            <a:r>
              <a:rPr lang="fr-FR" dirty="0"/>
              <a:t> (</a:t>
            </a:r>
            <a:r>
              <a:rPr lang="fr-FR" dirty="0" err="1"/>
              <a:t>from</a:t>
            </a:r>
            <a:r>
              <a:rPr lang="fr-CH" dirty="0"/>
              <a:t> Ujiie, </a:t>
            </a:r>
            <a:r>
              <a:rPr lang="fr-CH" dirty="0" err="1"/>
              <a:t>Sakyo</a:t>
            </a:r>
            <a:r>
              <a:rPr lang="fr-CH" dirty="0"/>
              <a:t>, Oya, et al., Cancer Medicine, 2025)</a:t>
            </a:r>
            <a:endParaRPr lang="fr-FR" dirty="0"/>
          </a:p>
        </p:txBody>
      </p:sp>
      <p:sp>
        <p:nvSpPr>
          <p:cNvPr id="3" name="Espace réservé du contenu 2">
            <a:extLst>
              <a:ext uri="{FF2B5EF4-FFF2-40B4-BE49-F238E27FC236}">
                <a16:creationId xmlns:a16="http://schemas.microsoft.com/office/drawing/2014/main" id="{648F4489-3F42-F89B-4573-C0F53508E87F}"/>
              </a:ext>
            </a:extLst>
          </p:cNvPr>
          <p:cNvSpPr>
            <a:spLocks noGrp="1"/>
          </p:cNvSpPr>
          <p:nvPr>
            <p:ph idx="1"/>
          </p:nvPr>
        </p:nvSpPr>
        <p:spPr/>
        <p:txBody>
          <a:bodyPr/>
          <a:lstStyle/>
          <a:p>
            <a:pPr marL="0" indent="0">
              <a:buNone/>
            </a:pPr>
            <a:r>
              <a:rPr lang="fr-CH" b="1" dirty="0"/>
              <a:t>Doi: </a:t>
            </a:r>
            <a:r>
              <a:rPr lang="fr-CH" b="1" dirty="0">
                <a:hlinkClick r:id="rId2"/>
              </a:rPr>
              <a:t>https://doi.org/10.1002/cam4.71373</a:t>
            </a:r>
            <a:endParaRPr lang="fr-CH" b="1" dirty="0"/>
          </a:p>
          <a:p>
            <a:endParaRPr lang="fr-CH" b="1" dirty="0"/>
          </a:p>
          <a:p>
            <a:r>
              <a:rPr lang="fr-CH" b="1" dirty="0"/>
              <a:t>The </a:t>
            </a:r>
            <a:r>
              <a:rPr lang="fr-CH" b="1" dirty="0" err="1"/>
              <a:t>problem</a:t>
            </a:r>
            <a:r>
              <a:rPr lang="fr-CH" dirty="0"/>
              <a:t>: line 1 table </a:t>
            </a:r>
            <a:r>
              <a:rPr lang="fr-CH" dirty="0" err="1"/>
              <a:t>title</a:t>
            </a:r>
            <a:r>
              <a:rPr lang="fr-CH" dirty="0"/>
              <a:t>, real </a:t>
            </a:r>
            <a:r>
              <a:rPr lang="fr-CH" dirty="0" err="1"/>
              <a:t>column</a:t>
            </a:r>
            <a:r>
              <a:rPr lang="fr-CH" dirty="0"/>
              <a:t> </a:t>
            </a:r>
            <a:r>
              <a:rPr lang="fr-CH" dirty="0" err="1"/>
              <a:t>names</a:t>
            </a:r>
            <a:r>
              <a:rPr lang="fr-CH" dirty="0"/>
              <a:t> on line 2, NA in </a:t>
            </a:r>
            <a:r>
              <a:rPr lang="fr-CH" i="1" dirty="0"/>
              <a:t>PRISM_IC50 </a:t>
            </a:r>
            <a:r>
              <a:rPr lang="fr-CH" dirty="0"/>
              <a:t>for the </a:t>
            </a:r>
            <a:r>
              <a:rPr lang="fr-CH" dirty="0" err="1"/>
              <a:t>excluded</a:t>
            </a:r>
            <a:r>
              <a:rPr lang="fr-CH" dirty="0"/>
              <a:t> </a:t>
            </a:r>
            <a:r>
              <a:rPr lang="fr-CH" dirty="0" err="1"/>
              <a:t>cells</a:t>
            </a:r>
            <a:r>
              <a:rPr lang="fr-CH" dirty="0"/>
              <a:t>, </a:t>
            </a:r>
            <a:r>
              <a:rPr lang="fr-CH" dirty="0" err="1"/>
              <a:t>column</a:t>
            </a:r>
            <a:r>
              <a:rPr lang="fr-CH" dirty="0"/>
              <a:t> </a:t>
            </a:r>
            <a:r>
              <a:rPr lang="fr-CH" dirty="0" err="1"/>
              <a:t>name</a:t>
            </a:r>
            <a:r>
              <a:rPr lang="fr-CH" dirty="0"/>
              <a:t> in </a:t>
            </a:r>
            <a:r>
              <a:rPr lang="fr-CH" i="1" dirty="0"/>
              <a:t>CamelCase</a:t>
            </a:r>
            <a:r>
              <a:rPr lang="fr-CH" dirty="0"/>
              <a:t>.</a:t>
            </a:r>
            <a:endParaRPr lang="fr-FR" dirty="0"/>
          </a:p>
        </p:txBody>
      </p:sp>
    </p:spTree>
    <p:extLst>
      <p:ext uri="{BB962C8B-B14F-4D97-AF65-F5344CB8AC3E}">
        <p14:creationId xmlns:p14="http://schemas.microsoft.com/office/powerpoint/2010/main" val="417725782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90B50-31B5-FD38-2A7D-C4C6D3DC8A7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C0F9939-3EB2-0382-C9C4-0E0E3DB14107}"/>
              </a:ext>
            </a:extLst>
          </p:cNvPr>
          <p:cNvSpPr>
            <a:spLocks noGrp="1"/>
          </p:cNvSpPr>
          <p:nvPr>
            <p:ph type="title"/>
          </p:nvPr>
        </p:nvSpPr>
        <p:spPr/>
        <p:txBody>
          <a:bodyPr/>
          <a:lstStyle/>
          <a:p>
            <a:r>
              <a:rPr lang="fr-FR" dirty="0" err="1"/>
              <a:t>Step</a:t>
            </a:r>
            <a:r>
              <a:rPr lang="fr-FR" dirty="0"/>
              <a:t>-by-</a:t>
            </a:r>
            <a:r>
              <a:rPr lang="fr-FR" dirty="0" err="1"/>
              <a:t>step</a:t>
            </a:r>
            <a:endParaRPr lang="fr-FR" dirty="0"/>
          </a:p>
        </p:txBody>
      </p:sp>
      <p:pic>
        <p:nvPicPr>
          <p:cNvPr id="5" name="Image 4">
            <a:extLst>
              <a:ext uri="{FF2B5EF4-FFF2-40B4-BE49-F238E27FC236}">
                <a16:creationId xmlns:a16="http://schemas.microsoft.com/office/drawing/2014/main" id="{B37A3798-0806-6794-4C23-641BF1177530}"/>
              </a:ext>
            </a:extLst>
          </p:cNvPr>
          <p:cNvPicPr>
            <a:picLocks noChangeAspect="1"/>
          </p:cNvPicPr>
          <p:nvPr/>
        </p:nvPicPr>
        <p:blipFill>
          <a:blip r:embed="rId2"/>
          <a:stretch>
            <a:fillRect/>
          </a:stretch>
        </p:blipFill>
        <p:spPr>
          <a:xfrm>
            <a:off x="478970" y="1320346"/>
            <a:ext cx="9579429" cy="4864553"/>
          </a:xfrm>
          <a:prstGeom prst="rect">
            <a:avLst/>
          </a:prstGeom>
        </p:spPr>
      </p:pic>
    </p:spTree>
    <p:extLst>
      <p:ext uri="{BB962C8B-B14F-4D97-AF65-F5344CB8AC3E}">
        <p14:creationId xmlns:p14="http://schemas.microsoft.com/office/powerpoint/2010/main" val="20706906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CC48B-7A90-0284-9314-912AC91620AD}"/>
              </a:ext>
            </a:extLst>
          </p:cNvPr>
          <p:cNvSpPr>
            <a:spLocks noGrp="1"/>
          </p:cNvSpPr>
          <p:nvPr>
            <p:ph type="title"/>
          </p:nvPr>
        </p:nvSpPr>
        <p:spPr/>
        <p:txBody>
          <a:bodyPr/>
          <a:lstStyle/>
          <a:p>
            <a:r>
              <a:rPr lang="en-GB" dirty="0">
                <a:ea typeface="Verdana"/>
                <a:cs typeface="Gill Sans"/>
              </a:rPr>
              <a:t>Saving your data</a:t>
            </a:r>
            <a:endParaRPr lang="en-GB" dirty="0"/>
          </a:p>
        </p:txBody>
      </p:sp>
      <p:sp>
        <p:nvSpPr>
          <p:cNvPr id="3" name="Text Placeholder 2">
            <a:extLst>
              <a:ext uri="{FF2B5EF4-FFF2-40B4-BE49-F238E27FC236}">
                <a16:creationId xmlns:a16="http://schemas.microsoft.com/office/drawing/2014/main" id="{54D139D6-76E9-729B-FB5A-7124326731AE}"/>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Export the spreadsheet to a text file format</a:t>
            </a:r>
          </a:p>
          <a:p>
            <a:pPr marL="342900" indent="-342900">
              <a:buChar char="•"/>
            </a:pPr>
            <a:r>
              <a:rPr lang="en-GB" dirty="0">
                <a:ea typeface="Tahoma"/>
                <a:cs typeface="Gill Sans Light"/>
              </a:rPr>
              <a:t>csv (</a:t>
            </a:r>
            <a:r>
              <a:rPr lang="en-GB" b="1" dirty="0">
                <a:ea typeface="Tahoma"/>
                <a:cs typeface="Gill Sans Light"/>
              </a:rPr>
              <a:t>c</a:t>
            </a:r>
            <a:r>
              <a:rPr lang="en-GB" dirty="0">
                <a:ea typeface="Tahoma"/>
                <a:cs typeface="Gill Sans Light"/>
              </a:rPr>
              <a:t>omma </a:t>
            </a:r>
            <a:r>
              <a:rPr lang="en-GB" b="1" dirty="0">
                <a:ea typeface="Tahoma"/>
                <a:cs typeface="Gill Sans Light"/>
              </a:rPr>
              <a:t>s</a:t>
            </a:r>
            <a:r>
              <a:rPr lang="en-GB" dirty="0">
                <a:ea typeface="Tahoma"/>
                <a:cs typeface="Gill Sans Light"/>
              </a:rPr>
              <a:t>eparated </a:t>
            </a:r>
            <a:r>
              <a:rPr lang="en-GB" b="1" dirty="0">
                <a:ea typeface="Tahoma"/>
                <a:cs typeface="Gill Sans Light"/>
              </a:rPr>
              <a:t>v</a:t>
            </a:r>
            <a:r>
              <a:rPr lang="en-GB" dirty="0">
                <a:ea typeface="Tahoma"/>
                <a:cs typeface="Gill Sans Light"/>
              </a:rPr>
              <a:t>alues), file extension .csv OR</a:t>
            </a:r>
          </a:p>
          <a:p>
            <a:pPr marL="342900" indent="-342900">
              <a:buChar char="•"/>
            </a:pPr>
            <a:r>
              <a:rPr lang="en-GB" err="1">
                <a:ea typeface="Tahoma"/>
                <a:cs typeface="Gill Sans Light"/>
              </a:rPr>
              <a:t>tsv</a:t>
            </a:r>
            <a:r>
              <a:rPr lang="en-GB" dirty="0">
                <a:ea typeface="Tahoma"/>
                <a:cs typeface="Gill Sans Light"/>
              </a:rPr>
              <a:t> (</a:t>
            </a:r>
            <a:r>
              <a:rPr lang="en-GB" b="1" dirty="0">
                <a:ea typeface="Tahoma"/>
                <a:cs typeface="Gill Sans Light"/>
              </a:rPr>
              <a:t>t</a:t>
            </a:r>
            <a:r>
              <a:rPr lang="en-GB" dirty="0">
                <a:ea typeface="Tahoma"/>
                <a:cs typeface="Gill Sans Light"/>
              </a:rPr>
              <a:t>ab </a:t>
            </a:r>
            <a:r>
              <a:rPr lang="en-GB" b="1" dirty="0">
                <a:ea typeface="Tahoma"/>
                <a:cs typeface="Gill Sans Light"/>
              </a:rPr>
              <a:t>s</a:t>
            </a:r>
            <a:r>
              <a:rPr lang="en-GB" dirty="0">
                <a:ea typeface="Tahoma"/>
                <a:cs typeface="Gill Sans Light"/>
              </a:rPr>
              <a:t>eparated </a:t>
            </a:r>
            <a:r>
              <a:rPr lang="en-GB" b="1" dirty="0">
                <a:ea typeface="Tahoma"/>
                <a:cs typeface="Gill Sans Light"/>
              </a:rPr>
              <a:t>v</a:t>
            </a:r>
            <a:r>
              <a:rPr lang="en-GB" dirty="0">
                <a:ea typeface="Tahoma"/>
                <a:cs typeface="Gill Sans Light"/>
              </a:rPr>
              <a:t>alues), file extension .txt or .</a:t>
            </a:r>
            <a:r>
              <a:rPr lang="en-GB" err="1">
                <a:ea typeface="Tahoma"/>
                <a:cs typeface="Gill Sans Light"/>
              </a:rPr>
              <a:t>tsv</a:t>
            </a:r>
            <a:endParaRPr lang="en-GB" err="1"/>
          </a:p>
        </p:txBody>
      </p:sp>
      <p:pic>
        <p:nvPicPr>
          <p:cNvPr id="4" name="Picture 3" descr="Capture d’écran 2016-03-07 à 18.22.58.png">
            <a:extLst>
              <a:ext uri="{FF2B5EF4-FFF2-40B4-BE49-F238E27FC236}">
                <a16:creationId xmlns:a16="http://schemas.microsoft.com/office/drawing/2014/main" id="{F8883053-DC83-E7DF-82BF-D5A79819274E}"/>
              </a:ext>
            </a:extLst>
          </p:cNvPr>
          <p:cNvPicPr>
            <a:picLocks noChangeAspect="1"/>
          </p:cNvPicPr>
          <p:nvPr/>
        </p:nvPicPr>
        <p:blipFill>
          <a:blip r:embed="rId2"/>
          <a:stretch>
            <a:fillRect/>
          </a:stretch>
        </p:blipFill>
        <p:spPr>
          <a:xfrm>
            <a:off x="357188" y="3176588"/>
            <a:ext cx="6162675" cy="3648075"/>
          </a:xfrm>
          <a:prstGeom prst="rect">
            <a:avLst/>
          </a:prstGeom>
        </p:spPr>
      </p:pic>
      <p:pic>
        <p:nvPicPr>
          <p:cNvPr id="6" name="Image 20" descr="A red and black logo&#10;&#10;Description automatically generated">
            <a:extLst>
              <a:ext uri="{FF2B5EF4-FFF2-40B4-BE49-F238E27FC236}">
                <a16:creationId xmlns:a16="http://schemas.microsoft.com/office/drawing/2014/main" id="{1B9F494C-A87F-AB7E-63FD-BB2A4CAD81AE}"/>
              </a:ext>
            </a:extLst>
          </p:cNvPr>
          <p:cNvPicPr>
            <a:picLocks noChangeAspect="1"/>
          </p:cNvPicPr>
          <p:nvPr/>
        </p:nvPicPr>
        <p:blipFill>
          <a:blip r:embed="rId3"/>
          <a:stretch>
            <a:fillRect/>
          </a:stretch>
        </p:blipFill>
        <p:spPr>
          <a:xfrm>
            <a:off x="5350778" y="5336753"/>
            <a:ext cx="1067033" cy="823140"/>
          </a:xfrm>
          <a:prstGeom prst="rect">
            <a:avLst/>
          </a:prstGeom>
        </p:spPr>
      </p:pic>
      <p:sp>
        <p:nvSpPr>
          <p:cNvPr id="8" name="TextBox 7">
            <a:extLst>
              <a:ext uri="{FF2B5EF4-FFF2-40B4-BE49-F238E27FC236}">
                <a16:creationId xmlns:a16="http://schemas.microsoft.com/office/drawing/2014/main" id="{9A963333-6CE2-BCAA-A1F5-A65723B4E069}"/>
              </a:ext>
            </a:extLst>
          </p:cNvPr>
          <p:cNvSpPr txBox="1"/>
          <p:nvPr/>
        </p:nvSpPr>
        <p:spPr>
          <a:xfrm>
            <a:off x="6505575" y="5334000"/>
            <a:ext cx="55245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b="1" dirty="0"/>
              <a:t>Now you are ready to import this dataset in R</a:t>
            </a:r>
            <a:endParaRPr lang="en-US" dirty="0"/>
          </a:p>
        </p:txBody>
      </p:sp>
    </p:spTree>
    <p:extLst>
      <p:ext uri="{BB962C8B-B14F-4D97-AF65-F5344CB8AC3E}">
        <p14:creationId xmlns:p14="http://schemas.microsoft.com/office/powerpoint/2010/main" val="254306074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A911F-DE6B-212C-C7DE-C88BD2C5CE14}"/>
              </a:ext>
            </a:extLst>
          </p:cNvPr>
          <p:cNvSpPr>
            <a:spLocks noGrp="1"/>
          </p:cNvSpPr>
          <p:nvPr>
            <p:ph type="title"/>
          </p:nvPr>
        </p:nvSpPr>
        <p:spPr/>
        <p:txBody>
          <a:bodyPr/>
          <a:lstStyle/>
          <a:p>
            <a:r>
              <a:rPr lang="en-GB" dirty="0">
                <a:ea typeface="Verdana"/>
                <a:cs typeface="Gill Sans"/>
              </a:rPr>
              <a:t>Formatting checklist/recommendations</a:t>
            </a:r>
            <a:endParaRPr lang="en-GB" dirty="0" err="1"/>
          </a:p>
        </p:txBody>
      </p:sp>
      <p:sp>
        <p:nvSpPr>
          <p:cNvPr id="3" name="Text Placeholder 2">
            <a:extLst>
              <a:ext uri="{FF2B5EF4-FFF2-40B4-BE49-F238E27FC236}">
                <a16:creationId xmlns:a16="http://schemas.microsoft.com/office/drawing/2014/main" id="{119694A5-B49D-4C44-AE58-6F2D27D2D331}"/>
              </a:ext>
            </a:extLst>
          </p:cNvPr>
          <p:cNvSpPr>
            <a:spLocks noGrp="1"/>
          </p:cNvSpPr>
          <p:nvPr>
            <p:ph type="body" sz="quarter" idx="11"/>
          </p:nvPr>
        </p:nvSpPr>
        <p:spPr/>
        <p:txBody>
          <a:bodyPr vert="horz" lIns="91440" tIns="45720" rIns="91440" bIns="45720" rtlCol="0" anchor="t">
            <a:normAutofit/>
          </a:bodyPr>
          <a:lstStyle/>
          <a:p>
            <a:pPr marL="342900" indent="-342900">
              <a:buChar char="•"/>
            </a:pPr>
            <a:r>
              <a:rPr lang="en-GB" dirty="0">
                <a:ea typeface="Tahoma"/>
                <a:cs typeface="Gill Sans Light"/>
              </a:rPr>
              <a:t>First row is a </a:t>
            </a:r>
            <a:r>
              <a:rPr lang="en-GB" b="1" dirty="0">
                <a:ea typeface="Tahoma"/>
                <a:cs typeface="Gill Sans Light"/>
              </a:rPr>
              <a:t>header </a:t>
            </a:r>
            <a:r>
              <a:rPr lang="en-GB" dirty="0">
                <a:ea typeface="Tahoma"/>
                <a:cs typeface="Gill Sans Light"/>
              </a:rPr>
              <a:t>(column names)</a:t>
            </a:r>
          </a:p>
          <a:p>
            <a:pPr marL="342900" indent="-342900">
              <a:buChar char="•"/>
            </a:pPr>
            <a:r>
              <a:rPr lang="en-GB" dirty="0">
                <a:ea typeface="Tahoma"/>
                <a:cs typeface="Gill Sans Light"/>
              </a:rPr>
              <a:t>First column contain </a:t>
            </a:r>
            <a:r>
              <a:rPr lang="en-GB" b="1" dirty="0">
                <a:ea typeface="Tahoma"/>
                <a:cs typeface="Gill Sans Light"/>
              </a:rPr>
              <a:t>row IDs</a:t>
            </a:r>
          </a:p>
          <a:p>
            <a:pPr marL="342900" indent="-342900">
              <a:buChar char="•"/>
            </a:pPr>
            <a:r>
              <a:rPr lang="en-GB" dirty="0">
                <a:ea typeface="Tahoma"/>
                <a:cs typeface="Gill Sans Light"/>
              </a:rPr>
              <a:t>No blank spaces in column names (use _ instead)</a:t>
            </a:r>
          </a:p>
          <a:p>
            <a:pPr marL="342900" indent="-342900">
              <a:buChar char="•"/>
            </a:pPr>
            <a:r>
              <a:rPr lang="en-GB" dirty="0">
                <a:ea typeface="Tahoma"/>
                <a:cs typeface="Gill Sans Light"/>
              </a:rPr>
              <a:t>Column names do not contain symbols other than _</a:t>
            </a:r>
          </a:p>
          <a:p>
            <a:pPr marL="342900" indent="-342900">
              <a:buChar char="•"/>
            </a:pPr>
            <a:r>
              <a:rPr lang="en-GB" dirty="0">
                <a:ea typeface="Tahoma"/>
                <a:cs typeface="Gill Sans Light"/>
              </a:rPr>
              <a:t>Short column names are better </a:t>
            </a:r>
            <a:endParaRPr lang="en-GB" dirty="0"/>
          </a:p>
          <a:p>
            <a:pPr marL="342900" indent="-342900">
              <a:buChar char="•"/>
            </a:pPr>
            <a:r>
              <a:rPr lang="en-GB" dirty="0">
                <a:ea typeface="Tahoma"/>
                <a:cs typeface="Gill Sans Light"/>
              </a:rPr>
              <a:t>Remove all comments or other content around the data table </a:t>
            </a:r>
            <a:endParaRPr lang="en-GB" dirty="0"/>
          </a:p>
          <a:p>
            <a:pPr lvl="1" indent="0">
              <a:buNone/>
            </a:pPr>
            <a:r>
              <a:rPr lang="en-GB">
                <a:ea typeface="Tahoma"/>
                <a:cs typeface="Gill Sans Light"/>
              </a:rPr>
              <a:t>--&gt; put them in a </a:t>
            </a:r>
            <a:r>
              <a:rPr lang="en-GB" b="1">
                <a:ea typeface="Tahoma"/>
                <a:cs typeface="Gill Sans Light"/>
              </a:rPr>
              <a:t>metadata file</a:t>
            </a:r>
            <a:endParaRPr lang="en-GB" b="1"/>
          </a:p>
          <a:p>
            <a:pPr indent="-342900">
              <a:buChar char="•"/>
            </a:pPr>
            <a:r>
              <a:rPr lang="en-GB" dirty="0">
                <a:ea typeface="Tahoma"/>
                <a:cs typeface="Gill Sans Light"/>
              </a:rPr>
              <a:t>Indicate missing values with </a:t>
            </a:r>
            <a:r>
              <a:rPr lang="en-GB" b="1" dirty="0">
                <a:ea typeface="Tahoma"/>
                <a:cs typeface="Gill Sans Light"/>
              </a:rPr>
              <a:t>NA</a:t>
            </a:r>
            <a:r>
              <a:rPr lang="en-GB" dirty="0">
                <a:ea typeface="Tahoma"/>
                <a:cs typeface="Gill Sans Light"/>
              </a:rPr>
              <a:t> (spelled exactly like that)</a:t>
            </a:r>
            <a:endParaRPr lang="en-GB" dirty="0"/>
          </a:p>
          <a:p>
            <a:pPr indent="-342900">
              <a:buFont typeface="Arial" panose="020B0604020202020204" pitchFamily="34" charset="0"/>
              <a:buChar char="•"/>
            </a:pPr>
            <a:r>
              <a:rPr lang="en-GB" dirty="0">
                <a:ea typeface="Tahoma"/>
                <a:cs typeface="Gill Sans Light"/>
              </a:rPr>
              <a:t>Have data backups!</a:t>
            </a:r>
            <a:endParaRPr lang="en-GB" dirty="0"/>
          </a:p>
          <a:p>
            <a:pPr marL="342900" indent="-342900">
              <a:buFont typeface="Arial" panose="020B0604020202020204" pitchFamily="34" charset="0"/>
              <a:buChar char="•"/>
            </a:pPr>
            <a:endParaRPr lang="en-GB" dirty="0"/>
          </a:p>
        </p:txBody>
      </p:sp>
    </p:spTree>
    <p:extLst>
      <p:ext uri="{BB962C8B-B14F-4D97-AF65-F5344CB8AC3E}">
        <p14:creationId xmlns:p14="http://schemas.microsoft.com/office/powerpoint/2010/main" val="34243643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2D8DD-BD61-E21B-E762-2EFFDF4D9010}"/>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849A64A-C699-F645-5F71-36C94BE18ADE}"/>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6a</a:t>
            </a:r>
            <a:endParaRPr lang="en-US" dirty="0"/>
          </a:p>
        </p:txBody>
      </p:sp>
      <p:sp>
        <p:nvSpPr>
          <p:cNvPr id="2" name="TextBox 1">
            <a:extLst>
              <a:ext uri="{FF2B5EF4-FFF2-40B4-BE49-F238E27FC236}">
                <a16:creationId xmlns:a16="http://schemas.microsoft.com/office/drawing/2014/main" id="{741D8ED4-011B-3C53-CB9D-C47607F50BD0}"/>
              </a:ext>
            </a:extLst>
          </p:cNvPr>
          <p:cNvSpPr txBox="1"/>
          <p:nvPr/>
        </p:nvSpPr>
        <p:spPr>
          <a:xfrm>
            <a:off x="838200" y="1019175"/>
            <a:ext cx="10553700" cy="47577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99"/>
              </a:spcBef>
            </a:pPr>
            <a:r>
              <a:rPr lang="en-US" sz="2400" dirty="0">
                <a:solidFill>
                  <a:srgbClr val="000000"/>
                </a:solidFill>
                <a:ea typeface="+mn-lt"/>
                <a:cs typeface="+mn-lt"/>
              </a:rPr>
              <a:t>A dataset from mouse experiments at 18 weeks is available in the file </a:t>
            </a:r>
            <a:r>
              <a:rPr lang="en-US" sz="2400" b="1" i="1" dirty="0">
                <a:solidFill>
                  <a:srgbClr val="000000"/>
                </a:solidFill>
                <a:ea typeface="+mn-lt"/>
                <a:cs typeface="+mn-lt"/>
              </a:rPr>
              <a:t>mice_data.csv </a:t>
            </a:r>
            <a:r>
              <a:rPr lang="en-US" sz="2400" i="1" dirty="0">
                <a:solidFill>
                  <a:srgbClr val="000000"/>
                </a:solidFill>
                <a:ea typeface="+mn-lt"/>
                <a:cs typeface="+mn-lt"/>
              </a:rPr>
              <a:t>in the </a:t>
            </a:r>
            <a:r>
              <a:rPr lang="en-US" sz="2400" b="1" i="1" dirty="0" err="1">
                <a:solidFill>
                  <a:srgbClr val="000000"/>
                </a:solidFill>
                <a:ea typeface="+mn-lt"/>
                <a:cs typeface="+mn-lt"/>
              </a:rPr>
              <a:t>course_datasets</a:t>
            </a:r>
            <a:r>
              <a:rPr lang="en-US" sz="2400" b="1" i="1" dirty="0">
                <a:solidFill>
                  <a:srgbClr val="000000"/>
                </a:solidFill>
                <a:ea typeface="+mn-lt"/>
                <a:cs typeface="+mn-lt"/>
              </a:rPr>
              <a:t> </a:t>
            </a:r>
            <a:r>
              <a:rPr lang="en-US" sz="2400" i="1" dirty="0">
                <a:solidFill>
                  <a:srgbClr val="000000"/>
                </a:solidFill>
                <a:ea typeface="+mn-lt"/>
                <a:cs typeface="+mn-lt"/>
              </a:rPr>
              <a:t>folder (courtesy of F. Schutz and F. </a:t>
            </a:r>
            <a:r>
              <a:rPr lang="en-US" sz="2400" i="1" dirty="0" err="1">
                <a:solidFill>
                  <a:srgbClr val="000000"/>
                </a:solidFill>
                <a:ea typeface="+mn-lt"/>
                <a:cs typeface="+mn-lt"/>
              </a:rPr>
              <a:t>Preitner</a:t>
            </a:r>
            <a:r>
              <a:rPr lang="en-US" sz="2400" i="1" dirty="0">
                <a:solidFill>
                  <a:srgbClr val="000000"/>
                </a:solidFill>
                <a:ea typeface="+mn-lt"/>
                <a:cs typeface="+mn-lt"/>
              </a:rPr>
              <a:t>)</a:t>
            </a:r>
            <a:r>
              <a:rPr lang="en-US" sz="2400" dirty="0">
                <a:solidFill>
                  <a:srgbClr val="000000"/>
                </a:solidFill>
                <a:ea typeface="+mn-lt"/>
                <a:cs typeface="+mn-lt"/>
              </a:rPr>
              <a:t>. Let's explore the dataset to see what it contains.</a:t>
            </a:r>
          </a:p>
          <a:p>
            <a:pPr marL="461010" indent="-457200">
              <a:spcBef>
                <a:spcPts val="723"/>
              </a:spcBef>
              <a:spcAft>
                <a:spcPts val="283"/>
              </a:spcAft>
              <a:buAutoNum type="arabicPeriod"/>
            </a:pPr>
            <a:r>
              <a:rPr lang="en-US" sz="2400" dirty="0">
                <a:solidFill>
                  <a:srgbClr val="000000"/>
                </a:solidFill>
                <a:latin typeface="Corbel"/>
                <a:cs typeface="Arial"/>
              </a:rPr>
              <a:t>Open a new script file in R studio, comment it and save it.</a:t>
            </a:r>
          </a:p>
          <a:p>
            <a:pPr marL="461010" indent="-457200">
              <a:spcBef>
                <a:spcPts val="723"/>
              </a:spcBef>
              <a:spcAft>
                <a:spcPts val="283"/>
              </a:spcAft>
              <a:buAutoNum type="arabicPeriod"/>
            </a:pPr>
            <a:r>
              <a:rPr lang="en-US" sz="2400" dirty="0">
                <a:solidFill>
                  <a:srgbClr val="000000"/>
                </a:solidFill>
                <a:latin typeface="Corbel"/>
                <a:cs typeface="Arial"/>
              </a:rPr>
              <a:t>Have look at the csv file in R studio's file explorer. What do you need to check in order to be able to read in the file correctly?</a:t>
            </a:r>
          </a:p>
          <a:p>
            <a:pPr marL="461010" indent="-457200">
              <a:spcBef>
                <a:spcPts val="723"/>
              </a:spcBef>
              <a:spcAft>
                <a:spcPts val="283"/>
              </a:spcAft>
              <a:buAutoNum type="arabicPeriod"/>
            </a:pPr>
            <a:r>
              <a:rPr lang="en-US" sz="2400" dirty="0">
                <a:solidFill>
                  <a:srgbClr val="000000"/>
                </a:solidFill>
                <a:latin typeface="Corbel"/>
                <a:cs typeface="Arial"/>
              </a:rPr>
              <a:t>Read the file into R, assign its content to object "</a:t>
            </a:r>
            <a:r>
              <a:rPr lang="en-US" sz="2400" err="1">
                <a:solidFill>
                  <a:srgbClr val="000000"/>
                </a:solidFill>
                <a:latin typeface="Corbel"/>
                <a:cs typeface="Arial"/>
              </a:rPr>
              <a:t>mice_data</a:t>
            </a:r>
            <a:r>
              <a:rPr lang="en-US" sz="2400" dirty="0">
                <a:solidFill>
                  <a:srgbClr val="000000"/>
                </a:solidFill>
                <a:latin typeface="Corbel"/>
                <a:cs typeface="Arial"/>
              </a:rPr>
              <a:t>". Examine the object.</a:t>
            </a:r>
          </a:p>
          <a:p>
            <a:pPr marL="461010" indent="-457200">
              <a:spcBef>
                <a:spcPts val="723"/>
              </a:spcBef>
              <a:spcAft>
                <a:spcPts val="283"/>
              </a:spcAft>
              <a:buAutoNum type="arabicPeriod"/>
            </a:pPr>
            <a:r>
              <a:rPr lang="en-US" sz="2400" dirty="0">
                <a:solidFill>
                  <a:srgbClr val="000000"/>
                </a:solidFill>
                <a:latin typeface="Corbel"/>
                <a:cs typeface="Arial"/>
              </a:rPr>
              <a:t>How many observations and variables does the dataset have? </a:t>
            </a:r>
          </a:p>
          <a:p>
            <a:pPr marL="461010" indent="-457200">
              <a:spcBef>
                <a:spcPts val="723"/>
              </a:spcBef>
              <a:spcAft>
                <a:spcPts val="283"/>
              </a:spcAft>
              <a:buAutoNum type="arabicPeriod"/>
            </a:pPr>
            <a:r>
              <a:rPr lang="en-US" sz="2400" dirty="0">
                <a:solidFill>
                  <a:srgbClr val="000000"/>
                </a:solidFill>
                <a:ea typeface="+mn-lt"/>
                <a:cs typeface="+mn-lt"/>
              </a:rPr>
              <a:t>What is the structure of the dataset? What are the names and classes of the variables?</a:t>
            </a:r>
            <a:endParaRPr lang="en-US" sz="2400" dirty="0">
              <a:solidFill>
                <a:srgbClr val="000000"/>
              </a:solidFill>
              <a:latin typeface="Corbel"/>
              <a:cs typeface="Arial"/>
            </a:endParaRPr>
          </a:p>
        </p:txBody>
      </p:sp>
    </p:spTree>
    <p:extLst>
      <p:ext uri="{BB962C8B-B14F-4D97-AF65-F5344CB8AC3E}">
        <p14:creationId xmlns:p14="http://schemas.microsoft.com/office/powerpoint/2010/main" val="31894388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A9A93-2F20-1AB9-8070-694176AA2538}"/>
              </a:ext>
            </a:extLst>
          </p:cNvPr>
          <p:cNvSpPr>
            <a:spLocks noGrp="1"/>
          </p:cNvSpPr>
          <p:nvPr>
            <p:ph type="title"/>
          </p:nvPr>
        </p:nvSpPr>
        <p:spPr/>
        <p:txBody>
          <a:bodyPr/>
          <a:lstStyle/>
          <a:p>
            <a:r>
              <a:rPr lang="en-GB" dirty="0">
                <a:ea typeface="Verdana"/>
                <a:cs typeface="Gill Sans"/>
              </a:rPr>
              <a:t>Digression: factors (I)</a:t>
            </a:r>
            <a:endParaRPr lang="en-GB" dirty="0"/>
          </a:p>
        </p:txBody>
      </p:sp>
      <p:sp>
        <p:nvSpPr>
          <p:cNvPr id="3" name="Text Placeholder 2">
            <a:extLst>
              <a:ext uri="{FF2B5EF4-FFF2-40B4-BE49-F238E27FC236}">
                <a16:creationId xmlns:a16="http://schemas.microsoft.com/office/drawing/2014/main" id="{8AC8BF51-8C29-6217-3EA9-EE335FC494C1}"/>
              </a:ext>
            </a:extLst>
          </p:cNvPr>
          <p:cNvSpPr>
            <a:spLocks noGrp="1"/>
          </p:cNvSpPr>
          <p:nvPr>
            <p:ph type="body" sz="quarter" idx="11"/>
          </p:nvPr>
        </p:nvSpPr>
        <p:spPr>
          <a:xfrm>
            <a:off x="838200" y="1819275"/>
            <a:ext cx="10763250" cy="4351338"/>
          </a:xfrm>
        </p:spPr>
        <p:txBody>
          <a:bodyPr vert="horz" lIns="91440" tIns="45720" rIns="91440" bIns="45720" rtlCol="0" anchor="t">
            <a:normAutofit lnSpcReduction="10000"/>
          </a:bodyPr>
          <a:lstStyle/>
          <a:p>
            <a:r>
              <a:rPr lang="en-GB" dirty="0">
                <a:ea typeface="Tahoma"/>
                <a:cs typeface="Gill Sans Light"/>
              </a:rPr>
              <a:t>Factors is a datatype used to represent </a:t>
            </a:r>
            <a:r>
              <a:rPr lang="en-GB" b="1" dirty="0">
                <a:ea typeface="Tahoma"/>
                <a:cs typeface="Gill Sans Light"/>
              </a:rPr>
              <a:t>categorical data.</a:t>
            </a:r>
          </a:p>
          <a:p>
            <a:r>
              <a:rPr lang="en-GB" dirty="0">
                <a:ea typeface="Tahoma"/>
                <a:cs typeface="Gill Sans Light"/>
              </a:rPr>
              <a:t>Some functions require factors (and not character) to work properly.</a:t>
            </a:r>
          </a:p>
          <a:p>
            <a:endParaRPr lang="en-GB" dirty="0">
              <a:ea typeface="Tahoma"/>
              <a:cs typeface="Gill Sans Light"/>
            </a:endParaRPr>
          </a:p>
          <a:p>
            <a:r>
              <a:rPr lang="en-US" dirty="0">
                <a:latin typeface="Courier New"/>
                <a:ea typeface="+mn-lt"/>
                <a:cs typeface="+mn-lt"/>
              </a:rPr>
              <a:t>genotype &lt;- factor(c("WT", "WT", "Mut2", "Mut1", "Mut2"))</a:t>
            </a:r>
            <a:endParaRPr lang="en-GB">
              <a:latin typeface="Courier New"/>
            </a:endParaRPr>
          </a:p>
          <a:p>
            <a:r>
              <a:rPr lang="en-GB" dirty="0">
                <a:latin typeface="Courier New"/>
                <a:ea typeface="+mn-lt"/>
                <a:cs typeface="+mn-lt"/>
              </a:rPr>
              <a:t>[1] WT   </a:t>
            </a:r>
            <a:r>
              <a:rPr lang="en-GB" dirty="0" err="1">
                <a:latin typeface="Courier New"/>
                <a:ea typeface="+mn-lt"/>
                <a:cs typeface="+mn-lt"/>
              </a:rPr>
              <a:t>WT</a:t>
            </a:r>
            <a:r>
              <a:rPr lang="en-GB" dirty="0">
                <a:latin typeface="Courier New"/>
                <a:ea typeface="+mn-lt"/>
                <a:cs typeface="+mn-lt"/>
              </a:rPr>
              <a:t>   Mut2 Mut1 Mut2</a:t>
            </a:r>
            <a:endParaRPr lang="en-GB" dirty="0">
              <a:latin typeface="Courier New"/>
            </a:endParaRPr>
          </a:p>
          <a:p>
            <a:r>
              <a:rPr lang="en-GB" dirty="0">
                <a:latin typeface="Courier New"/>
                <a:ea typeface="+mn-lt"/>
                <a:cs typeface="+mn-lt"/>
              </a:rPr>
              <a:t>Levels: Mut1 Mut2 WT</a:t>
            </a:r>
            <a:endParaRPr lang="en-GB" dirty="0">
              <a:latin typeface="Courier New"/>
            </a:endParaRPr>
          </a:p>
          <a:p>
            <a:endParaRPr lang="en-GB" dirty="0">
              <a:latin typeface="Courier New"/>
              <a:ea typeface="+mn-lt"/>
              <a:cs typeface="+mn-lt"/>
            </a:endParaRPr>
          </a:p>
          <a:p>
            <a:pPr>
              <a:lnSpc>
                <a:spcPct val="100000"/>
              </a:lnSpc>
              <a:spcBef>
                <a:spcPct val="20000"/>
              </a:spcBef>
              <a:spcAft>
                <a:spcPts val="1200"/>
              </a:spcAft>
            </a:pPr>
            <a:r>
              <a:rPr lang="en-US" dirty="0">
                <a:ea typeface="+mn-lt"/>
                <a:cs typeface="+mn-lt"/>
              </a:rPr>
              <a:t>The available values in a factor are called levels.</a:t>
            </a:r>
          </a:p>
          <a:p>
            <a:pPr>
              <a:lnSpc>
                <a:spcPct val="100000"/>
              </a:lnSpc>
              <a:spcBef>
                <a:spcPct val="20000"/>
              </a:spcBef>
            </a:pPr>
            <a:r>
              <a:rPr lang="en-US" dirty="0">
                <a:latin typeface="Courier New"/>
                <a:ea typeface="+mn-lt"/>
                <a:cs typeface="+mn-lt"/>
              </a:rPr>
              <a:t>levels(genotype)</a:t>
            </a:r>
          </a:p>
          <a:p>
            <a:pPr>
              <a:lnSpc>
                <a:spcPct val="100000"/>
              </a:lnSpc>
              <a:spcBef>
                <a:spcPct val="20000"/>
              </a:spcBef>
            </a:pPr>
            <a:r>
              <a:rPr lang="en-US" dirty="0">
                <a:latin typeface="Courier New"/>
                <a:ea typeface="Tahoma"/>
                <a:cs typeface="Gill Sans Light"/>
              </a:rPr>
              <a:t>[1] "Mut1" "Mut2" "WT"</a:t>
            </a:r>
            <a:endParaRPr lang="en-US">
              <a:latin typeface="Courier New"/>
              <a:ea typeface="Tahoma"/>
              <a:cs typeface="Gill Sans Light"/>
            </a:endParaRPr>
          </a:p>
          <a:p>
            <a:endParaRPr lang="en-GB" dirty="0"/>
          </a:p>
          <a:p>
            <a:endParaRPr lang="en-US" dirty="0"/>
          </a:p>
        </p:txBody>
      </p:sp>
    </p:spTree>
    <p:extLst>
      <p:ext uri="{BB962C8B-B14F-4D97-AF65-F5344CB8AC3E}">
        <p14:creationId xmlns:p14="http://schemas.microsoft.com/office/powerpoint/2010/main" val="327566225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BA2E6-6030-9DA7-0F1E-D38F67CB1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16A63-8167-1F77-2B43-D26ADAD3B0CE}"/>
              </a:ext>
            </a:extLst>
          </p:cNvPr>
          <p:cNvSpPr>
            <a:spLocks noGrp="1"/>
          </p:cNvSpPr>
          <p:nvPr>
            <p:ph type="title"/>
          </p:nvPr>
        </p:nvSpPr>
        <p:spPr/>
        <p:txBody>
          <a:bodyPr/>
          <a:lstStyle/>
          <a:p>
            <a:r>
              <a:rPr lang="en-GB" dirty="0">
                <a:ea typeface="Verdana"/>
                <a:cs typeface="Gill Sans"/>
              </a:rPr>
              <a:t>Digression: factors (II)</a:t>
            </a:r>
            <a:endParaRPr lang="en-GB" dirty="0"/>
          </a:p>
        </p:txBody>
      </p:sp>
      <p:sp>
        <p:nvSpPr>
          <p:cNvPr id="3" name="Text Placeholder 2">
            <a:extLst>
              <a:ext uri="{FF2B5EF4-FFF2-40B4-BE49-F238E27FC236}">
                <a16:creationId xmlns:a16="http://schemas.microsoft.com/office/drawing/2014/main" id="{CAAF6457-FE00-32E6-6E36-948F918A2000}"/>
              </a:ext>
            </a:extLst>
          </p:cNvPr>
          <p:cNvSpPr>
            <a:spLocks noGrp="1"/>
          </p:cNvSpPr>
          <p:nvPr>
            <p:ph type="body" sz="quarter" idx="11"/>
          </p:nvPr>
        </p:nvSpPr>
        <p:spPr>
          <a:xfrm>
            <a:off x="838200" y="1819275"/>
            <a:ext cx="10763250" cy="4351338"/>
          </a:xfrm>
        </p:spPr>
        <p:txBody>
          <a:bodyPr vert="horz" lIns="91440" tIns="45720" rIns="91440" bIns="45720" rtlCol="0" anchor="t">
            <a:normAutofit/>
          </a:bodyPr>
          <a:lstStyle/>
          <a:p>
            <a:r>
              <a:rPr lang="en-GB" dirty="0">
                <a:ea typeface="Tahoma"/>
                <a:cs typeface="Gill Sans Light"/>
              </a:rPr>
              <a:t>By default factor levels are sorted alphabetically.</a:t>
            </a:r>
            <a:endParaRPr lang="en-US" dirty="0"/>
          </a:p>
          <a:p>
            <a:r>
              <a:rPr lang="en-GB" dirty="0">
                <a:ea typeface="Tahoma"/>
                <a:cs typeface="Gill Sans Light"/>
              </a:rPr>
              <a:t>We can specify them manually (sometimes useful to set reference level in some stat applications)</a:t>
            </a:r>
          </a:p>
          <a:p>
            <a:endParaRPr lang="en-GB" dirty="0">
              <a:ea typeface="Tahoma"/>
              <a:cs typeface="Gill Sans Light"/>
            </a:endParaRPr>
          </a:p>
          <a:p>
            <a:r>
              <a:rPr lang="en-US" dirty="0">
                <a:latin typeface="Courier New"/>
                <a:ea typeface="+mn-lt"/>
                <a:cs typeface="+mn-lt"/>
              </a:rPr>
              <a:t>genotype &lt;- factor(c("WT", "WT", "Mut2", "Mut1", "Mut2"),</a:t>
            </a:r>
            <a:endParaRPr lang="en-GB" dirty="0">
              <a:latin typeface="Courier New"/>
            </a:endParaRPr>
          </a:p>
          <a:p>
            <a:r>
              <a:rPr lang="en-US" dirty="0">
                <a:latin typeface="Courier New"/>
                <a:ea typeface="+mn-lt"/>
                <a:cs typeface="+mn-lt"/>
              </a:rPr>
              <a:t>                   </a:t>
            </a:r>
            <a:r>
              <a:rPr lang="en-US" b="1" dirty="0">
                <a:latin typeface="Courier New"/>
                <a:ea typeface="+mn-lt"/>
                <a:cs typeface="+mn-lt"/>
              </a:rPr>
              <a:t>levels=c("WT","Mut1","Mut2")</a:t>
            </a:r>
            <a:r>
              <a:rPr lang="en-US" dirty="0">
                <a:latin typeface="Courier New"/>
                <a:ea typeface="+mn-lt"/>
                <a:cs typeface="+mn-lt"/>
              </a:rPr>
              <a:t>)</a:t>
            </a:r>
            <a:endParaRPr lang="en-GB" dirty="0">
              <a:latin typeface="Courier New"/>
            </a:endParaRPr>
          </a:p>
          <a:p>
            <a:r>
              <a:rPr lang="en-GB" dirty="0">
                <a:latin typeface="Courier New"/>
                <a:ea typeface="+mn-lt"/>
                <a:cs typeface="+mn-lt"/>
              </a:rPr>
              <a:t>[1] WT   </a:t>
            </a:r>
            <a:r>
              <a:rPr lang="en-GB" dirty="0" err="1">
                <a:latin typeface="Courier New"/>
                <a:ea typeface="+mn-lt"/>
                <a:cs typeface="+mn-lt"/>
              </a:rPr>
              <a:t>WT</a:t>
            </a:r>
            <a:r>
              <a:rPr lang="en-GB" dirty="0">
                <a:latin typeface="Courier New"/>
                <a:ea typeface="+mn-lt"/>
                <a:cs typeface="+mn-lt"/>
              </a:rPr>
              <a:t>   Mut2 Mut1 Mut2</a:t>
            </a:r>
            <a:endParaRPr lang="en-GB" dirty="0">
              <a:latin typeface="Courier New"/>
            </a:endParaRPr>
          </a:p>
          <a:p>
            <a:r>
              <a:rPr lang="en-GB" dirty="0">
                <a:latin typeface="Courier New"/>
                <a:ea typeface="+mn-lt"/>
                <a:cs typeface="+mn-lt"/>
              </a:rPr>
              <a:t>Levels: WT </a:t>
            </a:r>
            <a:r>
              <a:rPr lang="en-GB" dirty="0">
                <a:latin typeface="Courier New"/>
                <a:ea typeface="+mn-lt"/>
                <a:cs typeface="Courier New"/>
              </a:rPr>
              <a:t>Mut1 Mut2</a:t>
            </a:r>
            <a:endParaRPr lang="en-GB" dirty="0">
              <a:latin typeface="Courier New"/>
            </a:endParaRPr>
          </a:p>
          <a:p>
            <a:endParaRPr lang="en-GB" dirty="0">
              <a:latin typeface="Courier New"/>
              <a:ea typeface="+mn-lt"/>
              <a:cs typeface="+mn-lt"/>
            </a:endParaRPr>
          </a:p>
          <a:p>
            <a:endParaRPr lang="en-GB" dirty="0"/>
          </a:p>
          <a:p>
            <a:endParaRPr lang="en-US" dirty="0"/>
          </a:p>
        </p:txBody>
      </p:sp>
    </p:spTree>
    <p:extLst>
      <p:ext uri="{BB962C8B-B14F-4D97-AF65-F5344CB8AC3E}">
        <p14:creationId xmlns:p14="http://schemas.microsoft.com/office/powerpoint/2010/main" val="126941169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C1D15-0B09-B256-9FBF-913CB1117C21}"/>
              </a:ext>
            </a:extLst>
          </p:cNvPr>
          <p:cNvSpPr>
            <a:spLocks noGrp="1"/>
          </p:cNvSpPr>
          <p:nvPr>
            <p:ph type="title"/>
          </p:nvPr>
        </p:nvSpPr>
        <p:spPr/>
        <p:txBody>
          <a:bodyPr/>
          <a:lstStyle/>
          <a:p>
            <a:r>
              <a:rPr lang="en-GB" dirty="0">
                <a:ea typeface="Verdana"/>
                <a:cs typeface="Gill Sans"/>
              </a:rPr>
              <a:t>Setting factor variables </a:t>
            </a:r>
            <a:endParaRPr lang="en-GB"/>
          </a:p>
        </p:txBody>
      </p:sp>
      <p:sp>
        <p:nvSpPr>
          <p:cNvPr id="3" name="Text Placeholder 2">
            <a:extLst>
              <a:ext uri="{FF2B5EF4-FFF2-40B4-BE49-F238E27FC236}">
                <a16:creationId xmlns:a16="http://schemas.microsoft.com/office/drawing/2014/main" id="{92EA1A3C-0B70-B247-88D2-25C12A935ECA}"/>
              </a:ext>
            </a:extLst>
          </p:cNvPr>
          <p:cNvSpPr>
            <a:spLocks noGrp="1"/>
          </p:cNvSpPr>
          <p:nvPr>
            <p:ph type="body" sz="quarter" idx="11"/>
          </p:nvPr>
        </p:nvSpPr>
        <p:spPr>
          <a:xfrm>
            <a:off x="838200" y="857250"/>
            <a:ext cx="10982325" cy="5313363"/>
          </a:xfrm>
        </p:spPr>
        <p:txBody>
          <a:bodyPr vert="horz" lIns="91440" tIns="45720" rIns="91440" bIns="45720" rtlCol="0" anchor="t">
            <a:noAutofit/>
          </a:bodyPr>
          <a:lstStyle/>
          <a:p>
            <a:pPr>
              <a:lnSpc>
                <a:spcPct val="100000"/>
              </a:lnSpc>
              <a:spcBef>
                <a:spcPts val="0"/>
              </a:spcBef>
            </a:pPr>
            <a:r>
              <a:rPr lang="pt-BR" err="1">
                <a:ea typeface="+mn-lt"/>
                <a:cs typeface="+mn-lt"/>
              </a:rPr>
              <a:t>Convert</a:t>
            </a:r>
            <a:r>
              <a:rPr lang="pt-BR" dirty="0">
                <a:ea typeface="+mn-lt"/>
                <a:cs typeface="+mn-lt"/>
              </a:rPr>
              <a:t> </a:t>
            </a:r>
            <a:r>
              <a:rPr lang="pt-BR" err="1">
                <a:ea typeface="+mn-lt"/>
                <a:cs typeface="+mn-lt"/>
              </a:rPr>
              <a:t>categorical</a:t>
            </a:r>
            <a:r>
              <a:rPr lang="pt-BR" dirty="0">
                <a:ea typeface="+mn-lt"/>
                <a:cs typeface="+mn-lt"/>
              </a:rPr>
              <a:t> </a:t>
            </a:r>
            <a:r>
              <a:rPr lang="pt-BR" err="1">
                <a:ea typeface="+mn-lt"/>
                <a:cs typeface="+mn-lt"/>
              </a:rPr>
              <a:t>variables</a:t>
            </a:r>
            <a:r>
              <a:rPr lang="pt-BR" dirty="0">
                <a:ea typeface="+mn-lt"/>
                <a:cs typeface="+mn-lt"/>
              </a:rPr>
              <a:t> </a:t>
            </a:r>
            <a:r>
              <a:rPr lang="pt-BR" err="1">
                <a:ea typeface="+mn-lt"/>
                <a:cs typeface="+mn-lt"/>
              </a:rPr>
              <a:t>to</a:t>
            </a:r>
            <a:r>
              <a:rPr lang="pt-BR" dirty="0">
                <a:ea typeface="+mn-lt"/>
                <a:cs typeface="+mn-lt"/>
              </a:rPr>
              <a:t> </a:t>
            </a:r>
            <a:r>
              <a:rPr lang="pt-BR" err="1">
                <a:ea typeface="+mn-lt"/>
                <a:cs typeface="+mn-lt"/>
              </a:rPr>
              <a:t>factors</a:t>
            </a:r>
            <a:r>
              <a:rPr lang="pt-BR" dirty="0">
                <a:ea typeface="+mn-lt"/>
                <a:cs typeface="+mn-lt"/>
              </a:rPr>
              <a:t> as </a:t>
            </a:r>
            <a:r>
              <a:rPr lang="pt-BR" err="1">
                <a:ea typeface="+mn-lt"/>
                <a:cs typeface="+mn-lt"/>
              </a:rPr>
              <a:t>needed</a:t>
            </a:r>
            <a:r>
              <a:rPr lang="pt-BR" dirty="0">
                <a:ea typeface="+mn-lt"/>
                <a:cs typeface="+mn-lt"/>
              </a:rPr>
              <a:t>.</a:t>
            </a:r>
            <a:endParaRPr lang="en-US" dirty="0">
              <a:ea typeface="+mn-lt"/>
              <a:cs typeface="+mn-lt"/>
            </a:endParaRPr>
          </a:p>
          <a:p>
            <a:pPr>
              <a:lnSpc>
                <a:spcPct val="100000"/>
              </a:lnSpc>
              <a:spcBef>
                <a:spcPts val="0"/>
              </a:spcBef>
            </a:pPr>
            <a:endParaRPr lang="pt-BR" dirty="0">
              <a:ea typeface="+mn-lt"/>
              <a:cs typeface="+mn-lt"/>
            </a:endParaRPr>
          </a:p>
          <a:p>
            <a:pPr>
              <a:lnSpc>
                <a:spcPct val="100000"/>
              </a:lnSpc>
              <a:spcBef>
                <a:spcPts val="0"/>
              </a:spcBef>
            </a:pPr>
            <a:r>
              <a:rPr lang="pt-BR" dirty="0" err="1">
                <a:latin typeface="Courier New"/>
                <a:ea typeface="+mn-lt"/>
                <a:cs typeface="+mn-lt"/>
              </a:rPr>
              <a:t>snps$chr</a:t>
            </a:r>
            <a:r>
              <a:rPr lang="pt-BR" dirty="0">
                <a:latin typeface="Courier New"/>
                <a:ea typeface="+mn-lt"/>
                <a:cs typeface="+mn-lt"/>
              </a:rPr>
              <a:t>   &lt;- </a:t>
            </a:r>
            <a:r>
              <a:rPr lang="pt-BR" dirty="0" err="1">
                <a:latin typeface="Courier New"/>
                <a:ea typeface="+mn-lt"/>
                <a:cs typeface="+mn-lt"/>
              </a:rPr>
              <a:t>factor</a:t>
            </a:r>
            <a:r>
              <a:rPr lang="pt-BR" dirty="0">
                <a:latin typeface="Courier New"/>
                <a:ea typeface="+mn-lt"/>
                <a:cs typeface="+mn-lt"/>
              </a:rPr>
              <a:t>(</a:t>
            </a:r>
            <a:r>
              <a:rPr lang="pt-BR" dirty="0" err="1">
                <a:latin typeface="Courier New"/>
                <a:ea typeface="+mn-lt"/>
                <a:cs typeface="+mn-lt"/>
              </a:rPr>
              <a:t>snps$chr</a:t>
            </a:r>
            <a:r>
              <a:rPr lang="pt-BR" dirty="0">
                <a:latin typeface="Courier New"/>
                <a:ea typeface="+mn-lt"/>
                <a:cs typeface="+mn-lt"/>
              </a:rPr>
              <a:t>, </a:t>
            </a:r>
            <a:r>
              <a:rPr lang="pt-BR" dirty="0" err="1">
                <a:latin typeface="Courier New"/>
                <a:ea typeface="+mn-lt"/>
                <a:cs typeface="+mn-lt"/>
              </a:rPr>
              <a:t>levels</a:t>
            </a:r>
            <a:r>
              <a:rPr lang="pt-BR" dirty="0">
                <a:latin typeface="Courier New"/>
                <a:ea typeface="+mn-lt"/>
                <a:cs typeface="+mn-lt"/>
              </a:rPr>
              <a:t>=c("1","5","16","22"))</a:t>
            </a:r>
            <a:endParaRPr lang="en-US" dirty="0">
              <a:latin typeface="Courier New"/>
              <a:ea typeface="+mn-lt"/>
              <a:cs typeface="+mn-lt"/>
            </a:endParaRPr>
          </a:p>
          <a:p>
            <a:pPr>
              <a:lnSpc>
                <a:spcPct val="100000"/>
              </a:lnSpc>
              <a:spcBef>
                <a:spcPts val="0"/>
              </a:spcBef>
            </a:pPr>
            <a:r>
              <a:rPr lang="pt-BR" dirty="0" err="1">
                <a:latin typeface="Courier New"/>
                <a:ea typeface="+mn-lt"/>
                <a:cs typeface="+mn-lt"/>
              </a:rPr>
              <a:t>snps$minor</a:t>
            </a:r>
            <a:r>
              <a:rPr lang="pt-BR" dirty="0">
                <a:latin typeface="Courier New"/>
                <a:ea typeface="+mn-lt"/>
                <a:cs typeface="+mn-lt"/>
              </a:rPr>
              <a:t> &lt;- </a:t>
            </a:r>
            <a:r>
              <a:rPr lang="pt-BR" dirty="0" err="1">
                <a:latin typeface="Courier New"/>
                <a:ea typeface="+mn-lt"/>
                <a:cs typeface="+mn-lt"/>
              </a:rPr>
              <a:t>factor</a:t>
            </a:r>
            <a:r>
              <a:rPr lang="pt-BR" dirty="0">
                <a:latin typeface="Courier New"/>
                <a:ea typeface="+mn-lt"/>
                <a:cs typeface="+mn-lt"/>
              </a:rPr>
              <a:t>(</a:t>
            </a:r>
            <a:r>
              <a:rPr lang="pt-BR" dirty="0" err="1">
                <a:latin typeface="Courier New"/>
                <a:ea typeface="+mn-lt"/>
                <a:cs typeface="+mn-lt"/>
              </a:rPr>
              <a:t>snps$minor</a:t>
            </a:r>
            <a:r>
              <a:rPr lang="pt-BR" dirty="0">
                <a:latin typeface="Courier New"/>
                <a:ea typeface="+mn-lt"/>
                <a:cs typeface="+mn-lt"/>
              </a:rPr>
              <a:t>)</a:t>
            </a:r>
            <a:endParaRPr lang="en-US">
              <a:latin typeface="Courier New"/>
              <a:ea typeface="+mn-lt"/>
              <a:cs typeface="+mn-lt"/>
            </a:endParaRPr>
          </a:p>
          <a:p>
            <a:pPr>
              <a:lnSpc>
                <a:spcPct val="100000"/>
              </a:lnSpc>
              <a:spcBef>
                <a:spcPts val="0"/>
              </a:spcBef>
            </a:pPr>
            <a:r>
              <a:rPr lang="pt-BR" dirty="0" err="1">
                <a:latin typeface="Courier New"/>
                <a:ea typeface="+mn-lt"/>
                <a:cs typeface="+mn-lt"/>
              </a:rPr>
              <a:t>snps$major</a:t>
            </a:r>
            <a:r>
              <a:rPr lang="pt-BR" dirty="0">
                <a:latin typeface="Courier New"/>
                <a:ea typeface="+mn-lt"/>
                <a:cs typeface="+mn-lt"/>
              </a:rPr>
              <a:t> &lt;- </a:t>
            </a:r>
            <a:r>
              <a:rPr lang="pt-BR" dirty="0" err="1">
                <a:latin typeface="Courier New"/>
                <a:ea typeface="+mn-lt"/>
                <a:cs typeface="+mn-lt"/>
              </a:rPr>
              <a:t>factor</a:t>
            </a:r>
            <a:r>
              <a:rPr lang="pt-BR" dirty="0">
                <a:latin typeface="Courier New"/>
                <a:ea typeface="+mn-lt"/>
                <a:cs typeface="+mn-lt"/>
              </a:rPr>
              <a:t>(</a:t>
            </a:r>
            <a:r>
              <a:rPr lang="pt-BR" dirty="0" err="1">
                <a:latin typeface="Courier New"/>
                <a:ea typeface="+mn-lt"/>
                <a:cs typeface="+mn-lt"/>
              </a:rPr>
              <a:t>snps$major</a:t>
            </a:r>
            <a:r>
              <a:rPr lang="pt-BR" dirty="0">
                <a:latin typeface="Courier New"/>
                <a:ea typeface="+mn-lt"/>
                <a:cs typeface="+mn-lt"/>
              </a:rPr>
              <a:t>)</a:t>
            </a:r>
            <a:endParaRPr lang="en-US">
              <a:latin typeface="Courier New"/>
              <a:ea typeface="+mn-lt"/>
              <a:cs typeface="+mn-lt"/>
            </a:endParaRPr>
          </a:p>
          <a:p>
            <a:pPr>
              <a:lnSpc>
                <a:spcPct val="100000"/>
              </a:lnSpc>
              <a:spcBef>
                <a:spcPts val="0"/>
              </a:spcBef>
            </a:pPr>
            <a:endParaRPr lang="pt-BR" dirty="0">
              <a:latin typeface="Courier New"/>
              <a:ea typeface="+mn-lt"/>
              <a:cs typeface="+mn-lt"/>
            </a:endParaRPr>
          </a:p>
          <a:p>
            <a:pPr>
              <a:lnSpc>
                <a:spcPct val="100000"/>
              </a:lnSpc>
              <a:spcBef>
                <a:spcPts val="0"/>
              </a:spcBef>
            </a:pPr>
            <a:endParaRPr lang="pt-BR" dirty="0">
              <a:latin typeface="Courier New"/>
              <a:ea typeface="+mn-lt"/>
              <a:cs typeface="+mn-lt"/>
            </a:endParaRPr>
          </a:p>
          <a:p>
            <a:pPr>
              <a:lnSpc>
                <a:spcPct val="100000"/>
              </a:lnSpc>
              <a:spcBef>
                <a:spcPts val="0"/>
              </a:spcBef>
            </a:pPr>
            <a:r>
              <a:rPr lang="tr-TR" err="1">
                <a:latin typeface="Courier New"/>
                <a:ea typeface="+mn-lt"/>
                <a:cs typeface="+mn-lt"/>
              </a:rPr>
              <a:t>str</a:t>
            </a:r>
            <a:r>
              <a:rPr lang="tr-TR" dirty="0">
                <a:latin typeface="Courier New"/>
                <a:ea typeface="+mn-lt"/>
                <a:cs typeface="+mn-lt"/>
              </a:rPr>
              <a:t>(</a:t>
            </a:r>
            <a:r>
              <a:rPr lang="tr-TR" err="1">
                <a:latin typeface="Courier New"/>
                <a:ea typeface="+mn-lt"/>
                <a:cs typeface="+mn-lt"/>
              </a:rPr>
              <a:t>snps</a:t>
            </a:r>
            <a:r>
              <a:rPr lang="tr-TR" dirty="0">
                <a:latin typeface="Courier New"/>
                <a:ea typeface="+mn-lt"/>
                <a:cs typeface="+mn-lt"/>
              </a:rPr>
              <a:t>)  </a:t>
            </a:r>
            <a:r>
              <a:rPr lang="tr-TR" b="1" dirty="0">
                <a:solidFill>
                  <a:schemeClr val="accent4"/>
                </a:solidFill>
                <a:latin typeface="Courier New"/>
                <a:ea typeface="+mn-lt"/>
                <a:cs typeface="+mn-lt"/>
              </a:rPr>
              <a:t># </a:t>
            </a:r>
            <a:r>
              <a:rPr lang="tr-TR" b="1" err="1">
                <a:solidFill>
                  <a:schemeClr val="accent4"/>
                </a:solidFill>
                <a:latin typeface="Courier New"/>
                <a:ea typeface="+mn-lt"/>
                <a:cs typeface="+mn-lt"/>
              </a:rPr>
              <a:t>structure</a:t>
            </a:r>
            <a:r>
              <a:rPr lang="tr-TR" b="1" dirty="0">
                <a:solidFill>
                  <a:schemeClr val="accent4"/>
                </a:solidFill>
                <a:latin typeface="Courier New"/>
                <a:ea typeface="+mn-lt"/>
                <a:cs typeface="+mn-lt"/>
              </a:rPr>
              <a:t> of </a:t>
            </a:r>
            <a:r>
              <a:rPr lang="tr-TR" b="1" err="1">
                <a:solidFill>
                  <a:schemeClr val="accent4"/>
                </a:solidFill>
                <a:latin typeface="Courier New"/>
                <a:ea typeface="+mn-lt"/>
                <a:cs typeface="+mn-lt"/>
              </a:rPr>
              <a:t>the</a:t>
            </a:r>
            <a:r>
              <a:rPr lang="tr-TR" b="1" dirty="0">
                <a:solidFill>
                  <a:schemeClr val="accent4"/>
                </a:solidFill>
                <a:latin typeface="Courier New"/>
                <a:ea typeface="+mn-lt"/>
                <a:cs typeface="+mn-lt"/>
              </a:rPr>
              <a:t> data </a:t>
            </a:r>
            <a:r>
              <a:rPr lang="tr-TR" b="1" err="1">
                <a:solidFill>
                  <a:schemeClr val="accent4"/>
                </a:solidFill>
                <a:latin typeface="Courier New"/>
                <a:ea typeface="+mn-lt"/>
                <a:cs typeface="+mn-lt"/>
              </a:rPr>
              <a:t>fram</a:t>
            </a:r>
            <a:r>
              <a:rPr lang="en-US" b="1" dirty="0">
                <a:solidFill>
                  <a:schemeClr val="accent4"/>
                </a:solidFill>
                <a:latin typeface="Courier New"/>
                <a:ea typeface="+mn-lt"/>
                <a:cs typeface="+mn-lt"/>
              </a:rPr>
              <a:t>e</a:t>
            </a:r>
            <a:endParaRPr lang="tr-TR" b="1" dirty="0">
              <a:solidFill>
                <a:schemeClr val="accent4"/>
              </a:solidFill>
              <a:latin typeface="Courier New"/>
              <a:ea typeface="+mn-lt"/>
              <a:cs typeface="+mn-lt"/>
            </a:endParaRPr>
          </a:p>
          <a:p>
            <a:pPr>
              <a:lnSpc>
                <a:spcPct val="100000"/>
              </a:lnSpc>
              <a:spcBef>
                <a:spcPts val="0"/>
              </a:spcBef>
            </a:pPr>
            <a:r>
              <a:rPr lang="en-US" dirty="0">
                <a:latin typeface="Courier New"/>
                <a:ea typeface="+mn-lt"/>
                <a:cs typeface="+mn-lt"/>
              </a:rPr>
              <a:t> '</a:t>
            </a:r>
            <a:r>
              <a:rPr lang="en-US" err="1">
                <a:latin typeface="Courier New"/>
                <a:ea typeface="+mn-lt"/>
                <a:cs typeface="+mn-lt"/>
              </a:rPr>
              <a:t>data.frame</a:t>
            </a:r>
            <a:r>
              <a:rPr lang="en-US" dirty="0">
                <a:latin typeface="Courier New"/>
                <a:ea typeface="+mn-lt"/>
                <a:cs typeface="+mn-lt"/>
              </a:rPr>
              <a:t>': 40 obs. of  4 variables:</a:t>
            </a:r>
          </a:p>
          <a:p>
            <a:pPr>
              <a:lnSpc>
                <a:spcPct val="100000"/>
              </a:lnSpc>
              <a:spcBef>
                <a:spcPts val="0"/>
              </a:spcBef>
            </a:pPr>
            <a:r>
              <a:rPr lang="en-US" dirty="0">
                <a:latin typeface="Courier New"/>
                <a:ea typeface="+mn-lt"/>
                <a:cs typeface="+mn-lt"/>
              </a:rPr>
              <a:t> $ chr  : Factor w/ 4 levels "1","5","16","22": 1 1 1 ...</a:t>
            </a:r>
          </a:p>
          <a:p>
            <a:pPr>
              <a:lnSpc>
                <a:spcPct val="100000"/>
              </a:lnSpc>
              <a:spcBef>
                <a:spcPts val="0"/>
              </a:spcBef>
            </a:pPr>
            <a:r>
              <a:rPr lang="en-US" dirty="0">
                <a:latin typeface="Courier New"/>
                <a:ea typeface="+mn-lt"/>
                <a:cs typeface="+mn-lt"/>
              </a:rPr>
              <a:t> $ pos  : int  123369 138369 153369 168369 183369 ...</a:t>
            </a:r>
          </a:p>
          <a:p>
            <a:pPr>
              <a:lnSpc>
                <a:spcPct val="100000"/>
              </a:lnSpc>
              <a:spcBef>
                <a:spcPts val="0"/>
              </a:spcBef>
            </a:pPr>
            <a:r>
              <a:rPr lang="en-US" dirty="0">
                <a:latin typeface="Courier New"/>
                <a:ea typeface="+mn-lt"/>
                <a:cs typeface="+mn-lt"/>
              </a:rPr>
              <a:t> $ minor: Factor w/ 4 levels "A","C","G","T": 1 3 4 2 3 ...</a:t>
            </a:r>
          </a:p>
          <a:p>
            <a:pPr>
              <a:lnSpc>
                <a:spcPct val="100000"/>
              </a:lnSpc>
              <a:spcBef>
                <a:spcPts val="0"/>
              </a:spcBef>
            </a:pPr>
            <a:r>
              <a:rPr lang="en-US" dirty="0">
                <a:latin typeface="Courier New"/>
                <a:ea typeface="+mn-lt"/>
                <a:cs typeface="+mn-lt"/>
              </a:rPr>
              <a:t> $ major: Factor w/ 4 levels "A","C","G","T": 2 4 2 4 1 ...</a:t>
            </a:r>
            <a:endParaRPr lang="pt-BR" dirty="0">
              <a:latin typeface="Courier New"/>
              <a:ea typeface="+mn-lt"/>
              <a:cs typeface="+mn-lt"/>
            </a:endParaRPr>
          </a:p>
        </p:txBody>
      </p:sp>
    </p:spTree>
    <p:extLst>
      <p:ext uri="{BB962C8B-B14F-4D97-AF65-F5344CB8AC3E}">
        <p14:creationId xmlns:p14="http://schemas.microsoft.com/office/powerpoint/2010/main" val="251554687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796E1-DE3C-6A35-71B4-481109BA7B0A}"/>
              </a:ext>
            </a:extLst>
          </p:cNvPr>
          <p:cNvSpPr>
            <a:spLocks noGrp="1"/>
          </p:cNvSpPr>
          <p:nvPr>
            <p:ph type="title"/>
          </p:nvPr>
        </p:nvSpPr>
        <p:spPr/>
        <p:txBody>
          <a:bodyPr/>
          <a:lstStyle/>
          <a:p>
            <a:r>
              <a:rPr lang="en-GB" dirty="0">
                <a:ea typeface="Verdana"/>
                <a:cs typeface="Gill Sans"/>
              </a:rPr>
              <a:t>Getting a summary</a:t>
            </a:r>
            <a:endParaRPr lang="en-GB" dirty="0"/>
          </a:p>
        </p:txBody>
      </p:sp>
      <p:sp>
        <p:nvSpPr>
          <p:cNvPr id="3" name="Text Placeholder 2">
            <a:extLst>
              <a:ext uri="{FF2B5EF4-FFF2-40B4-BE49-F238E27FC236}">
                <a16:creationId xmlns:a16="http://schemas.microsoft.com/office/drawing/2014/main" id="{C20C8FD4-03FD-E074-21B8-09BE1C599729}"/>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0"/>
              </a:spcBef>
            </a:pPr>
            <a:r>
              <a:rPr lang="pt-BR" dirty="0" err="1">
                <a:latin typeface="Courier New"/>
                <a:ea typeface="+mn-lt"/>
                <a:cs typeface="+mn-lt"/>
              </a:rPr>
              <a:t>summary</a:t>
            </a:r>
            <a:r>
              <a:rPr lang="pt-BR" dirty="0">
                <a:latin typeface="Courier New"/>
                <a:ea typeface="+mn-lt"/>
                <a:cs typeface="+mn-lt"/>
              </a:rPr>
              <a:t>(</a:t>
            </a:r>
            <a:r>
              <a:rPr lang="pt-BR" dirty="0" err="1">
                <a:latin typeface="Courier New"/>
                <a:ea typeface="+mn-lt"/>
                <a:cs typeface="+mn-lt"/>
              </a:rPr>
              <a:t>snps</a:t>
            </a:r>
            <a:r>
              <a:rPr lang="pt-BR" dirty="0">
                <a:latin typeface="Courier New"/>
                <a:ea typeface="+mn-lt"/>
                <a:cs typeface="+mn-lt"/>
              </a:rPr>
              <a:t>) </a:t>
            </a:r>
            <a:endParaRPr lang="en-US" dirty="0">
              <a:latin typeface="Courier New"/>
              <a:ea typeface="+mn-lt"/>
              <a:cs typeface="+mn-lt"/>
            </a:endParaRPr>
          </a:p>
          <a:p>
            <a:pPr>
              <a:lnSpc>
                <a:spcPct val="100000"/>
              </a:lnSpc>
              <a:spcBef>
                <a:spcPts val="0"/>
              </a:spcBef>
            </a:pPr>
            <a:r>
              <a:rPr lang="en-US" dirty="0">
                <a:latin typeface="Courier New"/>
                <a:ea typeface="+mn-lt"/>
                <a:cs typeface="+mn-lt"/>
              </a:rPr>
              <a:t> chr          pos          minor  major </a:t>
            </a:r>
            <a:endParaRPr lang="en-US">
              <a:latin typeface="Courier New"/>
              <a:ea typeface="+mn-lt"/>
              <a:cs typeface="+mn-lt"/>
            </a:endParaRPr>
          </a:p>
          <a:p>
            <a:pPr>
              <a:lnSpc>
                <a:spcPct val="100000"/>
              </a:lnSpc>
              <a:spcBef>
                <a:spcPts val="0"/>
              </a:spcBef>
            </a:pPr>
            <a:r>
              <a:rPr lang="en-US" dirty="0">
                <a:latin typeface="Courier New"/>
                <a:ea typeface="+mn-lt"/>
                <a:cs typeface="+mn-lt"/>
              </a:rPr>
              <a:t> 1 : 6   Min.   : 123369   A: 9   A:17  </a:t>
            </a:r>
            <a:endParaRPr lang="en-US">
              <a:latin typeface="Courier New"/>
              <a:ea typeface="+mn-lt"/>
              <a:cs typeface="+mn-lt"/>
            </a:endParaRPr>
          </a:p>
          <a:p>
            <a:pPr>
              <a:lnSpc>
                <a:spcPct val="100000"/>
              </a:lnSpc>
              <a:spcBef>
                <a:spcPts val="0"/>
              </a:spcBef>
            </a:pPr>
            <a:r>
              <a:rPr lang="en-US" dirty="0">
                <a:latin typeface="Courier New"/>
                <a:ea typeface="+mn-lt"/>
                <a:cs typeface="+mn-lt"/>
              </a:rPr>
              <a:t> 5 : 9   1st Qu.: 340869   C:10   </a:t>
            </a:r>
            <a:r>
              <a:rPr lang="en-US" dirty="0" err="1">
                <a:latin typeface="Courier New"/>
                <a:ea typeface="+mn-lt"/>
                <a:cs typeface="+mn-lt"/>
              </a:rPr>
              <a:t>C:10</a:t>
            </a:r>
            <a:r>
              <a:rPr lang="en-US" dirty="0">
                <a:latin typeface="Courier New"/>
                <a:ea typeface="+mn-lt"/>
                <a:cs typeface="+mn-lt"/>
              </a:rPr>
              <a:t>  </a:t>
            </a:r>
            <a:endParaRPr lang="en-US">
              <a:latin typeface="Courier New"/>
              <a:ea typeface="+mn-lt"/>
              <a:cs typeface="+mn-lt"/>
            </a:endParaRPr>
          </a:p>
          <a:p>
            <a:pPr>
              <a:lnSpc>
                <a:spcPct val="100000"/>
              </a:lnSpc>
              <a:spcBef>
                <a:spcPts val="0"/>
              </a:spcBef>
            </a:pPr>
            <a:r>
              <a:rPr lang="en-US" dirty="0">
                <a:latin typeface="Courier New"/>
                <a:ea typeface="+mn-lt"/>
                <a:cs typeface="+mn-lt"/>
              </a:rPr>
              <a:t> 16: 9   Median : 715869   G:15   G: 4  </a:t>
            </a:r>
            <a:endParaRPr lang="en-US">
              <a:latin typeface="Courier New"/>
              <a:ea typeface="+mn-lt"/>
              <a:cs typeface="+mn-lt"/>
            </a:endParaRPr>
          </a:p>
          <a:p>
            <a:pPr>
              <a:lnSpc>
                <a:spcPct val="100000"/>
              </a:lnSpc>
              <a:spcBef>
                <a:spcPts val="0"/>
              </a:spcBef>
            </a:pPr>
            <a:r>
              <a:rPr lang="en-US" dirty="0">
                <a:latin typeface="Courier New"/>
                <a:ea typeface="+mn-lt"/>
                <a:cs typeface="+mn-lt"/>
              </a:rPr>
              <a:t> 22:16   Mean   : 777869   T: 6   T: 9  </a:t>
            </a:r>
            <a:endParaRPr lang="en-US">
              <a:latin typeface="Courier New"/>
              <a:ea typeface="+mn-lt"/>
              <a:cs typeface="+mn-lt"/>
            </a:endParaRPr>
          </a:p>
          <a:p>
            <a:pPr>
              <a:lnSpc>
                <a:spcPct val="100000"/>
              </a:lnSpc>
              <a:spcBef>
                <a:spcPts val="0"/>
              </a:spcBef>
            </a:pPr>
            <a:r>
              <a:rPr lang="en-US" dirty="0">
                <a:latin typeface="Courier New"/>
                <a:ea typeface="+mn-lt"/>
                <a:cs typeface="+mn-lt"/>
              </a:rPr>
              <a:t>         3rd Qu.:1185869                </a:t>
            </a:r>
            <a:endParaRPr lang="en-US">
              <a:latin typeface="Courier New"/>
              <a:ea typeface="+mn-lt"/>
              <a:cs typeface="+mn-lt"/>
            </a:endParaRPr>
          </a:p>
          <a:p>
            <a:pPr>
              <a:lnSpc>
                <a:spcPct val="100000"/>
              </a:lnSpc>
              <a:spcBef>
                <a:spcPts val="0"/>
              </a:spcBef>
            </a:pPr>
            <a:r>
              <a:rPr lang="en-US" dirty="0">
                <a:latin typeface="Courier New"/>
                <a:ea typeface="+mn-lt"/>
                <a:cs typeface="+mn-lt"/>
              </a:rPr>
              <a:t>         Max.   :1673369 </a:t>
            </a:r>
            <a:endParaRPr lang="en-GB" dirty="0">
              <a:latin typeface="Courier New"/>
              <a:ea typeface="+mn-lt"/>
              <a:cs typeface="+mn-lt"/>
            </a:endParaRPr>
          </a:p>
          <a:p>
            <a:endParaRPr lang="en-GB" dirty="0"/>
          </a:p>
        </p:txBody>
      </p:sp>
    </p:spTree>
    <p:extLst>
      <p:ext uri="{BB962C8B-B14F-4D97-AF65-F5344CB8AC3E}">
        <p14:creationId xmlns:p14="http://schemas.microsoft.com/office/powerpoint/2010/main" val="95717429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FFC64-FAC3-514B-BB72-0BDB02B8C45D}"/>
              </a:ext>
            </a:extLst>
          </p:cNvPr>
          <p:cNvSpPr>
            <a:spLocks noGrp="1"/>
          </p:cNvSpPr>
          <p:nvPr>
            <p:ph type="title"/>
          </p:nvPr>
        </p:nvSpPr>
        <p:spPr/>
        <p:txBody>
          <a:bodyPr/>
          <a:lstStyle/>
          <a:p>
            <a:r>
              <a:rPr lang="en-GB" dirty="0">
                <a:ea typeface="Verdana"/>
                <a:cs typeface="Gill Sans"/>
              </a:rPr>
              <a:t>Reminder – accessing parts of the </a:t>
            </a:r>
            <a:r>
              <a:rPr lang="en-GB" dirty="0" err="1">
                <a:ea typeface="Verdana"/>
                <a:cs typeface="Gill Sans"/>
              </a:rPr>
              <a:t>dataframe</a:t>
            </a:r>
            <a:r>
              <a:rPr lang="en-GB" dirty="0">
                <a:ea typeface="Verdana"/>
                <a:cs typeface="Gill Sans"/>
              </a:rPr>
              <a:t> (I)</a:t>
            </a:r>
            <a:endParaRPr lang="en-GB" dirty="0" err="1"/>
          </a:p>
        </p:txBody>
      </p:sp>
      <p:sp>
        <p:nvSpPr>
          <p:cNvPr id="3" name="Text Placeholder 2">
            <a:extLst>
              <a:ext uri="{FF2B5EF4-FFF2-40B4-BE49-F238E27FC236}">
                <a16:creationId xmlns:a16="http://schemas.microsoft.com/office/drawing/2014/main" id="{520FCFD5-9CBD-39AF-C243-6E06004A23D5}"/>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0"/>
              </a:spcBef>
            </a:pPr>
            <a:r>
              <a:rPr lang="pt-BR" sz="1800" err="1">
                <a:latin typeface="Courier New"/>
                <a:ea typeface="+mn-lt"/>
                <a:cs typeface="+mn-lt"/>
              </a:rPr>
              <a:t>snps</a:t>
            </a:r>
            <a:r>
              <a:rPr lang="pt-BR" sz="1800" dirty="0">
                <a:latin typeface="Courier New"/>
                <a:ea typeface="+mn-lt"/>
                <a:cs typeface="+mn-lt"/>
              </a:rPr>
              <a:t>[2,]  </a:t>
            </a:r>
            <a:r>
              <a:rPr lang="pt-BR" sz="1800" b="1" dirty="0">
                <a:solidFill>
                  <a:schemeClr val="accent4"/>
                </a:solidFill>
                <a:latin typeface="Courier New"/>
                <a:ea typeface="+mn-lt"/>
                <a:cs typeface="+mn-lt"/>
              </a:rPr>
              <a:t># 2nd </a:t>
            </a:r>
            <a:r>
              <a:rPr lang="pt-BR" sz="1800" b="1" err="1">
                <a:solidFill>
                  <a:schemeClr val="accent4"/>
                </a:solidFill>
                <a:latin typeface="Courier New"/>
                <a:ea typeface="+mn-lt"/>
                <a:cs typeface="+mn-lt"/>
              </a:rPr>
              <a:t>row</a:t>
            </a:r>
            <a:endParaRPr lang="en-US" sz="1800" b="1">
              <a:solidFill>
                <a:schemeClr val="accent4"/>
              </a:solidFill>
              <a:latin typeface="Courier New"/>
              <a:ea typeface="+mn-lt"/>
              <a:cs typeface="+mn-lt"/>
            </a:endParaRPr>
          </a:p>
          <a:p>
            <a:pPr>
              <a:lnSpc>
                <a:spcPct val="100000"/>
              </a:lnSpc>
              <a:spcBef>
                <a:spcPts val="0"/>
              </a:spcBef>
            </a:pPr>
            <a:r>
              <a:rPr lang="pt-BR" sz="1800" dirty="0">
                <a:latin typeface="Courier New"/>
                <a:ea typeface="+mn-lt"/>
                <a:cs typeface="+mn-lt"/>
              </a:rPr>
              <a:t>   </a:t>
            </a:r>
            <a:r>
              <a:rPr lang="pt-BR" sz="1800" err="1">
                <a:latin typeface="Courier New"/>
                <a:ea typeface="+mn-lt"/>
                <a:cs typeface="+mn-lt"/>
              </a:rPr>
              <a:t>chr</a:t>
            </a:r>
            <a:r>
              <a:rPr lang="pt-BR" sz="1800" dirty="0">
                <a:latin typeface="Courier New"/>
                <a:ea typeface="+mn-lt"/>
                <a:cs typeface="+mn-lt"/>
              </a:rPr>
              <a:t>    </a:t>
            </a:r>
            <a:r>
              <a:rPr lang="pt-BR" sz="1800" err="1">
                <a:latin typeface="Courier New"/>
                <a:ea typeface="+mn-lt"/>
                <a:cs typeface="+mn-lt"/>
              </a:rPr>
              <a:t>pos</a:t>
            </a:r>
            <a:r>
              <a:rPr lang="pt-BR" sz="1800" dirty="0">
                <a:latin typeface="Courier New"/>
                <a:ea typeface="+mn-lt"/>
                <a:cs typeface="+mn-lt"/>
              </a:rPr>
              <a:t> </a:t>
            </a:r>
            <a:r>
              <a:rPr lang="pt-BR" sz="1800" err="1">
                <a:latin typeface="Courier New"/>
                <a:ea typeface="+mn-lt"/>
                <a:cs typeface="+mn-lt"/>
              </a:rPr>
              <a:t>minor</a:t>
            </a:r>
            <a:r>
              <a:rPr lang="pt-BR" sz="1800" dirty="0">
                <a:latin typeface="Courier New"/>
                <a:ea typeface="+mn-lt"/>
                <a:cs typeface="+mn-lt"/>
              </a:rPr>
              <a:t> major</a:t>
            </a:r>
            <a:endParaRPr lang="en-US" sz="1800">
              <a:latin typeface="Courier New"/>
              <a:ea typeface="+mn-lt"/>
              <a:cs typeface="+mn-lt"/>
            </a:endParaRPr>
          </a:p>
          <a:p>
            <a:pPr>
              <a:lnSpc>
                <a:spcPct val="100000"/>
              </a:lnSpc>
              <a:spcBef>
                <a:spcPts val="0"/>
              </a:spcBef>
            </a:pPr>
            <a:r>
              <a:rPr lang="pt-BR" sz="1800" dirty="0">
                <a:latin typeface="Courier New"/>
                <a:ea typeface="+mn-lt"/>
                <a:cs typeface="+mn-lt"/>
              </a:rPr>
              <a:t>2   1  138369    A     T</a:t>
            </a:r>
            <a:endParaRPr lang="pt-BR" sz="1800">
              <a:latin typeface="Courier New"/>
              <a:ea typeface="+mn-lt"/>
              <a:cs typeface="+mn-lt"/>
            </a:endParaRPr>
          </a:p>
          <a:p>
            <a:pPr>
              <a:lnSpc>
                <a:spcPct val="100000"/>
              </a:lnSpc>
              <a:spcBef>
                <a:spcPts val="0"/>
              </a:spcBef>
            </a:pPr>
            <a:endParaRPr lang="pt-BR" sz="1800" dirty="0">
              <a:latin typeface="Courier New"/>
              <a:ea typeface="+mn-lt"/>
              <a:cs typeface="+mn-lt"/>
            </a:endParaRPr>
          </a:p>
          <a:p>
            <a:pPr>
              <a:lnSpc>
                <a:spcPct val="100000"/>
              </a:lnSpc>
              <a:spcBef>
                <a:spcPts val="0"/>
              </a:spcBef>
            </a:pPr>
            <a:r>
              <a:rPr lang="pt-BR" sz="1800" err="1">
                <a:latin typeface="Courier New"/>
                <a:ea typeface="+mn-lt"/>
                <a:cs typeface="+mn-lt"/>
              </a:rPr>
              <a:t>snps</a:t>
            </a:r>
            <a:r>
              <a:rPr lang="pt-BR" sz="1800" dirty="0">
                <a:latin typeface="Courier New"/>
                <a:ea typeface="+mn-lt"/>
                <a:cs typeface="+mn-lt"/>
              </a:rPr>
              <a:t>[, "</a:t>
            </a:r>
            <a:r>
              <a:rPr lang="pt-BR" sz="1800" err="1">
                <a:latin typeface="Courier New"/>
                <a:ea typeface="+mn-lt"/>
                <a:cs typeface="+mn-lt"/>
              </a:rPr>
              <a:t>minor</a:t>
            </a:r>
            <a:r>
              <a:rPr lang="pt-BR" sz="1800" dirty="0">
                <a:latin typeface="Courier New"/>
                <a:ea typeface="+mn-lt"/>
                <a:cs typeface="+mn-lt"/>
              </a:rPr>
              <a:t>"]  </a:t>
            </a:r>
            <a:r>
              <a:rPr lang="pt-BR" sz="1800" b="1" dirty="0">
                <a:solidFill>
                  <a:schemeClr val="accent4"/>
                </a:solidFill>
                <a:latin typeface="Courier New"/>
                <a:ea typeface="+mn-lt"/>
                <a:cs typeface="+mn-lt"/>
              </a:rPr>
              <a:t># </a:t>
            </a:r>
            <a:r>
              <a:rPr lang="en-US" sz="1800" b="1" dirty="0">
                <a:solidFill>
                  <a:schemeClr val="accent4"/>
                </a:solidFill>
                <a:latin typeface="Courier New"/>
                <a:ea typeface="+mn-lt"/>
                <a:cs typeface="+mn-lt"/>
              </a:rPr>
              <a:t>column named "minor"</a:t>
            </a:r>
            <a:endParaRPr lang="da-DK" sz="1800" b="1">
              <a:solidFill>
                <a:schemeClr val="accent4"/>
              </a:solidFill>
              <a:latin typeface="Courier New"/>
              <a:ea typeface="+mn-lt"/>
              <a:cs typeface="+mn-lt"/>
            </a:endParaRPr>
          </a:p>
          <a:p>
            <a:pPr>
              <a:lnSpc>
                <a:spcPct val="100000"/>
              </a:lnSpc>
              <a:spcBef>
                <a:spcPts val="0"/>
              </a:spcBef>
            </a:pPr>
            <a:r>
              <a:rPr lang="da-DK" sz="1800" dirty="0">
                <a:latin typeface="Courier New"/>
                <a:ea typeface="+mn-lt"/>
                <a:cs typeface="+mn-lt"/>
              </a:rPr>
              <a:t>[1] A </a:t>
            </a:r>
            <a:r>
              <a:rPr lang="da-DK" sz="1800" err="1">
                <a:latin typeface="Courier New"/>
                <a:ea typeface="+mn-lt"/>
                <a:cs typeface="+mn-lt"/>
              </a:rPr>
              <a:t>A</a:t>
            </a:r>
            <a:r>
              <a:rPr lang="da-DK" sz="1800" dirty="0">
                <a:latin typeface="Courier New"/>
                <a:ea typeface="+mn-lt"/>
                <a:cs typeface="+mn-lt"/>
              </a:rPr>
              <a:t> T C G T G </a:t>
            </a:r>
            <a:r>
              <a:rPr lang="da-DK" sz="1800" err="1">
                <a:latin typeface="Courier New"/>
                <a:ea typeface="+mn-lt"/>
                <a:cs typeface="+mn-lt"/>
              </a:rPr>
              <a:t>G</a:t>
            </a:r>
            <a:r>
              <a:rPr lang="da-DK" sz="1800" dirty="0">
                <a:latin typeface="Courier New"/>
                <a:ea typeface="+mn-lt"/>
                <a:cs typeface="+mn-lt"/>
              </a:rPr>
              <a:t> A C A G A C G C A G </a:t>
            </a:r>
            <a:r>
              <a:rPr lang="da-DK" sz="1800" err="1">
                <a:latin typeface="Courier New"/>
                <a:ea typeface="+mn-lt"/>
                <a:cs typeface="+mn-lt"/>
              </a:rPr>
              <a:t>G</a:t>
            </a:r>
            <a:r>
              <a:rPr lang="da-DK" sz="1800" dirty="0">
                <a:latin typeface="Courier New"/>
                <a:ea typeface="+mn-lt"/>
                <a:cs typeface="+mn-lt"/>
              </a:rPr>
              <a:t> C G A C A G T C G C </a:t>
            </a:r>
            <a:r>
              <a:rPr lang="da-DK" sz="1800" err="1">
                <a:latin typeface="Courier New"/>
                <a:ea typeface="+mn-lt"/>
                <a:cs typeface="+mn-lt"/>
              </a:rPr>
              <a:t>C</a:t>
            </a:r>
            <a:r>
              <a:rPr lang="da-DK" sz="1800" dirty="0">
                <a:latin typeface="Courier New"/>
                <a:ea typeface="+mn-lt"/>
                <a:cs typeface="+mn-lt"/>
              </a:rPr>
              <a:t> T A G </a:t>
            </a:r>
            <a:r>
              <a:rPr lang="da-DK" sz="1800" err="1">
                <a:latin typeface="Courier New"/>
                <a:ea typeface="+mn-lt"/>
                <a:cs typeface="+mn-lt"/>
              </a:rPr>
              <a:t>G</a:t>
            </a:r>
            <a:r>
              <a:rPr lang="da-DK" sz="1800" dirty="0">
                <a:latin typeface="Courier New"/>
                <a:ea typeface="+mn-lt"/>
                <a:cs typeface="+mn-lt"/>
              </a:rPr>
              <a:t> T G T C G A</a:t>
            </a:r>
            <a:endParaRPr lang="en-US" sz="1800">
              <a:latin typeface="Courier New"/>
              <a:ea typeface="+mn-lt"/>
              <a:cs typeface="+mn-lt"/>
            </a:endParaRPr>
          </a:p>
          <a:p>
            <a:pPr>
              <a:lnSpc>
                <a:spcPct val="100000"/>
              </a:lnSpc>
              <a:spcBef>
                <a:spcPts val="0"/>
              </a:spcBef>
            </a:pPr>
            <a:r>
              <a:rPr lang="da-DK" sz="1800" dirty="0">
                <a:latin typeface="Courier New"/>
                <a:ea typeface="+mn-lt"/>
                <a:cs typeface="+mn-lt"/>
              </a:rPr>
              <a:t>Levels: A C G T</a:t>
            </a:r>
            <a:endParaRPr lang="en-US" sz="1800">
              <a:latin typeface="Courier New"/>
              <a:ea typeface="+mn-lt"/>
              <a:cs typeface="+mn-lt"/>
            </a:endParaRPr>
          </a:p>
          <a:p>
            <a:pPr>
              <a:lnSpc>
                <a:spcPct val="100000"/>
              </a:lnSpc>
              <a:spcBef>
                <a:spcPts val="0"/>
              </a:spcBef>
            </a:pPr>
            <a:endParaRPr lang="da-DK" sz="1800" dirty="0">
              <a:latin typeface="Courier New"/>
              <a:ea typeface="+mn-lt"/>
              <a:cs typeface="+mn-lt"/>
            </a:endParaRPr>
          </a:p>
          <a:p>
            <a:pPr>
              <a:lnSpc>
                <a:spcPct val="100000"/>
              </a:lnSpc>
              <a:spcBef>
                <a:spcPts val="0"/>
              </a:spcBef>
            </a:pPr>
            <a:r>
              <a:rPr lang="es-ES" sz="1800" err="1">
                <a:latin typeface="Courier New"/>
                <a:ea typeface="+mn-lt"/>
                <a:cs typeface="+mn-lt"/>
              </a:rPr>
              <a:t>snps</a:t>
            </a:r>
            <a:r>
              <a:rPr lang="es-ES" sz="1800" dirty="0">
                <a:latin typeface="Courier New"/>
                <a:ea typeface="+mn-lt"/>
                <a:cs typeface="+mn-lt"/>
              </a:rPr>
              <a:t>[1:3, c(1,3)] </a:t>
            </a:r>
            <a:r>
              <a:rPr lang="es-ES" sz="1800" b="1" dirty="0">
                <a:solidFill>
                  <a:schemeClr val="accent4"/>
                </a:solidFill>
                <a:latin typeface="Courier New"/>
                <a:ea typeface="+mn-lt"/>
                <a:cs typeface="+mn-lt"/>
              </a:rPr>
              <a:t># 3 </a:t>
            </a:r>
            <a:r>
              <a:rPr lang="es-ES" sz="1800" b="1" err="1">
                <a:solidFill>
                  <a:schemeClr val="accent4"/>
                </a:solidFill>
                <a:latin typeface="Courier New"/>
                <a:ea typeface="+mn-lt"/>
                <a:cs typeface="+mn-lt"/>
              </a:rPr>
              <a:t>first</a:t>
            </a:r>
            <a:r>
              <a:rPr lang="es-ES" sz="1800" b="1" dirty="0">
                <a:solidFill>
                  <a:schemeClr val="accent4"/>
                </a:solidFill>
                <a:latin typeface="Courier New"/>
                <a:ea typeface="+mn-lt"/>
                <a:cs typeface="+mn-lt"/>
              </a:rPr>
              <a:t> </a:t>
            </a:r>
            <a:r>
              <a:rPr lang="es-ES" sz="1800" b="1" err="1">
                <a:solidFill>
                  <a:schemeClr val="accent4"/>
                </a:solidFill>
                <a:latin typeface="Courier New"/>
                <a:ea typeface="+mn-lt"/>
                <a:cs typeface="+mn-lt"/>
              </a:rPr>
              <a:t>rows</a:t>
            </a:r>
            <a:r>
              <a:rPr lang="es-ES" sz="1800" b="1" dirty="0">
                <a:solidFill>
                  <a:schemeClr val="accent4"/>
                </a:solidFill>
                <a:latin typeface="Courier New"/>
                <a:ea typeface="+mn-lt"/>
                <a:cs typeface="+mn-lt"/>
              </a:rPr>
              <a:t>, 1st and 3rd </a:t>
            </a:r>
            <a:r>
              <a:rPr lang="es-ES" sz="1800" b="1" err="1">
                <a:solidFill>
                  <a:schemeClr val="accent4"/>
                </a:solidFill>
                <a:latin typeface="Courier New"/>
                <a:ea typeface="+mn-lt"/>
                <a:cs typeface="+mn-lt"/>
              </a:rPr>
              <a:t>column</a:t>
            </a:r>
            <a:endParaRPr lang="es-ES" sz="1800" b="1">
              <a:solidFill>
                <a:schemeClr val="accent4"/>
              </a:solidFill>
              <a:latin typeface="Courier New"/>
              <a:ea typeface="+mn-lt"/>
              <a:cs typeface="+mn-lt"/>
            </a:endParaRPr>
          </a:p>
          <a:p>
            <a:pPr>
              <a:lnSpc>
                <a:spcPct val="100000"/>
              </a:lnSpc>
              <a:spcBef>
                <a:spcPts val="0"/>
              </a:spcBef>
            </a:pPr>
            <a:r>
              <a:rPr lang="es-ES" sz="1800" dirty="0">
                <a:latin typeface="Courier New"/>
                <a:ea typeface="+mn-lt"/>
                <a:cs typeface="+mn-lt"/>
              </a:rPr>
              <a:t>    </a:t>
            </a:r>
            <a:r>
              <a:rPr lang="de-DE" sz="1800" err="1">
                <a:latin typeface="Courier New"/>
                <a:ea typeface="+mn-lt"/>
                <a:cs typeface="+mn-lt"/>
              </a:rPr>
              <a:t>chr</a:t>
            </a:r>
            <a:r>
              <a:rPr lang="de-DE" sz="1800" dirty="0">
                <a:latin typeface="Courier New"/>
                <a:ea typeface="+mn-lt"/>
                <a:cs typeface="+mn-lt"/>
              </a:rPr>
              <a:t> minor</a:t>
            </a:r>
            <a:endParaRPr lang="de-DE" sz="1800">
              <a:latin typeface="Courier New"/>
              <a:ea typeface="+mn-lt"/>
              <a:cs typeface="+mn-lt"/>
            </a:endParaRPr>
          </a:p>
          <a:p>
            <a:pPr>
              <a:lnSpc>
                <a:spcPct val="100000"/>
              </a:lnSpc>
              <a:spcBef>
                <a:spcPts val="0"/>
              </a:spcBef>
            </a:pPr>
            <a:r>
              <a:rPr lang="de-DE" sz="1800" dirty="0">
                <a:latin typeface="Courier New"/>
                <a:ea typeface="+mn-lt"/>
                <a:cs typeface="+mn-lt"/>
              </a:rPr>
              <a:t>1   1     A</a:t>
            </a:r>
            <a:endParaRPr lang="en-US" sz="1800">
              <a:latin typeface="Courier New"/>
              <a:ea typeface="+mn-lt"/>
              <a:cs typeface="+mn-lt"/>
            </a:endParaRPr>
          </a:p>
          <a:p>
            <a:pPr>
              <a:lnSpc>
                <a:spcPct val="100000"/>
              </a:lnSpc>
              <a:spcBef>
                <a:spcPts val="0"/>
              </a:spcBef>
            </a:pPr>
            <a:r>
              <a:rPr lang="de-DE" sz="1800" dirty="0">
                <a:latin typeface="Courier New"/>
                <a:ea typeface="+mn-lt"/>
                <a:cs typeface="+mn-lt"/>
              </a:rPr>
              <a:t>2   1     G</a:t>
            </a:r>
            <a:endParaRPr lang="en-US" sz="1800">
              <a:latin typeface="Courier New"/>
              <a:ea typeface="+mn-lt"/>
              <a:cs typeface="+mn-lt"/>
            </a:endParaRPr>
          </a:p>
          <a:p>
            <a:pPr>
              <a:lnSpc>
                <a:spcPct val="100000"/>
              </a:lnSpc>
              <a:spcBef>
                <a:spcPts val="0"/>
              </a:spcBef>
            </a:pPr>
            <a:r>
              <a:rPr lang="de-DE" sz="1800" dirty="0">
                <a:latin typeface="Courier New"/>
                <a:ea typeface="+mn-lt"/>
                <a:cs typeface="+mn-lt"/>
              </a:rPr>
              <a:t>3   1     T</a:t>
            </a:r>
            <a:endParaRPr lang="da-DK" sz="1800">
              <a:latin typeface="Courier New"/>
              <a:ea typeface="+mn-lt"/>
              <a:cs typeface="+mn-lt"/>
            </a:endParaRPr>
          </a:p>
          <a:p>
            <a:endParaRPr lang="en-GB" dirty="0">
              <a:latin typeface="Courier New"/>
            </a:endParaRPr>
          </a:p>
        </p:txBody>
      </p:sp>
    </p:spTree>
    <p:extLst>
      <p:ext uri="{BB962C8B-B14F-4D97-AF65-F5344CB8AC3E}">
        <p14:creationId xmlns:p14="http://schemas.microsoft.com/office/powerpoint/2010/main" val="300383679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D8804-AD79-7419-CAC9-E1A666166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A7F02-CB6C-A0E0-C7EC-3360BBA3B776}"/>
              </a:ext>
            </a:extLst>
          </p:cNvPr>
          <p:cNvSpPr>
            <a:spLocks noGrp="1"/>
          </p:cNvSpPr>
          <p:nvPr>
            <p:ph type="title"/>
          </p:nvPr>
        </p:nvSpPr>
        <p:spPr/>
        <p:txBody>
          <a:bodyPr/>
          <a:lstStyle/>
          <a:p>
            <a:r>
              <a:rPr lang="en-GB" dirty="0">
                <a:ea typeface="Verdana"/>
                <a:cs typeface="Gill Sans"/>
              </a:rPr>
              <a:t>Reminder – accessing parts of the </a:t>
            </a:r>
            <a:r>
              <a:rPr lang="en-GB" dirty="0" err="1">
                <a:ea typeface="Verdana"/>
                <a:cs typeface="Gill Sans"/>
              </a:rPr>
              <a:t>dataframe</a:t>
            </a:r>
            <a:r>
              <a:rPr lang="en-GB" dirty="0">
                <a:ea typeface="Verdana"/>
                <a:cs typeface="Gill Sans"/>
              </a:rPr>
              <a:t> (II)</a:t>
            </a:r>
            <a:endParaRPr lang="en-GB" dirty="0" err="1"/>
          </a:p>
        </p:txBody>
      </p:sp>
      <p:sp>
        <p:nvSpPr>
          <p:cNvPr id="3" name="Text Placeholder 2">
            <a:extLst>
              <a:ext uri="{FF2B5EF4-FFF2-40B4-BE49-F238E27FC236}">
                <a16:creationId xmlns:a16="http://schemas.microsoft.com/office/drawing/2014/main" id="{214A3DA1-2619-6680-4933-002F53F073CE}"/>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0"/>
              </a:spcBef>
            </a:pPr>
            <a:r>
              <a:rPr lang="en-GB" dirty="0" err="1">
                <a:latin typeface="Courier New"/>
                <a:ea typeface="+mn-lt"/>
                <a:cs typeface="+mn-lt"/>
              </a:rPr>
              <a:t>snps$chr</a:t>
            </a:r>
            <a:r>
              <a:rPr lang="en-GB" dirty="0">
                <a:latin typeface="Courier New"/>
                <a:ea typeface="+mn-lt"/>
                <a:cs typeface="+mn-lt"/>
              </a:rPr>
              <a:t> </a:t>
            </a:r>
            <a:r>
              <a:rPr lang="es-ES" b="1" dirty="0">
                <a:solidFill>
                  <a:schemeClr val="accent4"/>
                </a:solidFill>
                <a:latin typeface="Courier New"/>
                <a:ea typeface="+mn-lt"/>
                <a:cs typeface="+mn-lt"/>
              </a:rPr>
              <a:t># </a:t>
            </a:r>
            <a:r>
              <a:rPr lang="fr-FR" b="1" dirty="0" err="1">
                <a:solidFill>
                  <a:schemeClr val="accent4"/>
                </a:solidFill>
                <a:latin typeface="Courier New"/>
                <a:ea typeface="+mn-lt"/>
                <a:cs typeface="+mn-lt"/>
              </a:rPr>
              <a:t>equivalent</a:t>
            </a:r>
            <a:r>
              <a:rPr lang="fr-FR" b="1" dirty="0">
                <a:solidFill>
                  <a:schemeClr val="accent4"/>
                </a:solidFill>
                <a:latin typeface="Courier New"/>
                <a:ea typeface="+mn-lt"/>
                <a:cs typeface="+mn-lt"/>
              </a:rPr>
              <a:t> to </a:t>
            </a:r>
            <a:r>
              <a:rPr lang="fr-FR" b="1" dirty="0" err="1">
                <a:solidFill>
                  <a:schemeClr val="accent4"/>
                </a:solidFill>
                <a:latin typeface="Courier New"/>
                <a:ea typeface="+mn-lt"/>
                <a:cs typeface="+mn-lt"/>
              </a:rPr>
              <a:t>snps</a:t>
            </a:r>
            <a:r>
              <a:rPr lang="fr-FR" b="1" dirty="0">
                <a:solidFill>
                  <a:schemeClr val="accent4"/>
                </a:solidFill>
                <a:latin typeface="Courier New"/>
                <a:ea typeface="+mn-lt"/>
                <a:cs typeface="+mn-lt"/>
              </a:rPr>
              <a:t>[, 1]</a:t>
            </a:r>
            <a:endParaRPr lang="en-GB" b="1" dirty="0">
              <a:solidFill>
                <a:schemeClr val="accent4"/>
              </a:solidFill>
              <a:latin typeface="Courier New"/>
              <a:ea typeface="+mn-lt"/>
              <a:cs typeface="+mn-lt"/>
            </a:endParaRPr>
          </a:p>
          <a:p>
            <a:pPr>
              <a:lnSpc>
                <a:spcPct val="100000"/>
              </a:lnSpc>
              <a:spcBef>
                <a:spcPts val="0"/>
              </a:spcBef>
            </a:pPr>
            <a:r>
              <a:rPr lang="en-GB" dirty="0">
                <a:latin typeface="Courier New"/>
                <a:ea typeface="+mn-lt"/>
                <a:cs typeface="+mn-lt"/>
              </a:rPr>
              <a:t> [1]  1  1  1  1  1  1  5  5  5  5  5  5  5  5  5 16 16 16 16 16 16 16 16 16 22 22 22</a:t>
            </a:r>
            <a:endParaRPr lang="en-US">
              <a:latin typeface="Courier New"/>
              <a:ea typeface="+mn-lt"/>
              <a:cs typeface="+mn-lt"/>
            </a:endParaRPr>
          </a:p>
          <a:p>
            <a:pPr>
              <a:lnSpc>
                <a:spcPct val="100000"/>
              </a:lnSpc>
              <a:spcBef>
                <a:spcPts val="0"/>
              </a:spcBef>
            </a:pPr>
            <a:r>
              <a:rPr lang="en-GB" dirty="0">
                <a:latin typeface="Courier New"/>
                <a:ea typeface="+mn-lt"/>
                <a:cs typeface="+mn-lt"/>
              </a:rPr>
              <a:t>[28] 22 22 22 22 22 22 22 22 22 22 22 22 22</a:t>
            </a:r>
            <a:endParaRPr lang="en-US">
              <a:latin typeface="Courier New"/>
              <a:ea typeface="+mn-lt"/>
              <a:cs typeface="+mn-lt"/>
            </a:endParaRPr>
          </a:p>
          <a:p>
            <a:pPr>
              <a:lnSpc>
                <a:spcPct val="100000"/>
              </a:lnSpc>
              <a:spcBef>
                <a:spcPts val="0"/>
              </a:spcBef>
            </a:pPr>
            <a:r>
              <a:rPr lang="en-GB" dirty="0">
                <a:latin typeface="Courier New"/>
                <a:ea typeface="+mn-lt"/>
                <a:cs typeface="+mn-lt"/>
              </a:rPr>
              <a:t>Levels: 1 5 16 22</a:t>
            </a:r>
            <a:endParaRPr lang="en-US" dirty="0">
              <a:latin typeface="Courier New"/>
              <a:ea typeface="+mn-lt"/>
              <a:cs typeface="+mn-lt"/>
            </a:endParaRPr>
          </a:p>
          <a:p>
            <a:pPr>
              <a:lnSpc>
                <a:spcPct val="100000"/>
              </a:lnSpc>
              <a:spcBef>
                <a:spcPts val="0"/>
              </a:spcBef>
            </a:pPr>
            <a:endParaRPr lang="en-GB" dirty="0">
              <a:latin typeface="Courier New"/>
              <a:ea typeface="+mn-lt"/>
              <a:cs typeface="+mn-lt"/>
            </a:endParaRPr>
          </a:p>
          <a:p>
            <a:pPr>
              <a:lnSpc>
                <a:spcPct val="100000"/>
              </a:lnSpc>
              <a:spcBef>
                <a:spcPts val="0"/>
              </a:spcBef>
            </a:pPr>
            <a:r>
              <a:rPr lang="en-GB" dirty="0" err="1">
                <a:latin typeface="Courier New"/>
                <a:ea typeface="+mn-lt"/>
                <a:cs typeface="+mn-lt"/>
              </a:rPr>
              <a:t>snps$chr</a:t>
            </a:r>
            <a:r>
              <a:rPr lang="en-GB" dirty="0">
                <a:latin typeface="Courier New"/>
                <a:ea typeface="+mn-lt"/>
                <a:cs typeface="+mn-lt"/>
              </a:rPr>
              <a:t>[40] </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chromosome</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of</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the</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last</a:t>
            </a:r>
            <a:r>
              <a:rPr lang="es-ES" b="1" dirty="0">
                <a:solidFill>
                  <a:schemeClr val="accent4"/>
                </a:solidFill>
                <a:latin typeface="Courier New"/>
                <a:ea typeface="+mn-lt"/>
                <a:cs typeface="+mn-lt"/>
              </a:rPr>
              <a:t> </a:t>
            </a:r>
            <a:r>
              <a:rPr lang="es-ES" b="1" dirty="0" err="1">
                <a:solidFill>
                  <a:schemeClr val="accent4"/>
                </a:solidFill>
                <a:latin typeface="Courier New"/>
                <a:ea typeface="+mn-lt"/>
                <a:cs typeface="+mn-lt"/>
              </a:rPr>
              <a:t>row</a:t>
            </a:r>
            <a:endParaRPr lang="en-GB" b="1" dirty="0">
              <a:solidFill>
                <a:schemeClr val="accent4"/>
              </a:solidFill>
              <a:latin typeface="Courier New"/>
              <a:ea typeface="+mn-lt"/>
              <a:cs typeface="+mn-lt"/>
            </a:endParaRPr>
          </a:p>
          <a:p>
            <a:pPr>
              <a:lnSpc>
                <a:spcPct val="100000"/>
              </a:lnSpc>
              <a:spcBef>
                <a:spcPts val="0"/>
              </a:spcBef>
            </a:pPr>
            <a:r>
              <a:rPr lang="en-GB" dirty="0">
                <a:latin typeface="Courier New"/>
                <a:ea typeface="+mn-lt"/>
                <a:cs typeface="+mn-lt"/>
              </a:rPr>
              <a:t>[1] 22</a:t>
            </a:r>
            <a:endParaRPr lang="en-US" dirty="0">
              <a:latin typeface="Courier New"/>
              <a:ea typeface="+mn-lt"/>
              <a:cs typeface="+mn-lt"/>
            </a:endParaRPr>
          </a:p>
          <a:p>
            <a:pPr>
              <a:lnSpc>
                <a:spcPct val="100000"/>
              </a:lnSpc>
              <a:spcBef>
                <a:spcPts val="0"/>
              </a:spcBef>
            </a:pPr>
            <a:endParaRPr lang="en-GB" dirty="0">
              <a:latin typeface="Courier New"/>
            </a:endParaRPr>
          </a:p>
          <a:p>
            <a:pPr>
              <a:lnSpc>
                <a:spcPct val="100000"/>
              </a:lnSpc>
              <a:spcBef>
                <a:spcPts val="0"/>
              </a:spcBef>
            </a:pPr>
            <a:endParaRPr lang="pt-BR" sz="1800" b="1" dirty="0">
              <a:solidFill>
                <a:schemeClr val="accent4"/>
              </a:solidFill>
              <a:latin typeface="Courier New"/>
            </a:endParaRPr>
          </a:p>
        </p:txBody>
      </p:sp>
    </p:spTree>
    <p:extLst>
      <p:ext uri="{BB962C8B-B14F-4D97-AF65-F5344CB8AC3E}">
        <p14:creationId xmlns:p14="http://schemas.microsoft.com/office/powerpoint/2010/main" val="113617060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2C1D-B768-85E8-87EB-EEB68BD3A6C3}"/>
              </a:ext>
            </a:extLst>
          </p:cNvPr>
          <p:cNvSpPr>
            <a:spLocks noGrp="1"/>
          </p:cNvSpPr>
          <p:nvPr>
            <p:ph type="title"/>
          </p:nvPr>
        </p:nvSpPr>
        <p:spPr/>
        <p:txBody>
          <a:bodyPr/>
          <a:lstStyle/>
          <a:p>
            <a:r>
              <a:rPr lang="en-GB" dirty="0">
                <a:ea typeface="Verdana"/>
                <a:cs typeface="Gill Sans"/>
              </a:rPr>
              <a:t>table()</a:t>
            </a:r>
            <a:endParaRPr lang="en-GB" dirty="0"/>
          </a:p>
        </p:txBody>
      </p:sp>
      <p:sp>
        <p:nvSpPr>
          <p:cNvPr id="3" name="Text Placeholder 2">
            <a:extLst>
              <a:ext uri="{FF2B5EF4-FFF2-40B4-BE49-F238E27FC236}">
                <a16:creationId xmlns:a16="http://schemas.microsoft.com/office/drawing/2014/main" id="{0F28C58E-1C01-10E8-7E59-AF696D576CD6}"/>
              </a:ext>
            </a:extLst>
          </p:cNvPr>
          <p:cNvSpPr>
            <a:spLocks noGrp="1"/>
          </p:cNvSpPr>
          <p:nvPr>
            <p:ph type="body" sz="quarter" idx="11"/>
          </p:nvPr>
        </p:nvSpPr>
        <p:spPr/>
        <p:txBody>
          <a:bodyPr vert="horz" lIns="91440" tIns="45720" rIns="91440" bIns="45720" rtlCol="0" anchor="t">
            <a:normAutofit fontScale="62500" lnSpcReduction="20000"/>
          </a:bodyPr>
          <a:lstStyle/>
          <a:p>
            <a:r>
              <a:rPr lang="en-GB" dirty="0">
                <a:ea typeface="Tahoma"/>
                <a:cs typeface="Gill Sans Light"/>
              </a:rPr>
              <a:t>The table() function is useful to get a summary of one or several categorical columns.</a:t>
            </a:r>
          </a:p>
          <a:p>
            <a:endParaRPr lang="en-GB" dirty="0">
              <a:latin typeface="Courier New"/>
              <a:ea typeface="Tahoma"/>
              <a:cs typeface="Gill Sans Light"/>
            </a:endParaRPr>
          </a:p>
          <a:p>
            <a:r>
              <a:rPr lang="en-GB" dirty="0">
                <a:latin typeface="Courier New"/>
                <a:ea typeface="Tahoma"/>
                <a:cs typeface="Gill Sans Light"/>
              </a:rPr>
              <a:t>table(</a:t>
            </a:r>
            <a:r>
              <a:rPr lang="en-GB" err="1">
                <a:latin typeface="Courier New"/>
                <a:ea typeface="Tahoma"/>
                <a:cs typeface="Gill Sans Light"/>
              </a:rPr>
              <a:t>snps$chr</a:t>
            </a:r>
            <a:r>
              <a:rPr lang="en-GB" dirty="0">
                <a:latin typeface="Courier New"/>
                <a:ea typeface="Tahoma"/>
                <a:cs typeface="Gill Sans Light"/>
              </a:rPr>
              <a:t>)</a:t>
            </a:r>
          </a:p>
          <a:p>
            <a:endParaRPr lang="en-GB" dirty="0">
              <a:latin typeface="Courier New"/>
              <a:ea typeface="+mn-lt"/>
              <a:cs typeface="+mn-lt"/>
            </a:endParaRPr>
          </a:p>
          <a:p>
            <a:r>
              <a:rPr lang="en-GB" dirty="0">
                <a:latin typeface="Courier New"/>
                <a:ea typeface="+mn-lt"/>
                <a:cs typeface="+mn-lt"/>
              </a:rPr>
              <a:t>1  5 16 22 </a:t>
            </a:r>
            <a:endParaRPr lang="en-GB" dirty="0">
              <a:latin typeface="Courier New"/>
              <a:ea typeface="Tahoma"/>
              <a:cs typeface="Gill Sans Light"/>
            </a:endParaRPr>
          </a:p>
          <a:p>
            <a:r>
              <a:rPr lang="en-GB" dirty="0">
                <a:latin typeface="Courier New"/>
                <a:ea typeface="+mn-lt"/>
                <a:cs typeface="+mn-lt"/>
              </a:rPr>
              <a:t>6  9  9 16</a:t>
            </a:r>
            <a:endParaRPr lang="en-GB" dirty="0">
              <a:latin typeface="Courier New"/>
            </a:endParaRPr>
          </a:p>
          <a:p>
            <a:endParaRPr lang="en-GB" dirty="0">
              <a:latin typeface="Courier New"/>
              <a:ea typeface="Tahoma"/>
              <a:cs typeface="Gill Sans Light"/>
            </a:endParaRPr>
          </a:p>
          <a:p>
            <a:r>
              <a:rPr lang="en-GB" dirty="0">
                <a:latin typeface="Courier New"/>
                <a:ea typeface="+mn-lt"/>
                <a:cs typeface="+mn-lt"/>
              </a:rPr>
              <a:t>table(</a:t>
            </a:r>
            <a:r>
              <a:rPr lang="en-GB" err="1">
                <a:latin typeface="Courier New"/>
                <a:ea typeface="+mn-lt"/>
                <a:cs typeface="+mn-lt"/>
              </a:rPr>
              <a:t>snps$minor</a:t>
            </a:r>
            <a:r>
              <a:rPr lang="en-GB" dirty="0">
                <a:latin typeface="Courier New"/>
                <a:ea typeface="+mn-lt"/>
                <a:cs typeface="+mn-lt"/>
              </a:rPr>
              <a:t>, </a:t>
            </a:r>
            <a:r>
              <a:rPr lang="en-GB" dirty="0" err="1">
                <a:latin typeface="Courier New"/>
                <a:ea typeface="+mn-lt"/>
                <a:cs typeface="+mn-lt"/>
              </a:rPr>
              <a:t>snps$major</a:t>
            </a:r>
            <a:r>
              <a:rPr lang="en-GB" dirty="0">
                <a:latin typeface="Courier New"/>
                <a:ea typeface="+mn-lt"/>
                <a:cs typeface="+mn-lt"/>
              </a:rPr>
              <a:t>) </a:t>
            </a:r>
            <a:endParaRPr lang="en-US" dirty="0">
              <a:latin typeface="Courier New"/>
              <a:ea typeface="+mn-lt"/>
              <a:cs typeface="+mn-lt"/>
            </a:endParaRPr>
          </a:p>
          <a:p>
            <a:r>
              <a:rPr lang="en-GB" b="1" dirty="0">
                <a:solidFill>
                  <a:schemeClr val="accent4"/>
                </a:solidFill>
                <a:latin typeface="Courier New"/>
                <a:ea typeface="+mn-lt"/>
                <a:cs typeface="+mn-lt"/>
              </a:rPr>
              <a:t># rows are minor, columns are major</a:t>
            </a:r>
            <a:endParaRPr lang="en-US" b="1">
              <a:solidFill>
                <a:schemeClr val="accent4"/>
              </a:solidFill>
              <a:latin typeface="Courier New"/>
              <a:ea typeface="+mn-lt"/>
              <a:cs typeface="+mn-lt"/>
            </a:endParaRPr>
          </a:p>
          <a:p>
            <a:endParaRPr lang="en-GB" b="1" dirty="0">
              <a:solidFill>
                <a:schemeClr val="accent4"/>
              </a:solidFill>
              <a:latin typeface="Courier New"/>
              <a:ea typeface="+mn-lt"/>
              <a:cs typeface="+mn-lt"/>
            </a:endParaRPr>
          </a:p>
          <a:p>
            <a:r>
              <a:rPr lang="en-GB" dirty="0">
                <a:latin typeface="Courier New"/>
                <a:ea typeface="+mn-lt"/>
                <a:cs typeface="+mn-lt"/>
              </a:rPr>
              <a:t>     A  C  G  T</a:t>
            </a:r>
            <a:endParaRPr lang="en-GB" dirty="0">
              <a:latin typeface="Courier New"/>
            </a:endParaRPr>
          </a:p>
          <a:p>
            <a:r>
              <a:rPr lang="en-GB" dirty="0">
                <a:latin typeface="Courier New"/>
                <a:ea typeface="+mn-lt"/>
                <a:cs typeface="+mn-lt"/>
              </a:rPr>
              <a:t>  A  0  4  2  3</a:t>
            </a:r>
            <a:endParaRPr lang="en-GB" dirty="0">
              <a:latin typeface="Courier New"/>
            </a:endParaRPr>
          </a:p>
          <a:p>
            <a:r>
              <a:rPr lang="en-GB" dirty="0">
                <a:latin typeface="Courier New"/>
                <a:ea typeface="+mn-lt"/>
                <a:cs typeface="+mn-lt"/>
              </a:rPr>
              <a:t>  C  3  0  2  5</a:t>
            </a:r>
            <a:endParaRPr lang="en-GB" dirty="0">
              <a:latin typeface="Courier New"/>
            </a:endParaRPr>
          </a:p>
          <a:p>
            <a:r>
              <a:rPr lang="en-GB" dirty="0">
                <a:latin typeface="Courier New"/>
                <a:ea typeface="+mn-lt"/>
                <a:cs typeface="+mn-lt"/>
              </a:rPr>
              <a:t>  G 10  4  0  1</a:t>
            </a:r>
            <a:endParaRPr lang="en-GB" dirty="0">
              <a:latin typeface="Courier New"/>
            </a:endParaRPr>
          </a:p>
          <a:p>
            <a:r>
              <a:rPr lang="en-GB" dirty="0">
                <a:latin typeface="Courier New"/>
                <a:ea typeface="+mn-lt"/>
                <a:cs typeface="+mn-lt"/>
              </a:rPr>
              <a:t>  T  4  2  0  0</a:t>
            </a:r>
            <a:endParaRPr lang="en-GB" dirty="0">
              <a:latin typeface="Courier New"/>
            </a:endParaRPr>
          </a:p>
          <a:p>
            <a:endParaRPr lang="en-GB" dirty="0">
              <a:ea typeface="Tahoma"/>
              <a:cs typeface="Gill Sans Light"/>
            </a:endParaRPr>
          </a:p>
        </p:txBody>
      </p:sp>
    </p:spTree>
    <p:extLst>
      <p:ext uri="{BB962C8B-B14F-4D97-AF65-F5344CB8AC3E}">
        <p14:creationId xmlns:p14="http://schemas.microsoft.com/office/powerpoint/2010/main" val="284446199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A2C1D-B768-85E8-87EB-EEB68BD3A6C3}"/>
              </a:ext>
            </a:extLst>
          </p:cNvPr>
          <p:cNvSpPr>
            <a:spLocks noGrp="1"/>
          </p:cNvSpPr>
          <p:nvPr>
            <p:ph type="title"/>
          </p:nvPr>
        </p:nvSpPr>
        <p:spPr/>
        <p:txBody>
          <a:bodyPr/>
          <a:lstStyle/>
          <a:p>
            <a:r>
              <a:rPr lang="en-GB" dirty="0">
                <a:ea typeface="Verdana"/>
                <a:cs typeface="Gill Sans"/>
              </a:rPr>
              <a:t>table()</a:t>
            </a:r>
            <a:endParaRPr lang="en-GB" dirty="0"/>
          </a:p>
        </p:txBody>
      </p:sp>
      <p:sp>
        <p:nvSpPr>
          <p:cNvPr id="3" name="Text Placeholder 2">
            <a:extLst>
              <a:ext uri="{FF2B5EF4-FFF2-40B4-BE49-F238E27FC236}">
                <a16:creationId xmlns:a16="http://schemas.microsoft.com/office/drawing/2014/main" id="{0F28C58E-1C01-10E8-7E59-AF696D576CD6}"/>
              </a:ext>
            </a:extLst>
          </p:cNvPr>
          <p:cNvSpPr>
            <a:spLocks noGrp="1"/>
          </p:cNvSpPr>
          <p:nvPr>
            <p:ph type="body" sz="quarter" idx="11"/>
          </p:nvPr>
        </p:nvSpPr>
        <p:spPr/>
        <p:txBody>
          <a:bodyPr vert="horz" lIns="91440" tIns="45720" rIns="91440" bIns="45720" rtlCol="0" anchor="t">
            <a:normAutofit fontScale="62500" lnSpcReduction="20000"/>
          </a:bodyPr>
          <a:lstStyle/>
          <a:p>
            <a:r>
              <a:rPr lang="en-GB" dirty="0">
                <a:ea typeface="Tahoma"/>
                <a:cs typeface="Gill Sans Light"/>
              </a:rPr>
              <a:t>The table() function is useful to get a summary of one or several categorical columns.</a:t>
            </a:r>
          </a:p>
          <a:p>
            <a:endParaRPr lang="en-GB" dirty="0">
              <a:latin typeface="Courier New"/>
              <a:ea typeface="Tahoma"/>
              <a:cs typeface="Gill Sans Light"/>
            </a:endParaRPr>
          </a:p>
          <a:p>
            <a:r>
              <a:rPr lang="en-GB" dirty="0">
                <a:latin typeface="Courier New"/>
                <a:ea typeface="Tahoma"/>
                <a:cs typeface="Gill Sans Light"/>
              </a:rPr>
              <a:t>table(</a:t>
            </a:r>
            <a:r>
              <a:rPr lang="en-GB" err="1">
                <a:latin typeface="Courier New"/>
                <a:ea typeface="Tahoma"/>
                <a:cs typeface="Gill Sans Light"/>
              </a:rPr>
              <a:t>snps$chr</a:t>
            </a:r>
            <a:r>
              <a:rPr lang="en-GB" dirty="0">
                <a:latin typeface="Courier New"/>
                <a:ea typeface="Tahoma"/>
                <a:cs typeface="Gill Sans Light"/>
              </a:rPr>
              <a:t>)</a:t>
            </a:r>
          </a:p>
          <a:p>
            <a:endParaRPr lang="en-GB" dirty="0">
              <a:latin typeface="Courier New"/>
              <a:ea typeface="+mn-lt"/>
              <a:cs typeface="+mn-lt"/>
            </a:endParaRPr>
          </a:p>
          <a:p>
            <a:r>
              <a:rPr lang="en-GB" dirty="0">
                <a:latin typeface="Courier New"/>
                <a:ea typeface="+mn-lt"/>
                <a:cs typeface="+mn-lt"/>
              </a:rPr>
              <a:t>1  5 16 22 </a:t>
            </a:r>
            <a:endParaRPr lang="en-GB" dirty="0">
              <a:latin typeface="Courier New"/>
              <a:ea typeface="Tahoma"/>
              <a:cs typeface="Gill Sans Light"/>
            </a:endParaRPr>
          </a:p>
          <a:p>
            <a:r>
              <a:rPr lang="en-GB" dirty="0">
                <a:latin typeface="Courier New"/>
                <a:ea typeface="+mn-lt"/>
                <a:cs typeface="+mn-lt"/>
              </a:rPr>
              <a:t>6  9  9 16</a:t>
            </a:r>
            <a:endParaRPr lang="en-GB" dirty="0">
              <a:latin typeface="Courier New"/>
            </a:endParaRPr>
          </a:p>
          <a:p>
            <a:endParaRPr lang="en-GB" dirty="0">
              <a:latin typeface="Courier New"/>
              <a:ea typeface="Tahoma"/>
              <a:cs typeface="Gill Sans Light"/>
            </a:endParaRPr>
          </a:p>
          <a:p>
            <a:r>
              <a:rPr lang="en-GB" dirty="0">
                <a:latin typeface="Courier New"/>
                <a:ea typeface="+mn-lt"/>
                <a:cs typeface="+mn-lt"/>
              </a:rPr>
              <a:t>table(</a:t>
            </a:r>
            <a:r>
              <a:rPr lang="en-GB" dirty="0" err="1">
                <a:latin typeface="Courier New"/>
                <a:ea typeface="+mn-lt"/>
                <a:cs typeface="+mn-lt"/>
              </a:rPr>
              <a:t>snps$minor</a:t>
            </a:r>
            <a:r>
              <a:rPr lang="en-GB" dirty="0">
                <a:latin typeface="Courier New"/>
                <a:ea typeface="+mn-lt"/>
                <a:cs typeface="+mn-lt"/>
              </a:rPr>
              <a:t>, </a:t>
            </a:r>
            <a:r>
              <a:rPr lang="en-GB" dirty="0" err="1">
                <a:latin typeface="Courier New"/>
                <a:ea typeface="+mn-lt"/>
                <a:cs typeface="+mn-lt"/>
              </a:rPr>
              <a:t>snps$major</a:t>
            </a:r>
            <a:r>
              <a:rPr lang="en-GB" dirty="0">
                <a:latin typeface="Courier New"/>
                <a:ea typeface="+mn-lt"/>
                <a:cs typeface="+mn-lt"/>
              </a:rPr>
              <a:t> , </a:t>
            </a:r>
            <a:r>
              <a:rPr lang="en-GB" dirty="0" err="1">
                <a:latin typeface="Courier New"/>
                <a:ea typeface="+mn-lt"/>
                <a:cs typeface="+mn-lt"/>
              </a:rPr>
              <a:t>dnn</a:t>
            </a:r>
            <a:r>
              <a:rPr lang="en-GB" dirty="0">
                <a:latin typeface="Courier New"/>
                <a:ea typeface="+mn-lt"/>
                <a:cs typeface="+mn-lt"/>
              </a:rPr>
              <a:t> = c("</a:t>
            </a:r>
            <a:r>
              <a:rPr lang="en-GB" dirty="0" err="1">
                <a:latin typeface="Courier New"/>
                <a:ea typeface="+mn-lt"/>
                <a:cs typeface="+mn-lt"/>
              </a:rPr>
              <a:t>minor","major</a:t>
            </a:r>
            <a:r>
              <a:rPr lang="en-GB" dirty="0">
                <a:latin typeface="Courier New"/>
                <a:ea typeface="+mn-lt"/>
                <a:cs typeface="+mn-lt"/>
              </a:rPr>
              <a:t>")) </a:t>
            </a:r>
            <a:endParaRPr lang="en-US" dirty="0">
              <a:latin typeface="Courier New"/>
              <a:ea typeface="+mn-lt"/>
              <a:cs typeface="+mn-lt"/>
            </a:endParaRPr>
          </a:p>
          <a:p>
            <a:r>
              <a:rPr lang="en-GB" b="1" dirty="0">
                <a:solidFill>
                  <a:schemeClr val="accent4"/>
                </a:solidFill>
                <a:latin typeface="Courier New"/>
                <a:ea typeface="+mn-lt"/>
                <a:cs typeface="+mn-lt"/>
              </a:rPr>
              <a:t># rows are minor, columns are major</a:t>
            </a:r>
            <a:endParaRPr lang="en-US" b="1">
              <a:solidFill>
                <a:schemeClr val="accent4"/>
              </a:solidFill>
              <a:latin typeface="Courier New"/>
              <a:ea typeface="+mn-lt"/>
              <a:cs typeface="+mn-lt"/>
            </a:endParaRPr>
          </a:p>
          <a:p>
            <a:r>
              <a:rPr lang="en-GB" dirty="0">
                <a:latin typeface="Courier New"/>
                <a:ea typeface="+mn-lt"/>
                <a:cs typeface="+mn-lt"/>
              </a:rPr>
              <a:t>     major</a:t>
            </a:r>
          </a:p>
          <a:p>
            <a:r>
              <a:rPr lang="en-GB" dirty="0">
                <a:latin typeface="Courier New"/>
                <a:ea typeface="+mn-lt"/>
                <a:cs typeface="+mn-lt"/>
              </a:rPr>
              <a:t>minor  A  C  G  T</a:t>
            </a:r>
            <a:endParaRPr lang="en-GB" dirty="0">
              <a:latin typeface="Courier New"/>
            </a:endParaRPr>
          </a:p>
          <a:p>
            <a:r>
              <a:rPr lang="en-GB" dirty="0">
                <a:latin typeface="Courier New"/>
                <a:ea typeface="+mn-lt"/>
                <a:cs typeface="+mn-lt"/>
              </a:rPr>
              <a:t>    A  0  4  2  3</a:t>
            </a:r>
            <a:endParaRPr lang="en-GB" dirty="0">
              <a:latin typeface="Courier New"/>
            </a:endParaRPr>
          </a:p>
          <a:p>
            <a:r>
              <a:rPr lang="en-GB" dirty="0">
                <a:latin typeface="Courier New"/>
                <a:ea typeface="+mn-lt"/>
                <a:cs typeface="+mn-lt"/>
              </a:rPr>
              <a:t>    C  3  0  2  5</a:t>
            </a:r>
            <a:endParaRPr lang="en-GB" dirty="0">
              <a:latin typeface="Courier New"/>
            </a:endParaRPr>
          </a:p>
          <a:p>
            <a:r>
              <a:rPr lang="en-GB" dirty="0">
                <a:latin typeface="Courier New"/>
                <a:ea typeface="+mn-lt"/>
                <a:cs typeface="+mn-lt"/>
              </a:rPr>
              <a:t>    G 10  4  0  1</a:t>
            </a:r>
            <a:endParaRPr lang="en-GB" dirty="0">
              <a:latin typeface="Courier New"/>
            </a:endParaRPr>
          </a:p>
          <a:p>
            <a:r>
              <a:rPr lang="en-GB" dirty="0">
                <a:latin typeface="Courier New"/>
                <a:ea typeface="+mn-lt"/>
                <a:cs typeface="+mn-lt"/>
              </a:rPr>
              <a:t>    T  4  2  0  0</a:t>
            </a:r>
            <a:endParaRPr lang="en-GB" dirty="0">
              <a:latin typeface="Courier New"/>
            </a:endParaRPr>
          </a:p>
          <a:p>
            <a:endParaRPr lang="en-GB" dirty="0">
              <a:ea typeface="Tahoma"/>
              <a:cs typeface="Gill Sans Light"/>
            </a:endParaRPr>
          </a:p>
        </p:txBody>
      </p:sp>
    </p:spTree>
    <p:extLst>
      <p:ext uri="{BB962C8B-B14F-4D97-AF65-F5344CB8AC3E}">
        <p14:creationId xmlns:p14="http://schemas.microsoft.com/office/powerpoint/2010/main" val="7652964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4387B-C95C-2C69-514F-4B89C111078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FD5CD20-D85C-B130-C410-23852BE6A7F2}"/>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6b</a:t>
            </a:r>
            <a:endParaRPr lang="en-US" dirty="0"/>
          </a:p>
        </p:txBody>
      </p:sp>
      <p:sp>
        <p:nvSpPr>
          <p:cNvPr id="2" name="TextBox 1">
            <a:extLst>
              <a:ext uri="{FF2B5EF4-FFF2-40B4-BE49-F238E27FC236}">
                <a16:creationId xmlns:a16="http://schemas.microsoft.com/office/drawing/2014/main" id="{87D67324-063C-8C05-BFFC-52FB8A567AEF}"/>
              </a:ext>
            </a:extLst>
          </p:cNvPr>
          <p:cNvSpPr txBox="1"/>
          <p:nvPr/>
        </p:nvSpPr>
        <p:spPr>
          <a:xfrm>
            <a:off x="838200" y="1019175"/>
            <a:ext cx="10553700" cy="55220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99"/>
              </a:spcBef>
            </a:pPr>
            <a:r>
              <a:rPr lang="en-US" sz="2400" dirty="0">
                <a:solidFill>
                  <a:srgbClr val="000000"/>
                </a:solidFill>
                <a:ea typeface="+mn-lt"/>
                <a:cs typeface="+mn-lt"/>
              </a:rPr>
              <a:t>Continue from the mouse dataset used previously.</a:t>
            </a:r>
          </a:p>
          <a:p>
            <a:pPr>
              <a:spcBef>
                <a:spcPts val="499"/>
              </a:spcBef>
            </a:pPr>
            <a:r>
              <a:rPr lang="en-US" sz="2400" dirty="0">
                <a:solidFill>
                  <a:srgbClr val="000000"/>
                </a:solidFill>
                <a:ea typeface="+mn-lt"/>
                <a:cs typeface="Arial"/>
              </a:rPr>
              <a:t>Use the following code if you do not have the </a:t>
            </a:r>
            <a:r>
              <a:rPr lang="en-US" sz="2400" dirty="0" err="1">
                <a:solidFill>
                  <a:srgbClr val="000000"/>
                </a:solidFill>
                <a:ea typeface="+mn-lt"/>
                <a:cs typeface="Arial"/>
              </a:rPr>
              <a:t>dataframe</a:t>
            </a:r>
            <a:r>
              <a:rPr lang="en-US" sz="2400" dirty="0">
                <a:solidFill>
                  <a:srgbClr val="000000"/>
                </a:solidFill>
                <a:ea typeface="+mn-lt"/>
                <a:cs typeface="Arial"/>
              </a:rPr>
              <a:t> already loaded</a:t>
            </a:r>
          </a:p>
          <a:p>
            <a:pPr>
              <a:spcBef>
                <a:spcPts val="499"/>
              </a:spcBef>
            </a:pPr>
            <a:r>
              <a:rPr lang="en-US" sz="2400" dirty="0" err="1">
                <a:solidFill>
                  <a:srgbClr val="000000"/>
                </a:solidFill>
                <a:latin typeface="Courier New"/>
                <a:cs typeface="Arial"/>
              </a:rPr>
              <a:t>mice_data</a:t>
            </a:r>
            <a:r>
              <a:rPr lang="en-US" sz="2400" dirty="0">
                <a:solidFill>
                  <a:srgbClr val="000000"/>
                </a:solidFill>
                <a:latin typeface="Courier New"/>
                <a:cs typeface="Arial"/>
              </a:rPr>
              <a:t> = read.csv("</a:t>
            </a:r>
            <a:r>
              <a:rPr lang="en-US" sz="2400" dirty="0" err="1">
                <a:solidFill>
                  <a:srgbClr val="000000"/>
                </a:solidFill>
                <a:latin typeface="Courier New"/>
                <a:cs typeface="Arial"/>
              </a:rPr>
              <a:t>course_datasets</a:t>
            </a:r>
            <a:r>
              <a:rPr lang="en-US" sz="2400" dirty="0">
                <a:solidFill>
                  <a:srgbClr val="000000"/>
                </a:solidFill>
                <a:latin typeface="Courier New"/>
                <a:cs typeface="Arial"/>
              </a:rPr>
              <a:t>/mice_data.csv")</a:t>
            </a:r>
          </a:p>
          <a:p>
            <a:pPr marL="461010" indent="-457200">
              <a:spcBef>
                <a:spcPts val="723"/>
              </a:spcBef>
              <a:spcAft>
                <a:spcPts val="283"/>
              </a:spcAft>
              <a:buAutoNum type="arabicPeriod"/>
            </a:pPr>
            <a:r>
              <a:rPr lang="en-US" sz="2000" dirty="0">
                <a:solidFill>
                  <a:srgbClr val="000000"/>
                </a:solidFill>
                <a:latin typeface="Corbel"/>
                <a:cs typeface="Arial"/>
              </a:rPr>
              <a:t>Which variables appear to be categorical? Convert them to factors.</a:t>
            </a:r>
          </a:p>
          <a:p>
            <a:pPr marL="461010" indent="-457200">
              <a:spcBef>
                <a:spcPts val="723"/>
              </a:spcBef>
              <a:spcAft>
                <a:spcPts val="283"/>
              </a:spcAft>
              <a:buAutoNum type="arabicPeriod"/>
            </a:pPr>
            <a:r>
              <a:rPr lang="en-US" sz="2000" dirty="0">
                <a:solidFill>
                  <a:srgbClr val="000000"/>
                </a:solidFill>
                <a:latin typeface="Corbel"/>
                <a:cs typeface="Arial"/>
              </a:rPr>
              <a:t>Get the summary statistics of  "</a:t>
            </a:r>
            <a:r>
              <a:rPr lang="en-US" sz="2000" err="1">
                <a:solidFill>
                  <a:srgbClr val="000000"/>
                </a:solidFill>
                <a:latin typeface="Corbel"/>
                <a:cs typeface="Arial"/>
              </a:rPr>
              <a:t>mice_data</a:t>
            </a:r>
            <a:r>
              <a:rPr lang="en-US" sz="2000" dirty="0">
                <a:solidFill>
                  <a:srgbClr val="000000"/>
                </a:solidFill>
                <a:latin typeface="Corbel"/>
                <a:cs typeface="Arial"/>
              </a:rPr>
              <a:t>"</a:t>
            </a:r>
          </a:p>
          <a:p>
            <a:pPr marL="460375" indent="-457200">
              <a:spcBef>
                <a:spcPts val="723"/>
              </a:spcBef>
              <a:spcAft>
                <a:spcPts val="283"/>
              </a:spcAft>
              <a:buAutoNum type="arabicPeriod"/>
            </a:pPr>
            <a:r>
              <a:rPr lang="en-US" sz="2000" dirty="0">
                <a:solidFill>
                  <a:srgbClr val="000000"/>
                </a:solidFill>
                <a:latin typeface="Corbel"/>
                <a:cs typeface="Arial"/>
              </a:rPr>
              <a:t>Use the function table() to compute the number of observations in different mouse groups. </a:t>
            </a:r>
          </a:p>
          <a:p>
            <a:pPr marL="917575" lvl="1" indent="-457200">
              <a:spcBef>
                <a:spcPts val="723"/>
              </a:spcBef>
              <a:spcAft>
                <a:spcPts val="283"/>
              </a:spcAft>
              <a:buAutoNum type="arabicPeriod"/>
            </a:pPr>
            <a:r>
              <a:rPr lang="en-US" sz="2000" dirty="0">
                <a:solidFill>
                  <a:srgbClr val="000000"/>
                </a:solidFill>
                <a:latin typeface="Corbel"/>
                <a:cs typeface="Arial"/>
              </a:rPr>
              <a:t>How many mice are included of each genotype (WT, KO)? </a:t>
            </a:r>
            <a:endParaRPr lang="en-US" dirty="0">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How many mice are included per diet (HFD, CHOW)?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Make a 2x2 table by genotype and diet crossed. </a:t>
            </a:r>
          </a:p>
          <a:p>
            <a:pPr marL="917575" lvl="1" indent="-457200">
              <a:spcBef>
                <a:spcPts val="723"/>
              </a:spcBef>
              <a:spcAft>
                <a:spcPts val="283"/>
              </a:spcAft>
              <a:buAutoNum type="arabicPeriod"/>
            </a:pPr>
            <a:endParaRPr lang="en-US" sz="2000" dirty="0">
              <a:solidFill>
                <a:srgbClr val="000000"/>
              </a:solidFill>
              <a:cs typeface="Arial"/>
            </a:endParaRPr>
          </a:p>
          <a:p>
            <a:pPr marL="460375" lvl="1">
              <a:spcBef>
                <a:spcPts val="723"/>
              </a:spcBef>
              <a:spcAft>
                <a:spcPts val="283"/>
              </a:spcAft>
            </a:pPr>
            <a:r>
              <a:rPr lang="en-US" sz="2000" b="1" dirty="0">
                <a:solidFill>
                  <a:srgbClr val="000000"/>
                </a:solidFill>
                <a:cs typeface="Arial"/>
              </a:rPr>
              <a:t>EXTRA TASKS:</a:t>
            </a:r>
          </a:p>
          <a:p>
            <a:pPr marL="917575" lvl="1" indent="-457200">
              <a:spcBef>
                <a:spcPts val="723"/>
              </a:spcBef>
              <a:spcAft>
                <a:spcPts val="283"/>
              </a:spcAft>
              <a:buAutoNum type="arabicPeriod"/>
            </a:pPr>
            <a:r>
              <a:rPr lang="en-US" sz="2000" dirty="0">
                <a:solidFill>
                  <a:srgbClr val="000000"/>
                </a:solidFill>
                <a:cs typeface="Arial"/>
              </a:rPr>
              <a:t> Come to the bacteria dataset and explore the relationship between the categorical columns  using what you learned</a:t>
            </a:r>
          </a:p>
        </p:txBody>
      </p:sp>
    </p:spTree>
    <p:extLst>
      <p:ext uri="{BB962C8B-B14F-4D97-AF65-F5344CB8AC3E}">
        <p14:creationId xmlns:p14="http://schemas.microsoft.com/office/powerpoint/2010/main" val="230114784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7FCED-4F39-ECFA-B6CE-7F564F585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4BF8B-6265-14A0-73F0-70E4591E5537}"/>
              </a:ext>
            </a:extLst>
          </p:cNvPr>
          <p:cNvSpPr>
            <a:spLocks noGrp="1"/>
          </p:cNvSpPr>
          <p:nvPr>
            <p:ph type="title"/>
          </p:nvPr>
        </p:nvSpPr>
        <p:spPr/>
        <p:txBody>
          <a:bodyPr/>
          <a:lstStyle/>
          <a:p>
            <a:r>
              <a:rPr lang="en-GB" dirty="0" err="1">
                <a:ea typeface="Verdana"/>
                <a:cs typeface="Gill Sans"/>
              </a:rPr>
              <a:t>Subsetting</a:t>
            </a:r>
            <a:r>
              <a:rPr lang="en-GB" dirty="0">
                <a:ea typeface="Verdana"/>
                <a:cs typeface="Gill Sans"/>
              </a:rPr>
              <a:t> (I)</a:t>
            </a:r>
            <a:endParaRPr lang="en-GB" dirty="0" err="1"/>
          </a:p>
        </p:txBody>
      </p:sp>
      <p:sp>
        <p:nvSpPr>
          <p:cNvPr id="3" name="Text Placeholder 2">
            <a:extLst>
              <a:ext uri="{FF2B5EF4-FFF2-40B4-BE49-F238E27FC236}">
                <a16:creationId xmlns:a16="http://schemas.microsoft.com/office/drawing/2014/main" id="{F88AC72E-F94F-E320-5703-5F17D4E705D6}"/>
              </a:ext>
            </a:extLst>
          </p:cNvPr>
          <p:cNvSpPr>
            <a:spLocks noGrp="1"/>
          </p:cNvSpPr>
          <p:nvPr>
            <p:ph type="body" sz="quarter" idx="11"/>
          </p:nvPr>
        </p:nvSpPr>
        <p:spPr/>
        <p:txBody>
          <a:bodyPr vert="horz" lIns="91440" tIns="45720" rIns="91440" bIns="45720" rtlCol="0" anchor="t">
            <a:noAutofit/>
          </a:bodyPr>
          <a:lstStyle/>
          <a:p>
            <a:pPr>
              <a:lnSpc>
                <a:spcPct val="100000"/>
              </a:lnSpc>
              <a:spcBef>
                <a:spcPct val="20000"/>
              </a:spcBef>
            </a:pPr>
            <a:r>
              <a:rPr lang="en-GB" dirty="0">
                <a:latin typeface="Courier New"/>
                <a:ea typeface="Tahoma"/>
                <a:cs typeface="Arial"/>
              </a:rPr>
              <a:t>subset()</a:t>
            </a:r>
            <a:r>
              <a:rPr lang="en-GB" dirty="0">
                <a:latin typeface="Corbel"/>
                <a:ea typeface="Tahoma"/>
                <a:cs typeface="Arial"/>
              </a:rPr>
              <a:t> allows you to subset your data by specific columns and values in those columns. Logical operators can be used within the subset.</a:t>
            </a:r>
            <a:endParaRPr lang="en-US" dirty="0">
              <a:latin typeface="Corbel"/>
              <a:ea typeface="Tahoma"/>
              <a:cs typeface="Arial"/>
            </a:endParaRPr>
          </a:p>
          <a:p>
            <a:pPr>
              <a:lnSpc>
                <a:spcPct val="100000"/>
              </a:lnSpc>
              <a:spcBef>
                <a:spcPct val="20000"/>
              </a:spcBef>
            </a:pPr>
            <a:endParaRPr lang="en-GB" dirty="0">
              <a:latin typeface="Courier New"/>
              <a:ea typeface="+mn-lt"/>
              <a:cs typeface="+mn-lt"/>
            </a:endParaRPr>
          </a:p>
          <a:p>
            <a:pPr>
              <a:lnSpc>
                <a:spcPct val="100000"/>
              </a:lnSpc>
              <a:spcBef>
                <a:spcPts val="0"/>
              </a:spcBef>
            </a:pPr>
            <a:r>
              <a:rPr lang="da-DK" dirty="0" err="1">
                <a:latin typeface="Courier New"/>
                <a:ea typeface="+mn-lt"/>
                <a:cs typeface="+mn-lt"/>
              </a:rPr>
              <a:t>subset</a:t>
            </a:r>
            <a:r>
              <a:rPr lang="da-DK" dirty="0">
                <a:latin typeface="Courier New"/>
                <a:ea typeface="+mn-lt"/>
                <a:cs typeface="+mn-lt"/>
              </a:rPr>
              <a:t>(</a:t>
            </a:r>
            <a:r>
              <a:rPr lang="da-DK" dirty="0" err="1">
                <a:latin typeface="Courier New"/>
                <a:ea typeface="+mn-lt"/>
                <a:cs typeface="+mn-lt"/>
              </a:rPr>
              <a:t>snps</a:t>
            </a:r>
            <a:r>
              <a:rPr lang="da-DK" dirty="0">
                <a:latin typeface="Courier New"/>
                <a:ea typeface="+mn-lt"/>
                <a:cs typeface="+mn-lt"/>
              </a:rPr>
              <a:t>, </a:t>
            </a:r>
            <a:r>
              <a:rPr lang="da-DK" dirty="0" err="1">
                <a:latin typeface="Courier New"/>
                <a:ea typeface="+mn-lt"/>
                <a:cs typeface="+mn-lt"/>
              </a:rPr>
              <a:t>chr</a:t>
            </a:r>
            <a:r>
              <a:rPr lang="da-DK" dirty="0">
                <a:latin typeface="Courier New"/>
                <a:ea typeface="+mn-lt"/>
                <a:cs typeface="+mn-lt"/>
              </a:rPr>
              <a:t>==1)</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keeps</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only</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the</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snps</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where</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chr</a:t>
            </a:r>
            <a:r>
              <a:rPr lang="pt-BR" b="1" dirty="0">
                <a:solidFill>
                  <a:schemeClr val="accent4"/>
                </a:solidFill>
                <a:latin typeface="Courier New"/>
                <a:ea typeface="+mn-lt"/>
                <a:cs typeface="+mn-lt"/>
              </a:rPr>
              <a:t> </a:t>
            </a:r>
            <a:r>
              <a:rPr lang="pt-BR" b="1" dirty="0" err="1">
                <a:solidFill>
                  <a:schemeClr val="accent4"/>
                </a:solidFill>
                <a:latin typeface="Courier New"/>
                <a:ea typeface="+mn-lt"/>
                <a:cs typeface="+mn-lt"/>
              </a:rPr>
              <a:t>is</a:t>
            </a:r>
            <a:r>
              <a:rPr lang="pt-BR" b="1" dirty="0">
                <a:solidFill>
                  <a:schemeClr val="accent4"/>
                </a:solidFill>
                <a:latin typeface="Courier New"/>
                <a:ea typeface="+mn-lt"/>
                <a:cs typeface="+mn-lt"/>
              </a:rPr>
              <a:t> 1</a:t>
            </a:r>
            <a:endParaRPr lang="en-US" b="1">
              <a:solidFill>
                <a:schemeClr val="accent4"/>
              </a:solidFill>
              <a:latin typeface="Courier New"/>
              <a:ea typeface="+mn-lt"/>
              <a:cs typeface="+mn-lt"/>
            </a:endParaRPr>
          </a:p>
          <a:p>
            <a:pPr>
              <a:lnSpc>
                <a:spcPct val="100000"/>
              </a:lnSpc>
              <a:spcBef>
                <a:spcPts val="0"/>
              </a:spcBef>
            </a:pPr>
            <a:r>
              <a:rPr lang="pt-BR" err="1">
                <a:latin typeface="Courier New"/>
                <a:ea typeface="+mn-lt"/>
                <a:cs typeface="+mn-lt"/>
              </a:rPr>
              <a:t>chr</a:t>
            </a:r>
            <a:r>
              <a:rPr lang="pt-BR" dirty="0">
                <a:latin typeface="Courier New"/>
                <a:ea typeface="+mn-lt"/>
                <a:cs typeface="+mn-lt"/>
              </a:rPr>
              <a:t>    </a:t>
            </a:r>
            <a:r>
              <a:rPr lang="pt-BR" err="1">
                <a:latin typeface="Courier New"/>
                <a:ea typeface="+mn-lt"/>
                <a:cs typeface="+mn-lt"/>
              </a:rPr>
              <a:t>pos</a:t>
            </a:r>
            <a:r>
              <a:rPr lang="pt-BR" dirty="0">
                <a:latin typeface="Courier New"/>
                <a:ea typeface="+mn-lt"/>
                <a:cs typeface="+mn-lt"/>
              </a:rPr>
              <a:t> </a:t>
            </a:r>
            <a:r>
              <a:rPr lang="pt-BR" err="1">
                <a:latin typeface="Courier New"/>
                <a:ea typeface="+mn-lt"/>
                <a:cs typeface="+mn-lt"/>
              </a:rPr>
              <a:t>minor</a:t>
            </a:r>
            <a:r>
              <a:rPr lang="pt-BR" dirty="0">
                <a:latin typeface="Courier New"/>
                <a:ea typeface="+mn-lt"/>
                <a:cs typeface="+mn-lt"/>
              </a:rPr>
              <a:t> major</a:t>
            </a:r>
            <a:endParaRPr lang="en-US">
              <a:latin typeface="Courier New"/>
              <a:ea typeface="+mn-lt"/>
              <a:cs typeface="+mn-lt"/>
            </a:endParaRPr>
          </a:p>
          <a:p>
            <a:pPr>
              <a:lnSpc>
                <a:spcPct val="100000"/>
              </a:lnSpc>
              <a:spcBef>
                <a:spcPts val="0"/>
              </a:spcBef>
            </a:pPr>
            <a:r>
              <a:rPr lang="pt-BR">
                <a:latin typeface="Courier New"/>
                <a:ea typeface="+mn-lt"/>
                <a:cs typeface="+mn-lt"/>
              </a:rPr>
              <a:t>1   1 123369     A     C</a:t>
            </a:r>
            <a:endParaRPr lang="en-US">
              <a:latin typeface="Courier New"/>
              <a:ea typeface="+mn-lt"/>
              <a:cs typeface="+mn-lt"/>
            </a:endParaRPr>
          </a:p>
          <a:p>
            <a:pPr>
              <a:lnSpc>
                <a:spcPct val="100000"/>
              </a:lnSpc>
              <a:spcBef>
                <a:spcPts val="0"/>
              </a:spcBef>
            </a:pPr>
            <a:r>
              <a:rPr lang="pt-BR" dirty="0">
                <a:latin typeface="Courier New"/>
                <a:ea typeface="+mn-lt"/>
                <a:cs typeface="+mn-lt"/>
              </a:rPr>
              <a:t>2   1 138369     G     T</a:t>
            </a:r>
          </a:p>
          <a:p>
            <a:pPr>
              <a:lnSpc>
                <a:spcPct val="100000"/>
              </a:lnSpc>
              <a:spcBef>
                <a:spcPts val="0"/>
              </a:spcBef>
            </a:pPr>
            <a:r>
              <a:rPr lang="pt-BR" dirty="0">
                <a:latin typeface="Courier New"/>
                <a:ea typeface="+mn-lt"/>
                <a:cs typeface="+mn-lt"/>
              </a:rPr>
              <a:t>3   1 153369     T     C</a:t>
            </a:r>
            <a:endParaRPr lang="en-US">
              <a:latin typeface="Courier New"/>
              <a:ea typeface="+mn-lt"/>
              <a:cs typeface="+mn-lt"/>
            </a:endParaRPr>
          </a:p>
          <a:p>
            <a:pPr>
              <a:lnSpc>
                <a:spcPct val="100000"/>
              </a:lnSpc>
              <a:spcBef>
                <a:spcPts val="0"/>
              </a:spcBef>
            </a:pPr>
            <a:r>
              <a:rPr lang="pt-BR" dirty="0">
                <a:latin typeface="Courier New"/>
                <a:ea typeface="+mn-lt"/>
                <a:cs typeface="+mn-lt"/>
              </a:rPr>
              <a:t>4   1 168369     C     T</a:t>
            </a:r>
          </a:p>
          <a:p>
            <a:pPr>
              <a:lnSpc>
                <a:spcPct val="100000"/>
              </a:lnSpc>
              <a:spcBef>
                <a:spcPts val="0"/>
              </a:spcBef>
            </a:pPr>
            <a:r>
              <a:rPr lang="pt-BR" dirty="0">
                <a:latin typeface="Courier New"/>
                <a:ea typeface="+mn-lt"/>
                <a:cs typeface="+mn-lt"/>
              </a:rPr>
              <a:t>5   1 183369     G     A</a:t>
            </a:r>
            <a:endParaRPr lang="en-US">
              <a:latin typeface="Courier New"/>
              <a:ea typeface="+mn-lt"/>
              <a:cs typeface="+mn-lt"/>
            </a:endParaRPr>
          </a:p>
          <a:p>
            <a:pPr>
              <a:lnSpc>
                <a:spcPct val="100000"/>
              </a:lnSpc>
              <a:spcBef>
                <a:spcPts val="0"/>
              </a:spcBef>
            </a:pPr>
            <a:r>
              <a:rPr lang="pt-BR" dirty="0">
                <a:latin typeface="Courier New"/>
                <a:ea typeface="+mn-lt"/>
                <a:cs typeface="+mn-lt"/>
              </a:rPr>
              <a:t>6   1 198369     T     A</a:t>
            </a:r>
            <a:endParaRPr lang="fr-FR" dirty="0">
              <a:latin typeface="Courier New"/>
            </a:endParaRPr>
          </a:p>
        </p:txBody>
      </p:sp>
    </p:spTree>
    <p:extLst>
      <p:ext uri="{BB962C8B-B14F-4D97-AF65-F5344CB8AC3E}">
        <p14:creationId xmlns:p14="http://schemas.microsoft.com/office/powerpoint/2010/main" val="164235764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7EBFA-2393-4617-4B22-B20AC11B4BE5}"/>
              </a:ext>
            </a:extLst>
          </p:cNvPr>
          <p:cNvSpPr>
            <a:spLocks noGrp="1"/>
          </p:cNvSpPr>
          <p:nvPr>
            <p:ph type="title"/>
          </p:nvPr>
        </p:nvSpPr>
        <p:spPr/>
        <p:txBody>
          <a:bodyPr/>
          <a:lstStyle/>
          <a:p>
            <a:r>
              <a:rPr lang="en-GB" dirty="0" err="1">
                <a:ea typeface="+mj-lt"/>
                <a:cs typeface="+mj-lt"/>
              </a:rPr>
              <a:t>Subsetting</a:t>
            </a:r>
            <a:r>
              <a:rPr lang="en-GB" dirty="0">
                <a:ea typeface="+mj-lt"/>
                <a:cs typeface="+mj-lt"/>
              </a:rPr>
              <a:t> (II)</a:t>
            </a:r>
          </a:p>
        </p:txBody>
      </p:sp>
      <p:sp>
        <p:nvSpPr>
          <p:cNvPr id="3" name="Text Placeholder 2">
            <a:extLst>
              <a:ext uri="{FF2B5EF4-FFF2-40B4-BE49-F238E27FC236}">
                <a16:creationId xmlns:a16="http://schemas.microsoft.com/office/drawing/2014/main" id="{66DCD32B-835F-94B4-F497-32599B8D7B29}"/>
              </a:ext>
            </a:extLst>
          </p:cNvPr>
          <p:cNvSpPr>
            <a:spLocks noGrp="1"/>
          </p:cNvSpPr>
          <p:nvPr>
            <p:ph type="body" sz="quarter" idx="11"/>
          </p:nvPr>
        </p:nvSpPr>
        <p:spPr/>
        <p:txBody>
          <a:bodyPr vert="horz" lIns="91440" tIns="45720" rIns="91440" bIns="45720" rtlCol="0" anchor="t">
            <a:normAutofit lnSpcReduction="10000"/>
          </a:bodyPr>
          <a:lstStyle/>
          <a:p>
            <a:pPr>
              <a:lnSpc>
                <a:spcPct val="100000"/>
              </a:lnSpc>
              <a:spcBef>
                <a:spcPts val="0"/>
              </a:spcBef>
            </a:pP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keeps</a:t>
            </a: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only</a:t>
            </a: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the</a:t>
            </a: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snps</a:t>
            </a:r>
            <a:r>
              <a:rPr lang="pt-BR" sz="2000" b="1" dirty="0">
                <a:solidFill>
                  <a:schemeClr val="accent4"/>
                </a:solidFill>
                <a:latin typeface="Courier New"/>
                <a:ea typeface="+mn-lt"/>
                <a:cs typeface="Courier New"/>
              </a:rPr>
              <a:t> in </a:t>
            </a:r>
            <a:r>
              <a:rPr lang="pt-BR" sz="2000" b="1" err="1">
                <a:solidFill>
                  <a:schemeClr val="accent4"/>
                </a:solidFill>
                <a:latin typeface="Courier New"/>
                <a:ea typeface="+mn-lt"/>
                <a:cs typeface="Courier New"/>
              </a:rPr>
              <a:t>chr</a:t>
            </a:r>
            <a:r>
              <a:rPr lang="pt-BR" sz="2000" b="1" dirty="0">
                <a:solidFill>
                  <a:schemeClr val="accent4"/>
                </a:solidFill>
                <a:latin typeface="Courier New"/>
                <a:ea typeface="+mn-lt"/>
                <a:cs typeface="Courier New"/>
              </a:rPr>
              <a:t> 1 </a:t>
            </a:r>
            <a:r>
              <a:rPr lang="pt-BR" sz="2000" b="1" err="1">
                <a:solidFill>
                  <a:schemeClr val="accent4"/>
                </a:solidFill>
                <a:latin typeface="Courier New"/>
                <a:ea typeface="+mn-lt"/>
                <a:cs typeface="Courier New"/>
              </a:rPr>
              <a:t>with</a:t>
            </a:r>
            <a:r>
              <a:rPr lang="pt-BR" sz="2000" b="1" dirty="0">
                <a:solidFill>
                  <a:schemeClr val="accent4"/>
                </a:solidFill>
                <a:latin typeface="Courier New"/>
                <a:ea typeface="+mn-lt"/>
                <a:cs typeface="Courier New"/>
              </a:rPr>
              <a:t> </a:t>
            </a:r>
            <a:r>
              <a:rPr lang="pt-BR" sz="2000" b="1" err="1">
                <a:solidFill>
                  <a:schemeClr val="accent4"/>
                </a:solidFill>
                <a:latin typeface="Courier New"/>
                <a:ea typeface="+mn-lt"/>
                <a:cs typeface="Courier New"/>
              </a:rPr>
              <a:t>an</a:t>
            </a:r>
            <a:r>
              <a:rPr lang="pt-BR" sz="2000" b="1" dirty="0">
                <a:solidFill>
                  <a:schemeClr val="accent4"/>
                </a:solidFill>
                <a:latin typeface="Courier New"/>
                <a:ea typeface="+mn-lt"/>
                <a:cs typeface="Courier New"/>
              </a:rPr>
              <a:t> "A" as major </a:t>
            </a:r>
            <a:r>
              <a:rPr lang="pt-BR" sz="2000" b="1" err="1">
                <a:solidFill>
                  <a:schemeClr val="accent4"/>
                </a:solidFill>
                <a:latin typeface="Courier New"/>
                <a:ea typeface="+mn-lt"/>
                <a:cs typeface="Courier New"/>
              </a:rPr>
              <a:t>allele</a:t>
            </a:r>
            <a:r>
              <a:rPr lang="pt-BR" sz="2000" b="1" dirty="0">
                <a:solidFill>
                  <a:schemeClr val="accent4"/>
                </a:solidFill>
                <a:latin typeface="Courier New"/>
                <a:ea typeface="+mn-lt"/>
                <a:cs typeface="Courier New"/>
              </a:rPr>
              <a:t> </a:t>
            </a:r>
            <a:endParaRPr lang="en-US" sz="2000" b="1">
              <a:solidFill>
                <a:schemeClr val="accent4"/>
              </a:solidFill>
              <a:latin typeface="Courier New"/>
              <a:ea typeface="+mn-lt"/>
              <a:cs typeface="Courier New"/>
            </a:endParaRPr>
          </a:p>
          <a:p>
            <a:pPr>
              <a:lnSpc>
                <a:spcPct val="100000"/>
              </a:lnSpc>
              <a:spcBef>
                <a:spcPts val="0"/>
              </a:spcBef>
            </a:pPr>
            <a:r>
              <a:rPr lang="da-DK" sz="2000" dirty="0" err="1">
                <a:latin typeface="Courier New"/>
                <a:ea typeface="+mn-lt"/>
                <a:cs typeface="+mn-lt"/>
              </a:rPr>
              <a:t>subset</a:t>
            </a:r>
            <a:r>
              <a:rPr lang="da-DK" sz="2000" dirty="0">
                <a:latin typeface="Courier New"/>
                <a:ea typeface="+mn-lt"/>
                <a:cs typeface="+mn-lt"/>
              </a:rPr>
              <a:t>(</a:t>
            </a:r>
            <a:r>
              <a:rPr lang="da-DK" sz="2000" dirty="0" err="1">
                <a:latin typeface="Courier New"/>
                <a:ea typeface="+mn-lt"/>
                <a:cs typeface="+mn-lt"/>
              </a:rPr>
              <a:t>snps</a:t>
            </a:r>
            <a:r>
              <a:rPr lang="da-DK" sz="2000" dirty="0">
                <a:latin typeface="Courier New"/>
                <a:ea typeface="+mn-lt"/>
                <a:cs typeface="+mn-lt"/>
              </a:rPr>
              <a:t>, </a:t>
            </a:r>
            <a:r>
              <a:rPr lang="da-DK" sz="2000" dirty="0" err="1">
                <a:latin typeface="Courier New"/>
                <a:ea typeface="+mn-lt"/>
                <a:cs typeface="+mn-lt"/>
              </a:rPr>
              <a:t>chr</a:t>
            </a:r>
            <a:r>
              <a:rPr lang="da-DK" sz="2000" dirty="0">
                <a:latin typeface="Courier New"/>
                <a:ea typeface="+mn-lt"/>
                <a:cs typeface="+mn-lt"/>
              </a:rPr>
              <a:t>==1 &amp; major=="A")</a:t>
            </a:r>
            <a:r>
              <a:rPr lang="pt-BR" sz="2000" dirty="0">
                <a:latin typeface="Courier New"/>
                <a:ea typeface="+mn-lt"/>
                <a:cs typeface="+mn-lt"/>
              </a:rPr>
              <a:t> </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  </a:t>
            </a:r>
            <a:r>
              <a:rPr lang="pt-BR" sz="2000" err="1">
                <a:latin typeface="Courier New"/>
                <a:ea typeface="+mn-lt"/>
                <a:cs typeface="+mn-lt"/>
              </a:rPr>
              <a:t>chr</a:t>
            </a:r>
            <a:r>
              <a:rPr lang="pt-BR" sz="2000" dirty="0">
                <a:latin typeface="Courier New"/>
                <a:ea typeface="+mn-lt"/>
                <a:cs typeface="+mn-lt"/>
              </a:rPr>
              <a:t>    </a:t>
            </a:r>
            <a:r>
              <a:rPr lang="pt-BR" sz="2000" err="1">
                <a:latin typeface="Courier New"/>
                <a:ea typeface="+mn-lt"/>
                <a:cs typeface="+mn-lt"/>
              </a:rPr>
              <a:t>pos</a:t>
            </a:r>
            <a:r>
              <a:rPr lang="pt-BR" sz="2000" dirty="0">
                <a:latin typeface="Courier New"/>
                <a:ea typeface="+mn-lt"/>
                <a:cs typeface="+mn-lt"/>
              </a:rPr>
              <a:t> </a:t>
            </a:r>
            <a:r>
              <a:rPr lang="pt-BR" sz="2000" err="1">
                <a:latin typeface="Courier New"/>
                <a:ea typeface="+mn-lt"/>
                <a:cs typeface="+mn-lt"/>
              </a:rPr>
              <a:t>minor</a:t>
            </a:r>
            <a:r>
              <a:rPr lang="pt-BR" sz="2000" dirty="0">
                <a:latin typeface="Courier New"/>
                <a:ea typeface="+mn-lt"/>
                <a:cs typeface="+mn-lt"/>
              </a:rPr>
              <a:t> major</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5   1 183369     G     A</a:t>
            </a:r>
            <a:endParaRPr lang="en-US" sz="2000">
              <a:latin typeface="Courier New"/>
              <a:ea typeface="+mn-lt"/>
              <a:cs typeface="+mn-lt"/>
            </a:endParaRPr>
          </a:p>
          <a:p>
            <a:pPr>
              <a:lnSpc>
                <a:spcPct val="100000"/>
              </a:lnSpc>
              <a:spcBef>
                <a:spcPts val="0"/>
              </a:spcBef>
            </a:pPr>
            <a:r>
              <a:rPr lang="pt-BR" sz="2000" dirty="0">
                <a:latin typeface="Courier New"/>
                <a:ea typeface="+mn-lt"/>
                <a:cs typeface="+mn-lt"/>
              </a:rPr>
              <a:t>6   1 198369     T     A</a:t>
            </a:r>
            <a:endParaRPr lang="en-US" sz="2000">
              <a:latin typeface="Courier New"/>
              <a:ea typeface="+mn-lt"/>
              <a:cs typeface="+mn-lt"/>
            </a:endParaRPr>
          </a:p>
          <a:p>
            <a:pPr>
              <a:lnSpc>
                <a:spcPct val="100000"/>
              </a:lnSpc>
              <a:spcBef>
                <a:spcPts val="0"/>
              </a:spcBef>
            </a:pPr>
            <a:endParaRPr lang="en-GB" sz="2000" dirty="0">
              <a:latin typeface="Courier New"/>
              <a:ea typeface="+mn-lt"/>
              <a:cs typeface="+mn-lt"/>
            </a:endParaRPr>
          </a:p>
          <a:p>
            <a:pPr>
              <a:lnSpc>
                <a:spcPct val="100000"/>
              </a:lnSpc>
              <a:spcBef>
                <a:spcPts val="0"/>
              </a:spcBef>
            </a:pPr>
            <a:endParaRPr lang="pt-BR" sz="2000" dirty="0">
              <a:latin typeface="Courier New"/>
              <a:ea typeface="+mn-lt"/>
              <a:cs typeface="+mn-lt"/>
            </a:endParaRPr>
          </a:p>
          <a:p>
            <a:pPr>
              <a:lnSpc>
                <a:spcPct val="100000"/>
              </a:lnSpc>
              <a:spcBef>
                <a:spcPts val="0"/>
              </a:spcBef>
            </a:pP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keeps</a:t>
            </a: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only</a:t>
            </a: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the</a:t>
            </a: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snps</a:t>
            </a:r>
            <a:r>
              <a:rPr lang="pt-BR" sz="2000" b="1" dirty="0">
                <a:solidFill>
                  <a:schemeClr val="accent4"/>
                </a:solidFill>
                <a:latin typeface="Courier New"/>
                <a:ea typeface="+mn-lt"/>
                <a:cs typeface="Courier New"/>
              </a:rPr>
              <a:t> in </a:t>
            </a:r>
            <a:r>
              <a:rPr lang="pt-BR" sz="2000" b="1" dirty="0" err="1">
                <a:solidFill>
                  <a:schemeClr val="accent4"/>
                </a:solidFill>
                <a:latin typeface="Courier New"/>
                <a:ea typeface="+mn-lt"/>
                <a:cs typeface="Courier New"/>
              </a:rPr>
              <a:t>chr</a:t>
            </a:r>
            <a:r>
              <a:rPr lang="pt-BR" sz="2000" b="1" dirty="0">
                <a:solidFill>
                  <a:schemeClr val="accent4"/>
                </a:solidFill>
                <a:latin typeface="Courier New"/>
                <a:ea typeface="+mn-lt"/>
                <a:cs typeface="Courier New"/>
              </a:rPr>
              <a:t> 1 </a:t>
            </a:r>
            <a:r>
              <a:rPr lang="pt-BR" sz="2000" b="1" dirty="0" err="1">
                <a:solidFill>
                  <a:schemeClr val="accent4"/>
                </a:solidFill>
                <a:latin typeface="Courier New"/>
                <a:ea typeface="+mn-lt"/>
                <a:cs typeface="Courier New"/>
              </a:rPr>
              <a:t>with</a:t>
            </a:r>
            <a:r>
              <a:rPr lang="pt-BR" sz="2000" b="1" dirty="0">
                <a:solidFill>
                  <a:schemeClr val="accent4"/>
                </a:solidFill>
                <a:latin typeface="Courier New"/>
                <a:ea typeface="+mn-lt"/>
                <a:cs typeface="Courier New"/>
              </a:rPr>
              <a:t> </a:t>
            </a:r>
            <a:r>
              <a:rPr lang="pt-BR" sz="2000" b="1" dirty="0" err="1">
                <a:solidFill>
                  <a:schemeClr val="accent4"/>
                </a:solidFill>
                <a:latin typeface="Courier New"/>
                <a:ea typeface="+mn-lt"/>
                <a:cs typeface="Courier New"/>
              </a:rPr>
              <a:t>an</a:t>
            </a:r>
            <a:r>
              <a:rPr lang="pt-BR" sz="2000" b="1" dirty="0">
                <a:solidFill>
                  <a:schemeClr val="accent4"/>
                </a:solidFill>
                <a:latin typeface="Courier New"/>
                <a:ea typeface="+mn-lt"/>
                <a:cs typeface="Courier New"/>
              </a:rPr>
              <a:t> "A" </a:t>
            </a:r>
            <a:r>
              <a:rPr lang="pt-BR" sz="2000" b="1" dirty="0" err="1">
                <a:solidFill>
                  <a:schemeClr val="accent4"/>
                </a:solidFill>
                <a:latin typeface="Courier New"/>
                <a:ea typeface="+mn-lt"/>
                <a:cs typeface="Courier New"/>
              </a:rPr>
              <a:t>or</a:t>
            </a:r>
            <a:r>
              <a:rPr lang="pt-BR" sz="2000" b="1" dirty="0">
                <a:solidFill>
                  <a:schemeClr val="accent4"/>
                </a:solidFill>
                <a:latin typeface="Courier New"/>
                <a:ea typeface="+mn-lt"/>
                <a:cs typeface="Courier New"/>
              </a:rPr>
              <a:t> "T" as major </a:t>
            </a:r>
            <a:r>
              <a:rPr lang="pt-BR" sz="2000" b="1" dirty="0" err="1">
                <a:solidFill>
                  <a:schemeClr val="accent4"/>
                </a:solidFill>
                <a:latin typeface="Courier New"/>
                <a:ea typeface="+mn-lt"/>
                <a:cs typeface="Courier New"/>
              </a:rPr>
              <a:t>allele</a:t>
            </a:r>
            <a:endParaRPr lang="en-US" sz="2000" b="1" dirty="0" err="1">
              <a:solidFill>
                <a:schemeClr val="accent4"/>
              </a:solidFill>
              <a:latin typeface="Courier New"/>
              <a:ea typeface="+mn-lt"/>
              <a:cs typeface="Courier New"/>
            </a:endParaRPr>
          </a:p>
          <a:p>
            <a:pPr>
              <a:lnSpc>
                <a:spcPct val="100000"/>
              </a:lnSpc>
              <a:spcBef>
                <a:spcPts val="0"/>
              </a:spcBef>
            </a:pPr>
            <a:r>
              <a:rPr lang="pt-BR" sz="2000" dirty="0" err="1">
                <a:latin typeface="Courier New"/>
                <a:ea typeface="+mn-lt"/>
                <a:cs typeface="+mn-lt"/>
              </a:rPr>
              <a:t>subset</a:t>
            </a:r>
            <a:r>
              <a:rPr lang="pt-BR" sz="2000" dirty="0">
                <a:latin typeface="Courier New"/>
                <a:ea typeface="+mn-lt"/>
                <a:cs typeface="+mn-lt"/>
              </a:rPr>
              <a:t>(</a:t>
            </a:r>
            <a:r>
              <a:rPr lang="pt-BR" sz="2000" dirty="0" err="1">
                <a:latin typeface="Courier New"/>
                <a:ea typeface="+mn-lt"/>
                <a:cs typeface="+mn-lt"/>
              </a:rPr>
              <a:t>snps</a:t>
            </a:r>
            <a:r>
              <a:rPr lang="pt-BR" sz="2000" dirty="0">
                <a:latin typeface="Courier New"/>
                <a:ea typeface="+mn-lt"/>
                <a:cs typeface="+mn-lt"/>
              </a:rPr>
              <a:t>, </a:t>
            </a:r>
            <a:r>
              <a:rPr lang="pt-BR" sz="2000" dirty="0" err="1">
                <a:latin typeface="Courier New"/>
                <a:ea typeface="+mn-lt"/>
                <a:cs typeface="+mn-lt"/>
              </a:rPr>
              <a:t>chr</a:t>
            </a:r>
            <a:r>
              <a:rPr lang="pt-BR" sz="2000" dirty="0">
                <a:latin typeface="Courier New"/>
                <a:ea typeface="+mn-lt"/>
                <a:cs typeface="+mn-lt"/>
              </a:rPr>
              <a:t>==1 &amp; (major=="A" | major=="T"))</a:t>
            </a:r>
            <a:endParaRPr lang="en-US" sz="2000">
              <a:latin typeface="Courier New"/>
              <a:ea typeface="+mn-lt"/>
              <a:cs typeface="+mn-lt"/>
            </a:endParaRPr>
          </a:p>
          <a:p>
            <a:pPr>
              <a:lnSpc>
                <a:spcPct val="100000"/>
              </a:lnSpc>
              <a:spcBef>
                <a:spcPts val="0"/>
              </a:spcBef>
            </a:pPr>
            <a:r>
              <a:rPr lang="fr-FR" sz="2000" dirty="0">
                <a:latin typeface="Courier New"/>
                <a:ea typeface="+mn-lt"/>
                <a:cs typeface="+mn-lt"/>
              </a:rPr>
              <a:t> </a:t>
            </a:r>
            <a:r>
              <a:rPr lang="fr-FR" sz="2000" err="1">
                <a:latin typeface="Courier New"/>
                <a:ea typeface="+mn-lt"/>
                <a:cs typeface="+mn-lt"/>
              </a:rPr>
              <a:t>chr</a:t>
            </a:r>
            <a:r>
              <a:rPr lang="fr-FR" sz="2000" dirty="0">
                <a:latin typeface="Courier New"/>
                <a:ea typeface="+mn-lt"/>
                <a:cs typeface="+mn-lt"/>
              </a:rPr>
              <a:t>    pos minor major</a:t>
            </a:r>
            <a:endParaRPr lang="en-US" sz="2000">
              <a:latin typeface="Courier New"/>
              <a:ea typeface="+mn-lt"/>
              <a:cs typeface="+mn-lt"/>
            </a:endParaRPr>
          </a:p>
          <a:p>
            <a:pPr>
              <a:lnSpc>
                <a:spcPct val="100000"/>
              </a:lnSpc>
              <a:spcBef>
                <a:spcPts val="0"/>
              </a:spcBef>
            </a:pPr>
            <a:r>
              <a:rPr lang="fr-FR" sz="2000" dirty="0">
                <a:latin typeface="Courier New"/>
                <a:ea typeface="+mn-lt"/>
                <a:cs typeface="+mn-lt"/>
              </a:rPr>
              <a:t>2   1 138369     G     T</a:t>
            </a:r>
            <a:endParaRPr lang="en-US" sz="2000" dirty="0">
              <a:latin typeface="Courier New"/>
              <a:ea typeface="+mn-lt"/>
              <a:cs typeface="+mn-lt"/>
            </a:endParaRPr>
          </a:p>
          <a:p>
            <a:pPr>
              <a:lnSpc>
                <a:spcPct val="100000"/>
              </a:lnSpc>
              <a:spcBef>
                <a:spcPts val="0"/>
              </a:spcBef>
            </a:pPr>
            <a:r>
              <a:rPr lang="fr-FR" sz="2000" dirty="0">
                <a:latin typeface="Courier New"/>
                <a:ea typeface="+mn-lt"/>
                <a:cs typeface="+mn-lt"/>
              </a:rPr>
              <a:t>4   1 168369     C     T</a:t>
            </a:r>
            <a:endParaRPr lang="en-US" sz="2000" dirty="0">
              <a:latin typeface="Courier New"/>
              <a:ea typeface="+mn-lt"/>
              <a:cs typeface="+mn-lt"/>
            </a:endParaRPr>
          </a:p>
          <a:p>
            <a:pPr>
              <a:lnSpc>
                <a:spcPct val="100000"/>
              </a:lnSpc>
              <a:spcBef>
                <a:spcPts val="0"/>
              </a:spcBef>
            </a:pPr>
            <a:r>
              <a:rPr lang="fr-FR" sz="2000" dirty="0">
                <a:latin typeface="Courier New"/>
                <a:ea typeface="+mn-lt"/>
                <a:cs typeface="+mn-lt"/>
              </a:rPr>
              <a:t>5   1 183369     G     A</a:t>
            </a:r>
            <a:endParaRPr lang="en-US" sz="2000" dirty="0">
              <a:latin typeface="Courier New"/>
              <a:ea typeface="+mn-lt"/>
              <a:cs typeface="+mn-lt"/>
            </a:endParaRPr>
          </a:p>
          <a:p>
            <a:pPr>
              <a:lnSpc>
                <a:spcPct val="100000"/>
              </a:lnSpc>
              <a:spcBef>
                <a:spcPts val="0"/>
              </a:spcBef>
            </a:pPr>
            <a:r>
              <a:rPr lang="fr-FR" sz="2000" dirty="0">
                <a:latin typeface="Courier New"/>
                <a:ea typeface="+mn-lt"/>
                <a:cs typeface="+mn-lt"/>
              </a:rPr>
              <a:t>6   1 198369     T     A</a:t>
            </a:r>
            <a:endParaRPr lang="en-GB" sz="2000" dirty="0">
              <a:latin typeface="Courier New"/>
              <a:ea typeface="+mn-lt"/>
              <a:cs typeface="+mn-lt"/>
            </a:endParaRPr>
          </a:p>
        </p:txBody>
      </p:sp>
    </p:spTree>
    <p:extLst>
      <p:ext uri="{BB962C8B-B14F-4D97-AF65-F5344CB8AC3E}">
        <p14:creationId xmlns:p14="http://schemas.microsoft.com/office/powerpoint/2010/main" val="112610490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72E4-C33C-54C3-71F7-33CBAD7B2674}"/>
              </a:ext>
            </a:extLst>
          </p:cNvPr>
          <p:cNvSpPr>
            <a:spLocks noGrp="1"/>
          </p:cNvSpPr>
          <p:nvPr>
            <p:ph type="title"/>
          </p:nvPr>
        </p:nvSpPr>
        <p:spPr/>
        <p:txBody>
          <a:bodyPr/>
          <a:lstStyle/>
          <a:p>
            <a:r>
              <a:rPr lang="en-GB" dirty="0">
                <a:ea typeface="Verdana"/>
                <a:cs typeface="Gill Sans"/>
              </a:rPr>
              <a:t>Customizing summaries of data (I)</a:t>
            </a:r>
            <a:endParaRPr lang="en-GB" dirty="0"/>
          </a:p>
        </p:txBody>
      </p:sp>
      <p:sp>
        <p:nvSpPr>
          <p:cNvPr id="3" name="Text Placeholder 2">
            <a:extLst>
              <a:ext uri="{FF2B5EF4-FFF2-40B4-BE49-F238E27FC236}">
                <a16:creationId xmlns:a16="http://schemas.microsoft.com/office/drawing/2014/main" id="{815738A7-378B-58A8-C1C3-5B03D381E5AB}"/>
              </a:ext>
            </a:extLst>
          </p:cNvPr>
          <p:cNvSpPr>
            <a:spLocks noGrp="1"/>
          </p:cNvSpPr>
          <p:nvPr>
            <p:ph type="body" sz="quarter" idx="11"/>
          </p:nvPr>
        </p:nvSpPr>
        <p:spPr/>
        <p:txBody>
          <a:bodyPr vert="horz" lIns="91440" tIns="45720" rIns="91440" bIns="45720" rtlCol="0" anchor="t">
            <a:normAutofit/>
          </a:bodyPr>
          <a:lstStyle/>
          <a:p>
            <a:pPr>
              <a:lnSpc>
                <a:spcPct val="100000"/>
              </a:lnSpc>
              <a:spcBef>
                <a:spcPts val="561"/>
              </a:spcBef>
            </a:pPr>
            <a:r>
              <a:rPr lang="en-US" dirty="0">
                <a:solidFill>
                  <a:srgbClr val="4F81BD"/>
                </a:solidFill>
                <a:ea typeface="+mn-lt"/>
                <a:cs typeface="+mn-lt"/>
              </a:rPr>
              <a:t>apply() </a:t>
            </a:r>
            <a:r>
              <a:rPr lang="en-US" dirty="0">
                <a:solidFill>
                  <a:srgbClr val="262626"/>
                </a:solidFill>
                <a:ea typeface="+mn-lt"/>
                <a:cs typeface="+mn-lt"/>
              </a:rPr>
              <a:t>generates </a:t>
            </a:r>
            <a:r>
              <a:rPr lang="en-US" dirty="0">
                <a:solidFill>
                  <a:srgbClr val="4F81BD"/>
                </a:solidFill>
                <a:ea typeface="+mn-lt"/>
                <a:cs typeface="+mn-lt"/>
              </a:rPr>
              <a:t>custom summaries </a:t>
            </a:r>
            <a:r>
              <a:rPr lang="en-US" dirty="0">
                <a:solidFill>
                  <a:srgbClr val="262626"/>
                </a:solidFill>
                <a:ea typeface="+mn-lt"/>
                <a:cs typeface="+mn-lt"/>
              </a:rPr>
              <a:t>of your data using :</a:t>
            </a:r>
          </a:p>
          <a:p>
            <a:pPr marL="454660" indent="-342900">
              <a:lnSpc>
                <a:spcPct val="100000"/>
              </a:lnSpc>
              <a:spcBef>
                <a:spcPts val="561"/>
              </a:spcBef>
              <a:buChar char="•"/>
            </a:pPr>
            <a:r>
              <a:rPr lang="en-US" b="1" dirty="0">
                <a:solidFill>
                  <a:srgbClr val="262626"/>
                </a:solidFill>
                <a:latin typeface="Corbel"/>
                <a:ea typeface="Tahoma"/>
                <a:cs typeface="Arial"/>
              </a:rPr>
              <a:t>X</a:t>
            </a:r>
            <a:r>
              <a:rPr lang="en-US" dirty="0">
                <a:solidFill>
                  <a:srgbClr val="262626"/>
                </a:solidFill>
                <a:latin typeface="Corbel"/>
                <a:ea typeface="Tahoma"/>
                <a:cs typeface="Arial"/>
              </a:rPr>
              <a:t>: a column you want to aggregate (of any data type)</a:t>
            </a:r>
          </a:p>
          <a:p>
            <a:pPr marL="454660" indent="-342900">
              <a:lnSpc>
                <a:spcPct val="100000"/>
              </a:lnSpc>
              <a:spcBef>
                <a:spcPts val="561"/>
              </a:spcBef>
              <a:buChar char="•"/>
            </a:pPr>
            <a:r>
              <a:rPr lang="en-US" b="1" dirty="0">
                <a:solidFill>
                  <a:srgbClr val="262626"/>
                </a:solidFill>
                <a:latin typeface="Corbel"/>
                <a:ea typeface="Tahoma"/>
                <a:cs typeface="Arial"/>
              </a:rPr>
              <a:t>INDEX</a:t>
            </a:r>
            <a:r>
              <a:rPr lang="en-US" dirty="0">
                <a:solidFill>
                  <a:srgbClr val="262626"/>
                </a:solidFill>
                <a:latin typeface="Corbel"/>
                <a:ea typeface="Tahoma"/>
                <a:cs typeface="Arial"/>
              </a:rPr>
              <a:t>: a factor column, or list of factor columns, for grouping </a:t>
            </a:r>
          </a:p>
          <a:p>
            <a:pPr marL="454660" indent="-342900">
              <a:lnSpc>
                <a:spcPct val="100000"/>
              </a:lnSpc>
              <a:spcBef>
                <a:spcPts val="561"/>
              </a:spcBef>
              <a:buChar char="•"/>
            </a:pPr>
            <a:r>
              <a:rPr lang="en-US" b="1" dirty="0">
                <a:solidFill>
                  <a:srgbClr val="262626"/>
                </a:solidFill>
                <a:latin typeface="Corbel"/>
                <a:ea typeface="Tahoma"/>
                <a:cs typeface="Arial"/>
              </a:rPr>
              <a:t>FUN</a:t>
            </a:r>
            <a:r>
              <a:rPr lang="en-US" dirty="0">
                <a:solidFill>
                  <a:srgbClr val="262626"/>
                </a:solidFill>
                <a:latin typeface="Corbel"/>
                <a:ea typeface="Tahoma"/>
                <a:cs typeface="Arial"/>
              </a:rPr>
              <a:t>: a function to be applied to X (mean, </a:t>
            </a:r>
            <a:r>
              <a:rPr lang="en-US" err="1">
                <a:solidFill>
                  <a:srgbClr val="262626"/>
                </a:solidFill>
                <a:latin typeface="Corbel"/>
                <a:ea typeface="Tahoma"/>
                <a:cs typeface="Arial"/>
              </a:rPr>
              <a:t>sd</a:t>
            </a:r>
            <a:r>
              <a:rPr lang="en-US" dirty="0">
                <a:solidFill>
                  <a:srgbClr val="262626"/>
                </a:solidFill>
                <a:latin typeface="Corbel"/>
                <a:ea typeface="Tahoma"/>
                <a:cs typeface="Arial"/>
              </a:rPr>
              <a:t>, min, max, length, median, range, quantiles…), separately for each grouping indicated by INDEX</a:t>
            </a:r>
          </a:p>
          <a:p>
            <a:pPr marL="454660" indent="-342900">
              <a:lnSpc>
                <a:spcPct val="100000"/>
              </a:lnSpc>
              <a:spcBef>
                <a:spcPts val="561"/>
              </a:spcBef>
              <a:buChar char="•"/>
            </a:pPr>
            <a:endParaRPr lang="en-US" dirty="0">
              <a:solidFill>
                <a:srgbClr val="000000"/>
              </a:solidFill>
              <a:latin typeface="Corbel"/>
              <a:cs typeface="Arial"/>
            </a:endParaRPr>
          </a:p>
          <a:p>
            <a:pPr marL="342900" indent="-342900">
              <a:buChar char="•"/>
            </a:pPr>
            <a:endParaRPr lang="en-GB" dirty="0"/>
          </a:p>
        </p:txBody>
      </p:sp>
    </p:spTree>
    <p:extLst>
      <p:ext uri="{BB962C8B-B14F-4D97-AF65-F5344CB8AC3E}">
        <p14:creationId xmlns:p14="http://schemas.microsoft.com/office/powerpoint/2010/main" val="405505091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6B5C7-1D9A-5029-529E-89B0674BF3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3FD2C-027B-F573-07DD-DA954C149856}"/>
              </a:ext>
            </a:extLst>
          </p:cNvPr>
          <p:cNvSpPr>
            <a:spLocks noGrp="1"/>
          </p:cNvSpPr>
          <p:nvPr>
            <p:ph type="title"/>
          </p:nvPr>
        </p:nvSpPr>
        <p:spPr/>
        <p:txBody>
          <a:bodyPr/>
          <a:lstStyle/>
          <a:p>
            <a:r>
              <a:rPr lang="en-GB" dirty="0">
                <a:ea typeface="Verdana"/>
                <a:cs typeface="Gill Sans"/>
              </a:rPr>
              <a:t>Customizing summaries of data (II)</a:t>
            </a:r>
            <a:endParaRPr lang="en-GB" dirty="0"/>
          </a:p>
        </p:txBody>
      </p:sp>
      <p:sp>
        <p:nvSpPr>
          <p:cNvPr id="3" name="Text Placeholder 2">
            <a:extLst>
              <a:ext uri="{FF2B5EF4-FFF2-40B4-BE49-F238E27FC236}">
                <a16:creationId xmlns:a16="http://schemas.microsoft.com/office/drawing/2014/main" id="{51422786-B15C-620A-BFBB-6A7BD1DFDE56}"/>
              </a:ext>
            </a:extLst>
          </p:cNvPr>
          <p:cNvSpPr>
            <a:spLocks noGrp="1"/>
          </p:cNvSpPr>
          <p:nvPr>
            <p:ph type="body" sz="quarter" idx="11"/>
          </p:nvPr>
        </p:nvSpPr>
        <p:spPr>
          <a:xfrm>
            <a:off x="838200" y="895350"/>
            <a:ext cx="10515600" cy="5275263"/>
          </a:xfrm>
        </p:spPr>
        <p:txBody>
          <a:bodyPr vert="horz" lIns="91440" tIns="45720" rIns="91440" bIns="45720" rtlCol="0" anchor="t">
            <a:normAutofit lnSpcReduction="10000"/>
          </a:bodyPr>
          <a:lstStyle/>
          <a:p>
            <a:pPr>
              <a:lnSpc>
                <a:spcPct val="100000"/>
              </a:lnSpc>
              <a:spcBef>
                <a:spcPts val="561"/>
              </a:spcBef>
            </a:pPr>
            <a:r>
              <a:rPr lang="en-US" b="1" dirty="0">
                <a:solidFill>
                  <a:schemeClr val="accent4"/>
                </a:solidFill>
                <a:latin typeface="Courier New"/>
                <a:ea typeface="Tahoma"/>
                <a:cs typeface="Courier New"/>
              </a:rPr>
              <a:t># loading a dataset with hours of extra sleep in two groups</a:t>
            </a:r>
            <a:endParaRPr lang="en-US" dirty="0">
              <a:solidFill>
                <a:schemeClr val="accent4"/>
              </a:solidFill>
              <a:latin typeface="Courier New"/>
              <a:ea typeface="Tahoma"/>
              <a:cs typeface="Courier New"/>
            </a:endParaRPr>
          </a:p>
          <a:p>
            <a:pPr>
              <a:lnSpc>
                <a:spcPct val="100000"/>
              </a:lnSpc>
              <a:spcBef>
                <a:spcPts val="561"/>
              </a:spcBef>
            </a:pPr>
            <a:r>
              <a:rPr lang="en-US" dirty="0">
                <a:solidFill>
                  <a:srgbClr val="262626"/>
                </a:solidFill>
                <a:latin typeface="Courier New"/>
                <a:ea typeface="Tahoma"/>
                <a:cs typeface="Gill Sans Light"/>
              </a:rPr>
              <a:t>data(sleep) </a:t>
            </a:r>
            <a:endParaRPr lang="en-US" b="1" dirty="0">
              <a:solidFill>
                <a:schemeClr val="accent4"/>
              </a:solidFill>
              <a:latin typeface="Courier New"/>
            </a:endParaRPr>
          </a:p>
          <a:p>
            <a:pPr>
              <a:lnSpc>
                <a:spcPct val="100000"/>
              </a:lnSpc>
              <a:spcBef>
                <a:spcPts val="561"/>
              </a:spcBef>
            </a:pPr>
            <a:r>
              <a:rPr lang="en-US" dirty="0">
                <a:solidFill>
                  <a:srgbClr val="262626"/>
                </a:solidFill>
                <a:latin typeface="Courier New"/>
                <a:ea typeface="Tahoma"/>
                <a:cs typeface="Gill Sans Light"/>
              </a:rPr>
              <a:t>head(sleep, n=3)</a:t>
            </a:r>
          </a:p>
          <a:p>
            <a:r>
              <a:rPr lang="en-US" dirty="0">
                <a:solidFill>
                  <a:srgbClr val="262626"/>
                </a:solidFill>
                <a:latin typeface="Courier New"/>
                <a:ea typeface="+mn-lt"/>
                <a:cs typeface="+mn-lt"/>
              </a:rPr>
              <a:t>  extra group ID</a:t>
            </a:r>
            <a:endParaRPr lang="en-US" dirty="0">
              <a:latin typeface="Courier New"/>
            </a:endParaRPr>
          </a:p>
          <a:p>
            <a:r>
              <a:rPr lang="en-US" dirty="0">
                <a:solidFill>
                  <a:srgbClr val="262626"/>
                </a:solidFill>
                <a:latin typeface="Courier New"/>
                <a:ea typeface="+mn-lt"/>
                <a:cs typeface="+mn-lt"/>
              </a:rPr>
              <a:t>1   0.7     1  1</a:t>
            </a:r>
            <a:endParaRPr lang="en-US" dirty="0">
              <a:latin typeface="Courier New"/>
            </a:endParaRPr>
          </a:p>
          <a:p>
            <a:r>
              <a:rPr lang="en-US" dirty="0">
                <a:solidFill>
                  <a:srgbClr val="262626"/>
                </a:solidFill>
                <a:latin typeface="Courier New"/>
                <a:ea typeface="+mn-lt"/>
                <a:cs typeface="+mn-lt"/>
              </a:rPr>
              <a:t>2  -1.6     1  2</a:t>
            </a:r>
            <a:endParaRPr lang="en-US" dirty="0">
              <a:latin typeface="Courier New"/>
            </a:endParaRPr>
          </a:p>
          <a:p>
            <a:pPr>
              <a:lnSpc>
                <a:spcPct val="100000"/>
              </a:lnSpc>
              <a:spcBef>
                <a:spcPts val="561"/>
              </a:spcBef>
            </a:pPr>
            <a:r>
              <a:rPr lang="en-US" dirty="0">
                <a:solidFill>
                  <a:srgbClr val="262626"/>
                </a:solidFill>
                <a:latin typeface="Courier New"/>
                <a:ea typeface="+mn-lt"/>
                <a:cs typeface="+mn-lt"/>
              </a:rPr>
              <a:t>3  -0.2     1  3</a:t>
            </a:r>
            <a:endParaRPr lang="en-US" dirty="0">
              <a:latin typeface="Courier New"/>
            </a:endParaRPr>
          </a:p>
          <a:p>
            <a:pPr>
              <a:lnSpc>
                <a:spcPct val="100000"/>
              </a:lnSpc>
              <a:spcBef>
                <a:spcPts val="561"/>
              </a:spcBef>
            </a:pPr>
            <a:endParaRPr lang="en-US" dirty="0">
              <a:solidFill>
                <a:srgbClr val="262626"/>
              </a:solidFill>
              <a:latin typeface="Courier New"/>
              <a:ea typeface="+mn-lt"/>
              <a:cs typeface="+mn-lt"/>
            </a:endParaRPr>
          </a:p>
          <a:p>
            <a:pPr>
              <a:lnSpc>
                <a:spcPct val="100000"/>
              </a:lnSpc>
              <a:spcBef>
                <a:spcPts val="561"/>
              </a:spcBef>
            </a:pPr>
            <a:r>
              <a:rPr lang="en-US" err="1">
                <a:solidFill>
                  <a:srgbClr val="262626"/>
                </a:solidFill>
                <a:latin typeface="Courier New"/>
                <a:ea typeface="+mn-lt"/>
                <a:cs typeface="+mn-lt"/>
              </a:rPr>
              <a:t>tapply</a:t>
            </a:r>
            <a:r>
              <a:rPr lang="en-US" dirty="0">
                <a:solidFill>
                  <a:srgbClr val="262626"/>
                </a:solidFill>
                <a:latin typeface="Courier New"/>
                <a:ea typeface="+mn-lt"/>
                <a:cs typeface="+mn-lt"/>
              </a:rPr>
              <a:t>(X=</a:t>
            </a:r>
            <a:r>
              <a:rPr lang="en-US" err="1">
                <a:solidFill>
                  <a:srgbClr val="262626"/>
                </a:solidFill>
                <a:latin typeface="Courier New"/>
                <a:ea typeface="+mn-lt"/>
                <a:cs typeface="+mn-lt"/>
              </a:rPr>
              <a:t>sleep$</a:t>
            </a:r>
            <a:r>
              <a:rPr lang="en-US" b="1" err="1">
                <a:solidFill>
                  <a:schemeClr val="tx2"/>
                </a:solidFill>
                <a:latin typeface="Courier New"/>
                <a:ea typeface="+mn-lt"/>
                <a:cs typeface="+mn-lt"/>
              </a:rPr>
              <a:t>extra</a:t>
            </a:r>
            <a:r>
              <a:rPr lang="en-US" dirty="0">
                <a:solidFill>
                  <a:srgbClr val="262626"/>
                </a:solidFill>
                <a:latin typeface="Courier New"/>
                <a:ea typeface="+mn-lt"/>
                <a:cs typeface="+mn-lt"/>
              </a:rPr>
              <a:t>, INDEX=</a:t>
            </a:r>
            <a:r>
              <a:rPr lang="en-US" err="1">
                <a:solidFill>
                  <a:srgbClr val="262626"/>
                </a:solidFill>
                <a:latin typeface="Courier New"/>
                <a:ea typeface="+mn-lt"/>
                <a:cs typeface="+mn-lt"/>
              </a:rPr>
              <a:t>sleep$</a:t>
            </a:r>
            <a:r>
              <a:rPr lang="en-US" b="1" err="1">
                <a:solidFill>
                  <a:schemeClr val="accent2"/>
                </a:solidFill>
                <a:latin typeface="Courier New"/>
                <a:ea typeface="+mn-lt"/>
                <a:cs typeface="+mn-lt"/>
              </a:rPr>
              <a:t>group</a:t>
            </a:r>
            <a:r>
              <a:rPr lang="en-US" dirty="0">
                <a:solidFill>
                  <a:srgbClr val="262626"/>
                </a:solidFill>
                <a:latin typeface="Courier New"/>
                <a:ea typeface="+mn-lt"/>
                <a:cs typeface="+mn-lt"/>
              </a:rPr>
              <a:t>, FUN=</a:t>
            </a:r>
            <a:r>
              <a:rPr lang="en-US" b="1" dirty="0">
                <a:solidFill>
                  <a:schemeClr val="accent1"/>
                </a:solidFill>
                <a:latin typeface="Courier New"/>
                <a:ea typeface="+mn-lt"/>
                <a:cs typeface="+mn-lt"/>
              </a:rPr>
              <a:t>mean</a:t>
            </a:r>
            <a:r>
              <a:rPr lang="en-US" dirty="0">
                <a:solidFill>
                  <a:srgbClr val="262626"/>
                </a:solidFill>
                <a:latin typeface="Courier New"/>
                <a:ea typeface="+mn-lt"/>
                <a:cs typeface="+mn-lt"/>
              </a:rPr>
              <a:t>)</a:t>
            </a:r>
            <a:endParaRPr lang="en-US"/>
          </a:p>
          <a:p>
            <a:r>
              <a:rPr lang="en-US" dirty="0">
                <a:solidFill>
                  <a:srgbClr val="262626"/>
                </a:solidFill>
                <a:latin typeface="Courier New"/>
                <a:ea typeface="+mn-lt"/>
                <a:cs typeface="+mn-lt"/>
              </a:rPr>
              <a:t>   1    2 </a:t>
            </a:r>
            <a:endParaRPr lang="en-US" dirty="0">
              <a:solidFill>
                <a:srgbClr val="1E2232"/>
              </a:solidFill>
              <a:latin typeface="Courier New"/>
              <a:ea typeface="Tahoma"/>
              <a:cs typeface="Gill Sans Light"/>
            </a:endParaRPr>
          </a:p>
          <a:p>
            <a:r>
              <a:rPr lang="en-US" dirty="0">
                <a:solidFill>
                  <a:srgbClr val="262626"/>
                </a:solidFill>
                <a:latin typeface="Courier New"/>
                <a:ea typeface="+mn-lt"/>
                <a:cs typeface="+mn-lt"/>
              </a:rPr>
              <a:t>0.75 2.33 </a:t>
            </a:r>
            <a:endParaRPr lang="en-US">
              <a:latin typeface="Courier New"/>
            </a:endParaRPr>
          </a:p>
        </p:txBody>
      </p:sp>
      <p:sp>
        <p:nvSpPr>
          <p:cNvPr id="4" name="TextBox 3">
            <a:extLst>
              <a:ext uri="{FF2B5EF4-FFF2-40B4-BE49-F238E27FC236}">
                <a16:creationId xmlns:a16="http://schemas.microsoft.com/office/drawing/2014/main" id="{E7AAB702-21ED-D069-38F5-D544816B1DC7}"/>
              </a:ext>
            </a:extLst>
          </p:cNvPr>
          <p:cNvSpPr txBox="1"/>
          <p:nvPr/>
        </p:nvSpPr>
        <p:spPr>
          <a:xfrm>
            <a:off x="962024" y="6057899"/>
            <a:ext cx="930592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dirty="0"/>
              <a:t>For each </a:t>
            </a:r>
            <a:r>
              <a:rPr lang="en-GB" sz="2800" dirty="0">
                <a:solidFill>
                  <a:schemeClr val="accent2"/>
                </a:solidFill>
              </a:rPr>
              <a:t>group</a:t>
            </a:r>
            <a:r>
              <a:rPr lang="en-GB" sz="2800" dirty="0"/>
              <a:t>, compute the </a:t>
            </a:r>
            <a:r>
              <a:rPr lang="en-GB" sz="2800" dirty="0">
                <a:solidFill>
                  <a:schemeClr val="accent1"/>
                </a:solidFill>
              </a:rPr>
              <a:t>mean </a:t>
            </a:r>
            <a:r>
              <a:rPr lang="en-GB" sz="2800" dirty="0">
                <a:solidFill>
                  <a:schemeClr val="tx2"/>
                </a:solidFill>
              </a:rPr>
              <a:t>extra </a:t>
            </a:r>
            <a:r>
              <a:rPr lang="en-GB" sz="2800" dirty="0"/>
              <a:t>sleep</a:t>
            </a:r>
          </a:p>
        </p:txBody>
      </p:sp>
    </p:spTree>
    <p:extLst>
      <p:ext uri="{BB962C8B-B14F-4D97-AF65-F5344CB8AC3E}">
        <p14:creationId xmlns:p14="http://schemas.microsoft.com/office/powerpoint/2010/main" val="3446152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05F89-1CEF-1451-92EB-E881A0AB3DFE}"/>
              </a:ext>
            </a:extLst>
          </p:cNvPr>
          <p:cNvSpPr>
            <a:spLocks noGrp="1"/>
          </p:cNvSpPr>
          <p:nvPr>
            <p:ph type="title"/>
          </p:nvPr>
        </p:nvSpPr>
        <p:spPr/>
        <p:txBody>
          <a:bodyPr/>
          <a:lstStyle/>
          <a:p>
            <a:r>
              <a:rPr lang="en-GB" dirty="0">
                <a:ea typeface="Verdana"/>
                <a:cs typeface="Gill Sans"/>
              </a:rPr>
              <a:t>Adding a row or column</a:t>
            </a:r>
            <a:endParaRPr lang="en-GB" dirty="0"/>
          </a:p>
        </p:txBody>
      </p:sp>
      <p:sp>
        <p:nvSpPr>
          <p:cNvPr id="3" name="Text Placeholder 2">
            <a:extLst>
              <a:ext uri="{FF2B5EF4-FFF2-40B4-BE49-F238E27FC236}">
                <a16:creationId xmlns:a16="http://schemas.microsoft.com/office/drawing/2014/main" id="{E41AF117-173B-DE5C-352E-90816B0E3766}"/>
              </a:ext>
            </a:extLst>
          </p:cNvPr>
          <p:cNvSpPr>
            <a:spLocks noGrp="1"/>
          </p:cNvSpPr>
          <p:nvPr>
            <p:ph type="body" sz="quarter" idx="11"/>
          </p:nvPr>
        </p:nvSpPr>
        <p:spPr>
          <a:xfrm>
            <a:off x="838200" y="1066240"/>
            <a:ext cx="10515600" cy="5104373"/>
          </a:xfrm>
        </p:spPr>
        <p:txBody>
          <a:bodyPr vert="horz" lIns="91440" tIns="45720" rIns="91440" bIns="45720" rtlCol="0" anchor="t">
            <a:normAutofit fontScale="85000" lnSpcReduction="20000"/>
          </a:bodyPr>
          <a:lstStyle/>
          <a:p>
            <a:r>
              <a:rPr lang="en-GB" dirty="0">
                <a:ea typeface="Tahoma"/>
                <a:cs typeface="Gill Sans Light"/>
              </a:rPr>
              <a:t>Add a row to the </a:t>
            </a:r>
            <a:r>
              <a:rPr lang="en-GB" dirty="0" err="1">
                <a:ea typeface="Tahoma"/>
                <a:cs typeface="Gill Sans Light"/>
              </a:rPr>
              <a:t>snp</a:t>
            </a:r>
            <a:r>
              <a:rPr lang="en-GB" dirty="0">
                <a:ea typeface="Tahoma"/>
                <a:cs typeface="Gill Sans Light"/>
              </a:rPr>
              <a:t> data: </a:t>
            </a:r>
            <a:r>
              <a:rPr lang="en-GB" dirty="0" err="1">
                <a:latin typeface="Courier New"/>
                <a:ea typeface="Tahoma"/>
                <a:cs typeface="Gill Sans Light"/>
              </a:rPr>
              <a:t>rbind</a:t>
            </a:r>
            <a:r>
              <a:rPr lang="en-GB" dirty="0">
                <a:latin typeface="Courier New"/>
                <a:ea typeface="Tahoma"/>
                <a:cs typeface="Gill Sans Light"/>
              </a:rPr>
              <a:t>()</a:t>
            </a:r>
            <a:endParaRPr lang="en-GB">
              <a:latin typeface="Courier New"/>
            </a:endParaRPr>
          </a:p>
          <a:p>
            <a:pPr>
              <a:lnSpc>
                <a:spcPct val="100000"/>
              </a:lnSpc>
              <a:spcBef>
                <a:spcPct val="20000"/>
              </a:spcBef>
            </a:pPr>
            <a:r>
              <a:rPr lang="en-US" err="1">
                <a:latin typeface="Courier New"/>
                <a:ea typeface="+mn-lt"/>
                <a:cs typeface="+mn-lt"/>
              </a:rPr>
              <a:t>snps_updated</a:t>
            </a:r>
            <a:r>
              <a:rPr lang="en-US" dirty="0">
                <a:latin typeface="Courier New"/>
                <a:ea typeface="+mn-lt"/>
                <a:cs typeface="+mn-lt"/>
              </a:rPr>
              <a:t> &lt;- </a:t>
            </a:r>
            <a:r>
              <a:rPr lang="en-US" err="1">
                <a:latin typeface="Courier New"/>
                <a:ea typeface="+mn-lt"/>
                <a:cs typeface="+mn-lt"/>
              </a:rPr>
              <a:t>rbind</a:t>
            </a:r>
            <a:r>
              <a:rPr lang="en-US" dirty="0">
                <a:latin typeface="Courier New"/>
                <a:ea typeface="+mn-lt"/>
                <a:cs typeface="+mn-lt"/>
              </a:rPr>
              <a:t>(</a:t>
            </a:r>
            <a:r>
              <a:rPr lang="en-US" err="1">
                <a:latin typeface="Courier New"/>
                <a:ea typeface="+mn-lt"/>
                <a:cs typeface="+mn-lt"/>
              </a:rPr>
              <a:t>snps</a:t>
            </a:r>
            <a:r>
              <a:rPr lang="en-US" dirty="0">
                <a:latin typeface="Courier New"/>
                <a:ea typeface="+mn-lt"/>
                <a:cs typeface="+mn-lt"/>
              </a:rPr>
              <a:t>, </a:t>
            </a:r>
          </a:p>
          <a:p>
            <a:pPr>
              <a:lnSpc>
                <a:spcPct val="100000"/>
              </a:lnSpc>
              <a:spcBef>
                <a:spcPct val="20000"/>
              </a:spcBef>
            </a:pPr>
            <a:r>
              <a:rPr lang="en-US" dirty="0">
                <a:latin typeface="Courier New"/>
                <a:ea typeface="+mn-lt"/>
                <a:cs typeface="+mn-lt"/>
              </a:rPr>
              <a:t>                      </a:t>
            </a:r>
            <a:r>
              <a:rPr lang="en-US" dirty="0" err="1">
                <a:latin typeface="Courier New"/>
                <a:ea typeface="+mn-lt"/>
                <a:cs typeface="+mn-lt"/>
              </a:rPr>
              <a:t>data.frame</a:t>
            </a:r>
            <a:r>
              <a:rPr lang="en-US" dirty="0">
                <a:latin typeface="Courier New"/>
                <a:ea typeface="+mn-lt"/>
                <a:cs typeface="+mn-lt"/>
              </a:rPr>
              <a:t>(chr=22,</a:t>
            </a:r>
          </a:p>
          <a:p>
            <a:pPr>
              <a:lnSpc>
                <a:spcPct val="100000"/>
              </a:lnSpc>
              <a:spcBef>
                <a:spcPct val="20000"/>
              </a:spcBef>
            </a:pPr>
            <a:r>
              <a:rPr lang="en-US" dirty="0">
                <a:latin typeface="Courier New"/>
                <a:ea typeface="+mn-lt"/>
                <a:cs typeface="+mn-lt"/>
              </a:rPr>
              <a:t>                                pos=1723369, </a:t>
            </a:r>
            <a:endParaRPr lang="en-US">
              <a:latin typeface="Corbel" panose="020B0503020204020204"/>
            </a:endParaRPr>
          </a:p>
          <a:p>
            <a:pPr>
              <a:lnSpc>
                <a:spcPct val="100000"/>
              </a:lnSpc>
              <a:spcBef>
                <a:spcPct val="20000"/>
              </a:spcBef>
            </a:pPr>
            <a:r>
              <a:rPr lang="en-US" dirty="0">
                <a:latin typeface="Courier New"/>
                <a:ea typeface="+mn-lt"/>
                <a:cs typeface="+mn-lt"/>
              </a:rPr>
              <a:t>                                 minor="A", </a:t>
            </a:r>
            <a:endParaRPr lang="en-US">
              <a:latin typeface="Corbel" panose="020B0503020204020204"/>
            </a:endParaRPr>
          </a:p>
          <a:p>
            <a:pPr>
              <a:lnSpc>
                <a:spcPct val="100000"/>
              </a:lnSpc>
              <a:spcBef>
                <a:spcPct val="20000"/>
              </a:spcBef>
            </a:pPr>
            <a:r>
              <a:rPr lang="en-US" dirty="0">
                <a:latin typeface="Courier New"/>
                <a:ea typeface="+mn-lt"/>
                <a:cs typeface="+mn-lt"/>
              </a:rPr>
              <a:t>                                 major="T"))</a:t>
            </a:r>
            <a:endParaRPr lang="en-US" dirty="0"/>
          </a:p>
          <a:p>
            <a:pPr>
              <a:lnSpc>
                <a:spcPct val="100000"/>
              </a:lnSpc>
              <a:spcBef>
                <a:spcPct val="20000"/>
              </a:spcBef>
            </a:pPr>
            <a:endParaRPr lang="en-US" sz="2000" dirty="0">
              <a:solidFill>
                <a:srgbClr val="262626"/>
              </a:solidFill>
              <a:ea typeface="+mn-lt"/>
              <a:cs typeface="+mn-lt"/>
            </a:endParaRPr>
          </a:p>
          <a:p>
            <a:r>
              <a:rPr lang="en-GB" dirty="0">
                <a:ea typeface="+mn-lt"/>
                <a:cs typeface="+mn-lt"/>
              </a:rPr>
              <a:t>Add a column to the </a:t>
            </a:r>
            <a:r>
              <a:rPr lang="en-GB" err="1">
                <a:ea typeface="+mn-lt"/>
                <a:cs typeface="+mn-lt"/>
              </a:rPr>
              <a:t>snp</a:t>
            </a:r>
            <a:r>
              <a:rPr lang="en-GB" dirty="0">
                <a:ea typeface="+mn-lt"/>
                <a:cs typeface="+mn-lt"/>
              </a:rPr>
              <a:t> data: </a:t>
            </a:r>
            <a:r>
              <a:rPr lang="en-GB" err="1">
                <a:latin typeface="Courier New"/>
                <a:ea typeface="+mn-lt"/>
                <a:cs typeface="+mn-lt"/>
              </a:rPr>
              <a:t>cbind</a:t>
            </a:r>
            <a:r>
              <a:rPr lang="en-GB" dirty="0">
                <a:latin typeface="Courier New"/>
                <a:ea typeface="+mn-lt"/>
                <a:cs typeface="+mn-lt"/>
              </a:rPr>
              <a:t>()</a:t>
            </a:r>
          </a:p>
          <a:p>
            <a:r>
              <a:rPr lang="en-GB" err="1">
                <a:latin typeface="Courier New"/>
                <a:ea typeface="+mn-lt"/>
                <a:cs typeface="+mn-lt"/>
              </a:rPr>
              <a:t>majorGC</a:t>
            </a:r>
            <a:r>
              <a:rPr lang="en-GB" dirty="0">
                <a:latin typeface="Courier New"/>
                <a:ea typeface="+mn-lt"/>
                <a:cs typeface="+mn-lt"/>
              </a:rPr>
              <a:t> &lt;- </a:t>
            </a:r>
            <a:r>
              <a:rPr lang="en-GB" err="1">
                <a:latin typeface="Courier New"/>
                <a:ea typeface="+mn-lt"/>
                <a:cs typeface="+mn-lt"/>
              </a:rPr>
              <a:t>snps$major</a:t>
            </a:r>
            <a:r>
              <a:rPr lang="en-GB" dirty="0">
                <a:latin typeface="Courier New"/>
                <a:ea typeface="+mn-lt"/>
                <a:cs typeface="+mn-lt"/>
              </a:rPr>
              <a:t> %in% c("G","C")</a:t>
            </a:r>
            <a:endParaRPr lang="en-GB" dirty="0">
              <a:latin typeface="Courier New"/>
            </a:endParaRPr>
          </a:p>
          <a:p>
            <a:r>
              <a:rPr lang="en-GB" err="1">
                <a:latin typeface="Courier New"/>
                <a:ea typeface="+mn-lt"/>
                <a:cs typeface="+mn-lt"/>
              </a:rPr>
              <a:t>snps_mod</a:t>
            </a:r>
            <a:r>
              <a:rPr lang="en-GB" dirty="0">
                <a:latin typeface="Courier New"/>
                <a:ea typeface="+mn-lt"/>
                <a:cs typeface="+mn-lt"/>
              </a:rPr>
              <a:t> &lt;- </a:t>
            </a:r>
            <a:r>
              <a:rPr lang="en-GB" err="1">
                <a:latin typeface="Courier New"/>
                <a:ea typeface="+mn-lt"/>
                <a:cs typeface="+mn-lt"/>
              </a:rPr>
              <a:t>cbind</a:t>
            </a:r>
            <a:r>
              <a:rPr lang="en-GB" dirty="0">
                <a:latin typeface="Courier New"/>
                <a:ea typeface="+mn-lt"/>
                <a:cs typeface="+mn-lt"/>
              </a:rPr>
              <a:t>(</a:t>
            </a:r>
            <a:r>
              <a:rPr lang="en-GB" err="1">
                <a:latin typeface="Courier New"/>
                <a:ea typeface="+mn-lt"/>
                <a:cs typeface="+mn-lt"/>
              </a:rPr>
              <a:t>snps</a:t>
            </a:r>
            <a:r>
              <a:rPr lang="en-GB" dirty="0">
                <a:latin typeface="Courier New"/>
                <a:ea typeface="+mn-lt"/>
                <a:cs typeface="+mn-lt"/>
              </a:rPr>
              <a:t>, </a:t>
            </a:r>
            <a:r>
              <a:rPr lang="en-GB" err="1">
                <a:latin typeface="Courier New"/>
                <a:ea typeface="+mn-lt"/>
                <a:cs typeface="+mn-lt"/>
              </a:rPr>
              <a:t>majorGC</a:t>
            </a:r>
            <a:r>
              <a:rPr lang="en-GB" dirty="0">
                <a:latin typeface="Courier New"/>
                <a:ea typeface="+mn-lt"/>
                <a:cs typeface="+mn-lt"/>
              </a:rPr>
              <a:t>)</a:t>
            </a:r>
          </a:p>
          <a:p>
            <a:endParaRPr lang="en-GB" b="1" dirty="0">
              <a:latin typeface="Courier New"/>
              <a:ea typeface="Tahoma"/>
              <a:cs typeface="Gill Sans Light"/>
            </a:endParaRPr>
          </a:p>
          <a:p>
            <a:r>
              <a:rPr lang="en-GB" b="1">
                <a:latin typeface="Corbel"/>
                <a:ea typeface="Tahoma"/>
                <a:cs typeface="Gill Sans Light"/>
              </a:rPr>
              <a:t>OR</a:t>
            </a:r>
            <a:endParaRPr lang="en-GB">
              <a:latin typeface="Corbel"/>
            </a:endParaRPr>
          </a:p>
          <a:p>
            <a:endParaRPr lang="en-GB" dirty="0">
              <a:latin typeface="Courier New"/>
              <a:ea typeface="Tahoma"/>
              <a:cs typeface="Courier New"/>
            </a:endParaRPr>
          </a:p>
          <a:p>
            <a:r>
              <a:rPr lang="en-GB" dirty="0" err="1">
                <a:latin typeface="Courier New"/>
                <a:ea typeface="Tahoma"/>
                <a:cs typeface="Courier New"/>
              </a:rPr>
              <a:t>snps$majorGC</a:t>
            </a:r>
            <a:r>
              <a:rPr lang="en-GB" dirty="0">
                <a:latin typeface="Courier New"/>
                <a:ea typeface="Tahoma"/>
                <a:cs typeface="Courier New"/>
              </a:rPr>
              <a:t> &lt;- </a:t>
            </a:r>
            <a:r>
              <a:rPr lang="en-GB" dirty="0" err="1">
                <a:latin typeface="Courier New"/>
                <a:ea typeface="Tahoma"/>
                <a:cs typeface="Courier New"/>
              </a:rPr>
              <a:t>snps$major</a:t>
            </a:r>
            <a:r>
              <a:rPr lang="en-GB" dirty="0">
                <a:latin typeface="Courier New"/>
                <a:ea typeface="Tahoma"/>
                <a:cs typeface="Courier New"/>
              </a:rPr>
              <a:t> %in% c("G","C")</a:t>
            </a:r>
            <a:endParaRPr lang="en-GB" dirty="0"/>
          </a:p>
          <a:p>
            <a:r>
              <a:rPr lang="en-GB" dirty="0">
                <a:latin typeface="Courier New"/>
                <a:ea typeface="Tahoma"/>
                <a:cs typeface="Courier New"/>
              </a:rPr>
              <a:t>  </a:t>
            </a:r>
            <a:endParaRPr lang="en-GB" dirty="0"/>
          </a:p>
        </p:txBody>
      </p:sp>
    </p:spTree>
    <p:extLst>
      <p:ext uri="{BB962C8B-B14F-4D97-AF65-F5344CB8AC3E}">
        <p14:creationId xmlns:p14="http://schemas.microsoft.com/office/powerpoint/2010/main" val="6663430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BE257-0F30-9094-5534-C2918D10729C}"/>
              </a:ext>
            </a:extLst>
          </p:cNvPr>
          <p:cNvSpPr>
            <a:spLocks noGrp="1"/>
          </p:cNvSpPr>
          <p:nvPr>
            <p:ph type="title"/>
          </p:nvPr>
        </p:nvSpPr>
        <p:spPr/>
        <p:txBody>
          <a:bodyPr/>
          <a:lstStyle/>
          <a:p>
            <a:r>
              <a:rPr lang="en-GB" dirty="0">
                <a:ea typeface="Verdana"/>
                <a:cs typeface="Gill Sans"/>
              </a:rPr>
              <a:t>Removing a row or column</a:t>
            </a:r>
            <a:endParaRPr lang="en-GB" dirty="0"/>
          </a:p>
        </p:txBody>
      </p:sp>
      <p:sp>
        <p:nvSpPr>
          <p:cNvPr id="3" name="Text Placeholder 2">
            <a:extLst>
              <a:ext uri="{FF2B5EF4-FFF2-40B4-BE49-F238E27FC236}">
                <a16:creationId xmlns:a16="http://schemas.microsoft.com/office/drawing/2014/main" id="{2677F0E6-64A5-6753-2A59-7D83C51DC76F}"/>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Exclusion (-):</a:t>
            </a:r>
            <a:endParaRPr lang="en-GB" dirty="0"/>
          </a:p>
          <a:p>
            <a:pPr>
              <a:lnSpc>
                <a:spcPct val="100000"/>
              </a:lnSpc>
              <a:spcBef>
                <a:spcPts val="0"/>
              </a:spcBef>
            </a:pPr>
            <a:r>
              <a:rPr lang="en-US" err="1">
                <a:latin typeface="Courier New"/>
                <a:ea typeface="+mn-lt"/>
                <a:cs typeface="+mn-lt"/>
              </a:rPr>
              <a:t>snps_orig</a:t>
            </a:r>
            <a:r>
              <a:rPr lang="en-US" dirty="0">
                <a:latin typeface="Courier New"/>
                <a:ea typeface="+mn-lt"/>
                <a:cs typeface="+mn-lt"/>
              </a:rPr>
              <a:t> &lt;- </a:t>
            </a:r>
            <a:r>
              <a:rPr lang="en-US" err="1">
                <a:latin typeface="Courier New"/>
                <a:ea typeface="+mn-lt"/>
                <a:cs typeface="+mn-lt"/>
              </a:rPr>
              <a:t>snps_mod</a:t>
            </a:r>
            <a:r>
              <a:rPr lang="en-US" dirty="0">
                <a:latin typeface="Courier New"/>
                <a:ea typeface="+mn-lt"/>
                <a:cs typeface="+mn-lt"/>
              </a:rPr>
              <a:t>[,-1] </a:t>
            </a:r>
            <a:r>
              <a:rPr lang="en-US" b="1" dirty="0">
                <a:solidFill>
                  <a:schemeClr val="accent4"/>
                </a:solidFill>
                <a:latin typeface="Courier New"/>
                <a:ea typeface="+mn-lt"/>
                <a:cs typeface="+mn-lt"/>
              </a:rPr>
              <a:t># remove the first column</a:t>
            </a:r>
          </a:p>
          <a:p>
            <a:pPr>
              <a:lnSpc>
                <a:spcPct val="100000"/>
              </a:lnSpc>
              <a:spcBef>
                <a:spcPts val="0"/>
              </a:spcBef>
            </a:pPr>
            <a:r>
              <a:rPr lang="en-US" dirty="0">
                <a:latin typeface="Courier New"/>
                <a:ea typeface="+mn-lt"/>
                <a:cs typeface="+mn-lt"/>
              </a:rPr>
              <a:t>head(</a:t>
            </a:r>
            <a:r>
              <a:rPr lang="en-US" err="1">
                <a:latin typeface="Courier New"/>
                <a:ea typeface="+mn-lt"/>
                <a:cs typeface="+mn-lt"/>
              </a:rPr>
              <a:t>snps_orig</a:t>
            </a:r>
            <a:r>
              <a:rPr lang="en-US" dirty="0">
                <a:latin typeface="Courier New"/>
                <a:ea typeface="+mn-lt"/>
                <a:cs typeface="+mn-lt"/>
              </a:rPr>
              <a:t>)  </a:t>
            </a:r>
            <a:r>
              <a:rPr lang="en-US" b="1" dirty="0">
                <a:solidFill>
                  <a:schemeClr val="accent4"/>
                </a:solidFill>
                <a:latin typeface="Courier New"/>
                <a:ea typeface="+mn-lt"/>
                <a:cs typeface="+mn-lt"/>
              </a:rPr>
              <a:t># check resulting data</a:t>
            </a:r>
          </a:p>
          <a:p>
            <a:endParaRPr lang="en-GB" dirty="0"/>
          </a:p>
          <a:p>
            <a:r>
              <a:rPr lang="en-GB" dirty="0">
                <a:solidFill>
                  <a:srgbClr val="1E2232"/>
                </a:solidFill>
                <a:ea typeface="Tahoma"/>
                <a:cs typeface="Gill Sans Light"/>
              </a:rPr>
              <a:t>Extraction:</a:t>
            </a:r>
            <a:endParaRPr lang="en-GB">
              <a:solidFill>
                <a:srgbClr val="1E2232"/>
              </a:solidFill>
              <a:ea typeface="Tahoma"/>
              <a:cs typeface="Gill Sans Light"/>
            </a:endParaRPr>
          </a:p>
          <a:p>
            <a:pPr>
              <a:lnSpc>
                <a:spcPct val="100000"/>
              </a:lnSpc>
              <a:spcBef>
                <a:spcPts val="0"/>
              </a:spcBef>
            </a:pPr>
            <a:r>
              <a:rPr lang="en-US" b="1" dirty="0">
                <a:solidFill>
                  <a:schemeClr val="accent4"/>
                </a:solidFill>
                <a:latin typeface="Courier New"/>
                <a:ea typeface="+mn-lt"/>
                <a:cs typeface="Courier New"/>
              </a:rPr>
              <a:t># extract all columns that you want to keep </a:t>
            </a:r>
            <a:endParaRPr lang="en-US">
              <a:solidFill>
                <a:schemeClr val="accent4"/>
              </a:solidFill>
              <a:latin typeface="Courier New"/>
              <a:ea typeface="+mn-lt"/>
              <a:cs typeface="Courier New"/>
            </a:endParaRPr>
          </a:p>
          <a:p>
            <a:pPr>
              <a:lnSpc>
                <a:spcPct val="100000"/>
              </a:lnSpc>
              <a:spcBef>
                <a:spcPts val="0"/>
              </a:spcBef>
            </a:pPr>
            <a:r>
              <a:rPr lang="en-US" b="1" dirty="0">
                <a:solidFill>
                  <a:schemeClr val="accent4"/>
                </a:solidFill>
                <a:latin typeface="Courier New"/>
                <a:ea typeface="+mn-lt"/>
                <a:cs typeface="Courier New"/>
              </a:rPr>
              <a:t># (from the 2nd to the last)</a:t>
            </a:r>
            <a:endParaRPr lang="en-US" dirty="0">
              <a:solidFill>
                <a:schemeClr val="accent4"/>
              </a:solidFill>
            </a:endParaRPr>
          </a:p>
          <a:p>
            <a:pPr>
              <a:lnSpc>
                <a:spcPct val="100000"/>
              </a:lnSpc>
              <a:spcBef>
                <a:spcPts val="0"/>
              </a:spcBef>
            </a:pPr>
            <a:r>
              <a:rPr lang="en-US" err="1">
                <a:latin typeface="Courier New"/>
                <a:ea typeface="+mn-lt"/>
                <a:cs typeface="+mn-lt"/>
              </a:rPr>
              <a:t>snps_orig</a:t>
            </a:r>
            <a:r>
              <a:rPr lang="en-US" dirty="0">
                <a:latin typeface="Courier New"/>
                <a:ea typeface="+mn-lt"/>
                <a:cs typeface="+mn-lt"/>
              </a:rPr>
              <a:t> &lt;- </a:t>
            </a:r>
            <a:r>
              <a:rPr lang="en-US" err="1">
                <a:latin typeface="Courier New"/>
                <a:ea typeface="+mn-lt"/>
                <a:cs typeface="+mn-lt"/>
              </a:rPr>
              <a:t>snps_mod</a:t>
            </a:r>
            <a:r>
              <a:rPr lang="en-US" dirty="0">
                <a:latin typeface="Courier New"/>
                <a:ea typeface="+mn-lt"/>
                <a:cs typeface="+mn-lt"/>
              </a:rPr>
              <a:t>[,2:ncol(</a:t>
            </a:r>
            <a:r>
              <a:rPr lang="en-US" err="1">
                <a:latin typeface="Courier New"/>
                <a:ea typeface="+mn-lt"/>
                <a:cs typeface="+mn-lt"/>
              </a:rPr>
              <a:t>snps_mod</a:t>
            </a:r>
            <a:r>
              <a:rPr lang="en-US" dirty="0">
                <a:latin typeface="Courier New"/>
                <a:ea typeface="+mn-lt"/>
                <a:cs typeface="+mn-lt"/>
              </a:rPr>
              <a:t>)] </a:t>
            </a:r>
            <a:endParaRPr lang="en-US">
              <a:solidFill>
                <a:srgbClr val="1E2232"/>
              </a:solidFill>
              <a:latin typeface="Courier New"/>
              <a:ea typeface="+mn-lt"/>
              <a:cs typeface="+mn-lt"/>
            </a:endParaRPr>
          </a:p>
          <a:p>
            <a:pPr>
              <a:lnSpc>
                <a:spcPct val="100000"/>
              </a:lnSpc>
              <a:spcBef>
                <a:spcPts val="0"/>
              </a:spcBef>
            </a:pPr>
            <a:r>
              <a:rPr lang="en-US" dirty="0">
                <a:latin typeface="Courier New"/>
                <a:ea typeface="+mn-lt"/>
                <a:cs typeface="+mn-lt"/>
              </a:rPr>
              <a:t>head(</a:t>
            </a:r>
            <a:r>
              <a:rPr lang="en-US" err="1">
                <a:latin typeface="Courier New"/>
                <a:ea typeface="+mn-lt"/>
                <a:cs typeface="+mn-lt"/>
              </a:rPr>
              <a:t>snps_orig</a:t>
            </a:r>
            <a:r>
              <a:rPr lang="en-US" dirty="0">
                <a:latin typeface="Courier New"/>
                <a:ea typeface="+mn-lt"/>
                <a:cs typeface="+mn-lt"/>
              </a:rPr>
              <a:t>) </a:t>
            </a:r>
            <a:r>
              <a:rPr lang="en-US" b="1" dirty="0">
                <a:solidFill>
                  <a:schemeClr val="accent4"/>
                </a:solidFill>
                <a:latin typeface="Courier New"/>
                <a:ea typeface="+mn-lt"/>
                <a:cs typeface="+mn-lt"/>
              </a:rPr>
              <a:t># check resulting data</a:t>
            </a:r>
          </a:p>
          <a:p>
            <a:pPr>
              <a:lnSpc>
                <a:spcPct val="100000"/>
              </a:lnSpc>
              <a:spcBef>
                <a:spcPct val="20000"/>
              </a:spcBef>
            </a:pPr>
            <a:endParaRPr lang="en-US" dirty="0">
              <a:solidFill>
                <a:srgbClr val="4F81BD"/>
              </a:solidFill>
              <a:ea typeface="+mn-lt"/>
              <a:cs typeface="+mn-lt"/>
            </a:endParaRPr>
          </a:p>
          <a:p>
            <a:endParaRPr lang="en-GB" dirty="0"/>
          </a:p>
          <a:p>
            <a:endParaRPr lang="en-GB" dirty="0"/>
          </a:p>
        </p:txBody>
      </p:sp>
    </p:spTree>
    <p:extLst>
      <p:ext uri="{BB962C8B-B14F-4D97-AF65-F5344CB8AC3E}">
        <p14:creationId xmlns:p14="http://schemas.microsoft.com/office/powerpoint/2010/main" val="178241947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AFE1C-85BB-182C-B7CF-CFB055362ECD}"/>
              </a:ext>
            </a:extLst>
          </p:cNvPr>
          <p:cNvSpPr>
            <a:spLocks noGrp="1"/>
          </p:cNvSpPr>
          <p:nvPr>
            <p:ph type="title"/>
          </p:nvPr>
        </p:nvSpPr>
        <p:spPr/>
        <p:txBody>
          <a:bodyPr/>
          <a:lstStyle/>
          <a:p>
            <a:r>
              <a:rPr lang="en-GB" dirty="0">
                <a:ea typeface="Verdana"/>
                <a:cs typeface="Gill Sans"/>
              </a:rPr>
              <a:t>Exporting data to a file</a:t>
            </a:r>
            <a:endParaRPr lang="en-GB" dirty="0"/>
          </a:p>
        </p:txBody>
      </p:sp>
      <p:sp>
        <p:nvSpPr>
          <p:cNvPr id="3" name="Text Placeholder 2">
            <a:extLst>
              <a:ext uri="{FF2B5EF4-FFF2-40B4-BE49-F238E27FC236}">
                <a16:creationId xmlns:a16="http://schemas.microsoft.com/office/drawing/2014/main" id="{8C9C0B3F-41B4-AB11-6239-030B9B891AB8}"/>
              </a:ext>
            </a:extLst>
          </p:cNvPr>
          <p:cNvSpPr>
            <a:spLocks noGrp="1"/>
          </p:cNvSpPr>
          <p:nvPr>
            <p:ph type="body" sz="quarter" idx="11"/>
          </p:nvPr>
        </p:nvSpPr>
        <p:spPr/>
        <p:txBody>
          <a:bodyPr vert="horz" lIns="91440" tIns="45720" rIns="91440" bIns="45720" rtlCol="0" anchor="t">
            <a:normAutofit lnSpcReduction="10000"/>
          </a:bodyPr>
          <a:lstStyle/>
          <a:p>
            <a:r>
              <a:rPr lang="en-GB" sz="2000" err="1">
                <a:latin typeface="Courier New"/>
                <a:ea typeface="Tahoma"/>
                <a:cs typeface="Gill Sans Light"/>
              </a:rPr>
              <a:t>write.table</a:t>
            </a:r>
            <a:r>
              <a:rPr lang="en-GB" sz="2000" dirty="0">
                <a:latin typeface="Courier New"/>
                <a:ea typeface="Tahoma"/>
                <a:cs typeface="Gill Sans Light"/>
              </a:rPr>
              <a:t>()</a:t>
            </a:r>
            <a:r>
              <a:rPr lang="en-GB" sz="2000" dirty="0">
                <a:ea typeface="Tahoma"/>
                <a:cs typeface="Gill Sans Light"/>
              </a:rPr>
              <a:t> or </a:t>
            </a:r>
            <a:r>
              <a:rPr lang="en-GB" sz="2000" dirty="0">
                <a:latin typeface="Courier New"/>
                <a:ea typeface="Tahoma"/>
                <a:cs typeface="Gill Sans Light"/>
              </a:rPr>
              <a:t>write.csv()</a:t>
            </a:r>
          </a:p>
          <a:p>
            <a:r>
              <a:rPr lang="en-US" sz="2000" dirty="0">
                <a:ea typeface="+mn-lt"/>
                <a:cs typeface="+mn-lt"/>
              </a:rPr>
              <a:t>Example:</a:t>
            </a:r>
            <a:endParaRPr lang="en-GB" sz="2000" dirty="0">
              <a:latin typeface="Courier New"/>
            </a:endParaRPr>
          </a:p>
          <a:p>
            <a:pPr>
              <a:lnSpc>
                <a:spcPct val="100000"/>
              </a:lnSpc>
              <a:spcBef>
                <a:spcPct val="20000"/>
              </a:spcBef>
            </a:pPr>
            <a:r>
              <a:rPr lang="en-US" sz="2000" dirty="0">
                <a:latin typeface="Courier New"/>
                <a:ea typeface="+mn-lt"/>
                <a:cs typeface="+mn-lt"/>
              </a:rPr>
              <a:t>  </a:t>
            </a:r>
            <a:r>
              <a:rPr lang="en-US" sz="2000" err="1">
                <a:latin typeface="Courier New"/>
                <a:ea typeface="+mn-lt"/>
                <a:cs typeface="+mn-lt"/>
              </a:rPr>
              <a:t>write.table</a:t>
            </a:r>
            <a:r>
              <a:rPr lang="en-US" sz="2000" dirty="0">
                <a:latin typeface="Courier New"/>
                <a:ea typeface="+mn-lt"/>
                <a:cs typeface="+mn-lt"/>
              </a:rPr>
              <a:t>(</a:t>
            </a:r>
            <a:r>
              <a:rPr lang="en-US" sz="2000" err="1">
                <a:latin typeface="Courier New"/>
                <a:ea typeface="+mn-lt"/>
                <a:cs typeface="+mn-lt"/>
              </a:rPr>
              <a:t>snps_updated</a:t>
            </a:r>
            <a:r>
              <a:rPr lang="en-US" sz="2000" dirty="0">
                <a:latin typeface="Courier New"/>
                <a:ea typeface="+mn-lt"/>
                <a:cs typeface="+mn-lt"/>
              </a:rPr>
              <a:t>, file="snps_updated.csv",</a:t>
            </a:r>
          </a:p>
          <a:p>
            <a:pPr>
              <a:lnSpc>
                <a:spcPct val="100000"/>
              </a:lnSpc>
              <a:spcBef>
                <a:spcPct val="20000"/>
              </a:spcBef>
              <a:spcAft>
                <a:spcPts val="600"/>
              </a:spcAft>
            </a:pPr>
            <a:r>
              <a:rPr lang="en-US" sz="2000" dirty="0">
                <a:latin typeface="Courier New"/>
                <a:ea typeface="+mn-lt"/>
                <a:cs typeface="+mn-lt"/>
              </a:rPr>
              <a:t>               </a:t>
            </a:r>
            <a:r>
              <a:rPr lang="en-US" sz="2000" b="1" dirty="0">
                <a:latin typeface="Courier New"/>
                <a:ea typeface="+mn-lt"/>
                <a:cs typeface="+mn-lt"/>
              </a:rPr>
              <a:t>quote=FALSE</a:t>
            </a:r>
            <a:r>
              <a:rPr lang="en-US" sz="2000" dirty="0">
                <a:latin typeface="Courier New"/>
                <a:ea typeface="+mn-lt"/>
                <a:cs typeface="+mn-lt"/>
              </a:rPr>
              <a:t>, </a:t>
            </a:r>
            <a:r>
              <a:rPr lang="en-US" sz="2000" b="1" dirty="0" err="1">
                <a:latin typeface="Courier New"/>
                <a:ea typeface="+mn-lt"/>
                <a:cs typeface="+mn-lt"/>
              </a:rPr>
              <a:t>sep</a:t>
            </a:r>
            <a:r>
              <a:rPr lang="en-US" sz="2000" b="1" dirty="0">
                <a:latin typeface="Courier New"/>
                <a:ea typeface="+mn-lt"/>
                <a:cs typeface="+mn-lt"/>
              </a:rPr>
              <a:t>=",", </a:t>
            </a:r>
            <a:r>
              <a:rPr lang="en-US" sz="2000" b="1" dirty="0" err="1">
                <a:latin typeface="Courier New"/>
                <a:ea typeface="+mn-lt"/>
                <a:cs typeface="+mn-lt"/>
              </a:rPr>
              <a:t>row.names</a:t>
            </a:r>
            <a:r>
              <a:rPr lang="en-US" sz="2000" b="1" dirty="0">
                <a:latin typeface="Courier New"/>
                <a:ea typeface="+mn-lt"/>
                <a:cs typeface="+mn-lt"/>
              </a:rPr>
              <a:t>=FALSE</a:t>
            </a:r>
            <a:r>
              <a:rPr lang="en-US" sz="2000" dirty="0">
                <a:latin typeface="Courier New"/>
                <a:ea typeface="+mn-lt"/>
                <a:cs typeface="+mn-lt"/>
              </a:rPr>
              <a:t>)</a:t>
            </a:r>
          </a:p>
          <a:p>
            <a:pPr>
              <a:lnSpc>
                <a:spcPct val="100000"/>
              </a:lnSpc>
              <a:spcBef>
                <a:spcPts val="1200"/>
              </a:spcBef>
            </a:pPr>
            <a:r>
              <a:rPr lang="en-US" sz="2000" dirty="0">
                <a:latin typeface="Corbel"/>
                <a:ea typeface="Tahoma"/>
                <a:cs typeface="Arial"/>
              </a:rPr>
              <a:t>Some important arguments (check ?</a:t>
            </a:r>
            <a:r>
              <a:rPr lang="en-US" sz="2000" dirty="0" err="1">
                <a:latin typeface="Corbel"/>
                <a:ea typeface="Tahoma"/>
                <a:cs typeface="Arial"/>
              </a:rPr>
              <a:t>write.table</a:t>
            </a:r>
            <a:r>
              <a:rPr lang="en-US" sz="2000" dirty="0">
                <a:latin typeface="Corbel"/>
                <a:ea typeface="Tahoma"/>
                <a:cs typeface="Arial"/>
              </a:rPr>
              <a:t> for more):</a:t>
            </a:r>
          </a:p>
          <a:p>
            <a:pPr lvl="1">
              <a:lnSpc>
                <a:spcPct val="100000"/>
              </a:lnSpc>
              <a:spcBef>
                <a:spcPct val="20000"/>
              </a:spcBef>
              <a:buFont typeface="Arial"/>
              <a:buChar char="•"/>
            </a:pPr>
            <a:r>
              <a:rPr lang="en-US" sz="2000" b="1" dirty="0">
                <a:latin typeface="Corbel"/>
                <a:ea typeface="Tahoma"/>
                <a:cs typeface="Arial"/>
              </a:rPr>
              <a:t>file: </a:t>
            </a:r>
            <a:r>
              <a:rPr lang="en-US" sz="2000" dirty="0">
                <a:latin typeface="Corbel"/>
                <a:ea typeface="Tahoma"/>
                <a:cs typeface="Arial"/>
              </a:rPr>
              <a:t>file path and name for the output file </a:t>
            </a:r>
          </a:p>
          <a:p>
            <a:pPr lvl="1">
              <a:lnSpc>
                <a:spcPct val="100000"/>
              </a:lnSpc>
              <a:spcBef>
                <a:spcPct val="20000"/>
              </a:spcBef>
              <a:buFont typeface="Arial"/>
              <a:buChar char="•"/>
            </a:pPr>
            <a:r>
              <a:rPr lang="en-US" sz="2000" b="1" dirty="0">
                <a:latin typeface="Corbel"/>
                <a:ea typeface="Tahoma"/>
                <a:cs typeface="Arial"/>
              </a:rPr>
              <a:t>append:</a:t>
            </a:r>
            <a:r>
              <a:rPr lang="en-US" sz="2000" dirty="0">
                <a:latin typeface="Corbel"/>
                <a:ea typeface="Tahoma"/>
                <a:cs typeface="Arial"/>
              </a:rPr>
              <a:t> allows to append to an existing file (default is FALSE).</a:t>
            </a:r>
          </a:p>
          <a:p>
            <a:pPr lvl="1">
              <a:lnSpc>
                <a:spcPct val="100000"/>
              </a:lnSpc>
              <a:spcBef>
                <a:spcPct val="20000"/>
              </a:spcBef>
              <a:buFont typeface="Arial"/>
              <a:buChar char="•"/>
            </a:pPr>
            <a:r>
              <a:rPr lang="en-US" sz="2000" b="1" dirty="0">
                <a:latin typeface="Corbel"/>
                <a:ea typeface="Tahoma"/>
                <a:cs typeface="Arial"/>
              </a:rPr>
              <a:t>quote:</a:t>
            </a:r>
            <a:r>
              <a:rPr lang="en-US" sz="2000" dirty="0">
                <a:latin typeface="Corbel"/>
                <a:ea typeface="Tahoma"/>
                <a:cs typeface="Arial"/>
              </a:rPr>
              <a:t> whether the elements of character or factor columns should be surrounded by double quotes in the printed output (default is TRUE).</a:t>
            </a:r>
          </a:p>
          <a:p>
            <a:pPr lvl="1">
              <a:lnSpc>
                <a:spcPct val="100000"/>
              </a:lnSpc>
              <a:spcBef>
                <a:spcPct val="20000"/>
              </a:spcBef>
              <a:buFont typeface="Arial"/>
              <a:buChar char="•"/>
            </a:pPr>
            <a:r>
              <a:rPr lang="en-US" sz="2000" b="1" dirty="0" err="1">
                <a:latin typeface="Corbel"/>
                <a:ea typeface="Tahoma"/>
                <a:cs typeface="Arial"/>
              </a:rPr>
              <a:t>sep</a:t>
            </a:r>
            <a:r>
              <a:rPr lang="en-US" sz="2000" b="1" dirty="0">
                <a:latin typeface="Corbel"/>
                <a:ea typeface="Tahoma"/>
                <a:cs typeface="Arial"/>
              </a:rPr>
              <a:t>: </a:t>
            </a:r>
            <a:r>
              <a:rPr lang="en-US" sz="2000" dirty="0">
                <a:latin typeface="Corbel"/>
                <a:ea typeface="Tahoma"/>
                <a:cs typeface="Arial"/>
              </a:rPr>
              <a:t> field separator to be used, e.g., comma (",")  or tab ("\t").</a:t>
            </a:r>
          </a:p>
          <a:p>
            <a:pPr lvl="1">
              <a:lnSpc>
                <a:spcPct val="100000"/>
              </a:lnSpc>
              <a:spcBef>
                <a:spcPct val="20000"/>
              </a:spcBef>
              <a:buFont typeface="Arial"/>
              <a:buChar char="•"/>
            </a:pPr>
            <a:r>
              <a:rPr lang="en-US" sz="2000" b="1" dirty="0" err="1">
                <a:latin typeface="Corbel"/>
                <a:ea typeface="Tahoma"/>
                <a:cs typeface="Arial"/>
              </a:rPr>
              <a:t>row.names</a:t>
            </a:r>
            <a:r>
              <a:rPr lang="en-US" sz="2000" b="1" dirty="0">
                <a:latin typeface="Corbel"/>
                <a:ea typeface="Tahoma"/>
                <a:cs typeface="Arial"/>
              </a:rPr>
              <a:t>:</a:t>
            </a:r>
            <a:r>
              <a:rPr lang="en-US" sz="2000" dirty="0">
                <a:latin typeface="Corbel"/>
                <a:ea typeface="Tahoma"/>
                <a:cs typeface="Arial"/>
              </a:rPr>
              <a:t> whether the row names are written (default is TRUE)</a:t>
            </a:r>
          </a:p>
          <a:p>
            <a:pPr lvl="1">
              <a:lnSpc>
                <a:spcPct val="100000"/>
              </a:lnSpc>
              <a:spcBef>
                <a:spcPct val="20000"/>
              </a:spcBef>
              <a:buFont typeface="Arial"/>
              <a:buChar char="•"/>
            </a:pPr>
            <a:r>
              <a:rPr lang="en-US" sz="2000" b="1" err="1">
                <a:latin typeface="Corbel"/>
                <a:ea typeface="Tahoma"/>
                <a:cs typeface="Arial"/>
              </a:rPr>
              <a:t>col</a:t>
            </a:r>
            <a:r>
              <a:rPr lang="en-US" sz="2000" b="1" dirty="0" err="1">
                <a:latin typeface="Corbel"/>
                <a:ea typeface="Tahoma"/>
                <a:cs typeface="Arial"/>
              </a:rPr>
              <a:t>.names</a:t>
            </a:r>
            <a:r>
              <a:rPr lang="en-US" sz="2000" b="1" dirty="0">
                <a:latin typeface="Corbel"/>
                <a:ea typeface="Tahoma"/>
                <a:cs typeface="Arial"/>
              </a:rPr>
              <a:t>: </a:t>
            </a:r>
            <a:r>
              <a:rPr lang="en-US" sz="2000" dirty="0">
                <a:latin typeface="Corbel"/>
                <a:ea typeface="Tahoma"/>
                <a:cs typeface="Arial"/>
              </a:rPr>
              <a:t>whether the column names are written (default is TRUE).</a:t>
            </a:r>
            <a:endParaRPr lang="en-US" dirty="0"/>
          </a:p>
          <a:p>
            <a:endParaRPr lang="en-GB" sz="2000" dirty="0">
              <a:latin typeface="Corbel"/>
            </a:endParaRPr>
          </a:p>
        </p:txBody>
      </p:sp>
    </p:spTree>
    <p:extLst>
      <p:ext uri="{BB962C8B-B14F-4D97-AF65-F5344CB8AC3E}">
        <p14:creationId xmlns:p14="http://schemas.microsoft.com/office/powerpoint/2010/main" val="42584888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4B63F-770E-9117-936D-45DFD4B4EBB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DD10C8A9-9A0E-81C1-04FE-0D29A70E21AC}"/>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6c</a:t>
            </a:r>
            <a:endParaRPr lang="en-US" dirty="0"/>
          </a:p>
        </p:txBody>
      </p:sp>
      <p:sp>
        <p:nvSpPr>
          <p:cNvPr id="2" name="TextBox 1">
            <a:extLst>
              <a:ext uri="{FF2B5EF4-FFF2-40B4-BE49-F238E27FC236}">
                <a16:creationId xmlns:a16="http://schemas.microsoft.com/office/drawing/2014/main" id="{9F00FF52-5876-8F54-50E5-B23D3C57EDA9}"/>
              </a:ext>
            </a:extLst>
          </p:cNvPr>
          <p:cNvSpPr txBox="1"/>
          <p:nvPr/>
        </p:nvSpPr>
        <p:spPr>
          <a:xfrm>
            <a:off x="838200" y="1019175"/>
            <a:ext cx="10553700" cy="58298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499"/>
              </a:spcBef>
            </a:pPr>
            <a:r>
              <a:rPr lang="en-US" sz="2400" dirty="0">
                <a:solidFill>
                  <a:srgbClr val="000000"/>
                </a:solidFill>
                <a:ea typeface="+mn-lt"/>
                <a:cs typeface="+mn-lt"/>
              </a:rPr>
              <a:t>Continue from the mouse dataset used previously.</a:t>
            </a:r>
          </a:p>
          <a:p>
            <a:pPr>
              <a:spcBef>
                <a:spcPts val="499"/>
              </a:spcBef>
            </a:pPr>
            <a:r>
              <a:rPr lang="en-US" sz="2400" dirty="0">
                <a:solidFill>
                  <a:srgbClr val="000000"/>
                </a:solidFill>
                <a:ea typeface="+mn-lt"/>
                <a:cs typeface="+mn-lt"/>
              </a:rPr>
              <a:t>Use the following code if you do not have the </a:t>
            </a:r>
            <a:r>
              <a:rPr lang="en-US" sz="2400" dirty="0" err="1">
                <a:solidFill>
                  <a:srgbClr val="000000"/>
                </a:solidFill>
                <a:ea typeface="+mn-lt"/>
                <a:cs typeface="+mn-lt"/>
              </a:rPr>
              <a:t>dataframe</a:t>
            </a:r>
            <a:r>
              <a:rPr lang="en-US" sz="2400" dirty="0">
                <a:solidFill>
                  <a:srgbClr val="000000"/>
                </a:solidFill>
                <a:ea typeface="+mn-lt"/>
                <a:cs typeface="+mn-lt"/>
              </a:rPr>
              <a:t> already loaded</a:t>
            </a:r>
          </a:p>
          <a:p>
            <a:pPr>
              <a:spcBef>
                <a:spcPts val="499"/>
              </a:spcBef>
            </a:pPr>
            <a:r>
              <a:rPr lang="en-US" sz="2400" dirty="0" err="1">
                <a:solidFill>
                  <a:srgbClr val="000000"/>
                </a:solidFill>
                <a:latin typeface="Courier New"/>
                <a:cs typeface="Courier New"/>
              </a:rPr>
              <a:t>mice_data</a:t>
            </a:r>
            <a:r>
              <a:rPr lang="en-US" sz="2400" dirty="0">
                <a:solidFill>
                  <a:srgbClr val="000000"/>
                </a:solidFill>
                <a:latin typeface="Courier New"/>
                <a:cs typeface="Courier New"/>
              </a:rPr>
              <a:t> = read.csv("</a:t>
            </a:r>
            <a:r>
              <a:rPr lang="en-US" sz="2400" dirty="0" err="1">
                <a:solidFill>
                  <a:srgbClr val="000000"/>
                </a:solidFill>
                <a:latin typeface="Courier New"/>
                <a:cs typeface="Courier New"/>
              </a:rPr>
              <a:t>course_datasets</a:t>
            </a:r>
            <a:r>
              <a:rPr lang="en-US" sz="2400" dirty="0">
                <a:solidFill>
                  <a:srgbClr val="000000"/>
                </a:solidFill>
                <a:latin typeface="Courier New"/>
                <a:cs typeface="Courier New"/>
              </a:rPr>
              <a:t>/mice_data.csv")</a:t>
            </a:r>
          </a:p>
          <a:p>
            <a:pPr marL="460375" indent="-457200">
              <a:spcBef>
                <a:spcPts val="723"/>
              </a:spcBef>
              <a:spcAft>
                <a:spcPts val="283"/>
              </a:spcAft>
              <a:buAutoNum type="arabicPeriod"/>
            </a:pPr>
            <a:r>
              <a:rPr lang="en-US" sz="2000" dirty="0">
                <a:solidFill>
                  <a:srgbClr val="000000"/>
                </a:solidFill>
                <a:latin typeface="Corbel"/>
                <a:cs typeface="Arial"/>
              </a:rPr>
              <a:t>Subsets</a:t>
            </a:r>
          </a:p>
          <a:p>
            <a:pPr marL="917575" lvl="1" indent="-457200">
              <a:spcBef>
                <a:spcPts val="723"/>
              </a:spcBef>
              <a:spcAft>
                <a:spcPts val="283"/>
              </a:spcAft>
              <a:buAutoNum type="arabicPeriod"/>
            </a:pPr>
            <a:r>
              <a:rPr lang="en-US" sz="2000" dirty="0">
                <a:solidFill>
                  <a:srgbClr val="000000"/>
                </a:solidFill>
                <a:latin typeface="Corbel"/>
                <a:cs typeface="Arial"/>
              </a:rPr>
              <a:t>Isolate the observations for the mice on high fat diet (HFD) using subset().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Compute the average weights of the subset.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Do the same for the mice on regular chow diet (CHOW).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Export the data of each subgroup to a csv file.</a:t>
            </a:r>
            <a:endParaRPr lang="en-US"/>
          </a:p>
          <a:p>
            <a:pPr marL="460375" indent="-457200">
              <a:spcBef>
                <a:spcPts val="723"/>
              </a:spcBef>
              <a:spcAft>
                <a:spcPts val="283"/>
              </a:spcAft>
              <a:buAutoNum type="arabicPeriod"/>
            </a:pPr>
            <a:r>
              <a:rPr lang="en-US" sz="2000" dirty="0">
                <a:solidFill>
                  <a:srgbClr val="000000"/>
                </a:solidFill>
                <a:latin typeface="Corbel"/>
                <a:cs typeface="Arial"/>
              </a:rPr>
              <a:t>Look at the results from the two previous exercises. What does this initial exploration of the data suggest about mouse weights?</a:t>
            </a:r>
          </a:p>
          <a:p>
            <a:pPr marL="460375" indent="-457200">
              <a:spcBef>
                <a:spcPts val="723"/>
              </a:spcBef>
              <a:spcAft>
                <a:spcPts val="283"/>
              </a:spcAft>
              <a:buAutoNum type="arabicPeriod"/>
            </a:pPr>
            <a:r>
              <a:rPr lang="en-US" sz="2000" b="1" i="1" dirty="0">
                <a:solidFill>
                  <a:srgbClr val="000000"/>
                </a:solidFill>
                <a:latin typeface="Corbel"/>
                <a:cs typeface="Arial"/>
              </a:rPr>
              <a:t>Optional: </a:t>
            </a:r>
            <a:r>
              <a:rPr lang="en-US" sz="2000" dirty="0">
                <a:solidFill>
                  <a:srgbClr val="000000"/>
                </a:solidFill>
                <a:latin typeface="Corbel"/>
                <a:cs typeface="Arial"/>
              </a:rPr>
              <a:t>Compute the means and standard deviations for WT and KO mouse weights using </a:t>
            </a:r>
            <a:r>
              <a:rPr lang="en-US" sz="2000" err="1">
                <a:solidFill>
                  <a:srgbClr val="000000"/>
                </a:solidFill>
                <a:latin typeface="Corbel"/>
                <a:cs typeface="Arial"/>
              </a:rPr>
              <a:t>tapply</a:t>
            </a:r>
            <a:r>
              <a:rPr lang="en-US" sz="2000" dirty="0">
                <a:solidFill>
                  <a:srgbClr val="000000"/>
                </a:solidFill>
                <a:latin typeface="Corbel"/>
                <a:cs typeface="Arial"/>
              </a:rPr>
              <a:t>(). Then do the same for CHOW and HFD groups. </a:t>
            </a:r>
          </a:p>
          <a:p>
            <a:pPr marL="3175">
              <a:spcBef>
                <a:spcPts val="723"/>
              </a:spcBef>
              <a:spcAft>
                <a:spcPts val="283"/>
              </a:spcAft>
            </a:pPr>
            <a:r>
              <a:rPr lang="en-US" sz="2000" b="1" dirty="0">
                <a:solidFill>
                  <a:srgbClr val="000000"/>
                </a:solidFill>
                <a:latin typeface="Corbel"/>
                <a:cs typeface="Arial"/>
              </a:rPr>
              <a:t>EXTRA TASK: next slide</a:t>
            </a:r>
            <a:endParaRPr lang="en-US" sz="2000" dirty="0">
              <a:solidFill>
                <a:srgbClr val="000000"/>
              </a:solidFill>
              <a:latin typeface="Corbel"/>
              <a:cs typeface="Arial"/>
            </a:endParaRPr>
          </a:p>
          <a:p>
            <a:pPr marL="3175">
              <a:spcBef>
                <a:spcPts val="723"/>
              </a:spcBef>
              <a:spcAft>
                <a:spcPts val="283"/>
              </a:spcAft>
            </a:pPr>
            <a:endParaRPr lang="en-US" sz="2000" b="1" dirty="0">
              <a:solidFill>
                <a:srgbClr val="000000"/>
              </a:solidFill>
              <a:latin typeface="Corbel"/>
              <a:cs typeface="Arial"/>
            </a:endParaRPr>
          </a:p>
        </p:txBody>
      </p:sp>
    </p:spTree>
    <p:extLst>
      <p:ext uri="{BB962C8B-B14F-4D97-AF65-F5344CB8AC3E}">
        <p14:creationId xmlns:p14="http://schemas.microsoft.com/office/powerpoint/2010/main" val="32109182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E1EBB-8A27-E570-1F67-4419D0DD1C4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040A9D9E-DF0E-7A40-899B-BB7067BE9D8B}"/>
              </a:ext>
            </a:extLst>
          </p:cNvPr>
          <p:cNvSpPr txBox="1">
            <a:spLocks/>
          </p:cNvSpPr>
          <p:nvPr/>
        </p:nvSpPr>
        <p:spPr>
          <a:xfrm>
            <a:off x="838200" y="260594"/>
            <a:ext cx="10515600" cy="447735"/>
          </a:xfrm>
          <a:prstGeom prst="rect">
            <a:avLst/>
          </a:prstGeom>
        </p:spPr>
        <p:txBody>
          <a:bodyPr vert="horz" lIns="91440" tIns="0" rIns="91440" bIns="0" rtlCol="0" anchor="t">
            <a:noAutofit/>
          </a:bodyPr>
          <a:lstStyle>
            <a:lvl1pPr algn="l" defTabSz="914400" rtl="0" eaLnBrk="1" latinLnBrk="0" hangingPunct="1">
              <a:lnSpc>
                <a:spcPct val="100000"/>
              </a:lnSpc>
              <a:spcBef>
                <a:spcPct val="0"/>
              </a:spcBef>
              <a:buNone/>
              <a:defRPr sz="3600" b="1" i="0" kern="1200">
                <a:solidFill>
                  <a:schemeClr val="bg1"/>
                </a:solidFill>
                <a:latin typeface="+mj-lt"/>
                <a:ea typeface="Verdana" panose="020B0604030504040204" pitchFamily="34" charset="0"/>
                <a:cs typeface="Verdana" panose="020B0604030504040204" pitchFamily="34" charset="0"/>
              </a:defRPr>
            </a:lvl1pPr>
          </a:lstStyle>
          <a:p>
            <a:r>
              <a:rPr lang="en-GB" dirty="0">
                <a:ea typeface="Verdana"/>
              </a:rPr>
              <a:t>Let's practice – 6c – extra tasks</a:t>
            </a:r>
            <a:endParaRPr lang="en-US" dirty="0"/>
          </a:p>
        </p:txBody>
      </p:sp>
      <p:sp>
        <p:nvSpPr>
          <p:cNvPr id="2" name="TextBox 1">
            <a:extLst>
              <a:ext uri="{FF2B5EF4-FFF2-40B4-BE49-F238E27FC236}">
                <a16:creationId xmlns:a16="http://schemas.microsoft.com/office/drawing/2014/main" id="{398E8CBE-3D51-F16D-4F08-028DB92FB8AB}"/>
              </a:ext>
            </a:extLst>
          </p:cNvPr>
          <p:cNvSpPr txBox="1"/>
          <p:nvPr/>
        </p:nvSpPr>
        <p:spPr>
          <a:xfrm>
            <a:off x="838200" y="1019175"/>
            <a:ext cx="10553700" cy="48115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175">
              <a:spcBef>
                <a:spcPts val="723"/>
              </a:spcBef>
              <a:spcAft>
                <a:spcPts val="283"/>
              </a:spcAft>
            </a:pPr>
            <a:r>
              <a:rPr lang="en-US" sz="2000" dirty="0">
                <a:solidFill>
                  <a:srgbClr val="000000"/>
                </a:solidFill>
                <a:latin typeface="Corbel"/>
                <a:cs typeface="Arial"/>
              </a:rPr>
              <a:t>Come back to the bacteria dataset. We will try to explore how the fraction of infection of </a:t>
            </a:r>
            <a:r>
              <a:rPr lang="en-US" sz="2000" dirty="0" err="1">
                <a:solidFill>
                  <a:srgbClr val="000000"/>
                </a:solidFill>
                <a:latin typeface="Corbel"/>
                <a:cs typeface="Arial"/>
              </a:rPr>
              <a:t>H.influenzae</a:t>
            </a:r>
            <a:r>
              <a:rPr lang="en-US" sz="2000" dirty="0">
                <a:solidFill>
                  <a:srgbClr val="000000"/>
                </a:solidFill>
                <a:latin typeface="Corbel"/>
                <a:cs typeface="Arial"/>
              </a:rPr>
              <a:t> in otitis changes with respect to both week of observation and treatment</a:t>
            </a:r>
          </a:p>
          <a:p>
            <a:pPr marL="460375" indent="-457200">
              <a:spcBef>
                <a:spcPts val="723"/>
              </a:spcBef>
              <a:spcAft>
                <a:spcPts val="283"/>
              </a:spcAft>
              <a:buAutoNum type="arabicPeriod"/>
            </a:pPr>
            <a:r>
              <a:rPr lang="en-US" sz="2000" dirty="0">
                <a:solidFill>
                  <a:srgbClr val="000000"/>
                </a:solidFill>
                <a:latin typeface="Corbel"/>
                <a:cs typeface="Arial"/>
              </a:rPr>
              <a:t> add a new column </a:t>
            </a:r>
            <a:r>
              <a:rPr lang="en-US" sz="2000" err="1">
                <a:solidFill>
                  <a:srgbClr val="000000"/>
                </a:solidFill>
                <a:latin typeface="Courier New"/>
                <a:cs typeface="Arial"/>
              </a:rPr>
              <a:t>y_yes</a:t>
            </a:r>
            <a:r>
              <a:rPr lang="en-US" sz="2000" dirty="0">
                <a:solidFill>
                  <a:srgbClr val="000000"/>
                </a:solidFill>
                <a:latin typeface="Corbel"/>
                <a:cs typeface="Arial"/>
              </a:rPr>
              <a:t> to the </a:t>
            </a:r>
            <a:r>
              <a:rPr lang="en-US" sz="2000" err="1">
                <a:solidFill>
                  <a:srgbClr val="000000"/>
                </a:solidFill>
                <a:latin typeface="Corbel"/>
                <a:cs typeface="Arial"/>
              </a:rPr>
              <a:t>dataframe</a:t>
            </a:r>
            <a:r>
              <a:rPr lang="en-US" sz="2000" dirty="0">
                <a:solidFill>
                  <a:srgbClr val="000000"/>
                </a:solidFill>
                <a:latin typeface="Corbel"/>
                <a:cs typeface="Arial"/>
              </a:rPr>
              <a:t> which contains </a:t>
            </a:r>
            <a:r>
              <a:rPr lang="en-US" sz="2000" dirty="0">
                <a:solidFill>
                  <a:srgbClr val="000000"/>
                </a:solidFill>
                <a:latin typeface="Courier New"/>
                <a:cs typeface="Arial"/>
              </a:rPr>
              <a:t>TRUE </a:t>
            </a:r>
            <a:r>
              <a:rPr lang="en-US" sz="2000" dirty="0">
                <a:solidFill>
                  <a:srgbClr val="000000"/>
                </a:solidFill>
                <a:latin typeface="Corbel"/>
                <a:cs typeface="Arial"/>
              </a:rPr>
              <a:t>when column </a:t>
            </a:r>
            <a:r>
              <a:rPr lang="en-US" sz="2000" dirty="0">
                <a:solidFill>
                  <a:srgbClr val="000000"/>
                </a:solidFill>
                <a:latin typeface="Courier New"/>
                <a:cs typeface="Arial"/>
              </a:rPr>
              <a:t>y</a:t>
            </a:r>
            <a:r>
              <a:rPr lang="en-US" sz="2000" dirty="0">
                <a:solidFill>
                  <a:srgbClr val="000000"/>
                </a:solidFill>
                <a:latin typeface="Corbel"/>
                <a:cs typeface="Arial"/>
              </a:rPr>
              <a:t> is "y" and </a:t>
            </a:r>
            <a:r>
              <a:rPr lang="en-US" sz="2000" dirty="0">
                <a:solidFill>
                  <a:srgbClr val="000000"/>
                </a:solidFill>
                <a:latin typeface="Courier New"/>
                <a:cs typeface="Arial"/>
              </a:rPr>
              <a:t>FALSE </a:t>
            </a:r>
            <a:r>
              <a:rPr lang="en-US" sz="2000" dirty="0">
                <a:solidFill>
                  <a:srgbClr val="000000"/>
                </a:solidFill>
                <a:latin typeface="Corbel"/>
                <a:cs typeface="Arial"/>
              </a:rPr>
              <a:t>otherwise. This column will be useful for our </a:t>
            </a:r>
            <a:r>
              <a:rPr lang="en-US" sz="2000" err="1">
                <a:solidFill>
                  <a:srgbClr val="000000"/>
                </a:solidFill>
                <a:latin typeface="Corbel"/>
                <a:cs typeface="Arial"/>
              </a:rPr>
              <a:t>tapply</a:t>
            </a:r>
            <a:r>
              <a:rPr lang="en-US" sz="2000" dirty="0">
                <a:solidFill>
                  <a:srgbClr val="000000"/>
                </a:solidFill>
                <a:latin typeface="Corbel"/>
                <a:cs typeface="Arial"/>
              </a:rPr>
              <a:t> after.</a:t>
            </a:r>
            <a:endParaRPr lang="en-US" dirty="0"/>
          </a:p>
          <a:p>
            <a:pPr marL="460375" indent="-457200">
              <a:spcBef>
                <a:spcPts val="723"/>
              </a:spcBef>
              <a:spcAft>
                <a:spcPts val="283"/>
              </a:spcAft>
              <a:buAutoNum type="arabicPeriod"/>
            </a:pPr>
            <a:r>
              <a:rPr lang="en-US" sz="2000" dirty="0">
                <a:solidFill>
                  <a:srgbClr val="000000"/>
                </a:solidFill>
                <a:latin typeface="Corbel"/>
                <a:cs typeface="Arial"/>
              </a:rPr>
              <a:t>Use </a:t>
            </a:r>
            <a:r>
              <a:rPr lang="en-US" sz="2000" err="1">
                <a:solidFill>
                  <a:srgbClr val="000000"/>
                </a:solidFill>
                <a:latin typeface="Corbel"/>
                <a:cs typeface="Arial"/>
              </a:rPr>
              <a:t>tapply</a:t>
            </a:r>
            <a:r>
              <a:rPr lang="en-US" sz="2000" dirty="0">
                <a:solidFill>
                  <a:srgbClr val="000000"/>
                </a:solidFill>
                <a:latin typeface="Corbel"/>
                <a:cs typeface="Arial"/>
              </a:rPr>
              <a:t> to compute  the fraction of otitis with </a:t>
            </a:r>
            <a:r>
              <a:rPr lang="en-US" sz="2000" i="1" err="1">
                <a:solidFill>
                  <a:srgbClr val="000000"/>
                </a:solidFill>
                <a:latin typeface="Corbel"/>
                <a:cs typeface="Arial"/>
              </a:rPr>
              <a:t>H.influenzae</a:t>
            </a:r>
            <a:r>
              <a:rPr lang="en-US" sz="2000" i="1" dirty="0">
                <a:solidFill>
                  <a:srgbClr val="000000"/>
                </a:solidFill>
                <a:latin typeface="Corbel"/>
                <a:cs typeface="Arial"/>
              </a:rPr>
              <a:t> </a:t>
            </a:r>
            <a:r>
              <a:rPr lang="en-US" sz="2000" dirty="0">
                <a:solidFill>
                  <a:srgbClr val="000000"/>
                </a:solidFill>
                <a:latin typeface="Corbel"/>
                <a:cs typeface="Arial"/>
              </a:rPr>
              <a:t>(column </a:t>
            </a:r>
            <a:r>
              <a:rPr lang="en-US" sz="2000" err="1">
                <a:solidFill>
                  <a:srgbClr val="000000"/>
                </a:solidFill>
                <a:latin typeface="Courier New"/>
                <a:cs typeface="Arial"/>
              </a:rPr>
              <a:t>y_yes</a:t>
            </a:r>
            <a:r>
              <a:rPr lang="en-US" sz="2000" dirty="0">
                <a:solidFill>
                  <a:srgbClr val="000000"/>
                </a:solidFill>
                <a:latin typeface="Corbel"/>
                <a:cs typeface="Arial"/>
              </a:rPr>
              <a:t>) for each week</a:t>
            </a:r>
          </a:p>
          <a:p>
            <a:pPr marL="460375" indent="-457200">
              <a:spcBef>
                <a:spcPts val="723"/>
              </a:spcBef>
              <a:spcAft>
                <a:spcPts val="283"/>
              </a:spcAft>
              <a:buAutoNum type="arabicPeriod"/>
            </a:pPr>
            <a:r>
              <a:rPr lang="en-US" sz="2000" dirty="0">
                <a:solidFill>
                  <a:srgbClr val="000000"/>
                </a:solidFill>
                <a:latin typeface="Corbel"/>
                <a:cs typeface="Arial"/>
              </a:rPr>
              <a:t>for each level of the </a:t>
            </a:r>
            <a:r>
              <a:rPr lang="en-US" sz="2000" err="1">
                <a:solidFill>
                  <a:srgbClr val="000000"/>
                </a:solidFill>
                <a:latin typeface="Courier New"/>
                <a:cs typeface="Arial"/>
              </a:rPr>
              <a:t>trt</a:t>
            </a:r>
            <a:r>
              <a:rPr lang="en-US" sz="2000" dirty="0">
                <a:solidFill>
                  <a:srgbClr val="000000"/>
                </a:solidFill>
                <a:latin typeface="Courier New"/>
                <a:cs typeface="Arial"/>
              </a:rPr>
              <a:t> </a:t>
            </a:r>
            <a:r>
              <a:rPr lang="en-US" sz="2000" dirty="0">
                <a:solidFill>
                  <a:srgbClr val="000000"/>
                </a:solidFill>
                <a:latin typeface="Corbel"/>
                <a:cs typeface="Arial"/>
              </a:rPr>
              <a:t>column </a:t>
            </a:r>
            <a:endParaRPr lang="en-US">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Generate a subset of the </a:t>
            </a:r>
            <a:r>
              <a:rPr lang="en-US" sz="2000" dirty="0" err="1">
                <a:solidFill>
                  <a:srgbClr val="000000"/>
                </a:solidFill>
                <a:latin typeface="Corbel"/>
                <a:cs typeface="Arial"/>
              </a:rPr>
              <a:t>dataframe</a:t>
            </a:r>
            <a:r>
              <a:rPr lang="en-US" sz="2000" dirty="0">
                <a:solidFill>
                  <a:srgbClr val="000000"/>
                </a:solidFill>
                <a:latin typeface="Corbel"/>
                <a:cs typeface="Arial"/>
              </a:rPr>
              <a:t> with only the observations with this treatment level</a:t>
            </a:r>
            <a:endParaRPr lang="en-US" dirty="0">
              <a:solidFill>
                <a:srgbClr val="1E2232"/>
              </a:solidFill>
              <a:latin typeface="Corbel"/>
              <a:cs typeface="Arial"/>
            </a:endParaRPr>
          </a:p>
          <a:p>
            <a:pPr marL="917575" lvl="1" indent="-457200">
              <a:spcBef>
                <a:spcPts val="723"/>
              </a:spcBef>
              <a:spcAft>
                <a:spcPts val="283"/>
              </a:spcAft>
              <a:buAutoNum type="arabicPeriod"/>
            </a:pPr>
            <a:r>
              <a:rPr lang="en-US" sz="2000" dirty="0">
                <a:solidFill>
                  <a:srgbClr val="000000"/>
                </a:solidFill>
                <a:latin typeface="Corbel"/>
                <a:cs typeface="Arial"/>
              </a:rPr>
              <a:t>Use </a:t>
            </a:r>
            <a:r>
              <a:rPr lang="en-US" sz="2000" dirty="0" err="1">
                <a:solidFill>
                  <a:srgbClr val="000000"/>
                </a:solidFill>
                <a:latin typeface="Corbel"/>
                <a:cs typeface="Arial"/>
              </a:rPr>
              <a:t>tapply</a:t>
            </a:r>
            <a:r>
              <a:rPr lang="en-US" sz="2000" dirty="0">
                <a:solidFill>
                  <a:srgbClr val="000000"/>
                </a:solidFill>
                <a:latin typeface="Corbel"/>
                <a:cs typeface="Arial"/>
              </a:rPr>
              <a:t> to compute the fraction of otitis with </a:t>
            </a:r>
            <a:r>
              <a:rPr lang="en-US" sz="2000" i="1" dirty="0" err="1">
                <a:solidFill>
                  <a:srgbClr val="000000"/>
                </a:solidFill>
                <a:latin typeface="Corbel"/>
                <a:cs typeface="Arial"/>
              </a:rPr>
              <a:t>H.influenzae</a:t>
            </a:r>
            <a:r>
              <a:rPr lang="en-US" sz="2000" i="1" dirty="0">
                <a:solidFill>
                  <a:srgbClr val="000000"/>
                </a:solidFill>
                <a:latin typeface="Corbel"/>
                <a:cs typeface="Arial"/>
              </a:rPr>
              <a:t> </a:t>
            </a:r>
            <a:r>
              <a:rPr lang="en-US" sz="2000" dirty="0">
                <a:solidFill>
                  <a:srgbClr val="000000"/>
                </a:solidFill>
                <a:latin typeface="Corbel"/>
                <a:cs typeface="Arial"/>
              </a:rPr>
              <a:t>for each week for this treatment level</a:t>
            </a:r>
          </a:p>
          <a:p>
            <a:pPr marL="917575" lvl="1" indent="-457200">
              <a:spcBef>
                <a:spcPts val="723"/>
              </a:spcBef>
              <a:spcAft>
                <a:spcPts val="283"/>
              </a:spcAft>
              <a:buAutoNum type="arabicPeriod"/>
            </a:pPr>
            <a:endParaRPr lang="en-US" sz="2000" dirty="0">
              <a:solidFill>
                <a:srgbClr val="000000"/>
              </a:solidFill>
              <a:latin typeface="Corbel"/>
              <a:cs typeface="Arial"/>
            </a:endParaRPr>
          </a:p>
          <a:p>
            <a:pPr marL="3175">
              <a:spcBef>
                <a:spcPts val="723"/>
              </a:spcBef>
              <a:spcAft>
                <a:spcPts val="283"/>
              </a:spcAft>
            </a:pPr>
            <a:endParaRPr lang="en-US" sz="2000" b="1" dirty="0">
              <a:solidFill>
                <a:srgbClr val="000000"/>
              </a:solidFill>
              <a:latin typeface="Corbel"/>
              <a:cs typeface="Arial"/>
            </a:endParaRPr>
          </a:p>
          <a:p>
            <a:pPr marL="3175">
              <a:spcBef>
                <a:spcPts val="723"/>
              </a:spcBef>
              <a:spcAft>
                <a:spcPts val="283"/>
              </a:spcAft>
            </a:pPr>
            <a:endParaRPr lang="en-US" sz="2000" b="1" dirty="0">
              <a:solidFill>
                <a:srgbClr val="000000"/>
              </a:solidFill>
              <a:latin typeface="Corbel"/>
              <a:cs typeface="Arial"/>
            </a:endParaRPr>
          </a:p>
        </p:txBody>
      </p:sp>
    </p:spTree>
    <p:extLst>
      <p:ext uri="{BB962C8B-B14F-4D97-AF65-F5344CB8AC3E}">
        <p14:creationId xmlns:p14="http://schemas.microsoft.com/office/powerpoint/2010/main" val="115674710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85A16-C0AF-A499-7C5C-1FEC9C8F7234}"/>
              </a:ext>
            </a:extLst>
          </p:cNvPr>
          <p:cNvSpPr>
            <a:spLocks noGrp="1"/>
          </p:cNvSpPr>
          <p:nvPr>
            <p:ph type="ctrTitle"/>
          </p:nvPr>
        </p:nvSpPr>
        <p:spPr/>
        <p:txBody>
          <a:bodyPr/>
          <a:lstStyle/>
          <a:p>
            <a:r>
              <a:rPr lang="en-GB" dirty="0">
                <a:ea typeface="Verdana"/>
              </a:rPr>
              <a:t>Thank you</a:t>
            </a:r>
            <a:endParaRPr lang="en-GB" dirty="0"/>
          </a:p>
        </p:txBody>
      </p:sp>
      <p:sp>
        <p:nvSpPr>
          <p:cNvPr id="3" name="Subtitle 2">
            <a:extLst>
              <a:ext uri="{FF2B5EF4-FFF2-40B4-BE49-F238E27FC236}">
                <a16:creationId xmlns:a16="http://schemas.microsoft.com/office/drawing/2014/main" id="{5714C7F0-2B33-8266-8173-C8D18A1B4A2E}"/>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10148799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310CA-0852-1AE8-1C1F-4D368E8D280A}"/>
              </a:ext>
            </a:extLst>
          </p:cNvPr>
          <p:cNvSpPr>
            <a:spLocks noGrp="1"/>
          </p:cNvSpPr>
          <p:nvPr>
            <p:ph type="title"/>
          </p:nvPr>
        </p:nvSpPr>
        <p:spPr/>
        <p:txBody>
          <a:bodyPr/>
          <a:lstStyle/>
          <a:p>
            <a:r>
              <a:rPr lang="en-GB" dirty="0">
                <a:ea typeface="Verdana"/>
                <a:cs typeface="Gill Sans"/>
              </a:rPr>
              <a:t>Annexes</a:t>
            </a:r>
            <a:endParaRPr lang="en-US" dirty="0"/>
          </a:p>
        </p:txBody>
      </p:sp>
    </p:spTree>
    <p:extLst>
      <p:ext uri="{BB962C8B-B14F-4D97-AF65-F5344CB8AC3E}">
        <p14:creationId xmlns:p14="http://schemas.microsoft.com/office/powerpoint/2010/main" val="344031607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3F6E5-A1A4-0429-0247-D35B4E3A45E5}"/>
              </a:ext>
            </a:extLst>
          </p:cNvPr>
          <p:cNvSpPr>
            <a:spLocks noGrp="1"/>
          </p:cNvSpPr>
          <p:nvPr>
            <p:ph type="title"/>
          </p:nvPr>
        </p:nvSpPr>
        <p:spPr/>
        <p:txBody>
          <a:bodyPr/>
          <a:lstStyle/>
          <a:p>
            <a:r>
              <a:rPr lang="en-GB" dirty="0">
                <a:ea typeface="Verdana"/>
                <a:cs typeface="Gill Sans"/>
              </a:rPr>
              <a:t>Reading Excel files</a:t>
            </a:r>
            <a:endParaRPr lang="en-GB" dirty="0"/>
          </a:p>
        </p:txBody>
      </p:sp>
      <p:sp>
        <p:nvSpPr>
          <p:cNvPr id="3" name="Text Placeholder 2">
            <a:extLst>
              <a:ext uri="{FF2B5EF4-FFF2-40B4-BE49-F238E27FC236}">
                <a16:creationId xmlns:a16="http://schemas.microsoft.com/office/drawing/2014/main" id="{9F91C407-9DF9-D32D-4B7E-2958323C4C92}"/>
              </a:ext>
            </a:extLst>
          </p:cNvPr>
          <p:cNvSpPr>
            <a:spLocks noGrp="1"/>
          </p:cNvSpPr>
          <p:nvPr>
            <p:ph type="body" sz="quarter" idx="11"/>
          </p:nvPr>
        </p:nvSpPr>
        <p:spPr/>
        <p:txBody>
          <a:bodyPr vert="horz" lIns="91440" tIns="45720" rIns="91440" bIns="45720" rtlCol="0" anchor="t">
            <a:normAutofit/>
          </a:bodyPr>
          <a:lstStyle/>
          <a:p>
            <a:r>
              <a:rPr lang="en-GB" dirty="0">
                <a:ea typeface="Tahoma"/>
                <a:cs typeface="Gill Sans Light"/>
              </a:rPr>
              <a:t>Although it is recommended to export your data files to a non-proprietary text format, it is still possible to read directly from an excel file.</a:t>
            </a:r>
          </a:p>
          <a:p>
            <a:r>
              <a:rPr lang="en-GB" err="1">
                <a:latin typeface="Courier New"/>
                <a:ea typeface="+mn-lt"/>
                <a:cs typeface="+mn-lt"/>
              </a:rPr>
              <a:t>install.packages</a:t>
            </a:r>
            <a:r>
              <a:rPr lang="en-GB" dirty="0">
                <a:latin typeface="Courier New"/>
                <a:ea typeface="+mn-lt"/>
                <a:cs typeface="+mn-lt"/>
              </a:rPr>
              <a:t>("</a:t>
            </a:r>
            <a:r>
              <a:rPr lang="en-GB" err="1">
                <a:latin typeface="Courier New"/>
                <a:ea typeface="+mn-lt"/>
                <a:cs typeface="+mn-lt"/>
              </a:rPr>
              <a:t>readxl</a:t>
            </a:r>
            <a:r>
              <a:rPr lang="en-GB" dirty="0">
                <a:latin typeface="Courier New"/>
                <a:ea typeface="+mn-lt"/>
                <a:cs typeface="+mn-lt"/>
              </a:rPr>
              <a:t>")</a:t>
            </a:r>
            <a:endParaRPr lang="en-GB" dirty="0">
              <a:latin typeface="Courier New"/>
            </a:endParaRPr>
          </a:p>
          <a:p>
            <a:r>
              <a:rPr lang="en-GB" b="1" dirty="0">
                <a:solidFill>
                  <a:schemeClr val="accent4"/>
                </a:solidFill>
                <a:latin typeface="Courier New"/>
                <a:ea typeface="+mn-lt"/>
                <a:cs typeface="+mn-lt"/>
              </a:rPr>
              <a:t># Loading</a:t>
            </a:r>
            <a:r>
              <a:rPr lang="en-GB" dirty="0">
                <a:latin typeface="Courier New"/>
                <a:ea typeface="+mn-lt"/>
                <a:cs typeface="+mn-lt"/>
              </a:rPr>
              <a:t>
library(</a:t>
            </a:r>
            <a:r>
              <a:rPr lang="en-GB" dirty="0" err="1">
                <a:latin typeface="Courier New"/>
                <a:ea typeface="+mn-lt"/>
                <a:cs typeface="+mn-lt"/>
              </a:rPr>
              <a:t>readxl</a:t>
            </a:r>
            <a:r>
              <a:rPr lang="en-GB" dirty="0">
                <a:latin typeface="Courier New"/>
                <a:ea typeface="+mn-lt"/>
                <a:cs typeface="+mn-lt"/>
              </a:rPr>
              <a:t>)
</a:t>
            </a:r>
            <a:endParaRPr lang="en-GB" dirty="0">
              <a:solidFill>
                <a:srgbClr val="1E2232"/>
              </a:solidFill>
              <a:latin typeface="Courier New"/>
              <a:ea typeface="+mn-lt"/>
              <a:cs typeface="+mn-lt"/>
            </a:endParaRPr>
          </a:p>
          <a:p>
            <a:r>
              <a:rPr lang="en-GB" b="1" dirty="0">
                <a:solidFill>
                  <a:schemeClr val="accent4"/>
                </a:solidFill>
                <a:latin typeface="Courier New"/>
                <a:ea typeface="+mn-lt"/>
                <a:cs typeface="+mn-lt"/>
              </a:rPr>
              <a:t># reading the sheet named 'my data' from an excel file
</a:t>
            </a:r>
            <a:r>
              <a:rPr lang="en-GB" dirty="0" err="1">
                <a:latin typeface="Courier New"/>
                <a:ea typeface="+mn-lt"/>
                <a:cs typeface="+mn-lt"/>
              </a:rPr>
              <a:t>my_data</a:t>
            </a:r>
            <a:r>
              <a:rPr lang="en-GB" dirty="0">
                <a:latin typeface="Courier New"/>
                <a:ea typeface="+mn-lt"/>
                <a:cs typeface="+mn-lt"/>
              </a:rPr>
              <a:t> &lt;- </a:t>
            </a:r>
            <a:r>
              <a:rPr lang="en-GB" dirty="0" err="1">
                <a:latin typeface="Courier New"/>
                <a:ea typeface="+mn-lt"/>
                <a:cs typeface="+mn-lt"/>
              </a:rPr>
              <a:t>read_excel</a:t>
            </a:r>
            <a:r>
              <a:rPr lang="en-GB" dirty="0">
                <a:latin typeface="Courier New"/>
                <a:ea typeface="+mn-lt"/>
                <a:cs typeface="+mn-lt"/>
              </a:rPr>
              <a:t>("my_file.</a:t>
            </a:r>
            <a:r>
              <a:rPr lang="en-GB" dirty="0" err="1">
                <a:latin typeface="Courier New"/>
                <a:ea typeface="+mn-lt"/>
                <a:cs typeface="+mn-lt"/>
              </a:rPr>
              <a:t>xls</a:t>
            </a:r>
            <a:r>
              <a:rPr lang="en-GB" dirty="0">
                <a:latin typeface="Courier New"/>
                <a:ea typeface="+mn-lt"/>
                <a:cs typeface="+mn-lt"/>
              </a:rPr>
              <a:t>",sheet='my data')</a:t>
            </a:r>
            <a:endParaRPr lang="en-GB">
              <a:latin typeface="Courier New"/>
            </a:endParaRPr>
          </a:p>
        </p:txBody>
      </p:sp>
    </p:spTree>
    <p:extLst>
      <p:ext uri="{BB962C8B-B14F-4D97-AF65-F5344CB8AC3E}">
        <p14:creationId xmlns:p14="http://schemas.microsoft.com/office/powerpoint/2010/main" val="17418493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D6A5D-6326-F420-B5ED-85C2846230D6}"/>
              </a:ext>
            </a:extLst>
          </p:cNvPr>
          <p:cNvSpPr>
            <a:spLocks noGrp="1"/>
          </p:cNvSpPr>
          <p:nvPr>
            <p:ph type="title"/>
          </p:nvPr>
        </p:nvSpPr>
        <p:spPr/>
        <p:txBody>
          <a:bodyPr/>
          <a:lstStyle/>
          <a:p>
            <a:r>
              <a:rPr lang="en-GB" dirty="0">
                <a:ea typeface="Verdana"/>
                <a:cs typeface="Gill Sans"/>
              </a:rPr>
              <a:t>Coding style</a:t>
            </a:r>
            <a:endParaRPr lang="en-GB" dirty="0"/>
          </a:p>
        </p:txBody>
      </p:sp>
      <p:sp>
        <p:nvSpPr>
          <p:cNvPr id="3" name="Text Placeholder 2">
            <a:extLst>
              <a:ext uri="{FF2B5EF4-FFF2-40B4-BE49-F238E27FC236}">
                <a16:creationId xmlns:a16="http://schemas.microsoft.com/office/drawing/2014/main" id="{D0E95173-C078-8995-BCBA-1FB70868D21C}"/>
              </a:ext>
            </a:extLst>
          </p:cNvPr>
          <p:cNvSpPr>
            <a:spLocks noGrp="1"/>
          </p:cNvSpPr>
          <p:nvPr>
            <p:ph type="body" sz="quarter" idx="11"/>
          </p:nvPr>
        </p:nvSpPr>
        <p:spPr>
          <a:xfrm>
            <a:off x="838200" y="847725"/>
            <a:ext cx="10515600" cy="5322888"/>
          </a:xfrm>
        </p:spPr>
        <p:txBody>
          <a:bodyPr vert="horz" lIns="91440" tIns="45720" rIns="91440" bIns="45720" rtlCol="0" anchor="t">
            <a:normAutofit/>
          </a:bodyPr>
          <a:lstStyle/>
          <a:p>
            <a:pPr>
              <a:lnSpc>
                <a:spcPct val="100000"/>
              </a:lnSpc>
              <a:spcBef>
                <a:spcPts val="0"/>
              </a:spcBef>
            </a:pPr>
            <a:r>
              <a:rPr lang="en-US" sz="2000" dirty="0">
                <a:solidFill>
                  <a:srgbClr val="262626"/>
                </a:solidFill>
                <a:ea typeface="+mn-lt"/>
                <a:cs typeface="+mn-lt"/>
              </a:rPr>
              <a:t>Different authorities have different style recommendations for naming things, spacing, operator symbols, layout, commenting etc.</a:t>
            </a:r>
          </a:p>
          <a:p>
            <a:pPr>
              <a:lnSpc>
                <a:spcPct val="100000"/>
              </a:lnSpc>
              <a:spcBef>
                <a:spcPts val="0"/>
              </a:spcBef>
            </a:pPr>
            <a:endParaRPr lang="en-US" sz="2000" dirty="0">
              <a:solidFill>
                <a:srgbClr val="262626"/>
              </a:solidFill>
              <a:ea typeface="+mn-lt"/>
              <a:cs typeface="+mn-lt"/>
            </a:endParaRPr>
          </a:p>
          <a:p>
            <a:pPr>
              <a:lnSpc>
                <a:spcPct val="100000"/>
              </a:lnSpc>
              <a:spcBef>
                <a:spcPts val="0"/>
              </a:spcBef>
            </a:pPr>
            <a:r>
              <a:rPr lang="en-US" sz="2000" dirty="0">
                <a:solidFill>
                  <a:srgbClr val="262626"/>
                </a:solidFill>
                <a:ea typeface="+mn-lt"/>
                <a:cs typeface="+mn-lt"/>
              </a:rPr>
              <a:t>Example: </a:t>
            </a:r>
            <a:r>
              <a:rPr lang="en-US" sz="1800" dirty="0">
                <a:ea typeface="+mn-lt"/>
                <a:cs typeface="+mn-lt"/>
                <a:hlinkClick r:id="rId2"/>
              </a:rPr>
              <a:t>https://web.stanford.edu/class/cs109l/unrestricted/resources/google-style.html</a:t>
            </a:r>
            <a:endParaRPr lang="en-US" sz="1800">
              <a:solidFill>
                <a:srgbClr val="262626"/>
              </a:solidFill>
              <a:ea typeface="+mn-lt"/>
              <a:cs typeface="+mn-lt"/>
            </a:endParaRPr>
          </a:p>
          <a:p>
            <a:pPr>
              <a:lnSpc>
                <a:spcPct val="100000"/>
              </a:lnSpc>
              <a:spcBef>
                <a:spcPts val="0"/>
              </a:spcBef>
            </a:pPr>
            <a:endParaRPr lang="en-US" sz="2000" dirty="0">
              <a:solidFill>
                <a:srgbClr val="262626"/>
              </a:solidFill>
              <a:ea typeface="+mn-lt"/>
              <a:cs typeface="+mn-lt"/>
            </a:endParaRPr>
          </a:p>
          <a:p>
            <a:pPr>
              <a:lnSpc>
                <a:spcPct val="100000"/>
              </a:lnSpc>
              <a:spcBef>
                <a:spcPts val="0"/>
              </a:spcBef>
            </a:pPr>
            <a:r>
              <a:rPr lang="en-US" sz="1800" b="1" dirty="0">
                <a:solidFill>
                  <a:srgbClr val="262626"/>
                </a:solidFill>
                <a:ea typeface="+mn-lt"/>
                <a:cs typeface="+mn-lt"/>
              </a:rPr>
              <a:t>File names: </a:t>
            </a:r>
            <a:r>
              <a:rPr lang="en-US" sz="1800" dirty="0">
                <a:solidFill>
                  <a:srgbClr val="262626"/>
                </a:solidFill>
                <a:ea typeface="+mn-lt"/>
                <a:cs typeface="+mn-lt"/>
              </a:rPr>
              <a:t>Use meaningful names, ending with file extension .R  </a:t>
            </a:r>
            <a:r>
              <a:rPr lang="en-US" sz="1600" dirty="0">
                <a:solidFill>
                  <a:srgbClr val="4F81BD"/>
                </a:solidFill>
                <a:ea typeface="+mn-lt"/>
                <a:cs typeface="+mn-lt"/>
              </a:rPr>
              <a:t>(</a:t>
            </a:r>
            <a:r>
              <a:rPr lang="en-US" sz="1600" dirty="0" err="1">
                <a:solidFill>
                  <a:srgbClr val="4F81BD"/>
                </a:solidFill>
                <a:ea typeface="+mn-lt"/>
                <a:cs typeface="+mn-lt"/>
              </a:rPr>
              <a:t>predict_ad_revenue.R</a:t>
            </a:r>
            <a:r>
              <a:rPr lang="en-US" sz="1600" dirty="0">
                <a:solidFill>
                  <a:srgbClr val="4F81BD"/>
                </a:solidFill>
                <a:ea typeface="+mn-lt"/>
                <a:cs typeface="+mn-lt"/>
              </a:rPr>
              <a:t>)</a:t>
            </a:r>
          </a:p>
          <a:p>
            <a:pPr>
              <a:lnSpc>
                <a:spcPct val="100000"/>
              </a:lnSpc>
              <a:spcBef>
                <a:spcPts val="0"/>
              </a:spcBef>
              <a:spcAft>
                <a:spcPts val="600"/>
              </a:spcAft>
            </a:pPr>
            <a:r>
              <a:rPr lang="en-US" sz="1800" b="1" dirty="0">
                <a:solidFill>
                  <a:srgbClr val="262626"/>
                </a:solidFill>
                <a:ea typeface="+mn-lt"/>
                <a:cs typeface="+mn-lt"/>
              </a:rPr>
              <a:t>Identifiers: </a:t>
            </a:r>
            <a:r>
              <a:rPr lang="en-US" sz="1800" dirty="0">
                <a:solidFill>
                  <a:srgbClr val="262626"/>
                </a:solidFill>
                <a:ea typeface="+mn-lt"/>
                <a:cs typeface="+mn-lt"/>
              </a:rPr>
              <a:t>Variable names should have all lower case letters, words separated with dots </a:t>
            </a:r>
            <a:r>
              <a:rPr lang="en-US" sz="1600" dirty="0">
                <a:solidFill>
                  <a:srgbClr val="4F81BD"/>
                </a:solidFill>
                <a:ea typeface="+mn-lt"/>
                <a:cs typeface="+mn-lt"/>
              </a:rPr>
              <a:t>(</a:t>
            </a:r>
            <a:r>
              <a:rPr lang="en-US" sz="1600" dirty="0" err="1">
                <a:solidFill>
                  <a:srgbClr val="4F81BD"/>
                </a:solidFill>
                <a:ea typeface="+mn-lt"/>
                <a:cs typeface="+mn-lt"/>
              </a:rPr>
              <a:t>avg.clicks</a:t>
            </a:r>
            <a:r>
              <a:rPr lang="en-US" sz="1600" dirty="0">
                <a:solidFill>
                  <a:srgbClr val="4F81BD"/>
                </a:solidFill>
                <a:ea typeface="+mn-lt"/>
                <a:cs typeface="+mn-lt"/>
              </a:rPr>
              <a:t>)</a:t>
            </a:r>
          </a:p>
          <a:p>
            <a:pPr>
              <a:lnSpc>
                <a:spcPct val="100000"/>
              </a:lnSpc>
              <a:spcBef>
                <a:spcPts val="0"/>
              </a:spcBef>
              <a:spcAft>
                <a:spcPts val="600"/>
              </a:spcAft>
            </a:pPr>
            <a:r>
              <a:rPr lang="en-US" sz="1800" b="1" dirty="0">
                <a:solidFill>
                  <a:srgbClr val="262626"/>
                </a:solidFill>
                <a:ea typeface="+mn-lt"/>
                <a:cs typeface="+mn-lt"/>
              </a:rPr>
              <a:t>Line length: </a:t>
            </a:r>
            <a:r>
              <a:rPr lang="en-US" sz="1800" dirty="0">
                <a:solidFill>
                  <a:srgbClr val="262626"/>
                </a:solidFill>
                <a:ea typeface="+mn-lt"/>
                <a:cs typeface="+mn-lt"/>
              </a:rPr>
              <a:t>maximum 80 characters</a:t>
            </a:r>
          </a:p>
          <a:p>
            <a:pPr>
              <a:lnSpc>
                <a:spcPct val="100000"/>
              </a:lnSpc>
              <a:spcBef>
                <a:spcPts val="0"/>
              </a:spcBef>
              <a:spcAft>
                <a:spcPts val="600"/>
              </a:spcAft>
            </a:pPr>
            <a:r>
              <a:rPr lang="en-US" sz="1800" b="1" dirty="0">
                <a:solidFill>
                  <a:srgbClr val="262626"/>
                </a:solidFill>
                <a:ea typeface="+mn-lt"/>
                <a:cs typeface="+mn-lt"/>
              </a:rPr>
              <a:t>Indentation: </a:t>
            </a:r>
            <a:r>
              <a:rPr lang="en-US" sz="1800" dirty="0">
                <a:solidFill>
                  <a:srgbClr val="262626"/>
                </a:solidFill>
                <a:ea typeface="+mn-lt"/>
                <a:cs typeface="+mn-lt"/>
              </a:rPr>
              <a:t>two spaces, no tabs</a:t>
            </a:r>
          </a:p>
          <a:p>
            <a:pPr>
              <a:lnSpc>
                <a:spcPct val="100000"/>
              </a:lnSpc>
              <a:spcBef>
                <a:spcPts val="0"/>
              </a:spcBef>
              <a:spcAft>
                <a:spcPts val="600"/>
              </a:spcAft>
            </a:pPr>
            <a:r>
              <a:rPr lang="en-US" sz="1800" b="1" dirty="0">
                <a:solidFill>
                  <a:srgbClr val="262626"/>
                </a:solidFill>
                <a:ea typeface="+mn-lt"/>
                <a:cs typeface="+mn-lt"/>
              </a:rPr>
              <a:t>Assignment: </a:t>
            </a:r>
            <a:r>
              <a:rPr lang="en-US" sz="1800" dirty="0">
                <a:solidFill>
                  <a:srgbClr val="262626"/>
                </a:solidFill>
                <a:ea typeface="+mn-lt"/>
                <a:cs typeface="+mn-lt"/>
              </a:rPr>
              <a:t>use &lt;-, not =</a:t>
            </a:r>
          </a:p>
          <a:p>
            <a:pPr>
              <a:lnSpc>
                <a:spcPct val="100000"/>
              </a:lnSpc>
              <a:spcBef>
                <a:spcPts val="0"/>
              </a:spcBef>
              <a:spcAft>
                <a:spcPts val="600"/>
              </a:spcAft>
            </a:pPr>
            <a:r>
              <a:rPr lang="en-US" sz="1800" b="1" dirty="0">
                <a:solidFill>
                  <a:srgbClr val="262626"/>
                </a:solidFill>
                <a:ea typeface="+mn-lt"/>
                <a:cs typeface="+mn-lt"/>
              </a:rPr>
              <a:t>Semicolon: </a:t>
            </a:r>
            <a:r>
              <a:rPr lang="en-US" sz="1800" dirty="0">
                <a:solidFill>
                  <a:srgbClr val="262626"/>
                </a:solidFill>
                <a:ea typeface="+mn-lt"/>
                <a:cs typeface="+mn-lt"/>
              </a:rPr>
              <a:t>don’t use them</a:t>
            </a:r>
          </a:p>
          <a:p>
            <a:pPr>
              <a:lnSpc>
                <a:spcPct val="100000"/>
              </a:lnSpc>
              <a:spcBef>
                <a:spcPts val="0"/>
              </a:spcBef>
              <a:spcAft>
                <a:spcPts val="600"/>
              </a:spcAft>
            </a:pPr>
            <a:r>
              <a:rPr lang="en-US" sz="1800" b="1" dirty="0">
                <a:solidFill>
                  <a:srgbClr val="262626"/>
                </a:solidFill>
                <a:ea typeface="Tahoma"/>
                <a:cs typeface="Gill Sans Light"/>
              </a:rPr>
              <a:t>Spaces</a:t>
            </a:r>
            <a:r>
              <a:rPr lang="en-US" sz="1800" dirty="0">
                <a:solidFill>
                  <a:srgbClr val="262626"/>
                </a:solidFill>
                <a:ea typeface="Tahoma"/>
                <a:cs typeface="Gill Sans Light"/>
              </a:rPr>
              <a:t>:</a:t>
            </a:r>
            <a:endParaRPr lang="en-US" sz="1800" dirty="0">
              <a:solidFill>
                <a:srgbClr val="262626"/>
              </a:solidFill>
            </a:endParaRPr>
          </a:p>
          <a:p>
            <a:pPr marL="285750" indent="-285750">
              <a:lnSpc>
                <a:spcPct val="100000"/>
              </a:lnSpc>
              <a:spcBef>
                <a:spcPts val="0"/>
              </a:spcBef>
              <a:spcAft>
                <a:spcPts val="600"/>
              </a:spcAft>
              <a:buChar char="•"/>
            </a:pPr>
            <a:r>
              <a:rPr lang="en-US" sz="1800" dirty="0">
                <a:solidFill>
                  <a:srgbClr val="262626"/>
                </a:solidFill>
                <a:ea typeface="+mn-lt"/>
                <a:cs typeface="+mn-lt"/>
              </a:rPr>
              <a:t>Place spaces around all binary operators (=, +, -, &lt;, etc.)</a:t>
            </a:r>
          </a:p>
          <a:p>
            <a:pPr marL="285750" indent="-285750">
              <a:lnSpc>
                <a:spcPct val="100000"/>
              </a:lnSpc>
              <a:spcBef>
                <a:spcPts val="0"/>
              </a:spcBef>
              <a:spcAft>
                <a:spcPts val="600"/>
              </a:spcAft>
              <a:buChar char="•"/>
            </a:pPr>
            <a:r>
              <a:rPr lang="en-US" sz="1800" dirty="0">
                <a:solidFill>
                  <a:srgbClr val="262626"/>
                </a:solidFill>
                <a:ea typeface="+mn-lt"/>
                <a:cs typeface="+mn-lt"/>
              </a:rPr>
              <a:t>Do not place a space before a comma, but always place one after a comma.</a:t>
            </a:r>
          </a:p>
          <a:p>
            <a:pPr marL="285750" indent="-285750">
              <a:lnSpc>
                <a:spcPct val="100000"/>
              </a:lnSpc>
              <a:spcBef>
                <a:spcPts val="0"/>
              </a:spcBef>
              <a:buChar char="•"/>
            </a:pPr>
            <a:r>
              <a:rPr lang="en-US" sz="1800" dirty="0">
                <a:solidFill>
                  <a:srgbClr val="262626"/>
                </a:solidFill>
                <a:ea typeface="+mn-lt"/>
                <a:cs typeface="+mn-lt"/>
              </a:rPr>
              <a:t>Otherwise, do not place spaces around code in parentheses or square brackets</a:t>
            </a:r>
          </a:p>
          <a:p>
            <a:pPr>
              <a:lnSpc>
                <a:spcPct val="100000"/>
              </a:lnSpc>
              <a:spcBef>
                <a:spcPct val="20000"/>
              </a:spcBef>
            </a:pPr>
            <a:endParaRPr lang="en-US" dirty="0">
              <a:solidFill>
                <a:srgbClr val="262626"/>
              </a:solidFill>
              <a:ea typeface="+mn-lt"/>
              <a:cs typeface="+mn-lt"/>
            </a:endParaRPr>
          </a:p>
          <a:p>
            <a:pPr>
              <a:lnSpc>
                <a:spcPct val="100000"/>
              </a:lnSpc>
              <a:spcBef>
                <a:spcPts val="0"/>
              </a:spcBef>
              <a:spcAft>
                <a:spcPts val="600"/>
              </a:spcAft>
            </a:pPr>
            <a:endParaRPr lang="en-US" sz="1800" dirty="0">
              <a:solidFill>
                <a:srgbClr val="262626"/>
              </a:solidFill>
            </a:endParaRPr>
          </a:p>
          <a:p>
            <a:pPr>
              <a:lnSpc>
                <a:spcPct val="100000"/>
              </a:lnSpc>
              <a:spcBef>
                <a:spcPts val="0"/>
              </a:spcBef>
              <a:spcAft>
                <a:spcPts val="600"/>
              </a:spcAft>
            </a:pPr>
            <a:endParaRPr lang="en-US" sz="1800" dirty="0">
              <a:solidFill>
                <a:srgbClr val="262626"/>
              </a:solidFill>
            </a:endParaRPr>
          </a:p>
          <a:p>
            <a:pPr>
              <a:lnSpc>
                <a:spcPct val="100000"/>
              </a:lnSpc>
              <a:spcBef>
                <a:spcPts val="0"/>
              </a:spcBef>
              <a:spcAft>
                <a:spcPts val="600"/>
              </a:spcAft>
            </a:pPr>
            <a:endParaRPr lang="en-US" sz="1800" dirty="0">
              <a:solidFill>
                <a:srgbClr val="262626"/>
              </a:solidFill>
            </a:endParaRPr>
          </a:p>
        </p:txBody>
      </p:sp>
    </p:spTree>
    <p:extLst>
      <p:ext uri="{BB962C8B-B14F-4D97-AF65-F5344CB8AC3E}">
        <p14:creationId xmlns:p14="http://schemas.microsoft.com/office/powerpoint/2010/main" val="2594733262"/>
      </p:ext>
    </p:extLst>
  </p:cSld>
  <p:clrMapOvr>
    <a:masterClrMapping/>
  </p:clrMapOvr>
</p:sld>
</file>

<file path=ppt/theme/theme1.xml><?xml version="1.0" encoding="utf-8"?>
<a:theme xmlns:a="http://schemas.openxmlformats.org/drawingml/2006/main" name="Global theme">
  <a:themeElements>
    <a:clrScheme name="SIB">
      <a:dk1>
        <a:srgbClr val="1E2232"/>
      </a:dk1>
      <a:lt1>
        <a:srgbClr val="FFFFFF"/>
      </a:lt1>
      <a:dk2>
        <a:srgbClr val="E20613"/>
      </a:dk2>
      <a:lt2>
        <a:srgbClr val="E7E6E6"/>
      </a:lt2>
      <a:accent1>
        <a:srgbClr val="77E0C1"/>
      </a:accent1>
      <a:accent2>
        <a:srgbClr val="3368ED"/>
      </a:accent2>
      <a:accent3>
        <a:srgbClr val="F6D0D0"/>
      </a:accent3>
      <a:accent4>
        <a:srgbClr val="50B798"/>
      </a:accent4>
      <a:accent5>
        <a:srgbClr val="F6F6F6"/>
      </a:accent5>
      <a:accent6>
        <a:srgbClr val="000000"/>
      </a:accent6>
      <a:hlink>
        <a:srgbClr val="3267ED"/>
      </a:hlink>
      <a:folHlink>
        <a:srgbClr val="1E2132"/>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2"/>
          </a:solidFill>
          <a:tailEnd type="triangle"/>
        </a:ln>
      </a:spPr>
      <a:bodyPr/>
      <a:lstStyle/>
      <a:style>
        <a:lnRef idx="1">
          <a:schemeClr val="accent2"/>
        </a:lnRef>
        <a:fillRef idx="0">
          <a:schemeClr val="accent2"/>
        </a:fillRef>
        <a:effectRef idx="0">
          <a:schemeClr val="accent2"/>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1cd6d5f-6ae9-4e54-9898-8992a7ff3036">
      <Terms xmlns="http://schemas.microsoft.com/office/infopath/2007/PartnerControls"/>
    </lcf76f155ced4ddcb4097134ff3c332f>
    <TaxCatchAll xmlns="1136f6dd-7c48-4f33-aa6a-8b8e7584cec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884769A1460844A8276E9E33D9EC1F" ma:contentTypeVersion="17" ma:contentTypeDescription="Create a new document." ma:contentTypeScope="" ma:versionID="1e661dde982bb637ab265ef9bdeebac4">
  <xsd:schema xmlns:xsd="http://www.w3.org/2001/XMLSchema" xmlns:xs="http://www.w3.org/2001/XMLSchema" xmlns:p="http://schemas.microsoft.com/office/2006/metadata/properties" xmlns:ns2="51cd6d5f-6ae9-4e54-9898-8992a7ff3036" xmlns:ns3="1136f6dd-7c48-4f33-aa6a-8b8e7584cecf" targetNamespace="http://schemas.microsoft.com/office/2006/metadata/properties" ma:root="true" ma:fieldsID="268353165dcdbb2dfcde019cd206b759" ns2:_="" ns3:_="">
    <xsd:import namespace="51cd6d5f-6ae9-4e54-9898-8992a7ff3036"/>
    <xsd:import namespace="1136f6dd-7c48-4f33-aa6a-8b8e7584cec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cd6d5f-6ae9-4e54-9898-8992a7ff3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af233ad-a872-49f3-8d8c-f1cf611cbd9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136f6dd-7c48-4f33-aa6a-8b8e7584cecf"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d6480a6-8657-40ee-b73b-62f5e6461347}" ma:internalName="TaxCatchAll" ma:showField="CatchAllData" ma:web="1136f6dd-7c48-4f33-aa6a-8b8e7584ce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234DFD-9E98-47EE-A822-37224EBFD705}">
  <ds:schemaRefs>
    <ds:schemaRef ds:uri="http://schemas.microsoft.com/sharepoint/v3/contenttype/forms"/>
  </ds:schemaRefs>
</ds:datastoreItem>
</file>

<file path=customXml/itemProps2.xml><?xml version="1.0" encoding="utf-8"?>
<ds:datastoreItem xmlns:ds="http://schemas.openxmlformats.org/officeDocument/2006/customXml" ds:itemID="{00B38228-41B2-4CC0-85B6-8CB372D27A8C}">
  <ds:schemaRefs>
    <ds:schemaRef ds:uri="http://purl.org/dc/elements/1.1/"/>
    <ds:schemaRef ds:uri="http://schemas.microsoft.com/office/2006/documentManagement/types"/>
    <ds:schemaRef ds:uri="http://schemas.microsoft.com/office/infopath/2007/PartnerControls"/>
    <ds:schemaRef ds:uri="http://schemas.openxmlformats.org/package/2006/metadata/core-properties"/>
    <ds:schemaRef ds:uri="1136f6dd-7c48-4f33-aa6a-8b8e7584cecf"/>
    <ds:schemaRef ds:uri="http://purl.org/dc/terms/"/>
    <ds:schemaRef ds:uri="http://purl.org/dc/dcmitype/"/>
    <ds:schemaRef ds:uri="51cd6d5f-6ae9-4e54-9898-8992a7ff3036"/>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73CC3BE7-1E24-4E91-A36E-E39FC0373FB8}">
  <ds:schemaRefs>
    <ds:schemaRef ds:uri="1136f6dd-7c48-4f33-aa6a-8b8e7584cecf"/>
    <ds:schemaRef ds:uri="51cd6d5f-6ae9-4e54-9898-8992a7ff303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4026</TotalTime>
  <Words>10923</Words>
  <Application>Microsoft Macintosh PowerPoint</Application>
  <PresentationFormat>Grand écran</PresentationFormat>
  <Paragraphs>1369</Paragraphs>
  <Slides>127</Slides>
  <Notes>2</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127</vt:i4>
      </vt:variant>
    </vt:vector>
  </HeadingPairs>
  <TitlesOfParts>
    <vt:vector size="137" baseType="lpstr">
      <vt:lpstr>Arial</vt:lpstr>
      <vt:lpstr>Arial,Sans-Serif</vt:lpstr>
      <vt:lpstr>Calibri</vt:lpstr>
      <vt:lpstr>Corbel</vt:lpstr>
      <vt:lpstr>Courier New</vt:lpstr>
      <vt:lpstr>sans-serif</vt:lpstr>
      <vt:lpstr>Tahoma</vt:lpstr>
      <vt:lpstr>Verdana</vt:lpstr>
      <vt:lpstr>Wingdings</vt:lpstr>
      <vt:lpstr>Global theme</vt:lpstr>
      <vt:lpstr>First Steps with R in Life Sciences: Introduction</vt:lpstr>
      <vt:lpstr>ELIXIR Code of conduct</vt:lpstr>
      <vt:lpstr>General Information</vt:lpstr>
      <vt:lpstr>Asking questions - Communication</vt:lpstr>
      <vt:lpstr>Introducing ourselves</vt:lpstr>
      <vt:lpstr>What type of computer OS are you using?</vt:lpstr>
      <vt:lpstr>Do you code in other languages?</vt:lpstr>
      <vt:lpstr>What is your experience with R?</vt:lpstr>
      <vt:lpstr>Why learn R?</vt:lpstr>
      <vt:lpstr>Why learn R?</vt:lpstr>
      <vt:lpstr>Why learn R?</vt:lpstr>
      <vt:lpstr>Why learn R?</vt:lpstr>
      <vt:lpstr>Course Content: R is vast, it can't be learned overnight.  This course will give a basic understanding and concepts of R.  This course is the first step in your         journey</vt:lpstr>
      <vt:lpstr>Course Outline</vt:lpstr>
      <vt:lpstr>Getting Familiar with R and Rstudio</vt:lpstr>
      <vt:lpstr>RGui (R Graphical user interface)</vt:lpstr>
      <vt:lpstr>R combined with Rstudio</vt:lpstr>
      <vt:lpstr>Rstudio Interface</vt:lpstr>
      <vt:lpstr>Positron interface</vt:lpstr>
      <vt:lpstr>Positron: an alternative to RStudio</vt:lpstr>
      <vt:lpstr>Creating an R project</vt:lpstr>
      <vt:lpstr>Présentation PowerPoint</vt:lpstr>
      <vt:lpstr>Console: the command line</vt:lpstr>
      <vt:lpstr>Try it out:</vt:lpstr>
      <vt:lpstr>What is a programming language?</vt:lpstr>
      <vt:lpstr>R key concepts: a first glimpse</vt:lpstr>
      <vt:lpstr>R key concepts: the working directory</vt:lpstr>
      <vt:lpstr>Editor: writing code in a file</vt:lpstr>
      <vt:lpstr>R scripts</vt:lpstr>
      <vt:lpstr>Console or script: what is the difference?</vt:lpstr>
      <vt:lpstr>Sending code from the editor to the console</vt:lpstr>
      <vt:lpstr>Most of your code should be in scripts  Code in scripts is "just text", it gets executed when you send it to the console  It is possible to run an individual code line,  a block of code or an entire script at once</vt:lpstr>
      <vt:lpstr>Workspace: R's short-term memory</vt:lpstr>
      <vt:lpstr>Présentation PowerPoint</vt:lpstr>
      <vt:lpstr>Closing or Switching Projects</vt:lpstr>
      <vt:lpstr>Closing or Switching Projects</vt:lpstr>
      <vt:lpstr>Projects in Positron: just folders</vt:lpstr>
      <vt:lpstr>Présentation PowerPoint</vt:lpstr>
      <vt:lpstr>Saving the Workspace (.Rdata file)</vt:lpstr>
      <vt:lpstr>Packages</vt:lpstr>
      <vt:lpstr>Installing / loading packages</vt:lpstr>
      <vt:lpstr>Session information</vt:lpstr>
      <vt:lpstr>Reproducible environnements with Renv</vt:lpstr>
      <vt:lpstr>Getting started with the R syntax and Objects</vt:lpstr>
      <vt:lpstr>What is a data type, and why do we need it?</vt:lpstr>
      <vt:lpstr>Basic data types</vt:lpstr>
      <vt:lpstr>R syntax</vt:lpstr>
      <vt:lpstr>R objects</vt:lpstr>
      <vt:lpstr>Object name rules</vt:lpstr>
      <vt:lpstr>The assignment operator</vt:lpstr>
      <vt:lpstr>What is a function?</vt:lpstr>
      <vt:lpstr>Using functions (I)</vt:lpstr>
      <vt:lpstr>Using functions (II)</vt:lpstr>
      <vt:lpstr>Using functions (III)</vt:lpstr>
      <vt:lpstr>What is a loop, and why do we need it?</vt:lpstr>
      <vt:lpstr>Control flow (I): for loops</vt:lpstr>
      <vt:lpstr>Control flow (II): making a decision with if</vt:lpstr>
      <vt:lpstr>Control flow (III): if / else vs ifelse()</vt:lpstr>
      <vt:lpstr>Control flow (IV): loops + conditions</vt:lpstr>
      <vt:lpstr>Using functions (IV): getting help</vt:lpstr>
      <vt:lpstr>Présentation PowerPoint</vt:lpstr>
      <vt:lpstr>Common Object Classes</vt:lpstr>
      <vt:lpstr>Common Object Classes</vt:lpstr>
      <vt:lpstr>Vectors: simple usage</vt:lpstr>
      <vt:lpstr>Vectors: more creation recipes</vt:lpstr>
      <vt:lpstr>Vectors: manipulation (I)</vt:lpstr>
      <vt:lpstr>Vectors: manipulation (II)</vt:lpstr>
      <vt:lpstr>Coercion (I)</vt:lpstr>
      <vt:lpstr>Coercion (II)</vt:lpstr>
      <vt:lpstr>Présentation PowerPoint</vt:lpstr>
      <vt:lpstr>Operators (most common ones)</vt:lpstr>
      <vt:lpstr>Operators returning logical values</vt:lpstr>
      <vt:lpstr>Using logical vectors to subset</vt:lpstr>
      <vt:lpstr>Missing values (I)</vt:lpstr>
      <vt:lpstr>Missing values (II)</vt:lpstr>
      <vt:lpstr>Data frame: creation</vt:lpstr>
      <vt:lpstr>Data frame: manipulation</vt:lpstr>
      <vt:lpstr>Présentation PowerPoint</vt:lpstr>
      <vt:lpstr>Lists: creation</vt:lpstr>
      <vt:lpstr>Lists: manipulation</vt:lpstr>
      <vt:lpstr>Everything in R is an object  Using R is all about creating and manipulating data objects using functions  Objects have a class (vector, data frame, list,…)  Data in objects have a type (numeric, character, logical)</vt:lpstr>
      <vt:lpstr>Formatting your Data</vt:lpstr>
      <vt:lpstr>Prepare your Data outside of R</vt:lpstr>
      <vt:lpstr>Example of a well-formatted dataset</vt:lpstr>
      <vt:lpstr>Example of a well-formatted dataset - metadata</vt:lpstr>
      <vt:lpstr>But the reality is not awlways as simple…</vt:lpstr>
      <vt:lpstr>Importing data</vt:lpstr>
      <vt:lpstr>Specifying the file to read (I)</vt:lpstr>
      <vt:lpstr>Specifying the file to read (II)</vt:lpstr>
      <vt:lpstr>Format options</vt:lpstr>
      <vt:lpstr>Importing data</vt:lpstr>
      <vt:lpstr>Specifying the file to read (I)</vt:lpstr>
      <vt:lpstr>Specifying the file to read (II)</vt:lpstr>
      <vt:lpstr>Format options</vt:lpstr>
      <vt:lpstr>Reading Excel files</vt:lpstr>
      <vt:lpstr>Metabolites dataset (from Bosnjakovic et al., BioRxiv, 2025)</vt:lpstr>
      <vt:lpstr>Metabolites dataset</vt:lpstr>
      <vt:lpstr>Step-by-step</vt:lpstr>
      <vt:lpstr>Step-by-step</vt:lpstr>
      <vt:lpstr>Cell lines dataset (from Ujiie, Sakyo, Oya, et al., Cancer Medicine, 2025)</vt:lpstr>
      <vt:lpstr>Cell lines dataset (from Ujiie, Sakyo, Oya, et al., Cancer Medicine, 2025)</vt:lpstr>
      <vt:lpstr>Step-by-step</vt:lpstr>
      <vt:lpstr>Saving your data</vt:lpstr>
      <vt:lpstr>Formatting checklist/recommendations</vt:lpstr>
      <vt:lpstr>Présentation PowerPoint</vt:lpstr>
      <vt:lpstr>Digression: factors (I)</vt:lpstr>
      <vt:lpstr>Digression: factors (II)</vt:lpstr>
      <vt:lpstr>Setting factor variables </vt:lpstr>
      <vt:lpstr>Getting a summary</vt:lpstr>
      <vt:lpstr>Reminder – accessing parts of the dataframe (I)</vt:lpstr>
      <vt:lpstr>Reminder – accessing parts of the dataframe (II)</vt:lpstr>
      <vt:lpstr>table()</vt:lpstr>
      <vt:lpstr>table()</vt:lpstr>
      <vt:lpstr>Présentation PowerPoint</vt:lpstr>
      <vt:lpstr>Subsetting (I)</vt:lpstr>
      <vt:lpstr>Subsetting (II)</vt:lpstr>
      <vt:lpstr>Customizing summaries of data (I)</vt:lpstr>
      <vt:lpstr>Customizing summaries of data (II)</vt:lpstr>
      <vt:lpstr>Adding a row or column</vt:lpstr>
      <vt:lpstr>Removing a row or column</vt:lpstr>
      <vt:lpstr>Exporting data to a file</vt:lpstr>
      <vt:lpstr>Présentation PowerPoint</vt:lpstr>
      <vt:lpstr>Présentation PowerPoint</vt:lpstr>
      <vt:lpstr>Thank you</vt:lpstr>
      <vt:lpstr>Annexes</vt:lpstr>
      <vt:lpstr>Reading Excel files</vt:lpstr>
      <vt:lpstr>Coding style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SIB Swiss Institute of Bioinformatics</dc:title>
  <dc:creator>O365</dc:creator>
  <cp:lastModifiedBy>Josefina Lascano Maillard</cp:lastModifiedBy>
  <cp:revision>2610</cp:revision>
  <dcterms:created xsi:type="dcterms:W3CDTF">2023-02-23T13:26:01Z</dcterms:created>
  <dcterms:modified xsi:type="dcterms:W3CDTF">2026-10-02T14:35:10Z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0x010100D1884769A1460844A8276E9E33D9EC1F</vt:lpwstr>
  </property>
  <property fmtid="{D5CDD505-2E9C-101B-9397-08002B2CF9AE}" pid="3" name="MediaServiceImageTags">
    <vt:lpwstr/>
  </property>
</Properties>
</file>