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241" r:id="rId5"/>
    <p:sldId id="2242" r:id="rId6"/>
    <p:sldId id="2243" r:id="rId7"/>
    <p:sldId id="2244" r:id="rId8"/>
    <p:sldId id="2245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C7DA7-61C6-FE01-D5D8-A892A102519B}" name="Marie Dangles" initials="MD" userId="S::Marie.Dangles@sib.swiss::7b63edcb-ccf4-4a75-88d0-c14d201c4d6b" providerId="AD"/>
  <p188:author id="{CE5D80B9-1F14-B145-DF47-4868472354CC}" name="Marie Dangles" initials="MD" userId="S::marie.dangles@sib.swiss::7b63edcb-ccf4-4a75-88d0-c14d201c4d6b" providerId="AD"/>
  <p188:author id="{808096D5-8C93-63BC-E4B0-42D5AEA0682D}" name="Maia Berman" initials="MB" userId="S::maia.berman@sib.swiss::1345ac14-4068-45c8-a090-8c43709fd17f" providerId="AD"/>
  <p188:author id="{6B1FADD7-C699-59FF-534C-F7CDC6EE7682}" name="Maia Berman" initials="MB" userId="S::Maia.Berman@sib.swiss::1345ac14-4068-45c8-a090-8c43709fd1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1301"/>
  </p:normalViewPr>
  <p:slideViewPr>
    <p:cSldViewPr snapToGrid="0">
      <p:cViewPr varScale="1">
        <p:scale>
          <a:sx n="100" d="100"/>
          <a:sy n="100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F87670A-975B-8A3E-CA1E-1C95318AB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AF402A-CBD2-E8BA-AAA8-34E54EAE21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29005-80C1-A548-84CE-9D8F7C27BC60}" type="datetimeFigureOut">
              <a:rPr lang="fr-FR" smtClean="0">
                <a:latin typeface="Corbel" panose="020B0503020204020204" pitchFamily="34" charset="0"/>
              </a:rPr>
              <a:t>01/10/2026</a:t>
            </a:fld>
            <a:endParaRPr lang="fr-FR">
              <a:latin typeface="Corbel" panose="020B0503020204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918FD6-F4AE-D982-B32D-7F319AFAF6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C636B7-0054-2915-21E4-2E5FE7094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0CD75-09BC-0C48-AAA4-476A4268C9A9}" type="slidenum">
              <a:rPr lang="fr-FR" smtClean="0">
                <a:latin typeface="Corbel" panose="020B0503020204020204" pitchFamily="34" charset="0"/>
              </a:rPr>
              <a:t>‹N°›</a:t>
            </a:fld>
            <a:endParaRPr lang="fr-FR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39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252EF52D-CFFC-FA47-BBAF-74B3994A70AD}" type="datetimeFigureOut">
              <a:rPr lang="fr-FR" smtClean="0"/>
              <a:pPr/>
              <a:t>01/10/2026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170F0992-BC5E-544C-9AC1-207704CC8F4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88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>
            <a:extLst>
              <a:ext uri="{FF2B5EF4-FFF2-40B4-BE49-F238E27FC236}">
                <a16:creationId xmlns:a16="http://schemas.microsoft.com/office/drawing/2014/main" id="{D6A4036E-D85D-A184-409E-2273352F1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77"/>
          <a:stretch/>
        </p:blipFill>
        <p:spPr>
          <a:xfrm rot="5400000">
            <a:off x="6516289" y="666647"/>
            <a:ext cx="6323119" cy="50283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2" y="3053222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400" b="0" i="0">
                <a:latin typeface="+mj-lt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3568"/>
            <a:ext cx="6817300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+mn-lt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3E26040-493B-53F9-2620-DDFB0901D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3" y="5355033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pic>
        <p:nvPicPr>
          <p:cNvPr id="7" name="Image 8">
            <a:extLst>
              <a:ext uri="{FF2B5EF4-FFF2-40B4-BE49-F238E27FC236}">
                <a16:creationId xmlns:a16="http://schemas.microsoft.com/office/drawing/2014/main" id="{EC5E4898-5706-F441-9C38-D0C7D97D52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472"/>
          <a:stretch/>
        </p:blipFill>
        <p:spPr>
          <a:xfrm rot="10800000" flipV="1">
            <a:off x="5217759" y="1525932"/>
            <a:ext cx="4193535" cy="1492608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3090551-4FA3-8BD4-932A-287498CAB2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2" y="5066270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5" name="Picture 4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1C19E4D0-3074-51FB-06DC-4C49BD099F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5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1027"/>
            <a:ext cx="5685187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Corbel" panose="020B0503020204020204" pitchFamily="34" charset="0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F880213D-89B1-3800-87F3-0045D35E0A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5213" y="0"/>
            <a:ext cx="4776787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174D3E9-3CB8-1293-F324-12517D2E2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3" y="3052800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GB" sz="4400" b="0" i="0" kern="1200" noProof="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Gill Sans" panose="020B0502020104020203" pitchFamily="34" charset="-79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14BD102C-AA50-9B30-F804-3089D180E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4" y="5351168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42A1719-D5FD-C104-F48D-FEF55559DE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3" y="5062405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11" name="Picture 10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6DAA9095-74D9-EEBF-5F10-15053C77C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7F542CB-EF84-68BA-9A50-B6575183E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39011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DB113ED-E4E6-4F61-AFF2-2D6137F50F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272004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A746E69-DEDB-F5B5-CAF6-095827C42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4805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DC2582AC-69EE-6A66-007B-371C19BB5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5676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9DB7C-CCD5-2762-99F6-9387BFF5E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FD76F-4B2D-8AFE-0E41-04FBC8DBB5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19275"/>
            <a:ext cx="10515600" cy="4351338"/>
          </a:xfrm>
        </p:spPr>
        <p:txBody>
          <a:bodyPr/>
          <a:lstStyle>
            <a:lvl2pPr marL="358775" indent="-358775">
              <a:buFontTx/>
              <a:buBlip>
                <a:blip r:embed="rId3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405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4F1E9F87-214B-A780-CA56-3B0F35E5C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1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1D74064-9855-E307-BE4C-FF1AC6C9FA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199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096A7F-17E3-1944-DBB4-18263DE8D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934A60-C3FD-F1F7-C71C-505AC974F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with em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B310AEF-E302-7CA7-22FA-C063913AC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10" name="Rectangle : coins arrondis 1">
            <a:extLst>
              <a:ext uri="{FF2B5EF4-FFF2-40B4-BE49-F238E27FC236}">
                <a16:creationId xmlns:a16="http://schemas.microsoft.com/office/drawing/2014/main" id="{C518B50C-3518-E963-7EB2-CF27A10646B9}"/>
              </a:ext>
            </a:extLst>
          </p:cNvPr>
          <p:cNvSpPr/>
          <p:nvPr userDrawn="1"/>
        </p:nvSpPr>
        <p:spPr>
          <a:xfrm>
            <a:off x="838200" y="1101600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1" name="Rectangle : coins arrondis 2">
            <a:extLst>
              <a:ext uri="{FF2B5EF4-FFF2-40B4-BE49-F238E27FC236}">
                <a16:creationId xmlns:a16="http://schemas.microsoft.com/office/drawing/2014/main" id="{AF7FFA4B-45D7-B7FA-6B0D-442AB264A084}"/>
              </a:ext>
            </a:extLst>
          </p:cNvPr>
          <p:cNvSpPr/>
          <p:nvPr userDrawn="1"/>
        </p:nvSpPr>
        <p:spPr>
          <a:xfrm>
            <a:off x="6310265" y="1101600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Rectangle : coins arrondis 6">
            <a:extLst>
              <a:ext uri="{FF2B5EF4-FFF2-40B4-BE49-F238E27FC236}">
                <a16:creationId xmlns:a16="http://schemas.microsoft.com/office/drawing/2014/main" id="{DF00A995-522B-4021-102B-BCBD0FD9DCE3}"/>
              </a:ext>
            </a:extLst>
          </p:cNvPr>
          <p:cNvSpPr/>
          <p:nvPr userDrawn="1"/>
        </p:nvSpPr>
        <p:spPr>
          <a:xfrm>
            <a:off x="838200" y="3839175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3" name="Rectangle : coins arrondis 7">
            <a:extLst>
              <a:ext uri="{FF2B5EF4-FFF2-40B4-BE49-F238E27FC236}">
                <a16:creationId xmlns:a16="http://schemas.microsoft.com/office/drawing/2014/main" id="{7816F90A-A539-B087-965E-1578FF34D6E7}"/>
              </a:ext>
            </a:extLst>
          </p:cNvPr>
          <p:cNvSpPr/>
          <p:nvPr userDrawn="1"/>
        </p:nvSpPr>
        <p:spPr>
          <a:xfrm>
            <a:off x="6310265" y="3839175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8C04-A85E-141F-D30C-22896D918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F415C-547B-26E1-70E8-BB6C2005A4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0786" y="1206131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A972A6-C18B-E653-4933-08A90C461B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2851" y="1206131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EE2428-489D-DF92-9019-A2F54EF7ED2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20786" y="3943706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35DDFA-F6B7-A5DC-0F14-CB6A0C903E2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92851" y="3943706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895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B9D6A197-143B-AEFD-829C-A370B9E48C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283168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7F1758D-FA39-78AD-05BA-1F0701430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96795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8AD1FA9F-FAA3-CC60-961C-DDECEC3D8E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342751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EB932D8-947A-D8D7-D24E-FCAC4FA07B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777976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40B52BE3-5107-0A54-7B28-79B3E81F8D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18530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896185D-C189-43C8-56F0-DC714250B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12190F2-119D-1880-693A-C35BB81F9E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2891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29F137C-E460-9399-CD33-4A2C4360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BA3B39-EAE1-433A-6A33-289E6A2626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6873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F0CCA9F-64B1-86D3-B610-B2B226EAA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362E6140-FFAE-26F1-DE48-719AB018F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97653-5197-A0E7-0D0F-5503D8FF9E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398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64D93-5897-7C43-6A16-6A175307F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510E9E1-90A9-831D-C2F6-C212AB9CE9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E9BDC3A-E9DB-753C-35A5-4FAB18E7EB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1930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A09CA-36EE-F3C0-0BBA-9FB96C243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88ACDC-796B-3D38-6C7C-66BA405ADC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1B84487-9C16-DBA9-4F45-D4B5DB2A7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438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5D891C-6969-239C-3B65-2BC05D1B9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751B8-43CB-171F-4934-1C39A27CC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47727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D55CDB6B-0D3D-B6B1-5274-D76EBD678D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0BF0361-23BE-604D-00BB-68E4E829AD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3305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31A041-7A2D-5DF0-312F-374FCDE3D8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08B731-9BD9-0580-0F24-09E82AA02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6814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B7CC7CD-36EB-30C0-7B63-92EB9A5C87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E255D-7155-3DC1-36A0-05461143B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37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A19DB2DF-140E-EF43-5DCB-97E0C30206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0188F5-35F8-C73A-64F2-4F36B578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7874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A2DAFB6-4120-0157-845E-2198873243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0A31A2BD-9D88-F08D-D109-40987069C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510015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B28834-2377-2BA6-AA40-B17CFC2B56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2C58EF55-DFB6-1CAE-C474-F8D0E76AF9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67742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408574-C683-1985-6632-7A59AB94C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9110A95F-7C10-1EBE-E254-51B73F31C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046564C-405C-D92E-9921-39F8C498F1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4F84300-D50C-CC9A-515D-1C7A50D2F4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2090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DFDA38C-E54D-EE2E-3D3D-3473EB2C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162257-C28A-4867-07F4-ED60C0E7A9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D711CD7-613C-60AE-8C72-DA243741090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732CC7-0FDE-D811-EDB1-AB646764A7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42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0E56CA-9C63-7C92-E3C4-6C836C2F2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B61C4734-C773-C156-A090-61CE06CB75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20FF58A-BBC7-12B7-1C2F-482012CE48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42C692-4841-FFF1-E1C0-1752D1F566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0926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6083AA-D0FC-9F66-C26A-720F1CB281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6EDCA-745B-8829-5AD1-A11B03FE1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2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7CB0CE7-DE33-88EE-3423-A4C2C7690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39D1BED-4DD7-EE8D-19B6-DD064B0A9D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Rectangle : coins arrondis 7">
            <a:extLst>
              <a:ext uri="{FF2B5EF4-FFF2-40B4-BE49-F238E27FC236}">
                <a16:creationId xmlns:a16="http://schemas.microsoft.com/office/drawing/2014/main" id="{C024A53D-C380-52AE-2506-8FECF914876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1FC30D3-09BA-9EBC-E24F-AA6E2EAB3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4406" y="2196136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ysClr val="windowText" lastClr="000000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002916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52BFDE3-65C6-2516-9801-08DE82B1FA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5C4DD-5280-6381-0242-CE01F22BA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954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7C1E8E5C-3149-CFAB-E714-FEC68CD2C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58C21-10BC-317A-A65D-2A6A57ACB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16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91C01C6B-AFA9-4E83-E39B-4B28EDC8DB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1329B1-5601-90DB-DAC1-279A701A2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828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39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471EAE6-704C-C3B2-B0BC-CFA343DD3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87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84EE32-F3B8-6076-4095-E8334D9BA78C}"/>
              </a:ext>
            </a:extLst>
          </p:cNvPr>
          <p:cNvSpPr/>
          <p:nvPr userDrawn="1"/>
        </p:nvSpPr>
        <p:spPr>
          <a:xfrm>
            <a:off x="0" y="5284640"/>
            <a:ext cx="12192000" cy="1623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062E67-AA0B-A006-FEB6-F218A58AAE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12"/>
          <a:stretch/>
        </p:blipFill>
        <p:spPr>
          <a:xfrm>
            <a:off x="11137315" y="6034572"/>
            <a:ext cx="927686" cy="71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B5F9D4-7747-ADCB-E6C1-49ADA04EA204}"/>
              </a:ext>
            </a:extLst>
          </p:cNvPr>
          <p:cNvSpPr/>
          <p:nvPr userDrawn="1"/>
        </p:nvSpPr>
        <p:spPr>
          <a:xfrm>
            <a:off x="2690526" y="4878538"/>
            <a:ext cx="430924" cy="35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DDB00A-3875-C6F7-B196-88BE08F200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5537693"/>
            <a:ext cx="9144000" cy="558871"/>
          </a:xfrm>
        </p:spPr>
        <p:txBody>
          <a:bodyPr anchor="ctr">
            <a:noAutofit/>
          </a:bodyPr>
          <a:lstStyle>
            <a:lvl1pPr algn="ctr">
              <a:defRPr sz="3200" b="1" i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 dirty="0"/>
              <a:t>Text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115183-FACE-268A-57F0-F265985C2F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6098544"/>
            <a:ext cx="9144000" cy="2918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 spc="3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Sub-title</a:t>
            </a:r>
          </a:p>
        </p:txBody>
      </p:sp>
      <p:pic>
        <p:nvPicPr>
          <p:cNvPr id="13" name="Picture 12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7929F3CA-82E7-6DD2-D615-F777D5A06B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2399" y="6099221"/>
            <a:ext cx="1291994" cy="6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D52C7C54-A67B-7C6C-795D-7EEC864A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/>
          <a:p>
            <a:r>
              <a:rPr lang="en-GB" noProof="0" dirty="0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1AC6A1-85F6-E8C4-97DE-B8C5FC3D5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9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9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9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1" r:id="rId2"/>
    <p:sldLayoutId id="2147483704" r:id="rId3"/>
    <p:sldLayoutId id="2147483752" r:id="rId4"/>
    <p:sldLayoutId id="2147483705" r:id="rId5"/>
    <p:sldLayoutId id="2147483703" r:id="rId6"/>
    <p:sldLayoutId id="2147483685" r:id="rId7"/>
    <p:sldLayoutId id="2147483751" r:id="rId8"/>
    <p:sldLayoutId id="2147483652" r:id="rId9"/>
    <p:sldLayoutId id="2147483715" r:id="rId10"/>
    <p:sldLayoutId id="2147483717" r:id="rId11"/>
    <p:sldLayoutId id="2147483753" r:id="rId12"/>
    <p:sldLayoutId id="2147483722" r:id="rId13"/>
    <p:sldLayoutId id="2147483734" r:id="rId14"/>
    <p:sldLayoutId id="2147483739" r:id="rId15"/>
    <p:sldLayoutId id="2147483755" r:id="rId16"/>
    <p:sldLayoutId id="2147483754" r:id="rId17"/>
    <p:sldLayoutId id="2147483756" r:id="rId18"/>
    <p:sldLayoutId id="2147483757" r:id="rId19"/>
    <p:sldLayoutId id="2147483758" r:id="rId20"/>
    <p:sldLayoutId id="2147483728" r:id="rId21"/>
    <p:sldLayoutId id="2147483759" r:id="rId22"/>
    <p:sldLayoutId id="2147483729" r:id="rId23"/>
    <p:sldLayoutId id="2147483736" r:id="rId24"/>
    <p:sldLayoutId id="2147483741" r:id="rId25"/>
    <p:sldLayoutId id="2147483761" r:id="rId26"/>
    <p:sldLayoutId id="2147483760" r:id="rId27"/>
    <p:sldLayoutId id="2147483762" r:id="rId28"/>
    <p:sldLayoutId id="2147483763" r:id="rId29"/>
    <p:sldLayoutId id="2147483764" r:id="rId30"/>
    <p:sldLayoutId id="2147483732" r:id="rId31"/>
    <p:sldLayoutId id="2147483765" r:id="rId32"/>
    <p:sldLayoutId id="2147483733" r:id="rId33"/>
    <p:sldLayoutId id="2147483738" r:id="rId34"/>
    <p:sldLayoutId id="2147483743" r:id="rId35"/>
    <p:sldLayoutId id="2147483655" r:id="rId36"/>
    <p:sldLayoutId id="2147483766" r:id="rId3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Verdana" panose="020B0604030504040204" pitchFamily="34" charset="0"/>
          <a:cs typeface="Gill Sans" panose="020B0502020104020203" pitchFamily="34" charset="-79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None/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1pPr>
      <a:lvl2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0"/>
        </a:buBlip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2pPr>
      <a:lvl3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0"/>
        </a:buBlip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3pPr>
      <a:lvl4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4pPr>
      <a:lvl5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1287-91AC-0AF0-E55F-D3F2B8B33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- 7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94947-E283-3A3D-F6D8-50119A1D2BA2}"/>
              </a:ext>
            </a:extLst>
          </p:cNvPr>
          <p:cNvSpPr txBox="1"/>
          <p:nvPr/>
        </p:nvSpPr>
        <p:spPr>
          <a:xfrm>
            <a:off x="674413" y="1182414"/>
            <a:ext cx="10098689" cy="56117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Import the mouse data from the file </a:t>
            </a:r>
            <a:r>
              <a:rPr lang="en-US" dirty="0" err="1">
                <a:ea typeface="+mn-lt"/>
                <a:cs typeface="+mn-lt"/>
              </a:rPr>
              <a:t>course_datasets</a:t>
            </a:r>
            <a:r>
              <a:rPr lang="en-US" dirty="0">
                <a:ea typeface="+mn-lt"/>
                <a:cs typeface="+mn-lt"/>
              </a:rPr>
              <a:t>/mice_data_mod.csv. </a:t>
            </a:r>
          </a:p>
          <a:p>
            <a:r>
              <a:rPr lang="en-US" dirty="0">
                <a:ea typeface="+mn-lt"/>
                <a:cs typeface="+mn-lt"/>
              </a:rPr>
              <a:t>This file contains the same data as mice_data.csv and in addition, two more columns.</a:t>
            </a:r>
          </a:p>
          <a:p>
            <a:endParaRPr lang="en-US" dirty="0"/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latin typeface="Corbel"/>
                <a:cs typeface="Arial"/>
              </a:rPr>
              <a:t>Run </a:t>
            </a:r>
            <a:r>
              <a:rPr lang="en-US" b="1" dirty="0">
                <a:latin typeface="Corbel"/>
                <a:cs typeface="Arial"/>
              </a:rPr>
              <a:t>str() </a:t>
            </a:r>
            <a:r>
              <a:rPr lang="en-US" dirty="0">
                <a:latin typeface="Corbel"/>
                <a:cs typeface="Arial"/>
              </a:rPr>
              <a:t>to check your data frame: did it load correctly? </a:t>
            </a:r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latin typeface="Corbel"/>
                <a:cs typeface="Arial"/>
              </a:rPr>
              <a:t>Convert genotype and diet to factor variables. </a:t>
            </a:r>
          </a:p>
          <a:p>
            <a:pPr marL="348615" indent="-342900">
              <a:buAutoNum type="arabicPeriod"/>
            </a:pPr>
            <a:r>
              <a:rPr lang="en-US" dirty="0">
                <a:ea typeface="+mn-lt"/>
                <a:cs typeface="+mn-lt"/>
              </a:rPr>
              <a:t>Make a </a:t>
            </a:r>
            <a:r>
              <a:rPr lang="en-US" b="1" dirty="0">
                <a:ea typeface="+mn-lt"/>
                <a:cs typeface="+mn-lt"/>
              </a:rPr>
              <a:t>scatter plot </a:t>
            </a:r>
            <a:r>
              <a:rPr lang="en-US" dirty="0">
                <a:ea typeface="+mn-lt"/>
                <a:cs typeface="+mn-lt"/>
              </a:rPr>
              <a:t>of respiratory rate against mouse weights using the function plot().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 use solid circles as plotting symbol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 add a title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 customize the axis labels  (“Weight [g]”, “Respiratory Rate [bpm]”)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 color the points </a:t>
            </a:r>
            <a:r>
              <a:rPr lang="en-US" b="1" dirty="0">
                <a:ea typeface="+mn-lt"/>
                <a:cs typeface="+mn-lt"/>
              </a:rPr>
              <a:t>by genotype. </a:t>
            </a:r>
          </a:p>
          <a:p>
            <a:pPr marL="348615" indent="-342900">
              <a:buAutoNum type="arabicPeriod"/>
            </a:pPr>
            <a:r>
              <a:rPr lang="en-US" dirty="0"/>
              <a:t>Fit a trend line using the function </a:t>
            </a:r>
            <a:r>
              <a:rPr lang="en-US" b="1" err="1"/>
              <a:t>abline</a:t>
            </a:r>
            <a:r>
              <a:rPr lang="en-US" b="1" dirty="0"/>
              <a:t>()</a:t>
            </a:r>
          </a:p>
          <a:p>
            <a:pPr marL="348615" indent="-342900">
              <a:buAutoNum type="arabicPeriod"/>
            </a:pPr>
            <a:r>
              <a:rPr lang="en-US" dirty="0"/>
              <a:t>Add a legend for the genotype</a:t>
            </a:r>
          </a:p>
          <a:p>
            <a:pPr marL="462915" lvl="1"/>
            <a:endParaRPr lang="en-US" b="1" dirty="0"/>
          </a:p>
          <a:p>
            <a:pPr marL="462915" lvl="1"/>
            <a:endParaRPr lang="en-US" b="1" dirty="0"/>
          </a:p>
          <a:p>
            <a:pPr marL="462915" lvl="1"/>
            <a:r>
              <a:rPr lang="en-US" b="1" dirty="0"/>
              <a:t>EXTRA TASKS:</a:t>
            </a:r>
          </a:p>
          <a:p>
            <a:pPr marL="805815" lvl="1" indent="-342900">
              <a:buAutoNum type="arabicPeriod"/>
            </a:pPr>
            <a:r>
              <a:rPr lang="en-US" dirty="0"/>
              <a:t>use the command </a:t>
            </a:r>
            <a:r>
              <a:rPr lang="en-US" dirty="0">
                <a:latin typeface="Courier New"/>
                <a:cs typeface="Courier New"/>
              </a:rPr>
              <a:t>data(</a:t>
            </a:r>
            <a:r>
              <a:rPr lang="en-US" err="1">
                <a:latin typeface="Courier New"/>
                <a:cs typeface="Courier New"/>
              </a:rPr>
              <a:t>airquality</a:t>
            </a:r>
            <a:r>
              <a:rPr lang="en-US" dirty="0">
                <a:latin typeface="Courier New"/>
                <a:cs typeface="Courier New"/>
              </a:rPr>
              <a:t>)</a:t>
            </a:r>
            <a:r>
              <a:rPr lang="en-US" dirty="0"/>
              <a:t> to load the </a:t>
            </a:r>
            <a:r>
              <a:rPr lang="en-US" err="1"/>
              <a:t>airquality</a:t>
            </a:r>
            <a:r>
              <a:rPr lang="en-US" dirty="0"/>
              <a:t> dataset</a:t>
            </a:r>
            <a:endParaRPr lang="en-US" b="1" dirty="0"/>
          </a:p>
          <a:p>
            <a:pPr marL="805815" lvl="1" indent="-342900">
              <a:buAutoNum type="arabicPeriod"/>
            </a:pPr>
            <a:r>
              <a:rPr lang="en-US" dirty="0"/>
              <a:t>Plot the relationship between wind speed (Wind) and temperature (Temp)</a:t>
            </a:r>
          </a:p>
          <a:p>
            <a:pPr marL="1263015" lvl="2" indent="-342900">
              <a:buFont typeface="Wingdings"/>
              <a:buChar char="§"/>
            </a:pPr>
            <a:r>
              <a:rPr lang="en-US" dirty="0"/>
              <a:t>Color by Month</a:t>
            </a:r>
          </a:p>
          <a:p>
            <a:pPr marL="1263015" lvl="2" indent="-342900">
              <a:buFont typeface="Wingdings"/>
              <a:buChar char="§"/>
            </a:pPr>
            <a:r>
              <a:rPr lang="en-US" dirty="0"/>
              <a:t>Add nice labels and a legend</a:t>
            </a:r>
          </a:p>
        </p:txBody>
      </p:sp>
    </p:spTree>
    <p:extLst>
      <p:ext uri="{BB962C8B-B14F-4D97-AF65-F5344CB8AC3E}">
        <p14:creationId xmlns:p14="http://schemas.microsoft.com/office/powerpoint/2010/main" val="1343195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125AD-7256-DA5C-3208-AFD853F9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4877-3141-A28A-0AA8-0A6575285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- 8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E0A20-F3E7-7560-EAC2-EC93F4C39667}"/>
              </a:ext>
            </a:extLst>
          </p:cNvPr>
          <p:cNvSpPr txBox="1"/>
          <p:nvPr/>
        </p:nvSpPr>
        <p:spPr>
          <a:xfrm>
            <a:off x="674413" y="1182414"/>
            <a:ext cx="10098689" cy="4632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This is a continuation of the previous practice: we will continue to plot the mice data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solidFill>
                  <a:srgbClr val="262626"/>
                </a:solidFill>
                <a:latin typeface="Corbel"/>
                <a:cs typeface="Arial"/>
              </a:rPr>
              <a:t>Plot a </a:t>
            </a:r>
            <a:r>
              <a:rPr lang="en-US" b="1" dirty="0">
                <a:solidFill>
                  <a:srgbClr val="262626"/>
                </a:solidFill>
                <a:latin typeface="Corbel"/>
                <a:cs typeface="Arial"/>
              </a:rPr>
              <a:t>histogram</a:t>
            </a:r>
            <a:r>
              <a:rPr lang="en-US" dirty="0">
                <a:solidFill>
                  <a:srgbClr val="262626"/>
                </a:solidFill>
                <a:latin typeface="Corbel"/>
                <a:cs typeface="Arial"/>
              </a:rPr>
              <a:t> of mouse weight and customize it with title, labels,  colors.</a:t>
            </a:r>
            <a:br>
              <a:rPr lang="en-US" dirty="0">
                <a:latin typeface="Corbel"/>
                <a:cs typeface="Arial"/>
              </a:rPr>
            </a:br>
            <a:r>
              <a:rPr lang="en-US" dirty="0">
                <a:solidFill>
                  <a:srgbClr val="262626"/>
                </a:solidFill>
                <a:latin typeface="Corbel"/>
                <a:cs typeface="Arial"/>
              </a:rPr>
              <a:t>Represent the density line on top.</a:t>
            </a:r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Make </a:t>
            </a:r>
            <a:r>
              <a:rPr lang="en-US" b="1" dirty="0">
                <a:solidFill>
                  <a:srgbClr val="262626"/>
                </a:solidFill>
                <a:ea typeface="+mn-lt"/>
                <a:cs typeface="+mn-lt"/>
              </a:rPr>
              <a:t>boxplots</a:t>
            </a: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 of weights from WT and KO mice. Customize with title, labels, colors.</a:t>
            </a:r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i="1" dirty="0">
                <a:solidFill>
                  <a:srgbClr val="262626"/>
                </a:solidFill>
                <a:ea typeface="+mn-lt"/>
                <a:cs typeface="+mn-lt"/>
              </a:rPr>
              <a:t>Optional: </a:t>
            </a: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Repeat 2 with diet instead of genotype.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EXTRA TASKS</a:t>
            </a:r>
          </a:p>
          <a:p>
            <a:r>
              <a:rPr lang="en-US" dirty="0"/>
              <a:t>Come back to the </a:t>
            </a:r>
            <a:r>
              <a:rPr lang="en-US" dirty="0" err="1"/>
              <a:t>airquality</a:t>
            </a:r>
            <a:r>
              <a:rPr lang="en-US" dirty="0"/>
              <a:t> dataset</a:t>
            </a:r>
          </a:p>
          <a:p>
            <a:pPr marL="342900" indent="-342900">
              <a:buAutoNum type="arabicPeriod"/>
            </a:pPr>
            <a:r>
              <a:rPr lang="en-US" dirty="0"/>
              <a:t>Make boxplot of temperatures per month</a:t>
            </a:r>
          </a:p>
          <a:p>
            <a:pPr marL="342900" indent="-342900">
              <a:buAutoNum type="arabicPeriod"/>
            </a:pPr>
            <a:r>
              <a:rPr lang="en-US" dirty="0"/>
              <a:t>Make boxplot of wind speed  per month</a:t>
            </a:r>
          </a:p>
          <a:p>
            <a:pPr marL="342900" indent="-342900">
              <a:buAutoNum type="arabicPeriod"/>
            </a:pPr>
            <a:r>
              <a:rPr lang="en-US" dirty="0"/>
              <a:t>for each of these plots, add labels as well as overlay the actual points onto the boxplots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2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2CF3-D3B1-F2D3-ADC0-0CC8A13B8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60A1-5D04-9BDB-7EE5-37E8D114B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- 9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D9747-2AF0-40CF-061F-0E2AA937D886}"/>
              </a:ext>
            </a:extLst>
          </p:cNvPr>
          <p:cNvSpPr txBox="1"/>
          <p:nvPr/>
        </p:nvSpPr>
        <p:spPr>
          <a:xfrm>
            <a:off x="674413" y="1182414"/>
            <a:ext cx="10098689" cy="50424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This is a continuation of the previous practice: we will continue to plot the mice data, only that in R markdown!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83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Make a multi-panel figure with the </a:t>
            </a: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four graphics (from the previous exercises) on one page</a:t>
            </a:r>
          </a:p>
          <a:p>
            <a:pPr marL="45783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Change the code to export the figure to a </a:t>
            </a: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pdf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file with paper size A4. Set width and height arguments in the call to pdf() to make it look nice.</a:t>
            </a:r>
            <a:endParaRPr lang="en-US" dirty="0"/>
          </a:p>
          <a:p>
            <a:pPr marL="635">
              <a:spcBef>
                <a:spcPts val="723"/>
              </a:spcBef>
              <a:spcAft>
                <a:spcPts val="283"/>
              </a:spcAft>
            </a:pP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r>
              <a:rPr lang="en-US" b="1" dirty="0">
                <a:solidFill>
                  <a:srgbClr val="1E2232"/>
                </a:solidFill>
              </a:rPr>
              <a:t>EXTRA TASKS</a:t>
            </a:r>
            <a:endParaRPr lang="en-US" dirty="0">
              <a:solidFill>
                <a:srgbClr val="262626"/>
              </a:solidFill>
            </a:endParaRPr>
          </a:p>
          <a:p>
            <a:pPr marL="291465" indent="-285750">
              <a:spcBef>
                <a:spcPts val="723"/>
              </a:spcBef>
              <a:spcAft>
                <a:spcPts val="283"/>
              </a:spcAft>
              <a:buFontTx/>
              <a:buChar char="-"/>
            </a:pPr>
            <a:r>
              <a:rPr lang="en-US" dirty="0">
                <a:solidFill>
                  <a:srgbClr val="262626"/>
                </a:solidFill>
              </a:rPr>
              <a:t>Choose 1 and try to tweak the different elements color. For example, try to change the background color, the color of the title, the thickness and color of axis labels, …</a:t>
            </a:r>
          </a:p>
          <a:p>
            <a:pPr marL="291465" indent="-285750">
              <a:spcBef>
                <a:spcPts val="723"/>
              </a:spcBef>
              <a:spcAft>
                <a:spcPts val="283"/>
              </a:spcAft>
              <a:buFontTx/>
              <a:buChar char="-"/>
            </a:pPr>
            <a:r>
              <a:rPr lang="en-US" dirty="0">
                <a:solidFill>
                  <a:srgbClr val="262626"/>
                </a:solidFill>
              </a:rPr>
              <a:t>Change the parameters in the chunk header to have different plot dimension or position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5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1287-91AC-0AF0-E55F-D3F2B8B33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- 10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94947-E283-3A3D-F6D8-50119A1D2BA2}"/>
              </a:ext>
            </a:extLst>
          </p:cNvPr>
          <p:cNvSpPr txBox="1"/>
          <p:nvPr/>
        </p:nvSpPr>
        <p:spPr>
          <a:xfrm>
            <a:off x="674413" y="1182414"/>
            <a:ext cx="10098689" cy="5942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349"/>
              </a:spcBef>
              <a:spcAft>
                <a:spcPts val="850"/>
              </a:spcAft>
            </a:pP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Come back to the mice data-set stored in the "</a:t>
            </a:r>
            <a:r>
              <a:rPr lang="en-US" sz="2000" err="1">
                <a:solidFill>
                  <a:srgbClr val="262626"/>
                </a:solidFill>
                <a:ea typeface="+mn-lt"/>
                <a:cs typeface="+mn-lt"/>
              </a:rPr>
              <a:t>mice_data</a:t>
            </a: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" data frame.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Considering WT mice weight and KO mice weight separately, check the assumption of normality graphically. 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Make an appropriate plot to visualize the mouse weights grouped by genotype.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Perform a test to see whether the mouse weight is different between the two genotypes.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 Repeat steps </a:t>
            </a:r>
            <a:r>
              <a:rPr lang="en-US" sz="2000" b="1" i="1" dirty="0">
                <a:solidFill>
                  <a:srgbClr val="262626"/>
                </a:solidFill>
                <a:latin typeface="Corbel"/>
                <a:cs typeface="Arial"/>
              </a:rPr>
              <a:t>1</a:t>
            </a: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 to </a:t>
            </a:r>
            <a:r>
              <a:rPr lang="en-US" sz="2000" b="1" i="1" dirty="0">
                <a:solidFill>
                  <a:srgbClr val="262626"/>
                </a:solidFill>
                <a:latin typeface="Corbel"/>
                <a:cs typeface="Arial"/>
              </a:rPr>
              <a:t>3</a:t>
            </a: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 for the diet variable.</a:t>
            </a:r>
            <a:endParaRPr lang="en-US" sz="2000" dirty="0">
              <a:solidFill>
                <a:srgbClr val="262626"/>
              </a:solidFill>
              <a:latin typeface="Corbel"/>
              <a:cs typeface="Arial"/>
            </a:endParaRPr>
          </a:p>
          <a:p>
            <a:pPr>
              <a:spcBef>
                <a:spcPts val="850"/>
              </a:spcBef>
              <a:spcAft>
                <a:spcPts val="850"/>
              </a:spcAft>
            </a:pP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>
              <a:spcBef>
                <a:spcPts val="850"/>
              </a:spcBef>
              <a:spcAft>
                <a:spcPts val="850"/>
              </a:spcAft>
            </a:pP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EXTRA TASKS:</a:t>
            </a:r>
          </a:p>
          <a:p>
            <a:pPr marL="457200" indent="-457200">
              <a:spcBef>
                <a:spcPts val="850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Use the non-parametric alternative of the test on the same problem.</a:t>
            </a:r>
          </a:p>
          <a:p>
            <a:pPr marL="457200" indent="-457200">
              <a:spcBef>
                <a:spcPts val="850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Test if the subgroups have equal variance using function </a:t>
            </a:r>
            <a:r>
              <a:rPr lang="en-US" sz="2000" dirty="0" err="1">
                <a:solidFill>
                  <a:srgbClr val="000000"/>
                </a:solidFill>
                <a:latin typeface="Corbel"/>
                <a:cs typeface="Arial"/>
              </a:rPr>
              <a:t>var.test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(). If it looks like they do, look up the </a:t>
            </a:r>
            <a:r>
              <a:rPr lang="en-US" sz="2000" dirty="0" err="1">
                <a:solidFill>
                  <a:srgbClr val="000000"/>
                </a:solidFill>
                <a:latin typeface="Corbel"/>
                <a:cs typeface="Arial"/>
              </a:rPr>
              <a:t>t.test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() documentation, see which option you can change, and try it out.</a:t>
            </a:r>
          </a:p>
          <a:p>
            <a:endParaRPr lang="en-US" dirty="0">
              <a:solidFill>
                <a:srgbClr val="1E2232"/>
              </a:solidFill>
              <a:latin typeface="Corbe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00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E5C1-BDEB-4748-E82A-24B5D807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05A2-CCCB-48E4-52F8-816149787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- 11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3E71F-357E-7657-6702-6ED3B70A0208}"/>
              </a:ext>
            </a:extLst>
          </p:cNvPr>
          <p:cNvSpPr txBox="1"/>
          <p:nvPr/>
        </p:nvSpPr>
        <p:spPr>
          <a:xfrm>
            <a:off x="674413" y="1182414"/>
            <a:ext cx="10098689" cy="58810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The data set "Pima" comes from a study on diabetes in women of Pima Indian heritage. </a:t>
            </a:r>
            <a:endParaRPr lang="en-US"/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We are using a subset (Pima.tr).</a:t>
            </a:r>
            <a:endParaRPr lang="en-US" dirty="0"/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Load the package MASS using library(). Load the dataset Pima.tr using data(Pima.tr). Use ? to get an idea which variables it contains.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Hypothesis: Blood glucose level (</a:t>
            </a:r>
            <a:r>
              <a:rPr lang="en-US" sz="2000" dirty="0" err="1">
                <a:solidFill>
                  <a:srgbClr val="000000"/>
                </a:solidFill>
                <a:ea typeface="+mn-lt"/>
                <a:cs typeface="+mn-lt"/>
              </a:rPr>
              <a:t>glu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) is associated with diastolic blood pressure (bp). Run a linear model to test the hypothesis.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Visualize the fit with a scatter plot and a trend line.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Check assumptions of the model (homoscedasticity, mean of residual at 0, normality of the residuals) graphically.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AutoNum type="arabicPeriod"/>
            </a:pP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EXTRA TASKS: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Look up in the next slides how you can run a </a:t>
            </a:r>
            <a:r>
              <a:rPr lang="en-US" sz="2000" err="1">
                <a:solidFill>
                  <a:srgbClr val="000000"/>
                </a:solidFill>
                <a:latin typeface="Arial"/>
                <a:cs typeface="Arial"/>
              </a:rPr>
              <a:t>muliple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regression. Do the same for the Pima.tr data by adding a couple of covariables to the model.</a:t>
            </a:r>
          </a:p>
          <a:p>
            <a:pPr>
              <a:lnSpc>
                <a:spcPct val="90000"/>
              </a:lnSpc>
              <a:spcBef>
                <a:spcPts val="1349"/>
              </a:spcBef>
              <a:spcAft>
                <a:spcPts val="850"/>
              </a:spcAft>
            </a:pPr>
            <a:endParaRPr lang="en-US" sz="20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96748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theme">
  <a:themeElements>
    <a:clrScheme name="SIB">
      <a:dk1>
        <a:srgbClr val="1E2232"/>
      </a:dk1>
      <a:lt1>
        <a:srgbClr val="FFFFFF"/>
      </a:lt1>
      <a:dk2>
        <a:srgbClr val="E20613"/>
      </a:dk2>
      <a:lt2>
        <a:srgbClr val="E7E6E6"/>
      </a:lt2>
      <a:accent1>
        <a:srgbClr val="77E0C1"/>
      </a:accent1>
      <a:accent2>
        <a:srgbClr val="3368ED"/>
      </a:accent2>
      <a:accent3>
        <a:srgbClr val="F6D0D0"/>
      </a:accent3>
      <a:accent4>
        <a:srgbClr val="50B798"/>
      </a:accent4>
      <a:accent5>
        <a:srgbClr val="F6F6F6"/>
      </a:accent5>
      <a:accent6>
        <a:srgbClr val="000000"/>
      </a:accent6>
      <a:hlink>
        <a:srgbClr val="3267ED"/>
      </a:hlink>
      <a:folHlink>
        <a:srgbClr val="1E213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84769A1460844A8276E9E33D9EC1F" ma:contentTypeVersion="17" ma:contentTypeDescription="Create a new document." ma:contentTypeScope="" ma:versionID="1e661dde982bb637ab265ef9bdeebac4">
  <xsd:schema xmlns:xsd="http://www.w3.org/2001/XMLSchema" xmlns:xs="http://www.w3.org/2001/XMLSchema" xmlns:p="http://schemas.microsoft.com/office/2006/metadata/properties" xmlns:ns2="51cd6d5f-6ae9-4e54-9898-8992a7ff3036" xmlns:ns3="1136f6dd-7c48-4f33-aa6a-8b8e7584cecf" targetNamespace="http://schemas.microsoft.com/office/2006/metadata/properties" ma:root="true" ma:fieldsID="268353165dcdbb2dfcde019cd206b759" ns2:_="" ns3:_="">
    <xsd:import namespace="51cd6d5f-6ae9-4e54-9898-8992a7ff3036"/>
    <xsd:import namespace="1136f6dd-7c48-4f33-aa6a-8b8e7584ce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d6d5f-6ae9-4e54-9898-8992a7ff3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af233ad-a872-49f3-8d8c-f1cf611cbd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6f6dd-7c48-4f33-aa6a-8b8e7584cec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6480a6-8657-40ee-b73b-62f5e6461347}" ma:internalName="TaxCatchAll" ma:showField="CatchAllData" ma:web="1136f6dd-7c48-4f33-aa6a-8b8e7584ce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cd6d5f-6ae9-4e54-9898-8992a7ff3036">
      <Terms xmlns="http://schemas.microsoft.com/office/infopath/2007/PartnerControls"/>
    </lcf76f155ced4ddcb4097134ff3c332f>
    <TaxCatchAll xmlns="1136f6dd-7c48-4f33-aa6a-8b8e7584cecf" xsi:nil="true"/>
  </documentManagement>
</p:properties>
</file>

<file path=customXml/itemProps1.xml><?xml version="1.0" encoding="utf-8"?>
<ds:datastoreItem xmlns:ds="http://schemas.openxmlformats.org/officeDocument/2006/customXml" ds:itemID="{73CC3BE7-1E24-4E91-A36E-E39FC0373FB8}">
  <ds:schemaRefs>
    <ds:schemaRef ds:uri="1136f6dd-7c48-4f33-aa6a-8b8e7584cecf"/>
    <ds:schemaRef ds:uri="51cd6d5f-6ae9-4e54-9898-8992a7ff30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C234DFD-9E98-47EE-A822-37224EBFD7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B38228-41B2-4CC0-85B6-8CB372D27A8C}">
  <ds:schemaRefs>
    <ds:schemaRef ds:uri="51cd6d5f-6ae9-4e54-9898-8992a7ff3036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1136f6dd-7c48-4f33-aa6a-8b8e7584cec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3576</TotalTime>
  <Words>708</Words>
  <Application>Microsoft Macintosh PowerPoint</Application>
  <PresentationFormat>Grand écran</PresentationFormat>
  <Paragraphs>64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Corbel</vt:lpstr>
      <vt:lpstr>Courier New</vt:lpstr>
      <vt:lpstr>Verdana</vt:lpstr>
      <vt:lpstr>Wingdings</vt:lpstr>
      <vt:lpstr>Global theme</vt:lpstr>
      <vt:lpstr>Let's practice - 7</vt:lpstr>
      <vt:lpstr>Let's practice - 8</vt:lpstr>
      <vt:lpstr>Let's practice - 9</vt:lpstr>
      <vt:lpstr>Let's practice - 10</vt:lpstr>
      <vt:lpstr>Let's practice - 11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 Swiss Institute of Bioinformatics</dc:title>
  <dc:creator>O365</dc:creator>
  <cp:lastModifiedBy>Josefina Lascano Maillard</cp:lastModifiedBy>
  <cp:revision>23</cp:revision>
  <dcterms:created xsi:type="dcterms:W3CDTF">2023-02-23T13:26:01Z</dcterms:created>
  <dcterms:modified xsi:type="dcterms:W3CDTF">2026-10-01T14:05:37Z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0x010100D1884769A1460844A8276E9E33D9EC1F</vt:lpwstr>
  </property>
  <property fmtid="{D5CDD505-2E9C-101B-9397-08002B2CF9AE}" pid="3" name="MediaServiceImageTags">
    <vt:lpwstr/>
  </property>
</Properties>
</file>