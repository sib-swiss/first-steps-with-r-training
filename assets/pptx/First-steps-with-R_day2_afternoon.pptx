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3"/>
  </p:notesMasterIdLst>
  <p:handoutMasterIdLst>
    <p:handoutMasterId r:id="rId44"/>
  </p:handoutMasterIdLst>
  <p:sldIdLst>
    <p:sldId id="2199" r:id="rId5"/>
    <p:sldId id="2201" r:id="rId6"/>
    <p:sldId id="2243" r:id="rId7"/>
    <p:sldId id="2202" r:id="rId8"/>
    <p:sldId id="2244" r:id="rId9"/>
    <p:sldId id="2203" r:id="rId10"/>
    <p:sldId id="2204" r:id="rId11"/>
    <p:sldId id="2206" r:id="rId12"/>
    <p:sldId id="2207" r:id="rId13"/>
    <p:sldId id="2208" r:id="rId14"/>
    <p:sldId id="2245" r:id="rId15"/>
    <p:sldId id="2209" r:id="rId16"/>
    <p:sldId id="2210" r:id="rId17"/>
    <p:sldId id="2211" r:id="rId18"/>
    <p:sldId id="2212" r:id="rId19"/>
    <p:sldId id="2213" r:id="rId20"/>
    <p:sldId id="2214" r:id="rId21"/>
    <p:sldId id="2217" r:id="rId22"/>
    <p:sldId id="2218" r:id="rId23"/>
    <p:sldId id="2219" r:id="rId24"/>
    <p:sldId id="2220" r:id="rId25"/>
    <p:sldId id="2221" r:id="rId26"/>
    <p:sldId id="2222" r:id="rId27"/>
    <p:sldId id="2223" r:id="rId28"/>
    <p:sldId id="2224" r:id="rId29"/>
    <p:sldId id="2225" r:id="rId30"/>
    <p:sldId id="2226" r:id="rId31"/>
    <p:sldId id="2227" r:id="rId32"/>
    <p:sldId id="2228" r:id="rId33"/>
    <p:sldId id="2229" r:id="rId34"/>
    <p:sldId id="2233" r:id="rId35"/>
    <p:sldId id="2234" r:id="rId36"/>
    <p:sldId id="2231" r:id="rId37"/>
    <p:sldId id="2235" r:id="rId38"/>
    <p:sldId id="2240" r:id="rId39"/>
    <p:sldId id="2241" r:id="rId40"/>
    <p:sldId id="2242" r:id="rId41"/>
    <p:sldId id="2178" r:id="rId4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BC7DA7-61C6-FE01-D5D8-A892A102519B}" name="Marie Dangles" initials="MD" userId="S::Marie.Dangles@sib.swiss::7b63edcb-ccf4-4a75-88d0-c14d201c4d6b" providerId="AD"/>
  <p188:author id="{CE5D80B9-1F14-B145-DF47-4868472354CC}" name="Marie Dangles" initials="MD" userId="S::marie.dangles@sib.swiss::7b63edcb-ccf4-4a75-88d0-c14d201c4d6b" providerId="AD"/>
  <p188:author id="{808096D5-8C93-63BC-E4B0-42D5AEA0682D}" name="Maia Berman" initials="MB" userId="S::maia.berman@sib.swiss::1345ac14-4068-45c8-a090-8c43709fd17f" providerId="AD"/>
  <p188:author id="{6B1FADD7-C699-59FF-534C-F7CDC6EE7682}" name="Maia Berman" initials="MB" userId="S::Maia.Berman@sib.swiss::1345ac14-4068-45c8-a090-8c43709fd17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91A348-1CC7-FE71-2474-08304FB8A637}" v="616" dt="2025-07-16T14:57:12.783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08"/>
    <p:restoredTop sz="96328"/>
  </p:normalViewPr>
  <p:slideViewPr>
    <p:cSldViewPr snapToGrid="0">
      <p:cViewPr varScale="1">
        <p:scale>
          <a:sx n="209" d="100"/>
          <a:sy n="209" d="100"/>
        </p:scale>
        <p:origin x="21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F87670A-975B-8A3E-CA1E-1C95318AB1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>
              <a:latin typeface="Corbel" panose="020B0503020204020204" pitchFamily="34" charset="0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AF402A-CBD2-E8BA-AAA8-34E54EAE21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29005-80C1-A548-84CE-9D8F7C27BC60}" type="datetimeFigureOut">
              <a:rPr lang="fr-FR" smtClean="0">
                <a:latin typeface="Corbel" panose="020B0503020204020204" pitchFamily="34" charset="0"/>
              </a:rPr>
              <a:t>04/10/2026</a:t>
            </a:fld>
            <a:endParaRPr lang="fr-FR">
              <a:latin typeface="Corbel" panose="020B0503020204020204" pitchFamily="34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918FD6-F4AE-D982-B32D-7F319AFAF6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>
              <a:latin typeface="Corbel" panose="020B0503020204020204" pitchFamily="34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C636B7-0054-2915-21E4-2E5FE70944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0CD75-09BC-0C48-AAA4-476A4268C9A9}" type="slidenum">
              <a:rPr lang="fr-FR" smtClean="0">
                <a:latin typeface="Corbel" panose="020B0503020204020204" pitchFamily="34" charset="0"/>
              </a:rPr>
              <a:t>‹#›</a:t>
            </a:fld>
            <a:endParaRPr lang="fr-FR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392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252EF52D-CFFC-FA47-BBAF-74B3994A70AD}" type="datetimeFigureOut">
              <a:rPr lang="fr-FR" smtClean="0"/>
              <a:pPr/>
              <a:t>04/10/2026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170F0992-BC5E-544C-9AC1-207704CC8F4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0885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back. This afternoon we use what you learned about R to answer real questions with data.</a:t>
            </a:r>
          </a:p>
          <a:p>
            <a:r>
              <a:t>Plan: (1) the idea of a statistical test and the p-value, (2) the t-test to compare two groups, (3) correlation, (4) a first linear regression with lm().</a:t>
            </a:r>
          </a:p>
          <a:p>
            <a:r>
              <a:t>Reassure the group: no maths background needed. The goal is to know which function to use, how to read its output, and how to say the result in a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with the intuition: if you weigh 10 KO and 10 WT mice, the two averages will never be exactly equal, even if the KO has no effect at all. Biological variability alone creates differences.</a:t>
            </a:r>
          </a:p>
          <a:p>
            <a:r>
              <a:t>A test asks: is the difference we see bigger than what chance alone would usually produce?</a:t>
            </a:r>
          </a:p>
          <a:p>
            <a:r>
              <a:t>H0 is the "boring" hypothesis: nothing is going on. H1 is what the researcher usually hopes to show.</a:t>
            </a:r>
          </a:p>
          <a:p>
            <a:r>
              <a:t>Key point: we never prove H1 directly. We look at whether the data are surprising enough to reject H0.</a:t>
            </a:r>
          </a:p>
          <a:p>
            <a:r>
              <a:t>Possible question: "Why not test H1 directly?" Answer: H0 gives a precise situation (difference = 0) that we can compute probabilities for; H1 ("some difference")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most important concept of the afternoon, take your time.</a:t>
            </a:r>
          </a:p>
          <a:p>
            <a:r>
              <a:t>Analogy: a courtroom. H0 = "the defendant is innocent". The p-value measures how surprising the evidence would be if they were innocent. Very surprising evidence: we convict (reject H0). Weak evidence: we acquit, but that does not prove innocence.</a:t>
            </a:r>
          </a:p>
          <a:p>
            <a:r>
              <a:t>0.05 is a convention, not a law of nature. Choose it before looking at the data.</a:t>
            </a:r>
          </a:p>
          <a:p>
            <a:r>
              <a:t>Common misconceptions to address:</a:t>
            </a:r>
          </a:p>
          <a:p>
            <a:r>
              <a:t>- the p-value is NOT the probability that H0 is true;</a:t>
            </a:r>
          </a:p>
          <a:p>
            <a:r>
              <a:t>- p = 0.06 is not "almost significant proof of nothing", it is just weaker evidence;</a:t>
            </a:r>
          </a:p>
          <a:p>
            <a:r>
              <a:t>- a tiny p-value with a huge sample can come from a biologically irrelevant difference. Always look at the size of the effect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t-test is the workhorse for comparing two group means. Ask the audience for an example from their own work.</a:t>
            </a:r>
          </a:p>
          <a:p>
            <a:r>
              <a:t>Independence: each value comes from a different individual. If the same mouse is measured twice, that is paired data (later in the session).</a:t>
            </a:r>
          </a:p>
          <a:p>
            <a:r>
              <a:t>Normality: we only need it roughly, and we will check it with plots.</a:t>
            </a:r>
          </a:p>
          <a:p>
            <a:r>
              <a:t>Welch: older textbooks mention an "equal variance" assumption. R's default (Welch's t-test) does not need it, so they don't have to worry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formula needed, only the intuition: signal vs noise.</a:t>
            </a:r>
          </a:p>
          <a:p>
            <a:r>
              <a:t>Left panel: the means are far apart and each group is tight, so it is easy to believe the groups differ: small p-value.</a:t>
            </a:r>
          </a:p>
          <a:p>
            <a:r>
              <a:t>Right panel: the means are closer and the points overlap a lot, so the difference could easily be chance: large p-value.</a:t>
            </a:r>
          </a:p>
          <a:p>
            <a:r>
              <a:t>Sample size: with more points, the mean of each group is estimated more precisely, so even a modest difference can become significant.</a:t>
            </a:r>
          </a:p>
          <a:p>
            <a:r>
              <a:t>The figure is illustrative; the p-values are not computed on these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running example: iris, a dataset built into R (measurements in cm). We keep only two species and compare petal length.</a:t>
            </a:r>
          </a:p>
          <a:p>
            <a:r>
              <a:t>Walk through the code slowly:</a:t>
            </a:r>
          </a:p>
          <a:p>
            <a:r>
              <a:t>- %in% keeps the rows whose species is in the list;</a:t>
            </a:r>
          </a:p>
          <a:p>
            <a:r>
              <a:t>- factor() is re-applied to drop the now-empty "setosa" level (otherwise plots and tests can show an empty group);</a:t>
            </a:r>
          </a:p>
          <a:p>
            <a:r>
              <a:t>- tapply() computes the mean per species: 4.26 vs 5.55 cm.</a:t>
            </a:r>
          </a:p>
          <a:p>
            <a:r>
              <a:t>The question for the next slides: is this 1.3 cm difference real or could it be chance?</a:t>
            </a:r>
          </a:p>
          <a:p>
            <a:r>
              <a:t>We also store each group in its own vector, which we need for the normality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Before testing, look at the data.</a:t>
            </a:r>
          </a:p>
          <a:p>
            <a:r>
              <a:t>Histogram: we hope for a roughly symmetric, single-peaked shape.</a:t>
            </a:r>
          </a:p>
          <a:p>
            <a:r>
              <a:t>Q-Q plot: if the data are normal, the points lie close to the straight line. Small wiggles at the ends are normal.</a:t>
            </a:r>
          </a:p>
          <a:p>
            <a:r>
              <a:t>Here both species look reasonably normal.</a:t>
            </a:r>
          </a:p>
          <a:p>
            <a:r>
              <a:t>par(mfrow=c(2,2)) splits the plot window into 2 x 2 panels; dev.off() resets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Shapiro-Wilk test is a quick numerical check. Careful with the logic: here H0 is "normal", so a LARGE p-value is what we hope for.</a:t>
            </a:r>
          </a:p>
          <a:p>
            <a:r>
              <a:t>Both p-values are above 0.05: no evidence against normality.</a:t>
            </a:r>
          </a:p>
          <a:p>
            <a:r>
              <a:t>Caveats to mention briefly: with very few points this test almost never rejects, and with thousands of points it rejects tiny, unimportant deviations. That is why the plots matter more than the test.</a:t>
            </a:r>
          </a:p>
          <a:p>
            <a:r>
              <a:t>The t-test is robust: roughly normal is good enough, especially with 20+ observations per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Always plot before you test. The boxplot shows the median, the quartiles and the spread; adding the points shows every observation.</a:t>
            </a:r>
          </a:p>
          <a:p>
            <a:r>
              <a:t>The formula Petal.Length ~ Species reads "petal length as a function of species". We will reuse this ~ notation in t.test() and in lm().</a:t>
            </a:r>
          </a:p>
          <a:p>
            <a:r>
              <a:t>Ask: from the plot alone, do you expect a significant difference? (Yes, the boxes barely overlap.)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equivalent ways to call t.test(): with two vectors, or with a formula and a data frame. The formula version is usually more convenient with data frames.</a:t>
            </a:r>
          </a:p>
          <a:p>
            <a:r>
              <a:t>Don't explain the whole output here; the next slide goes through it line by line.</a:t>
            </a:r>
          </a:p>
          <a:p>
            <a:r>
              <a:t>Notice the title "Welch Two Sample t-test": this is R's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 through the output line by line.</a:t>
            </a:r>
          </a:p>
          <a:p>
            <a:r>
              <a:t>t: the difference expressed in "units of noise". Negative only because versicolor comes first (alphabetical order of the factor levels).</a:t>
            </a:r>
          </a:p>
          <a:p>
            <a:r>
              <a:t>df: they can ignore it; it is related to sample size.</a:t>
            </a:r>
          </a:p>
          <a:p>
            <a:r>
              <a:t>p-value &lt; 2.2e-16: this is not exactly zero, it is simply the smallest number R prints. Report it as p &lt; 0.001.</a:t>
            </a:r>
          </a:p>
          <a:p>
            <a:r>
              <a:t>Confidence interval: the true difference is plausibly between -1.50 and -1.09 cm. Because 0 is not in the interval, it is consistent with p &lt; 0.05. This is often more informative than the p-value because it shows the size of the effect.</a:t>
            </a:r>
          </a:p>
          <a:p>
            <a:r>
              <a:t>End with the reporting sentence: always state the direction, the size of the difference, the test and the p-value.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Programming tip rather than statistics: the result of a test is a list, so you can store it and extract parts of it.</a:t>
            </a:r>
          </a:p>
          <a:p>
            <a:r>
              <a:t>This is useful to put p-values in a table, or to run many tests in a loop later.</a:t>
            </a:r>
          </a:p>
          <a:p>
            <a:r>
              <a:t>test_res$p.value and test_res[["p.value"]] give the same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Paired designs are very common in life sciences. Ask for examples from the audience.</a:t>
            </a:r>
          </a:p>
          <a:p>
            <a:r>
              <a:t>Why it matters: people differ a lot from each other, but each person is compared to themselves. Removing the between-individual variability makes the test much more powerful.</a:t>
            </a:r>
          </a:p>
          <a:p>
            <a:r>
              <a:t>Using an unpaired t-test on paired data is a frequent mistake; it usually gives a larger p-value than it should.</a:t>
            </a:r>
          </a:p>
          <a:p>
            <a:r>
              <a:t>The paired t-test is just a one-sample t-test on the differences: is their mean different from 0?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sleep dataset (built into R): extra hours of sleep for 10 patients, each of whom took both drugs (group 1 and group 2). ID identifies the patient.</a:t>
            </a:r>
          </a:p>
          <a:p>
            <a:r>
              <a:t>In the plot, each line is one patient. Most lines go up: almost every patient slept more with drug 2.</a:t>
            </a:r>
          </a:p>
          <a:p>
            <a:r>
              <a:t>This plot shows the pairing, which a simple boxplot would hide.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the paired test, the assumption is on the differences, not on each group separately.</a:t>
            </a:r>
          </a:p>
          <a:p>
            <a:r>
              <a:t>We compute one difference per patient and check its histogram and Q-Q plot, exactly as before.</a:t>
            </a:r>
          </a:p>
          <a:p>
            <a:r>
              <a:t>With 10 points it is hard to judge; we just look for strong skewness or extreme outliers. Nothing alarming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paired=TRUE is the only change.</a:t>
            </a:r>
          </a:p>
          <a:p>
            <a:r>
              <a:t>Important: the values must be in the same order in both vectors (patient 1 in position 1 in both, etc.). In the sleep data, the rows are already sorted by ID.</a:t>
            </a:r>
          </a:p>
          <a:p>
            <a:r>
              <a:t>Recent versions of R no longer accept the formula notation with paired=TRUE, hence the comment.</a:t>
            </a:r>
          </a:p>
          <a:p>
            <a:r>
              <a:t>Reading: mean difference = -1.58 h (group 1 minus group 2), so drug 2 gives on average about 1.6 h more sleep. p = 0.0028: significant at 0.05. The confidence interval (-2.46 to -0.70) does not contain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Summary slide: the decision is mainly about the design (independent vs paired groups).</a:t>
            </a:r>
          </a:p>
          <a:p>
            <a:r>
              <a:t>About non-normal data: tell them alternatives exist (non-parametric, rank-based tests) so they know the word if they read it in a paper, but we deliberately don't cover them.</a:t>
            </a:r>
          </a:p>
          <a:p>
            <a:r>
              <a:t>A log-transformation is also often used for skewed biological data (e.g. concentrations, expression values) if someone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Exercise, about 20-25 minutes.</a:t>
            </a:r>
          </a:p>
          <a:p>
            <a:r>
              <a:t>Remind them of the steps: plots for normality per group, boxplot by group, then t.test() with the formula notation.</a:t>
            </a:r>
          </a:p>
          <a:p>
            <a:r>
              <a:t>Diet: same procedure, same functions, just a different grouping variable.</a:t>
            </a:r>
          </a:p>
          <a:p>
            <a:r>
              <a:t>Extra task: var.test() compares the variances. The option to look for in ?t.test is var.equal=TRUE. Point out that the default (Welch) is usually fine anyway.</a:t>
            </a:r>
          </a:p>
          <a:p>
            <a:r>
              <a:t>Common problems: forgetting data=, misspelled column names, a grouping variable with more than two levels (t.test() needs exactly two groups).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Change of topic: two continuous variables measured on the same individuals.</a:t>
            </a:r>
          </a:p>
          <a:p>
            <a:r>
              <a:t>The coefficient r goes from -1 to +1; the sign gives the direction, the absolute value the strength.</a:t>
            </a:r>
          </a:p>
          <a:p>
            <a:r>
              <a:t>Pearson measures linear relationships. Spearman uses ranks: more robust to outliers and works for any monotonic relationship.</a:t>
            </a:r>
          </a:p>
          <a:p>
            <a:r>
              <a:t>cor() only gives the number; cor.test() also gives a p-value and a confidence interval.</a:t>
            </a:r>
          </a:p>
          <a:p>
            <a:r>
              <a:t>Correlation does not mean causation: e.g. ice-cream sales and drowning both increase in summer.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what different values of r look like. Ask the audience to guess r for each panel before revealing the labels.</a:t>
            </a:r>
          </a:p>
          <a:p>
            <a:r>
              <a:t>Even a "medium" correlation leaves a lot of scatter around the trend.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classic Wikipedia figure.</a:t>
            </a:r>
          </a:p>
          <a:p>
            <a:r>
              <a:t>Top row: r reflects how tightly the points follow a line, and its direction.</a:t>
            </a:r>
          </a:p>
          <a:p>
            <a:r>
              <a:t>Middle row: all have r = 1 or -1 whatever the slope (except the flat line, where r is undefined). So r does not tell you how steep the relationship is; that is what regression will do.</a:t>
            </a:r>
          </a:p>
          <a:p>
            <a:r>
              <a:t>Bottom row: strong non-linear patterns can have r = 0. Lesson: always plot your data before computing a correlation.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Basic scatter plot with plot(x, y). Ask: what correlation do you expect? (Strong, positive.)</a:t>
            </a:r>
          </a:p>
          <a:p>
            <a:r>
              <a:t>Note the cluster at the bottom left: that is the setosa species. Groups in the data can create or inflate correlations; worth mentioning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add a trend line with abline(lm(...)). This is a preview of the linear regression we will see right after.</a:t>
            </a:r>
          </a:p>
          <a:p>
            <a:r>
              <a:t>Note the formula order: y ~ x, so Petal.Width ~ Petal.Length.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 = 0.96: very strong positive linear correlation.</a:t>
            </a:r>
          </a:p>
          <a:p>
            <a:r>
              <a:t>cor.test() output: focus on the p-value (here tiny, so the correlation is significantly different from 0), the confidence interval for r, and the estimate.</a:t>
            </a:r>
          </a:p>
          <a:p>
            <a:r>
              <a:t>Point out the similarity with the t.test() output: same structure, same way to read it.</a:t>
            </a:r>
          </a:p>
          <a:p>
            <a:r>
              <a:t>A significant correlation is not necessarily a strong one: with many points, even r = 0.2 can be significant.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Correlation answers "how strongly are X and Y related?". Regression answers "how much does Y change when X changes?" and lets us predict Y from X.</a:t>
            </a:r>
          </a:p>
          <a:p>
            <a:r>
              <a:t>In regression the roles are not symmetric: one outcome, one (or more) explanatory variables.</a:t>
            </a:r>
          </a:p>
          <a:p>
            <a:r>
              <a:t>The formula notation is the same ~ as in t.test() and boxplot(): outcome on the left, explanatory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Only two numbers describe a line: the intercept (where the line crosses x = 0) and the slope (how steep it is).</a:t>
            </a:r>
          </a:p>
          <a:p>
            <a:r>
              <a:t>R chooses the line that makes the residuals as small as possible overall (least squares). No need to go further than that.</a:t>
            </a:r>
          </a:p>
          <a:p>
            <a:r>
              <a:t>The assumptions are close to those of the t-test: independence and roughly normal residuals, plus a straight-line relationship and a constant spread. We check them with plots a few slides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CLASS dataset: 19 school children, with gender, age (years), height (cm) and weight (kg).</a:t>
            </a:r>
          </a:p>
          <a:p>
            <a:r>
              <a:t>read.csv() then as.factor() so that Gender is treated as a category.</a:t>
            </a:r>
          </a:p>
          <a:p>
            <a:r>
              <a:t>summary() is always a good first look: ranges, medians, and the number of F and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pairs() makes all scatter plots between the selected columns at once. Colours show gender.</a:t>
            </a:r>
          </a:p>
          <a:p>
            <a:r>
              <a:t>The circled panel is height vs age: clearly increasing, roughly linear. That is the relationship we model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general pattern for modelling in R: fit the model, store it in an object, then apply functions to that object.</a:t>
            </a:r>
          </a:p>
          <a:p>
            <a:r>
              <a:t>Same idea as storing the t.test() result earlier.</a:t>
            </a:r>
          </a:p>
          <a:p>
            <a:r>
              <a:t>Only summary() and plot() really matter for today; coef() and residuals() are convenient extras.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Printing the model only shows the two coefficients.</a:t>
            </a:r>
          </a:p>
          <a:p>
            <a:r>
              <a:t>Write the equation on the board: Height = 64.1 + 7.1 x Age.</a:t>
            </a:r>
          </a:p>
          <a:p>
            <a:r>
              <a:t>Ask the audience to predict the height of a 12-year-old: 64.1 + 7.1 x 12 = about 149 cm. Compare with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abline() can take the model object directly and draws the fitted line.</a:t>
            </a:r>
          </a:p>
          <a:p>
            <a:r>
              <a:t>Slope: on average, children are about 7 cm taller per extra year in this age range.</a:t>
            </a:r>
          </a:p>
          <a:p>
            <a:r>
              <a:t>Intercept: mathematically the height at age 0, but we have no data near 0, so don't interpret it. Never extrapolate far outside the range of your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Residual = observed value minus predicted value. Show the two blue arrows: one point above the line (positive residual), one below (negative).</a:t>
            </a:r>
          </a:p>
          <a:p>
            <a:r>
              <a:t>A model with smaller residuals fits the data better.</a:t>
            </a:r>
          </a:p>
          <a:p>
            <a:r>
              <a:t>Residuals are what we inspect to check the assumptions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look at only two plots to keep it simple (plot(model) without which= gives four; the other two are for more advanced use).</a:t>
            </a:r>
          </a:p>
          <a:p>
            <a:r>
              <a:t>Residuals vs Fitted: the red line should stay roughly flat around 0, and the points should not form a curve or a funnel. Here: no strong pattern, OK.</a:t>
            </a:r>
          </a:p>
          <a:p>
            <a:r>
              <a:t>Normal Q-Q: points roughly on the dashed line. Here: OK. The numbered points (7, 8, 1) are just the most extreme observations, not necessarily errors.</a:t>
            </a:r>
          </a:p>
          <a:p>
            <a:r>
              <a:t>With 19 points, these plots will never look perfect. We only worry about strong, obvious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Don't try to explain every number. Focus on the three highlighted elements.</a:t>
            </a:r>
          </a:p>
          <a:p>
            <a:r>
              <a:t>Age Estimate (7.079): the slope, same as before.</a:t>
            </a:r>
          </a:p>
          <a:p>
            <a:r>
              <a:t>Age Pr(&gt;|t|): tests H0 "slope = 0", i.e. no relationship between age and height. Very small, so we reject it.</a:t>
            </a:r>
          </a:p>
          <a:p>
            <a:r>
              <a:t>R-squared 0.66: 66% of the differences in height between children are explained by age; the remaining 34% is due to other factors (genetics, gender, ...).</a:t>
            </a:r>
          </a:p>
          <a:p>
            <a:r>
              <a:t>The stars are just a visual shortcut for the p-value thresholds.</a:t>
            </a:r>
          </a:p>
          <a:p>
            <a:r>
              <a:t>Reporting sentence: "Height increased by 7.1 cm per year of age (95% CI available with confint(), p &lt; 0.001, R-squared = 0.66)."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Exercise, about 20-25 minutes. Pima.tr: 200 women from a diabetes study; glu = plasma glucose, bp = diastolic blood pressure, bmi = body mass index.</a:t>
            </a:r>
          </a:p>
          <a:p>
            <a:r>
              <a:t>Steps: library(MASS); data(Pima.tr); ?Pima.tr; model &lt;- lm(glu ~ bp, data=Pima.tr); summary(model); plot(glu ~ bp, data=Pima.tr); abline(model); plot(model, which=1:2).</a:t>
            </a:r>
          </a:p>
          <a:p>
            <a:r>
              <a:t>Remind them: the outcome (glucose) is on the left of the ~.</a:t>
            </a:r>
          </a:p>
          <a:p>
            <a:r>
              <a:t>For the extra task, compare the R-squared values of glu ~ bp and glu ~ bmi.</a:t>
            </a:r>
          </a:p>
          <a:p>
            <a:r>
              <a:t>Debrief: a significant p-value with a low R-squared is common in biology: a real but weak association.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to these resources for further learning, especially if they want to go further on topics we skipped (non-parametric tests, multiple regression).</a:t>
            </a:r>
          </a:p>
          <a:p>
            <a:r>
              <a:t>Encourage them to practise on their own data soon after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Credits to the authors of the original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participants, remind them of the feedback form if there is one, and of the contact address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>
            <a:extLst>
              <a:ext uri="{FF2B5EF4-FFF2-40B4-BE49-F238E27FC236}">
                <a16:creationId xmlns:a16="http://schemas.microsoft.com/office/drawing/2014/main" id="{D6A4036E-D85D-A184-409E-2273352F1C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477"/>
          <a:stretch/>
        </p:blipFill>
        <p:spPr>
          <a:xfrm rot="5400000">
            <a:off x="6516289" y="666647"/>
            <a:ext cx="6323119" cy="502830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84A197B-42EE-7E36-CA2A-208BE5C8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812" y="3053222"/>
            <a:ext cx="6817301" cy="130948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400" b="0" i="0">
                <a:latin typeface="+mj-lt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3413D0-F0C5-B0D1-C1C4-682D69D9BB9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10813" y="2483568"/>
            <a:ext cx="6817300" cy="4262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tx1"/>
                </a:solidFill>
                <a:latin typeface="+mn-lt"/>
                <a:cs typeface="Gill Sans" panose="020B0502020104020203" pitchFamily="34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SUB-TITLE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04F84F-F1E5-7B79-33D4-5383FF6BE8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3913" y="520351"/>
            <a:ext cx="2727302" cy="1311202"/>
          </a:xfrm>
          <a:prstGeom prst="rect">
            <a:avLst/>
          </a:prstGeom>
        </p:spPr>
      </p:pic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73E26040-493B-53F9-2620-DDFB0901D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163" y="5355033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GB" noProof="0" dirty="0"/>
              <a:t>Date and location</a:t>
            </a:r>
          </a:p>
        </p:txBody>
      </p:sp>
      <p:pic>
        <p:nvPicPr>
          <p:cNvPr id="7" name="Image 8">
            <a:extLst>
              <a:ext uri="{FF2B5EF4-FFF2-40B4-BE49-F238E27FC236}">
                <a16:creationId xmlns:a16="http://schemas.microsoft.com/office/drawing/2014/main" id="{EC5E4898-5706-F441-9C38-D0C7D97D52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472"/>
          <a:stretch/>
        </p:blipFill>
        <p:spPr>
          <a:xfrm rot="10800000" flipV="1">
            <a:off x="5217759" y="1525932"/>
            <a:ext cx="4193535" cy="1492608"/>
          </a:xfrm>
          <a:prstGeom prst="rect">
            <a:avLst/>
          </a:prstGeom>
        </p:spPr>
      </p:pic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53090551-4FA3-8BD4-932A-287498CAB2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812" y="5066270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 dirty="0"/>
              <a:t>Author, Group name </a:t>
            </a:r>
          </a:p>
        </p:txBody>
      </p:sp>
      <p:pic>
        <p:nvPicPr>
          <p:cNvPr id="5" name="Picture 4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1C19E4D0-3074-51FB-06DC-4C49BD099F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2" y="6163222"/>
            <a:ext cx="1054917" cy="50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55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3413D0-F0C5-B0D1-C1C4-682D69D9BB9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10813" y="2481027"/>
            <a:ext cx="5685187" cy="4262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tx1"/>
                </a:solidFill>
                <a:latin typeface="Corbel" panose="020B0503020204020204" pitchFamily="34" charset="0"/>
                <a:cs typeface="Gill Sans" panose="020B0502020104020203" pitchFamily="34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SUB-TITLE</a:t>
            </a: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F880213D-89B1-3800-87F3-0045D35E0A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15213" y="0"/>
            <a:ext cx="4776787" cy="68580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04F84F-F1E5-7B79-33D4-5383FF6BE8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913" y="520351"/>
            <a:ext cx="2727302" cy="1311202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6174D3E9-3CB8-1293-F324-12517D2E2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813" y="3052800"/>
            <a:ext cx="6817301" cy="1309483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GB" sz="4400" b="0" i="0" kern="1200" noProof="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Gill Sans" panose="020B0502020104020203" pitchFamily="34" charset="-79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14BD102C-AA50-9B30-F804-3089D180E7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164" y="5351168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GB" noProof="0" dirty="0"/>
              <a:t>Date and location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F42A1719-D5FD-C104-F48D-FEF55559DE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813" y="5062405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 dirty="0"/>
              <a:t>Author, Group name </a:t>
            </a:r>
          </a:p>
        </p:txBody>
      </p:sp>
      <p:pic>
        <p:nvPicPr>
          <p:cNvPr id="11" name="Picture 10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6DAA9095-74D9-EEBF-5F10-15053C77C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2" y="6163222"/>
            <a:ext cx="1054917" cy="50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37F542CB-EF84-68BA-9A50-B6575183E8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390113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1DB113ED-E4E6-4F61-AFF2-2D6137F50F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272004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2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4A197B-42EE-7E36-CA2A-208BE5C8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8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9A746E69-DEDB-F5B5-CAF6-095827C42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154805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DC2582AC-69EE-6A66-007B-371C19BB57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155676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A9DB7C-CCD5-2762-99F6-9387BFF5EB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BFD76F-4B2D-8AFE-0E41-04FBC8DBB5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819275"/>
            <a:ext cx="10515600" cy="4351338"/>
          </a:xfrm>
        </p:spPr>
        <p:txBody>
          <a:bodyPr/>
          <a:lstStyle>
            <a:lvl2pPr marL="358775" indent="-358775">
              <a:buFontTx/>
              <a:buBlip>
                <a:blip r:embed="rId3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669925" indent="-304800">
              <a:buFontTx/>
              <a:buBlip>
                <a:blip r:embed="rId3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3405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4F1E9F87-214B-A780-CA56-3B0F35E5CE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1" y="1816100"/>
            <a:ext cx="5181600" cy="435133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2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1D74064-9855-E307-BE4C-FF1AC6C9FA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2199" y="1816100"/>
            <a:ext cx="5181600" cy="435133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2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Third level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4096A7F-17E3-1944-DBB4-18263DE8D95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934A60-C3FD-F1F7-C71C-505AC974FF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2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with em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B310AEF-E302-7CA7-22FA-C063913AC3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10" name="Rectangle : coins arrondis 1">
            <a:extLst>
              <a:ext uri="{FF2B5EF4-FFF2-40B4-BE49-F238E27FC236}">
                <a16:creationId xmlns:a16="http://schemas.microsoft.com/office/drawing/2014/main" id="{C518B50C-3518-E963-7EB2-CF27A10646B9}"/>
              </a:ext>
            </a:extLst>
          </p:cNvPr>
          <p:cNvSpPr/>
          <p:nvPr userDrawn="1"/>
        </p:nvSpPr>
        <p:spPr>
          <a:xfrm>
            <a:off x="838200" y="1101600"/>
            <a:ext cx="5043534" cy="2417275"/>
          </a:xfrm>
          <a:prstGeom prst="roundRect">
            <a:avLst>
              <a:gd name="adj" fmla="val 544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1" name="Rectangle : coins arrondis 2">
            <a:extLst>
              <a:ext uri="{FF2B5EF4-FFF2-40B4-BE49-F238E27FC236}">
                <a16:creationId xmlns:a16="http://schemas.microsoft.com/office/drawing/2014/main" id="{AF7FFA4B-45D7-B7FA-6B0D-442AB264A084}"/>
              </a:ext>
            </a:extLst>
          </p:cNvPr>
          <p:cNvSpPr/>
          <p:nvPr userDrawn="1"/>
        </p:nvSpPr>
        <p:spPr>
          <a:xfrm>
            <a:off x="6310265" y="1101600"/>
            <a:ext cx="5043535" cy="2417275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Rectangle : coins arrondis 6">
            <a:extLst>
              <a:ext uri="{FF2B5EF4-FFF2-40B4-BE49-F238E27FC236}">
                <a16:creationId xmlns:a16="http://schemas.microsoft.com/office/drawing/2014/main" id="{DF00A995-522B-4021-102B-BCBD0FD9DCE3}"/>
              </a:ext>
            </a:extLst>
          </p:cNvPr>
          <p:cNvSpPr/>
          <p:nvPr userDrawn="1"/>
        </p:nvSpPr>
        <p:spPr>
          <a:xfrm>
            <a:off x="838200" y="3839175"/>
            <a:ext cx="5043534" cy="2417275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13" name="Rectangle : coins arrondis 7">
            <a:extLst>
              <a:ext uri="{FF2B5EF4-FFF2-40B4-BE49-F238E27FC236}">
                <a16:creationId xmlns:a16="http://schemas.microsoft.com/office/drawing/2014/main" id="{7816F90A-A539-B087-965E-1578FF34D6E7}"/>
              </a:ext>
            </a:extLst>
          </p:cNvPr>
          <p:cNvSpPr/>
          <p:nvPr userDrawn="1"/>
        </p:nvSpPr>
        <p:spPr>
          <a:xfrm>
            <a:off x="6310265" y="3839175"/>
            <a:ext cx="5043535" cy="2417275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58C04-A85E-141F-D30C-22896D918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F415C-547B-26E1-70E8-BB6C2005A4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20786" y="1206131"/>
            <a:ext cx="4678363" cy="2208212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CA972A6-C18B-E653-4933-08A90C461B6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92851" y="1206131"/>
            <a:ext cx="4678363" cy="2208212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EE2428-489D-DF92-9019-A2F54EF7ED2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020786" y="3943706"/>
            <a:ext cx="4678363" cy="2208212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635DDFA-F6B7-A5DC-0F14-CB6A0C903E2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92851" y="3943706"/>
            <a:ext cx="4678363" cy="2208212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8951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B9D6A197-143B-AEFD-829C-A370B9E48C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2831686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77F1758D-FA39-78AD-05BA-1F0701430B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967957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8AD1FA9F-FAA3-CC60-961C-DDECEC3D8E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342751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7EB932D8-947A-D8D7-D24E-FCAC4FA07B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777976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40B52BE3-5107-0A54-7B28-79B3E81F8D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185301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9BFEC0-5DA3-56C2-248F-D500D2FE83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896185D-C189-43C8-56F0-DC714250B9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12190F2-119D-1880-693A-C35BB81F9E5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42891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9BFEC0-5DA3-56C2-248F-D500D2FE83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29F137C-E460-9399-CD33-4A2C4360A8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3BA3B39-EAE1-433A-6A33-289E6A2626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868739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y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F0CCA9F-64B1-86D3-B610-B2B226EAA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8" name="Image 5">
            <a:extLst>
              <a:ext uri="{FF2B5EF4-FFF2-40B4-BE49-F238E27FC236}">
                <a16:creationId xmlns:a16="http://schemas.microsoft.com/office/drawing/2014/main" id="{362E6140-FFAE-26F1-DE48-719AB018F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E097653-5197-A0E7-0D0F-5503D8FF9E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53981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364D93-5897-7C43-6A16-6A175307F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A510E9E1-90A9-831D-C2F6-C212AB9CE9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E9BDC3A-E9DB-753C-35A5-4FAB18E7EB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219306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EA09CA-36EE-F3C0-0BBA-9FB96C243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88ACDC-796B-3D38-6C7C-66BA405ADC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91B84487-9C16-DBA9-4F45-D4B5DB2A76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674380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5D891C-6969-239C-3B65-2BC05D1B9A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C751B8-43CB-171F-4934-1C39A27CC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2477279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D55CDB6B-0D3D-B6B1-5274-D76EBD678D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0BF0361-23BE-604D-00BB-68E4E829AD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33051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131A041-7A2D-5DF0-312F-374FCDE3D8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08B731-9BD9-0580-0F24-09E82AA023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968145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DB7CC7CD-36EB-30C0-7B63-92EB9A5C87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E255D-7155-3DC1-36A0-05461143B5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437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7" name="Image 5">
            <a:extLst>
              <a:ext uri="{FF2B5EF4-FFF2-40B4-BE49-F238E27FC236}">
                <a16:creationId xmlns:a16="http://schemas.microsoft.com/office/drawing/2014/main" id="{A19DB2DF-140E-EF43-5DCB-97E0C30206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0188F5-35F8-C73A-64F2-4F36B578C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78742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00753F-C3F4-96FF-61E0-FF10ABF958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7C887E9-A174-8EE3-D419-4E1096196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A2DAFB6-4120-0157-845E-2198873243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0A31A2BD-9D88-F08D-D109-40987069C72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510015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00753F-C3F4-96FF-61E0-FF10ABF958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7C887E9-A174-8EE3-D419-4E1096196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B28834-2377-2BA6-AA40-B17CFC2B56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2C58EF55-DFB6-1CAE-C474-F8D0E76AF9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67742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y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F408574-C683-1985-6632-7A59AB94C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9110A95F-7C10-1EBE-E254-51B73F31C2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B046564C-405C-D92E-9921-39F8C498F13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24F84300-D50C-CC9A-515D-1C7A50D2F4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22090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DFDA38C-E54D-EE2E-3D3D-3473EB2C4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F1162257-C28A-4867-07F4-ED60C0E7A9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2D711CD7-613C-60AE-8C72-DA243741090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D732CC7-0FDE-D811-EDB1-AB646764A7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421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20E56CA-9C63-7C92-E3C4-6C836C2F29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B61C4734-C773-C156-A090-61CE06CB75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820FF58A-BBC7-12B7-1C2F-482012CE48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C42C692-4841-FFF1-E1C0-1752D1F5667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609264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B6083AA-D0FC-9F66-C26A-720F1CB281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E6EDCA-745B-8829-5AD1-A11B03FE1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25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7CB0CE7-DE33-88EE-3423-A4C2C7690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39D1BED-4DD7-EE8D-19B6-DD064B0A9D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Rectangle : coins arrondis 7">
            <a:extLst>
              <a:ext uri="{FF2B5EF4-FFF2-40B4-BE49-F238E27FC236}">
                <a16:creationId xmlns:a16="http://schemas.microsoft.com/office/drawing/2014/main" id="{C024A53D-C380-52AE-2506-8FECF914876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F1FC30D3-09BA-9EBC-E24F-AA6E2EAB36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4406" y="2196136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ysClr val="windowText" lastClr="000000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002916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E52BFDE3-65C6-2516-9801-08DE82B1FA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85C4DD-5280-6381-0242-CE01F22BA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954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7C1E8E5C-3149-CFAB-E714-FEC68CD2C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558C21-10BC-317A-A65D-2A6A57ACB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016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91C01C6B-AFA9-4E83-E39B-4B28EDC8DB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1329B1-5601-90DB-DAC1-279A701A2E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8828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439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6471EAE6-704C-C3B2-B0BC-CFA343DD3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876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384EE32-F3B8-6076-4095-E8334D9BA78C}"/>
              </a:ext>
            </a:extLst>
          </p:cNvPr>
          <p:cNvSpPr/>
          <p:nvPr userDrawn="1"/>
        </p:nvSpPr>
        <p:spPr>
          <a:xfrm>
            <a:off x="0" y="5284640"/>
            <a:ext cx="12192000" cy="16238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5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062E67-AA0B-A006-FEB6-F218A58AAE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912"/>
          <a:stretch/>
        </p:blipFill>
        <p:spPr>
          <a:xfrm>
            <a:off x="11137315" y="6034572"/>
            <a:ext cx="927686" cy="711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B5F9D4-7747-ADCB-E6C1-49ADA04EA204}"/>
              </a:ext>
            </a:extLst>
          </p:cNvPr>
          <p:cNvSpPr/>
          <p:nvPr userDrawn="1"/>
        </p:nvSpPr>
        <p:spPr>
          <a:xfrm>
            <a:off x="2690526" y="4878538"/>
            <a:ext cx="430924" cy="35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DDB00A-3875-C6F7-B196-88BE08F200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5537693"/>
            <a:ext cx="9144000" cy="558871"/>
          </a:xfrm>
        </p:spPr>
        <p:txBody>
          <a:bodyPr anchor="ctr">
            <a:noAutofit/>
          </a:bodyPr>
          <a:lstStyle>
            <a:lvl1pPr algn="ctr">
              <a:defRPr sz="3200" b="1" i="0"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 dirty="0"/>
              <a:t>Text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115183-FACE-268A-57F0-F265985C2F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6098544"/>
            <a:ext cx="9144000" cy="2918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0" i="0" spc="3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Sub-title</a:t>
            </a:r>
          </a:p>
        </p:txBody>
      </p:sp>
      <p:pic>
        <p:nvPicPr>
          <p:cNvPr id="13" name="Picture 12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7929F3CA-82E7-6DD2-D615-F777D5A06B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2399" y="6099221"/>
            <a:ext cx="1291994" cy="62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83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76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D52C7C54-A67B-7C6C-795D-7EEC864A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/>
          <a:p>
            <a:r>
              <a:rPr lang="en-GB" noProof="0" dirty="0"/>
              <a:t>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E1AC6A1-85F6-E8C4-97DE-B8C5FC3D5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0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0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9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1" r:id="rId2"/>
    <p:sldLayoutId id="2147483704" r:id="rId3"/>
    <p:sldLayoutId id="2147483752" r:id="rId4"/>
    <p:sldLayoutId id="2147483705" r:id="rId5"/>
    <p:sldLayoutId id="2147483703" r:id="rId6"/>
    <p:sldLayoutId id="2147483685" r:id="rId7"/>
    <p:sldLayoutId id="2147483751" r:id="rId8"/>
    <p:sldLayoutId id="2147483652" r:id="rId9"/>
    <p:sldLayoutId id="2147483715" r:id="rId10"/>
    <p:sldLayoutId id="2147483717" r:id="rId11"/>
    <p:sldLayoutId id="2147483753" r:id="rId12"/>
    <p:sldLayoutId id="2147483722" r:id="rId13"/>
    <p:sldLayoutId id="2147483734" r:id="rId14"/>
    <p:sldLayoutId id="2147483739" r:id="rId15"/>
    <p:sldLayoutId id="2147483755" r:id="rId16"/>
    <p:sldLayoutId id="2147483754" r:id="rId17"/>
    <p:sldLayoutId id="2147483756" r:id="rId18"/>
    <p:sldLayoutId id="2147483757" r:id="rId19"/>
    <p:sldLayoutId id="2147483758" r:id="rId20"/>
    <p:sldLayoutId id="2147483728" r:id="rId21"/>
    <p:sldLayoutId id="2147483759" r:id="rId22"/>
    <p:sldLayoutId id="2147483729" r:id="rId23"/>
    <p:sldLayoutId id="2147483736" r:id="rId24"/>
    <p:sldLayoutId id="2147483741" r:id="rId25"/>
    <p:sldLayoutId id="2147483761" r:id="rId26"/>
    <p:sldLayoutId id="2147483760" r:id="rId27"/>
    <p:sldLayoutId id="2147483762" r:id="rId28"/>
    <p:sldLayoutId id="2147483763" r:id="rId29"/>
    <p:sldLayoutId id="2147483764" r:id="rId30"/>
    <p:sldLayoutId id="2147483732" r:id="rId31"/>
    <p:sldLayoutId id="2147483765" r:id="rId32"/>
    <p:sldLayoutId id="2147483733" r:id="rId33"/>
    <p:sldLayoutId id="2147483738" r:id="rId34"/>
    <p:sldLayoutId id="2147483743" r:id="rId35"/>
    <p:sldLayoutId id="2147483655" r:id="rId36"/>
    <p:sldLayoutId id="2147483766" r:id="rId37"/>
    <p:sldLayoutId id="2147483767" r:id="rId3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+mj-lt"/>
          <a:ea typeface="Verdana" panose="020B0604030504040204" pitchFamily="34" charset="0"/>
          <a:cs typeface="Gill Sans" panose="020B0502020104020203" pitchFamily="34" charset="-79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Arial" panose="020B0604020202020204" pitchFamily="34" charset="0"/>
        <a:buNone/>
        <a:tabLst/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1pPr>
      <a:lvl2pPr marL="358775" indent="-358775" algn="l" defTabSz="914400" rtl="0" eaLnBrk="1" latinLnBrk="0" hangingPunct="1">
        <a:lnSpc>
          <a:spcPct val="90000"/>
        </a:lnSpc>
        <a:spcBef>
          <a:spcPts val="500"/>
        </a:spcBef>
        <a:buSzPct val="70000"/>
        <a:buFontTx/>
        <a:buBlip>
          <a:blip r:embed="rId41"/>
        </a:buBlip>
        <a:tabLst/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2pPr>
      <a:lvl3pPr marL="358775" indent="-358775" algn="l" defTabSz="914400" rtl="0" eaLnBrk="1" latinLnBrk="0" hangingPunct="1">
        <a:lnSpc>
          <a:spcPct val="90000"/>
        </a:lnSpc>
        <a:spcBef>
          <a:spcPts val="500"/>
        </a:spcBef>
        <a:buSzPct val="70000"/>
        <a:buFontTx/>
        <a:buBlip>
          <a:blip r:embed="rId41"/>
        </a:buBlip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3pPr>
      <a:lvl4pPr marL="358775" indent="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4pPr>
      <a:lvl5pPr marL="358775" indent="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None/>
        <a:defRPr sz="10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library.virginia.edu/data/articles/diagnostic-plots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cran.r-project.org/manuals.html" TargetMode="External"/><Relationship Id="rId7" Type="http://schemas.openxmlformats.org/officeDocument/2006/relationships/hyperlink" Target="http://www.rseek.org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stackoverflow.com/tags/r/info" TargetMode="External"/><Relationship Id="rId5" Type="http://schemas.openxmlformats.org/officeDocument/2006/relationships/hyperlink" Target="http://www.sthda.com/english/" TargetMode="External"/><Relationship Id="rId4" Type="http://schemas.openxmlformats.org/officeDocument/2006/relationships/hyperlink" Target="https://glittr.org&#8203;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ib.swiss/training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4" Type="http://schemas.openxmlformats.org/officeDocument/2006/relationships/hyperlink" Target="mailto:training@sib.swiss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1575-BA47-27AF-7812-F767C893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First Steps with R in Life Sciences: Statistics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0A2170-98B9-D0B4-6CB7-41B92028DE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0812" y="5066270"/>
            <a:ext cx="5010149" cy="56878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>
                <a:ea typeface="Tahoma"/>
                <a:cs typeface="Gill Sans Light"/>
              </a:rPr>
              <a:t>With slides from: </a:t>
            </a:r>
            <a:r>
              <a:rPr lang="en-GB" b="0" dirty="0">
                <a:ea typeface="+mn-lt"/>
                <a:cs typeface="+mn-lt"/>
              </a:rPr>
              <a:t>Diana Marek, Geoffrey Fucile, Alex Smith, Linda Dib, Leonore Wigger, Wandrille Duchemin</a:t>
            </a:r>
            <a:r>
              <a:rPr lang="en-GB" dirty="0">
                <a:ea typeface="Tahoma"/>
                <a:cs typeface="Gill Sans Light"/>
              </a:rPr>
              <a:t> </a:t>
            </a:r>
            <a:endParaRPr lang="en-GB" dirty="0"/>
          </a:p>
        </p:txBody>
      </p:sp>
      <p:pic>
        <p:nvPicPr>
          <p:cNvPr id="8" name="Picture 7" descr="A red line drawing of a person&#10;&#10;Description automatically generated">
            <a:extLst>
              <a:ext uri="{FF2B5EF4-FFF2-40B4-BE49-F238E27FC236}">
                <a16:creationId xmlns:a16="http://schemas.microsoft.com/office/drawing/2014/main" id="{22F25DA9-24E9-A4F5-6179-91D46B8FDBB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0767" y="4037439"/>
            <a:ext cx="994837" cy="92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9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8F607-D6D3-C699-E432-6F5BE28D7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Statistical hypothesis testing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8576-A966-0DD6-A4D6-DBF783FB2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127760"/>
            <a:ext cx="10515600" cy="51206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Why do we need a statistical test?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rgbClr val="262626"/>
                </a:solidFill>
              </a:rPr>
              <a:t>Biological measurements are noisy: two groups never have exactly the same mean, even when nothing really differs between them. A test helps us decide whether a difference is real or could simply be due to chance.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Two hypotheses in competition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b="1" dirty="0">
                <a:solidFill>
                  <a:srgbClr val="262626"/>
                </a:solidFill>
              </a:rPr>
              <a:t>H0, the null hypothesis</a:t>
            </a:r>
            <a:r>
              <a:rPr lang="en-US" sz="2000" dirty="0">
                <a:solidFill>
                  <a:srgbClr val="262626"/>
                </a:solidFill>
              </a:rPr>
              <a:t>: "nothing is going on" (e.g. no difference between groups)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b="1" dirty="0">
                <a:solidFill>
                  <a:srgbClr val="262626"/>
                </a:solidFill>
              </a:rPr>
              <a:t>H1, the alternative hypothesis</a:t>
            </a:r>
            <a:r>
              <a:rPr lang="en-US" sz="2000" dirty="0">
                <a:solidFill>
                  <a:srgbClr val="262626"/>
                </a:solidFill>
              </a:rPr>
              <a:t>: what we actually want to show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Example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H0: KO and WT mice have, on average, the same body weight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H1: the average body weight of KO mice is different from that of WT mice</a:t>
            </a:r>
          </a:p>
        </p:txBody>
      </p:sp>
    </p:spTree>
    <p:extLst>
      <p:ext uri="{BB962C8B-B14F-4D97-AF65-F5344CB8AC3E}">
        <p14:creationId xmlns:p14="http://schemas.microsoft.com/office/powerpoint/2010/main" val="1742822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B91CF-3639-05C5-173C-B349D1BF4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ED93-68FA-C6DB-405F-F4144ACC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The p-value in plain words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5BF65-6851-FC4F-86C8-22EA6D211C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248" y="914400"/>
            <a:ext cx="10515600" cy="51206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rgbClr val="262626"/>
                </a:solidFill>
              </a:rPr>
              <a:t>Imagine that H0 is true (e.g. KO and WT mice really have the same weight).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rgbClr val="262626"/>
                </a:solidFill>
              </a:rPr>
              <a:t>The </a:t>
            </a:r>
            <a:r>
              <a:rPr lang="en-US" sz="2000" b="1" dirty="0">
                <a:solidFill>
                  <a:srgbClr val="262626"/>
                </a:solidFill>
              </a:rPr>
              <a:t>p-value</a:t>
            </a:r>
            <a:r>
              <a:rPr lang="en-US" sz="2000" dirty="0">
                <a:solidFill>
                  <a:srgbClr val="262626"/>
                </a:solidFill>
              </a:rPr>
              <a:t> answers: "how surprising would our data be in that case?"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b="1" dirty="0">
                <a:solidFill>
                  <a:srgbClr val="262626"/>
                </a:solidFill>
              </a:rPr>
              <a:t>Small p-value</a:t>
            </a:r>
            <a:r>
              <a:rPr lang="en-US" sz="2000" dirty="0">
                <a:solidFill>
                  <a:srgbClr val="262626"/>
                </a:solidFill>
              </a:rPr>
              <a:t> (e.g. 0.001): a difference this big would rarely happen by chance alone → we </a:t>
            </a:r>
            <a:r>
              <a:rPr lang="en-US" sz="2000" b="1" dirty="0">
                <a:solidFill>
                  <a:srgbClr val="262626"/>
                </a:solidFill>
              </a:rPr>
              <a:t>reject H0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b="1" dirty="0">
                <a:solidFill>
                  <a:srgbClr val="262626"/>
                </a:solidFill>
              </a:rPr>
              <a:t>Large p-value</a:t>
            </a:r>
            <a:r>
              <a:rPr lang="en-US" sz="2000" dirty="0">
                <a:solidFill>
                  <a:srgbClr val="262626"/>
                </a:solidFill>
              </a:rPr>
              <a:t> (e.g. 0.4): a difference like this could easily happen by chance → we </a:t>
            </a:r>
            <a:r>
              <a:rPr lang="en-US" sz="2000" b="1" dirty="0">
                <a:solidFill>
                  <a:srgbClr val="262626"/>
                </a:solidFill>
              </a:rPr>
              <a:t>cannot reject H0</a:t>
            </a:r>
            <a:r>
              <a:rPr lang="en-US" sz="2000" dirty="0">
                <a:solidFill>
                  <a:srgbClr val="262626"/>
                </a:solidFill>
              </a:rPr>
              <a:t> (this does not prove that H0 is true!)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The usual recipe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Before looking at the data, choose a significance level, usually </a:t>
            </a:r>
            <a:r>
              <a:rPr lang="en-US" sz="2000" b="1" dirty="0">
                <a:solidFill>
                  <a:srgbClr val="262626"/>
                </a:solidFill>
              </a:rPr>
              <a:t>0.05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Run the test in R: it gives you a test statistic and a p-value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p-value &lt; 0.05 → the difference is called "statistically significant"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2000" i="1" dirty="0">
                <a:solidFill>
                  <a:srgbClr val="595959"/>
                </a:solidFill>
              </a:rPr>
              <a:t>A significant result means the difference is probably not due to chance. It does not tell you that the difference is large or biologically important.</a:t>
            </a:r>
          </a:p>
        </p:txBody>
      </p:sp>
    </p:spTree>
    <p:extLst>
      <p:ext uri="{BB962C8B-B14F-4D97-AF65-F5344CB8AC3E}">
        <p14:creationId xmlns:p14="http://schemas.microsoft.com/office/powerpoint/2010/main" val="380697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BF36-7ABA-201E-E73F-B6C6D9736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39FF-E5AA-784E-0C4E-A77FFC400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t-test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64DAC-AE15-1E28-5819-EFCE37DD4D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248" y="914400"/>
            <a:ext cx="10515600" cy="51206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Goal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Compare the mean of a continuous measurement between </a:t>
            </a:r>
            <a:r>
              <a:rPr lang="en-US" sz="2000" b="1" dirty="0">
                <a:solidFill>
                  <a:srgbClr val="262626"/>
                </a:solidFill>
              </a:rPr>
              <a:t>two groups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Is the difference between the two means larger than what we would expect by chance?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Life-science examples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Body weight of KO vs WT mice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Expression of a gene in treated vs untreated cells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Cholesterol level of patients on diet A vs diet B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Assumptions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Observations are independent (e.g. each mouse is measured only once)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In each group, the values roughly follow a normal ("bell-shaped") distribution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i="1" dirty="0">
                <a:solidFill>
                  <a:srgbClr val="595959"/>
                </a:solidFill>
              </a:rPr>
              <a:t>R uses Welch's t-test by default, so the two groups do not need to have the same variance.</a:t>
            </a:r>
          </a:p>
        </p:txBody>
      </p:sp>
    </p:spTree>
    <p:extLst>
      <p:ext uri="{BB962C8B-B14F-4D97-AF65-F5344CB8AC3E}">
        <p14:creationId xmlns:p14="http://schemas.microsoft.com/office/powerpoint/2010/main" val="4146313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B91CF-3639-05C5-173C-B349D1BF4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ED93-68FA-C6DB-405F-F4144ACC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How does the t-test work?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5BF65-6851-FC4F-86C8-22EA6D211C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248" y="914400"/>
            <a:ext cx="5394960" cy="51206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800" dirty="0">
                <a:solidFill>
                  <a:srgbClr val="262626"/>
                </a:solidFill>
              </a:rPr>
              <a:t>The t-test compares two things: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the </a:t>
            </a:r>
            <a:r>
              <a:rPr lang="en-US" sz="1800" b="1" dirty="0">
                <a:solidFill>
                  <a:srgbClr val="262626"/>
                </a:solidFill>
              </a:rPr>
              <a:t>difference between the group means</a:t>
            </a:r>
            <a:r>
              <a:rPr lang="en-US" sz="1800" dirty="0">
                <a:solidFill>
                  <a:srgbClr val="262626"/>
                </a:solidFill>
              </a:rPr>
              <a:t> (the signal)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the </a:t>
            </a:r>
            <a:r>
              <a:rPr lang="en-US" sz="1800" b="1" dirty="0">
                <a:solidFill>
                  <a:srgbClr val="262626"/>
                </a:solidFill>
              </a:rPr>
              <a:t>spread of the values</a:t>
            </a:r>
            <a:r>
              <a:rPr lang="en-US" sz="1800" dirty="0">
                <a:solidFill>
                  <a:srgbClr val="262626"/>
                </a:solidFill>
              </a:rPr>
              <a:t> within each group (the noise)</a:t>
            </a:r>
          </a:p>
          <a:p>
            <a:pPr marL="0" indent="0">
              <a:buNone/>
            </a:pPr>
            <a:endParaRPr lang="en-US" sz="108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800" dirty="0">
                <a:solidFill>
                  <a:srgbClr val="262626"/>
                </a:solidFill>
              </a:rPr>
              <a:t>Both are combined into one number, the </a:t>
            </a:r>
            <a:r>
              <a:rPr lang="en-US" sz="1800" b="1" dirty="0">
                <a:solidFill>
                  <a:srgbClr val="262626"/>
                </a:solidFill>
              </a:rPr>
              <a:t>t statistic</a:t>
            </a:r>
            <a:r>
              <a:rPr lang="en-US" sz="1800" dirty="0">
                <a:solidFill>
                  <a:srgbClr val="262626"/>
                </a:solidFill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t ≈ difference of means / its uncertainty</a:t>
            </a:r>
            <a:endParaRPr lang="en-US" sz="1600" dirty="0"/>
          </a:p>
          <a:p>
            <a:pPr marL="0" indent="0">
              <a:buNone/>
            </a:pPr>
            <a:endParaRPr lang="en-US" sz="1080" dirty="0"/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Large difference, little spread → large t → small p-value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Small difference or lots of spread → small t → large p-value</a:t>
            </a:r>
          </a:p>
          <a:p>
            <a:pPr marL="0" indent="0">
              <a:buNone/>
            </a:pPr>
            <a:endParaRPr lang="en-US" sz="108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800" i="1" dirty="0">
                <a:solidFill>
                  <a:srgbClr val="595959"/>
                </a:solidFill>
              </a:rPr>
              <a:t>More samples per group = less uncertainty = easier to detect a real difference.</a:t>
            </a:r>
          </a:p>
        </p:txBody>
      </p:sp>
      <p:pic>
        <p:nvPicPr>
          <p:cNvPr id="10" name="Picture 10" descr="Two dot plots: well separated groups give a small p-value, overlapping groups a large p-val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5257800" cy="360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72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E0312-6763-B271-CF70-69A2EFFFB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Example data set: iris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284E8-58CA-947E-5277-CAE3AE9687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rbel"/>
                <a:ea typeface="Tahoma"/>
                <a:cs typeface="Arial"/>
              </a:rPr>
              <a:t>Let's compare </a:t>
            </a:r>
            <a:r>
              <a:rPr lang="en-US" sz="1800" i="1" dirty="0">
                <a:latin typeface="Corbel"/>
                <a:ea typeface="Tahoma"/>
                <a:cs typeface="Arial"/>
              </a:rPr>
              <a:t>Iris virginica </a:t>
            </a:r>
            <a:r>
              <a:rPr lang="en-US" sz="1800" dirty="0">
                <a:latin typeface="Corbel"/>
                <a:ea typeface="Tahoma"/>
                <a:cs typeface="Arial"/>
              </a:rPr>
              <a:t>and </a:t>
            </a:r>
            <a:r>
              <a:rPr lang="en-US" sz="1800" i="1" dirty="0">
                <a:latin typeface="Corbel"/>
                <a:ea typeface="Tahoma"/>
                <a:cs typeface="Arial"/>
              </a:rPr>
              <a:t>Iris versicolor </a:t>
            </a:r>
            <a:r>
              <a:rPr lang="en-US" sz="1800" dirty="0">
                <a:latin typeface="Corbel"/>
                <a:ea typeface="Tahoma"/>
                <a:cs typeface="Arial"/>
              </a:rPr>
              <a:t>petal lengths.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fr-FR" sz="1800" dirty="0">
              <a:latin typeface="Courier New"/>
              <a:ea typeface="+mn-lt"/>
              <a:cs typeface="+mn-lt"/>
            </a:endParaRPr>
          </a:p>
          <a:p>
            <a:r>
              <a:rPr lang="es-ES" sz="1800" dirty="0">
                <a:latin typeface="Courier New"/>
                <a:ea typeface="+mn-lt"/>
                <a:cs typeface="+mn-lt"/>
              </a:rPr>
              <a:t>data(iris)</a:t>
            </a:r>
            <a:endParaRPr lang="en-GB" sz="1800" dirty="0">
              <a:latin typeface="Courier New"/>
              <a:ea typeface="+mn-lt"/>
              <a:cs typeface="+mn-lt"/>
            </a:endParaRPr>
          </a:p>
          <a:p>
            <a:r>
              <a:rPr lang="es-E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</a:t>
            </a:r>
            <a:r>
              <a:rPr lang="es-E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we</a:t>
            </a:r>
            <a:r>
              <a:rPr lang="es-E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 </a:t>
            </a:r>
            <a:r>
              <a:rPr lang="es-E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limit</a:t>
            </a:r>
            <a:r>
              <a:rPr lang="es-E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 </a:t>
            </a:r>
            <a:r>
              <a:rPr lang="es-E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the</a:t>
            </a:r>
            <a:r>
              <a:rPr lang="es-E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 data </a:t>
            </a:r>
            <a:r>
              <a:rPr lang="es-E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to</a:t>
            </a:r>
            <a:r>
              <a:rPr lang="es-E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 2 </a:t>
            </a:r>
            <a:r>
              <a:rPr lang="es-E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species</a:t>
            </a:r>
            <a:endParaRPr lang="en-GB" sz="1800" b="1">
              <a:solidFill>
                <a:schemeClr val="accent4"/>
              </a:solidFill>
              <a:latin typeface="Courier New"/>
              <a:ea typeface="+mn-lt"/>
              <a:cs typeface="+mn-lt"/>
            </a:endParaRPr>
          </a:p>
          <a:p>
            <a:r>
              <a:rPr lang="es-ES" sz="1800" err="1">
                <a:latin typeface="Courier New"/>
                <a:ea typeface="+mn-lt"/>
                <a:cs typeface="+mn-lt"/>
              </a:rPr>
              <a:t>iris_f</a:t>
            </a:r>
            <a:r>
              <a:rPr lang="es-ES" sz="1800" dirty="0">
                <a:latin typeface="Courier New"/>
                <a:ea typeface="+mn-lt"/>
                <a:cs typeface="+mn-lt"/>
              </a:rPr>
              <a:t> = iris[ </a:t>
            </a:r>
            <a:r>
              <a:rPr lang="es-ES" sz="1800" err="1">
                <a:latin typeface="Courier New"/>
                <a:ea typeface="+mn-lt"/>
                <a:cs typeface="+mn-lt"/>
              </a:rPr>
              <a:t>iris$Species</a:t>
            </a:r>
            <a:r>
              <a:rPr lang="es-ES" sz="1800" dirty="0">
                <a:latin typeface="Courier New"/>
                <a:ea typeface="+mn-lt"/>
                <a:cs typeface="+mn-lt"/>
              </a:rPr>
              <a:t> %in% c('</a:t>
            </a:r>
            <a:r>
              <a:rPr lang="es-ES" sz="1800" err="1">
                <a:latin typeface="Courier New"/>
                <a:ea typeface="+mn-lt"/>
                <a:cs typeface="+mn-lt"/>
              </a:rPr>
              <a:t>versicolor</a:t>
            </a:r>
            <a:r>
              <a:rPr lang="es-ES" sz="1800" dirty="0">
                <a:latin typeface="Courier New"/>
                <a:ea typeface="+mn-lt"/>
                <a:cs typeface="+mn-lt"/>
              </a:rPr>
              <a:t>','</a:t>
            </a:r>
            <a:r>
              <a:rPr lang="es-ES" sz="1800" err="1">
                <a:latin typeface="Courier New"/>
                <a:ea typeface="+mn-lt"/>
                <a:cs typeface="+mn-lt"/>
              </a:rPr>
              <a:t>virginica</a:t>
            </a:r>
            <a:r>
              <a:rPr lang="es-ES" sz="1800" dirty="0">
                <a:latin typeface="Courier New"/>
                <a:ea typeface="+mn-lt"/>
                <a:cs typeface="+mn-lt"/>
              </a:rPr>
              <a:t>') , ]</a:t>
            </a:r>
            <a:endParaRPr lang="en-GB" sz="1800">
              <a:latin typeface="Courier New"/>
              <a:ea typeface="+mn-lt"/>
              <a:cs typeface="+mn-lt"/>
            </a:endParaRPr>
          </a:p>
          <a:p>
            <a:r>
              <a:rPr lang="es-ES" sz="1800" err="1">
                <a:latin typeface="Courier New"/>
                <a:ea typeface="+mn-lt"/>
                <a:cs typeface="+mn-lt"/>
              </a:rPr>
              <a:t>iris_f$Species</a:t>
            </a:r>
            <a:r>
              <a:rPr lang="es-ES" sz="1800" dirty="0">
                <a:latin typeface="Courier New"/>
                <a:ea typeface="+mn-lt"/>
                <a:cs typeface="+mn-lt"/>
              </a:rPr>
              <a:t> = factor(</a:t>
            </a:r>
            <a:r>
              <a:rPr lang="es-ES" sz="1800" err="1">
                <a:latin typeface="Courier New"/>
                <a:ea typeface="+mn-lt"/>
                <a:cs typeface="+mn-lt"/>
              </a:rPr>
              <a:t>iris_f$Species</a:t>
            </a:r>
            <a:r>
              <a:rPr lang="es-ES" sz="1800" dirty="0">
                <a:latin typeface="Courier New"/>
                <a:ea typeface="+mn-lt"/>
                <a:cs typeface="+mn-lt"/>
              </a:rPr>
              <a:t>)</a:t>
            </a:r>
            <a:endParaRPr lang="en-GB" sz="1800">
              <a:latin typeface="Courier New"/>
              <a:ea typeface="+mn-lt"/>
              <a:cs typeface="+mn-lt"/>
            </a:endParaRPr>
          </a:p>
          <a:p>
            <a:endParaRPr lang="en-GB" sz="1800" dirty="0">
              <a:latin typeface="Courier New"/>
            </a:endParaRPr>
          </a:p>
          <a:p>
            <a:r>
              <a:rPr lang="es-ES" sz="1800" dirty="0" err="1">
                <a:latin typeface="Courier New"/>
                <a:ea typeface="+mn-lt"/>
                <a:cs typeface="+mn-lt"/>
              </a:rPr>
              <a:t>tapply</a:t>
            </a:r>
            <a:r>
              <a:rPr lang="es-ES" sz="1800" dirty="0">
                <a:latin typeface="Courier New"/>
                <a:ea typeface="+mn-lt"/>
                <a:cs typeface="+mn-lt"/>
              </a:rPr>
              <a:t>( </a:t>
            </a:r>
            <a:r>
              <a:rPr lang="es-ES" sz="1800" dirty="0" err="1">
                <a:latin typeface="Courier New"/>
                <a:ea typeface="+mn-lt"/>
                <a:cs typeface="+mn-lt"/>
              </a:rPr>
              <a:t>iris_f$Petal.Length</a:t>
            </a:r>
            <a:r>
              <a:rPr lang="es-ES" sz="1800" dirty="0">
                <a:latin typeface="Courier New"/>
                <a:ea typeface="+mn-lt"/>
                <a:cs typeface="+mn-lt"/>
              </a:rPr>
              <a:t>, </a:t>
            </a:r>
            <a:r>
              <a:rPr lang="es-ES" sz="1800" dirty="0" err="1">
                <a:latin typeface="Courier New"/>
                <a:ea typeface="+mn-lt"/>
                <a:cs typeface="+mn-lt"/>
              </a:rPr>
              <a:t>iris_f$Species</a:t>
            </a:r>
            <a:r>
              <a:rPr lang="es-ES" sz="1800" dirty="0">
                <a:latin typeface="Courier New"/>
                <a:ea typeface="+mn-lt"/>
                <a:cs typeface="+mn-lt"/>
              </a:rPr>
              <a:t>, mean )</a:t>
            </a:r>
            <a:endParaRPr lang="en-GB" sz="1800" dirty="0">
              <a:latin typeface="Courier New"/>
              <a:ea typeface="+mn-lt"/>
              <a:cs typeface="+mn-lt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versicolor  virginica </a:t>
            </a:r>
            <a:endParaRPr lang="en-GB" sz="1800">
              <a:latin typeface="Courier New"/>
              <a:ea typeface="Tahoma"/>
              <a:cs typeface="Gill Sans Light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 4.260      5.552 </a:t>
            </a:r>
            <a:endParaRPr lang="en-GB" sz="1800"/>
          </a:p>
          <a:p>
            <a:endParaRPr lang="en-GB" sz="1800" dirty="0">
              <a:latin typeface="Courier New"/>
              <a:ea typeface="Tahoma"/>
              <a:cs typeface="Gill Sans Light"/>
            </a:endParaRPr>
          </a:p>
          <a:p>
            <a:r>
              <a:rPr lang="es-ES" sz="1800" err="1">
                <a:latin typeface="Courier New"/>
                <a:ea typeface="+mn-lt"/>
                <a:cs typeface="+mn-lt"/>
              </a:rPr>
              <a:t>plen_versicolor</a:t>
            </a:r>
            <a:r>
              <a:rPr lang="es-ES" sz="1800" dirty="0">
                <a:latin typeface="Courier New"/>
                <a:ea typeface="+mn-lt"/>
                <a:cs typeface="+mn-lt"/>
              </a:rPr>
              <a:t> = </a:t>
            </a:r>
            <a:r>
              <a:rPr lang="es-ES" sz="1800" err="1">
                <a:latin typeface="Courier New"/>
                <a:ea typeface="+mn-lt"/>
                <a:cs typeface="+mn-lt"/>
              </a:rPr>
              <a:t>iris_f$Petal.Length</a:t>
            </a:r>
            <a:r>
              <a:rPr lang="es-ES" sz="1800" dirty="0">
                <a:latin typeface="Courier New"/>
                <a:ea typeface="+mn-lt"/>
                <a:cs typeface="+mn-lt"/>
              </a:rPr>
              <a:t>[</a:t>
            </a:r>
            <a:r>
              <a:rPr lang="es-ES" sz="1800" err="1">
                <a:latin typeface="Courier New"/>
                <a:ea typeface="+mn-lt"/>
                <a:cs typeface="+mn-lt"/>
              </a:rPr>
              <a:t>iris_f$Species</a:t>
            </a:r>
            <a:r>
              <a:rPr lang="es-ES" sz="1800" dirty="0">
                <a:latin typeface="Courier New"/>
                <a:ea typeface="+mn-lt"/>
                <a:cs typeface="+mn-lt"/>
              </a:rPr>
              <a:t>=='</a:t>
            </a:r>
            <a:r>
              <a:rPr lang="es-ES" sz="1800" err="1">
                <a:latin typeface="Courier New"/>
                <a:ea typeface="+mn-lt"/>
                <a:cs typeface="+mn-lt"/>
              </a:rPr>
              <a:t>versicolor</a:t>
            </a:r>
            <a:r>
              <a:rPr lang="es-ES" sz="1800" dirty="0">
                <a:latin typeface="Courier New"/>
                <a:ea typeface="+mn-lt"/>
                <a:cs typeface="+mn-lt"/>
              </a:rPr>
              <a:t>']</a:t>
            </a:r>
            <a:endParaRPr lang="en-GB" sz="1800">
              <a:latin typeface="Courier New"/>
              <a:ea typeface="+mn-lt"/>
              <a:cs typeface="+mn-lt"/>
            </a:endParaRPr>
          </a:p>
          <a:p>
            <a:r>
              <a:rPr lang="es-ES" sz="1800" err="1">
                <a:latin typeface="Courier New"/>
                <a:ea typeface="+mn-lt"/>
                <a:cs typeface="+mn-lt"/>
              </a:rPr>
              <a:t>plen_virginica</a:t>
            </a:r>
            <a:r>
              <a:rPr lang="es-ES" sz="1800" dirty="0">
                <a:latin typeface="Courier New"/>
                <a:ea typeface="+mn-lt"/>
                <a:cs typeface="+mn-lt"/>
              </a:rPr>
              <a:t>  = </a:t>
            </a:r>
            <a:r>
              <a:rPr lang="es-ES" sz="1800" err="1">
                <a:latin typeface="Courier New"/>
                <a:ea typeface="+mn-lt"/>
                <a:cs typeface="+mn-lt"/>
              </a:rPr>
              <a:t>iris_f$Petal.Length</a:t>
            </a:r>
            <a:r>
              <a:rPr lang="es-ES" sz="1800" dirty="0">
                <a:latin typeface="Courier New"/>
                <a:ea typeface="+mn-lt"/>
                <a:cs typeface="+mn-lt"/>
              </a:rPr>
              <a:t>[</a:t>
            </a:r>
            <a:r>
              <a:rPr lang="es-ES" sz="1800" err="1">
                <a:latin typeface="Courier New"/>
                <a:ea typeface="+mn-lt"/>
                <a:cs typeface="+mn-lt"/>
              </a:rPr>
              <a:t>iris_f$Species</a:t>
            </a:r>
            <a:r>
              <a:rPr lang="es-ES" sz="1800" dirty="0">
                <a:latin typeface="Courier New"/>
                <a:ea typeface="+mn-lt"/>
                <a:cs typeface="+mn-lt"/>
              </a:rPr>
              <a:t>=='</a:t>
            </a:r>
            <a:r>
              <a:rPr lang="es-ES" sz="1800" err="1">
                <a:latin typeface="Courier New"/>
                <a:ea typeface="+mn-lt"/>
                <a:cs typeface="+mn-lt"/>
              </a:rPr>
              <a:t>virginica</a:t>
            </a:r>
            <a:r>
              <a:rPr lang="es-ES" sz="1800" dirty="0">
                <a:latin typeface="Courier New"/>
                <a:ea typeface="+mn-lt"/>
                <a:cs typeface="+mn-lt"/>
              </a:rPr>
              <a:t>']</a:t>
            </a:r>
            <a:endParaRPr lang="en-GB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s-ES" sz="1800" b="1" dirty="0">
              <a:solidFill>
                <a:schemeClr val="accent4"/>
              </a:solidFill>
              <a:latin typeface="Courier New"/>
            </a:endParaRP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991904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9C64E-E348-BEB9-A328-70D9C74F2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B68D0-D03D-9DC4-56CB-AE078C54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Check normality of the data with plots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3D3CB-2849-D829-AB7D-9A7067FD31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rbel"/>
                <a:ea typeface="Tahoma"/>
                <a:cs typeface="Arial"/>
              </a:rPr>
              <a:t>We use histograms and </a:t>
            </a:r>
            <a:r>
              <a:rPr lang="en-US" sz="1800" dirty="0" err="1">
                <a:latin typeface="Corbel"/>
                <a:ea typeface="Tahoma"/>
                <a:cs typeface="Arial"/>
              </a:rPr>
              <a:t>QQplot</a:t>
            </a:r>
            <a:r>
              <a:rPr lang="en-US" sz="1800" dirty="0">
                <a:latin typeface="Corbel"/>
                <a:ea typeface="Tahoma"/>
                <a:cs typeface="Arial"/>
              </a:rPr>
              <a:t> to visually assess normality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1800" dirty="0">
              <a:latin typeface="Corbel"/>
              <a:ea typeface="Tahoma"/>
              <a:cs typeface="Arial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par(</a:t>
            </a:r>
            <a:r>
              <a:rPr lang="en-GB" sz="1800" err="1">
                <a:latin typeface="Courier New"/>
                <a:ea typeface="+mn-lt"/>
                <a:cs typeface="+mn-lt"/>
              </a:rPr>
              <a:t>mfrow</a:t>
            </a:r>
            <a:r>
              <a:rPr lang="en-GB" sz="1800" dirty="0">
                <a:latin typeface="Courier New"/>
                <a:ea typeface="+mn-lt"/>
                <a:cs typeface="+mn-lt"/>
              </a:rPr>
              <a:t>=c(2,2))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hist(</a:t>
            </a:r>
            <a:r>
              <a:rPr lang="en-GB" sz="1800" err="1">
                <a:latin typeface="Courier New"/>
                <a:ea typeface="+mn-lt"/>
                <a:cs typeface="+mn-lt"/>
              </a:rPr>
              <a:t>plen_versicolor</a:t>
            </a:r>
            <a:r>
              <a:rPr lang="en-GB" sz="1800" dirty="0">
                <a:latin typeface="Courier New"/>
                <a:ea typeface="+mn-lt"/>
                <a:cs typeface="+mn-lt"/>
              </a:rPr>
              <a:t>,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 </a:t>
            </a:r>
            <a:r>
              <a:rPr lang="en-GB" sz="1800" err="1">
                <a:latin typeface="Courier New"/>
                <a:ea typeface="+mn-lt"/>
                <a:cs typeface="+mn-lt"/>
              </a:rPr>
              <a:t>xlab</a:t>
            </a:r>
            <a:r>
              <a:rPr lang="en-GB" sz="1800" dirty="0">
                <a:latin typeface="Courier New"/>
                <a:ea typeface="+mn-lt"/>
                <a:cs typeface="+mn-lt"/>
              </a:rPr>
              <a:t>="versicolor",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 main="petal length - versicolor")</a:t>
            </a:r>
            <a:endParaRPr lang="en-GB" dirty="0">
              <a:latin typeface="Courier New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qqnorm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err="1">
                <a:latin typeface="Courier New"/>
                <a:ea typeface="+mn-lt"/>
                <a:cs typeface="+mn-lt"/>
              </a:rPr>
              <a:t>plen_versicolor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dirty="0">
              <a:latin typeface="Courier New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qqline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err="1">
                <a:latin typeface="Courier New"/>
                <a:ea typeface="+mn-lt"/>
                <a:cs typeface="+mn-lt"/>
              </a:rPr>
              <a:t>plen_versicolor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dirty="0">
              <a:latin typeface="Courier New"/>
            </a:endParaRPr>
          </a:p>
          <a:p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hist(</a:t>
            </a:r>
            <a:r>
              <a:rPr lang="en-GB" sz="1800" err="1">
                <a:latin typeface="Courier New"/>
                <a:ea typeface="+mn-lt"/>
                <a:cs typeface="+mn-lt"/>
              </a:rPr>
              <a:t>plen_virginica</a:t>
            </a:r>
            <a:r>
              <a:rPr lang="en-GB" sz="1800" dirty="0">
                <a:latin typeface="Courier New"/>
                <a:ea typeface="+mn-lt"/>
                <a:cs typeface="+mn-lt"/>
              </a:rPr>
              <a:t>,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 </a:t>
            </a:r>
            <a:r>
              <a:rPr lang="en-GB" sz="1800" err="1">
                <a:latin typeface="Courier New"/>
                <a:ea typeface="+mn-lt"/>
                <a:cs typeface="+mn-lt"/>
              </a:rPr>
              <a:t>xlab</a:t>
            </a:r>
            <a:r>
              <a:rPr lang="en-GB" sz="1800" dirty="0">
                <a:latin typeface="Courier New"/>
                <a:ea typeface="+mn-lt"/>
                <a:cs typeface="+mn-lt"/>
              </a:rPr>
              <a:t>="virginica",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 main="petal length - virginica")</a:t>
            </a:r>
            <a:endParaRPr lang="en-GB" dirty="0">
              <a:latin typeface="Courier New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qqnorm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err="1">
                <a:latin typeface="Courier New"/>
                <a:ea typeface="+mn-lt"/>
                <a:cs typeface="+mn-lt"/>
              </a:rPr>
              <a:t>plen_virginica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dirty="0">
              <a:latin typeface="Courier New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qqline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err="1">
                <a:latin typeface="Courier New"/>
                <a:ea typeface="+mn-lt"/>
                <a:cs typeface="+mn-lt"/>
              </a:rPr>
              <a:t>plen_virginica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dirty="0">
              <a:latin typeface="Courier New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dev.off</a:t>
            </a:r>
            <a:r>
              <a:rPr lang="en-GB" sz="1800" dirty="0">
                <a:latin typeface="Courier New"/>
                <a:ea typeface="+mn-lt"/>
                <a:cs typeface="+mn-lt"/>
              </a:rPr>
              <a:t>()</a:t>
            </a:r>
            <a:endParaRPr lang="en-GB" dirty="0">
              <a:latin typeface="Courier New"/>
            </a:endParaRPr>
          </a:p>
        </p:txBody>
      </p:sp>
      <p:pic>
        <p:nvPicPr>
          <p:cNvPr id="4" name="Picture 3" descr="A collage of graphs&#10;&#10;Description automatically generated">
            <a:extLst>
              <a:ext uri="{FF2B5EF4-FFF2-40B4-BE49-F238E27FC236}">
                <a16:creationId xmlns:a16="http://schemas.microsoft.com/office/drawing/2014/main" id="{9FBA4945-52DF-3CCC-F19D-06EF63FB73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230" t="584" r="2107" b="-584"/>
          <a:stretch/>
        </p:blipFill>
        <p:spPr>
          <a:xfrm>
            <a:off x="5054000" y="1261241"/>
            <a:ext cx="7085187" cy="450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7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CEF98-A6DC-39E1-7EE9-76E1B4C4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19F5-512C-71D5-0860-B0BC0168A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Check normality of the data with tests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E7ED5-FC32-EF3A-64DC-0A194B792C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248" y="914400"/>
            <a:ext cx="4160520" cy="42062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600" dirty="0">
                <a:solidFill>
                  <a:srgbClr val="262626"/>
                </a:solidFill>
              </a:rPr>
              <a:t>The </a:t>
            </a:r>
            <a:r>
              <a:rPr lang="en-US" sz="1600" b="1" dirty="0">
                <a:solidFill>
                  <a:srgbClr val="262626"/>
                </a:solidFill>
              </a:rPr>
              <a:t>Shapiro-Wilk test</a:t>
            </a:r>
            <a:r>
              <a:rPr lang="en-US" sz="1600" dirty="0">
                <a:solidFill>
                  <a:srgbClr val="262626"/>
                </a:solidFill>
              </a:rPr>
              <a:t> checks normality.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600" dirty="0">
                <a:solidFill>
                  <a:srgbClr val="262626"/>
                </a:solidFill>
              </a:rPr>
              <a:t>Here H0 = "the data are normal", so: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p-value &gt; 0.05: no evidence against normality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p-value &lt; 0.05: the data are probably not normal</a:t>
            </a:r>
          </a:p>
          <a:p>
            <a:pPr marL="0" indent="0">
              <a:buNone/>
            </a:pPr>
            <a:endParaRPr lang="en-US" sz="96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shapiro.test(plen_versicolor)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595959"/>
                </a:solidFill>
                <a:latin typeface="Courier New"/>
                <a:cs typeface="Courier New"/>
              </a:rPr>
              <a:t>W = 0.966, p-value = 0.1585</a:t>
            </a:r>
            <a:endParaRPr lang="en-US" sz="140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shapiro.test(plen_virginica)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595959"/>
                </a:solidFill>
                <a:latin typeface="Courier New"/>
                <a:cs typeface="Courier New"/>
              </a:rPr>
              <a:t>W = 0.96219, p-value = 0.1098</a:t>
            </a:r>
            <a:endParaRPr lang="en-US" sz="1400" dirty="0"/>
          </a:p>
        </p:txBody>
      </p:sp>
      <p:pic>
        <p:nvPicPr>
          <p:cNvPr id="4" name="Picture 3" descr="A collage of graphs&#10;&#10;Description automatically generated">
            <a:extLst>
              <a:ext uri="{FF2B5EF4-FFF2-40B4-BE49-F238E27FC236}">
                <a16:creationId xmlns:a16="http://schemas.microsoft.com/office/drawing/2014/main" id="{DA1D72B6-8836-4DF6-D3F4-F45FEF3278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230" t="584" r="2107" b="-584"/>
          <a:stretch/>
        </p:blipFill>
        <p:spPr>
          <a:xfrm>
            <a:off x="5054000" y="1278758"/>
            <a:ext cx="7085187" cy="4501936"/>
          </a:xfrm>
          <a:prstGeom prst="rect">
            <a:avLst/>
          </a:prstGeom>
        </p:spPr>
      </p:pic>
      <p:pic>
        <p:nvPicPr>
          <p:cNvPr id="5" name="Image 20" descr="A red and black logo&#10;&#10;Description automatically generated">
            <a:extLst>
              <a:ext uri="{FF2B5EF4-FFF2-40B4-BE49-F238E27FC236}">
                <a16:creationId xmlns:a16="http://schemas.microsoft.com/office/drawing/2014/main" id="{EDEB9949-CC74-1468-6097-1A206B690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03" y="5660603"/>
            <a:ext cx="1067033" cy="823140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42EA145-C75A-1C57-E90B-960687C3B04C}"/>
              </a:ext>
            </a:extLst>
          </p:cNvPr>
          <p:cNvSpPr txBox="1"/>
          <p:nvPr/>
        </p:nvSpPr>
        <p:spPr>
          <a:xfrm>
            <a:off x="1704975" y="5848350"/>
            <a:ext cx="87630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800" dirty="0">
                <a:solidFill>
                  <a:srgbClr val="262626"/>
                </a:solidFill>
              </a:rPr>
              <a:t>The t-test still works well when data are only roughly normal: no need to be too strict. Always look at the plots, not only at the test!</a:t>
            </a:r>
          </a:p>
        </p:txBody>
      </p:sp>
    </p:spTree>
    <p:extLst>
      <p:ext uri="{BB962C8B-B14F-4D97-AF65-F5344CB8AC3E}">
        <p14:creationId xmlns:p14="http://schemas.microsoft.com/office/powerpoint/2010/main" val="3828747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03FB9-B598-18B5-CC33-7E03DAF78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AF1148-3DFD-905C-6E05-D8B6813C8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337" y="0"/>
            <a:ext cx="53500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EC3BBB-4968-13F2-F202-F7CD9260C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Visualize group differences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51A7B-46F9-8E4D-4417-CB5AED4233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800" dirty="0">
                <a:latin typeface="Courier New"/>
                <a:ea typeface="+mn-lt"/>
                <a:cs typeface="+mn-lt"/>
              </a:rPr>
              <a:t>boxplot(</a:t>
            </a:r>
            <a:r>
              <a:rPr lang="en-GB" sz="1800" err="1">
                <a:latin typeface="Courier New"/>
                <a:ea typeface="+mn-lt"/>
                <a:cs typeface="+mn-lt"/>
              </a:rPr>
              <a:t>Petal.Length</a:t>
            </a:r>
            <a:r>
              <a:rPr lang="en-GB" sz="1800" dirty="0">
                <a:latin typeface="Courier New"/>
                <a:ea typeface="+mn-lt"/>
                <a:cs typeface="+mn-lt"/>
              </a:rPr>
              <a:t> ~ Species, </a:t>
            </a:r>
            <a:endParaRPr lang="en-US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    data=</a:t>
            </a:r>
            <a:r>
              <a:rPr lang="en-GB" sz="1800" dirty="0" err="1">
                <a:latin typeface="Courier New"/>
                <a:ea typeface="+mn-lt"/>
                <a:cs typeface="+mn-lt"/>
              </a:rPr>
              <a:t>iris_f</a:t>
            </a:r>
            <a:r>
              <a:rPr lang="en-GB" sz="1800" dirty="0">
                <a:latin typeface="Courier New"/>
                <a:ea typeface="+mn-lt"/>
                <a:cs typeface="+mn-lt"/>
              </a:rPr>
              <a:t>, </a:t>
            </a:r>
            <a:endParaRPr lang="en-US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    col=c("</a:t>
            </a:r>
            <a:r>
              <a:rPr lang="en-GB" sz="1800" dirty="0" err="1">
                <a:latin typeface="Courier New"/>
                <a:ea typeface="+mn-lt"/>
                <a:cs typeface="+mn-lt"/>
              </a:rPr>
              <a:t>cornflowerblue</a:t>
            </a:r>
            <a:r>
              <a:rPr lang="en-GB" sz="1800" dirty="0">
                <a:latin typeface="Courier New"/>
                <a:ea typeface="+mn-lt"/>
                <a:cs typeface="+mn-lt"/>
              </a:rPr>
              <a:t>", "pink"), </a:t>
            </a:r>
            <a:endParaRPr lang="en-US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    </a:t>
            </a:r>
            <a:r>
              <a:rPr lang="en-GB" sz="1800" err="1">
                <a:latin typeface="Courier New"/>
                <a:ea typeface="+mn-lt"/>
                <a:cs typeface="+mn-lt"/>
              </a:rPr>
              <a:t>ylab</a:t>
            </a:r>
            <a:r>
              <a:rPr lang="en-GB" sz="1800" dirty="0">
                <a:latin typeface="Courier New"/>
                <a:ea typeface="+mn-lt"/>
                <a:cs typeface="+mn-lt"/>
              </a:rPr>
              <a:t>="petal length", </a:t>
            </a:r>
            <a:endParaRPr lang="en-GB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    </a:t>
            </a:r>
            <a:r>
              <a:rPr lang="en-GB" sz="1800" dirty="0" err="1">
                <a:latin typeface="Courier New"/>
                <a:ea typeface="+mn-lt"/>
                <a:cs typeface="+mn-lt"/>
              </a:rPr>
              <a:t>xlab</a:t>
            </a:r>
            <a:r>
              <a:rPr lang="en-GB" sz="1800" dirty="0">
                <a:latin typeface="Courier New"/>
                <a:ea typeface="+mn-lt"/>
                <a:cs typeface="+mn-lt"/>
              </a:rPr>
              <a:t>="species") 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points( </a:t>
            </a:r>
            <a:r>
              <a:rPr lang="en-GB" sz="1800" err="1">
                <a:latin typeface="Courier New"/>
                <a:ea typeface="+mn-lt"/>
                <a:cs typeface="+mn-lt"/>
              </a:rPr>
              <a:t>Petal.Length</a:t>
            </a:r>
            <a:r>
              <a:rPr lang="en-GB" sz="1800" dirty="0">
                <a:latin typeface="Courier New"/>
                <a:ea typeface="+mn-lt"/>
                <a:cs typeface="+mn-lt"/>
              </a:rPr>
              <a:t> ~ Species, </a:t>
            </a:r>
            <a:endParaRPr lang="en-GB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    data=</a:t>
            </a:r>
            <a:r>
              <a:rPr lang="en-GB" sz="1800" dirty="0" err="1">
                <a:latin typeface="Courier New"/>
                <a:ea typeface="+mn-lt"/>
                <a:cs typeface="+mn-lt"/>
              </a:rPr>
              <a:t>iris_f</a:t>
            </a:r>
            <a:r>
              <a:rPr lang="en-GB" sz="1800" dirty="0">
                <a:latin typeface="Courier New"/>
                <a:ea typeface="+mn-lt"/>
                <a:cs typeface="+mn-lt"/>
              </a:rPr>
              <a:t>, </a:t>
            </a:r>
            <a:endParaRPr lang="en-GB">
              <a:latin typeface="Courier New"/>
            </a:endParaRPr>
          </a:p>
          <a:p>
            <a:r>
              <a:rPr lang="en-GB" sz="1800">
                <a:latin typeface="Courier New"/>
                <a:ea typeface="+mn-lt"/>
                <a:cs typeface="+mn-lt"/>
              </a:rPr>
              <a:t>        col="black",</a:t>
            </a:r>
            <a:endParaRPr lang="en-GB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    </a:t>
            </a:r>
            <a:r>
              <a:rPr lang="en-GB" sz="1800" dirty="0" err="1">
                <a:latin typeface="Courier New"/>
                <a:ea typeface="+mn-lt"/>
                <a:cs typeface="+mn-lt"/>
              </a:rPr>
              <a:t>pch</a:t>
            </a:r>
            <a:r>
              <a:rPr lang="en-GB" sz="1800" dirty="0">
                <a:latin typeface="Courier New"/>
                <a:ea typeface="+mn-lt"/>
                <a:cs typeface="+mn-lt"/>
              </a:rPr>
              <a:t> = 19)</a:t>
            </a:r>
            <a:endParaRPr lang="en-GB">
              <a:latin typeface="Courier New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GB" sz="1800" dirty="0"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233112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CB317-FC8A-685A-351D-8A4F74942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D31D-91C8-547A-94EC-ED0E80E7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Function </a:t>
            </a:r>
            <a:r>
              <a:rPr lang="en-GB" dirty="0" err="1">
                <a:ea typeface="Verdana"/>
                <a:cs typeface="Gill Sans"/>
              </a:rPr>
              <a:t>t.test</a:t>
            </a:r>
            <a:r>
              <a:rPr lang="en-GB" dirty="0">
                <a:ea typeface="Verdana"/>
                <a:cs typeface="Gill Sans"/>
              </a:rPr>
              <a:t>()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E43C3-9E7B-5D97-740F-4C651A1E4C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GB" sz="1800" dirty="0" err="1">
                <a:latin typeface="Courier New"/>
                <a:ea typeface="+mn-lt"/>
                <a:cs typeface="+mn-lt"/>
              </a:rPr>
              <a:t>t.test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dirty="0" err="1">
                <a:latin typeface="Courier New"/>
                <a:ea typeface="+mn-lt"/>
                <a:cs typeface="+mn-lt"/>
              </a:rPr>
              <a:t>plen_versicolor</a:t>
            </a:r>
            <a:r>
              <a:rPr lang="en-GB" sz="1800" dirty="0">
                <a:latin typeface="Courier New"/>
                <a:ea typeface="+mn-lt"/>
                <a:cs typeface="+mn-lt"/>
              </a:rPr>
              <a:t>, </a:t>
            </a:r>
            <a:r>
              <a:rPr lang="en-GB" sz="1800" dirty="0" err="1">
                <a:latin typeface="Courier New"/>
                <a:ea typeface="+mn-lt"/>
                <a:cs typeface="+mn-lt"/>
              </a:rPr>
              <a:t>plen_virginica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dirty="0">
              <a:latin typeface="Courier New"/>
            </a:endParaRPr>
          </a:p>
          <a:p>
            <a:endParaRPr lang="en-GB" dirty="0">
              <a:latin typeface="Courier New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t.test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err="1">
                <a:latin typeface="Courier New"/>
                <a:ea typeface="+mn-lt"/>
                <a:cs typeface="+mn-lt"/>
              </a:rPr>
              <a:t>Petal.Length</a:t>
            </a:r>
            <a:r>
              <a:rPr lang="en-GB" sz="1800" dirty="0">
                <a:latin typeface="Courier New"/>
                <a:ea typeface="+mn-lt"/>
                <a:cs typeface="+mn-lt"/>
              </a:rPr>
              <a:t> ~ Species, data=</a:t>
            </a:r>
            <a:r>
              <a:rPr lang="en-GB" sz="1800" err="1">
                <a:latin typeface="Courier New"/>
                <a:ea typeface="+mn-lt"/>
                <a:cs typeface="+mn-lt"/>
              </a:rPr>
              <a:t>iris_f</a:t>
            </a:r>
            <a:r>
              <a:rPr lang="en-GB" sz="1800" dirty="0">
                <a:latin typeface="Courier New"/>
                <a:ea typeface="+mn-lt"/>
                <a:cs typeface="+mn-lt"/>
              </a:rPr>
              <a:t>) </a:t>
            </a:r>
            <a:r>
              <a:rPr lang="en-GB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#equivalent to the above </a:t>
            </a:r>
            <a:endParaRPr lang="en-GB" b="1">
              <a:solidFill>
                <a:schemeClr val="accent4"/>
              </a:solidFill>
              <a:latin typeface="Courier New"/>
              <a:ea typeface="Tahoma"/>
              <a:cs typeface="Gill Sans Light"/>
            </a:endParaRPr>
          </a:p>
          <a:p>
            <a:endParaRPr lang="en-GB" sz="1800" b="1" dirty="0">
              <a:solidFill>
                <a:schemeClr val="accent4"/>
              </a:solidFill>
              <a:latin typeface="Courier New"/>
              <a:ea typeface="+mn-lt"/>
              <a:cs typeface="+mn-lt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Welch Two Sample t-test</a:t>
            </a:r>
            <a:endParaRPr lang="en-GB" dirty="0">
              <a:latin typeface="Courier New"/>
            </a:endParaRPr>
          </a:p>
          <a:p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data:  </a:t>
            </a:r>
            <a:r>
              <a:rPr lang="en-GB" sz="1800" err="1">
                <a:latin typeface="Courier New"/>
                <a:ea typeface="+mn-lt"/>
                <a:cs typeface="+mn-lt"/>
              </a:rPr>
              <a:t>Petal.Length</a:t>
            </a:r>
            <a:r>
              <a:rPr lang="en-GB" sz="1800" dirty="0">
                <a:latin typeface="Courier New"/>
                <a:ea typeface="+mn-lt"/>
                <a:cs typeface="+mn-lt"/>
              </a:rPr>
              <a:t> by Species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t = -12.604, </a:t>
            </a:r>
            <a:r>
              <a:rPr lang="en-GB" sz="1800" err="1">
                <a:latin typeface="Courier New"/>
                <a:ea typeface="+mn-lt"/>
                <a:cs typeface="+mn-lt"/>
              </a:rPr>
              <a:t>df</a:t>
            </a:r>
            <a:r>
              <a:rPr lang="en-GB" sz="1800" dirty="0">
                <a:latin typeface="Courier New"/>
                <a:ea typeface="+mn-lt"/>
                <a:cs typeface="+mn-lt"/>
              </a:rPr>
              <a:t> = 95.57, p-value &lt; 2.2e-16</a:t>
            </a:r>
            <a:endParaRPr lang="en-GB" dirty="0">
              <a:latin typeface="Courier New"/>
            </a:endParaRPr>
          </a:p>
          <a:p>
            <a:r>
              <a:rPr lang="en-GB" sz="1800">
                <a:latin typeface="Courier New"/>
                <a:ea typeface="+mn-lt"/>
                <a:cs typeface="+mn-lt"/>
              </a:rPr>
              <a:t>alternative hypothesis: true difference in means between group versicolor and group virginica is not equal to 0</a:t>
            </a:r>
            <a:endParaRPr lang="en-GB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95 percent confidence interval: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-1.49549 -1.08851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sample estimates: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mean in group versicolor  mean in group virginica </a:t>
            </a:r>
            <a:endParaRPr lang="en-GB">
              <a:latin typeface="Courier New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GB" sz="1800" dirty="0">
                <a:latin typeface="Courier New"/>
                <a:ea typeface="+mn-lt"/>
                <a:cs typeface="+mn-lt"/>
              </a:rPr>
              <a:t>                   4.260                    5.552 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80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B91CF-3639-05C5-173C-B349D1BF4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ED93-68FA-C6DB-405F-F4144ACC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Reading the t.test() output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5BF65-6851-FC4F-86C8-22EA6D211C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248" y="914400"/>
            <a:ext cx="10515600" cy="51206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latin typeface="Courier New"/>
                <a:cs typeface="Courier New"/>
              </a:rPr>
              <a:t>t = -12.604, df = 95.57, p-value &lt; 2.2e-16</a:t>
            </a:r>
            <a:endParaRPr lang="en-US" sz="1500" dirty="0"/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700" b="1" dirty="0">
                <a:solidFill>
                  <a:srgbClr val="262626"/>
                </a:solidFill>
              </a:rPr>
              <a:t>t</a:t>
            </a:r>
            <a:r>
              <a:rPr lang="en-US" sz="1700" dirty="0">
                <a:solidFill>
                  <a:srgbClr val="262626"/>
                </a:solidFill>
              </a:rPr>
              <a:t>: size of the difference compared to the noise (the sign only says which group is larger)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700" b="1" dirty="0">
                <a:solidFill>
                  <a:srgbClr val="262626"/>
                </a:solidFill>
              </a:rPr>
              <a:t>df</a:t>
            </a:r>
            <a:r>
              <a:rPr lang="en-US" sz="1700" dirty="0">
                <a:solidFill>
                  <a:srgbClr val="262626"/>
                </a:solidFill>
              </a:rPr>
              <a:t> (degrees of freedom): linked to the number of observations, you can ignore it for now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700" b="1" dirty="0">
                <a:solidFill>
                  <a:srgbClr val="262626"/>
                </a:solidFill>
              </a:rPr>
              <a:t>p-value</a:t>
            </a:r>
            <a:r>
              <a:rPr lang="en-US" sz="1700" dirty="0">
                <a:solidFill>
                  <a:srgbClr val="262626"/>
                </a:solidFill>
              </a:rPr>
              <a:t>: &lt; 2.2e-16 is the smallest value R displays, so extremely small → we reject H0</a:t>
            </a:r>
          </a:p>
          <a:p>
            <a:pPr marL="0" indent="0">
              <a:buNone/>
            </a:pPr>
            <a:endParaRPr lang="en-US" sz="1020" dirty="0"/>
          </a:p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latin typeface="Courier New"/>
                <a:cs typeface="Courier New"/>
              </a:rPr>
              <a:t>95 percent confidence interval: -1.49549 -1.08851</a:t>
            </a:r>
            <a:endParaRPr lang="en-US" sz="1500" dirty="0"/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700" dirty="0">
                <a:solidFill>
                  <a:srgbClr val="262626"/>
                </a:solidFill>
              </a:rPr>
              <a:t>Plausible range for the true difference of means (versicolor − virginica). It does not contain 0, which agrees with the small p-value.</a:t>
            </a:r>
          </a:p>
          <a:p>
            <a:pPr marL="0" indent="0">
              <a:buNone/>
            </a:pPr>
            <a:endParaRPr lang="en-US" sz="1020" dirty="0"/>
          </a:p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latin typeface="Courier New"/>
                <a:cs typeface="Courier New"/>
              </a:rPr>
              <a:t>mean in group versicolor  mean in group virginica</a:t>
            </a:r>
            <a:endParaRPr lang="en-US" sz="15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latin typeface="Courier New"/>
                <a:cs typeface="Courier New"/>
              </a:rPr>
              <a:t>                   4.260                    5.552</a:t>
            </a:r>
            <a:endParaRPr lang="en-US" sz="1500" dirty="0"/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700" dirty="0">
                <a:solidFill>
                  <a:srgbClr val="262626"/>
                </a:solidFill>
              </a:rPr>
              <a:t>The two group means</a:t>
            </a:r>
          </a:p>
          <a:p>
            <a:pPr marL="0" indent="0">
              <a:buNone/>
            </a:pPr>
            <a:endParaRPr lang="en-US" sz="102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700" b="1" dirty="0">
                <a:solidFill>
                  <a:srgbClr val="262626"/>
                </a:solidFill>
              </a:rPr>
              <a:t>How to report it:</a:t>
            </a:r>
            <a:r>
              <a:rPr lang="en-US" sz="1700" dirty="0">
                <a:solidFill>
                  <a:srgbClr val="262626"/>
                </a:solidFill>
              </a:rPr>
              <a:t> "On average, I. virginica petals are 1.3 cm longer than I. versicolor petals (Welch t-test, p &lt; 0.001)."</a:t>
            </a:r>
          </a:p>
        </p:txBody>
      </p:sp>
    </p:spTree>
    <p:extLst>
      <p:ext uri="{BB962C8B-B14F-4D97-AF65-F5344CB8AC3E}">
        <p14:creationId xmlns:p14="http://schemas.microsoft.com/office/powerpoint/2010/main" val="3806972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3E238-C457-5C69-4935-41001180C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9C98-CC49-C3FF-6F33-D0C00A31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a typeface="Verdana"/>
                <a:cs typeface="Gill Sans"/>
              </a:rPr>
              <a:t>t.test</a:t>
            </a:r>
            <a:r>
              <a:rPr lang="en-GB" dirty="0">
                <a:ea typeface="Verdana"/>
                <a:cs typeface="Gill Sans"/>
              </a:rPr>
              <a:t> object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FB6B6-AF13-142A-258E-F44D8606C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2900" indent="-34036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800" err="1">
                <a:solidFill>
                  <a:srgbClr val="000000"/>
                </a:solidFill>
                <a:latin typeface="Corbel"/>
                <a:ea typeface="+mn-lt"/>
                <a:cs typeface="Arial"/>
              </a:rPr>
              <a:t>t.test</a:t>
            </a:r>
            <a:r>
              <a:rPr lang="en-US" sz="2800" dirty="0">
                <a:solidFill>
                  <a:srgbClr val="000000"/>
                </a:solidFill>
                <a:latin typeface="Corbel"/>
                <a:ea typeface="+mn-lt"/>
                <a:cs typeface="Arial"/>
              </a:rPr>
              <a:t>() and other tests return a </a:t>
            </a:r>
            <a:r>
              <a:rPr lang="en-US" sz="2800" b="1" dirty="0">
                <a:solidFill>
                  <a:srgbClr val="000000"/>
                </a:solidFill>
                <a:latin typeface="Corbel"/>
                <a:ea typeface="+mn-lt"/>
                <a:cs typeface="Arial"/>
              </a:rPr>
              <a:t>list</a:t>
            </a:r>
            <a:r>
              <a:rPr lang="en-US" sz="2800" dirty="0">
                <a:solidFill>
                  <a:srgbClr val="000000"/>
                </a:solidFill>
                <a:latin typeface="Corbel"/>
                <a:ea typeface="+mn-lt"/>
                <a:cs typeface="Arial"/>
              </a:rPr>
              <a:t> that can be assigned to a variable. </a:t>
            </a:r>
            <a:endParaRPr lang="en-US">
              <a:latin typeface="Corbel"/>
            </a:endParaRPr>
          </a:p>
          <a:p>
            <a:pPr marL="342900" indent="-34036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800" dirty="0">
                <a:latin typeface="Corbel"/>
                <a:ea typeface="+mn-lt"/>
                <a:cs typeface="Arial"/>
              </a:rPr>
              <a:t>View the names of the list’s slots using </a:t>
            </a:r>
            <a:r>
              <a:rPr lang="en-US" sz="2800" b="1" dirty="0">
                <a:latin typeface="Corbel"/>
                <a:ea typeface="+mn-lt"/>
                <a:cs typeface="Arial"/>
              </a:rPr>
              <a:t>names()</a:t>
            </a:r>
            <a:r>
              <a:rPr lang="en-US" sz="2800" dirty="0">
                <a:latin typeface="Corbel"/>
                <a:ea typeface="+mn-lt"/>
                <a:cs typeface="Arial"/>
              </a:rPr>
              <a:t>.</a:t>
            </a:r>
            <a:endParaRPr lang="en-US"/>
          </a:p>
          <a:p>
            <a:pPr marL="342900" indent="-34036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800" dirty="0">
                <a:latin typeface="Corbel"/>
                <a:ea typeface="+mn-lt"/>
                <a:cs typeface="Arial"/>
              </a:rPr>
              <a:t>Access the elements of a list using the </a:t>
            </a:r>
            <a:r>
              <a:rPr lang="en-US" sz="2800" b="1" dirty="0">
                <a:latin typeface="Corbel"/>
                <a:ea typeface="+mn-lt"/>
                <a:cs typeface="Arial"/>
              </a:rPr>
              <a:t>$</a:t>
            </a:r>
            <a:r>
              <a:rPr lang="en-US" sz="2800" dirty="0">
                <a:latin typeface="Corbel"/>
                <a:ea typeface="+mn-lt"/>
                <a:cs typeface="Arial"/>
              </a:rPr>
              <a:t> or the </a:t>
            </a:r>
            <a:r>
              <a:rPr lang="en-US" sz="2800" b="1" dirty="0">
                <a:latin typeface="Corbel"/>
                <a:ea typeface="+mn-lt"/>
                <a:cs typeface="Arial"/>
              </a:rPr>
              <a:t>[[ ]]</a:t>
            </a:r>
            <a:r>
              <a:rPr lang="en-US" sz="2800" dirty="0">
                <a:latin typeface="Corbel"/>
                <a:ea typeface="+mn-lt"/>
                <a:cs typeface="Arial"/>
              </a:rPr>
              <a:t> operators.</a:t>
            </a:r>
          </a:p>
          <a:p>
            <a:pPr marL="342900" indent="-34036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US" sz="18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test_res</a:t>
            </a:r>
            <a:r>
              <a:rPr lang="en-GB" sz="1800" dirty="0">
                <a:latin typeface="Courier New"/>
                <a:ea typeface="+mn-lt"/>
                <a:cs typeface="+mn-lt"/>
              </a:rPr>
              <a:t> = </a:t>
            </a:r>
            <a:r>
              <a:rPr lang="en-GB" sz="1800" err="1">
                <a:latin typeface="Courier New"/>
                <a:ea typeface="+mn-lt"/>
                <a:cs typeface="+mn-lt"/>
              </a:rPr>
              <a:t>t.test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err="1">
                <a:latin typeface="Courier New"/>
                <a:ea typeface="+mn-lt"/>
                <a:cs typeface="+mn-lt"/>
              </a:rPr>
              <a:t>Petal.Length</a:t>
            </a:r>
            <a:r>
              <a:rPr lang="en-GB" sz="1800" dirty="0">
                <a:latin typeface="Courier New"/>
                <a:ea typeface="+mn-lt"/>
                <a:cs typeface="+mn-lt"/>
              </a:rPr>
              <a:t> ~ Species, data=</a:t>
            </a:r>
            <a:r>
              <a:rPr lang="en-GB" sz="1800" err="1">
                <a:latin typeface="Courier New"/>
                <a:ea typeface="+mn-lt"/>
                <a:cs typeface="+mn-lt"/>
              </a:rPr>
              <a:t>iris_f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sz="1800">
              <a:latin typeface="Courier New"/>
            </a:endParaRPr>
          </a:p>
          <a:p>
            <a:endParaRPr lang="en-GB" sz="1800" dirty="0">
              <a:latin typeface="Courier New"/>
              <a:ea typeface="+mn-lt"/>
              <a:cs typeface="+mn-lt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names(</a:t>
            </a:r>
            <a:r>
              <a:rPr lang="en-GB" sz="1800" err="1">
                <a:latin typeface="Courier New"/>
                <a:ea typeface="+mn-lt"/>
                <a:cs typeface="+mn-lt"/>
              </a:rPr>
              <a:t>test_res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sz="180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[1] "statistic"   "parameter"   "</a:t>
            </a:r>
            <a:r>
              <a:rPr lang="en-GB" sz="1800" err="1">
                <a:latin typeface="Courier New"/>
                <a:ea typeface="+mn-lt"/>
                <a:cs typeface="+mn-lt"/>
              </a:rPr>
              <a:t>p.value</a:t>
            </a:r>
            <a:r>
              <a:rPr lang="en-GB" sz="1800" dirty="0">
                <a:latin typeface="Courier New"/>
                <a:ea typeface="+mn-lt"/>
                <a:cs typeface="+mn-lt"/>
              </a:rPr>
              <a:t>"     "conf.int"    "estimate"   </a:t>
            </a:r>
            <a:endParaRPr lang="en-GB" sz="180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[6] "</a:t>
            </a:r>
            <a:r>
              <a:rPr lang="en-GB" sz="1800" err="1">
                <a:latin typeface="Courier New"/>
                <a:ea typeface="+mn-lt"/>
                <a:cs typeface="+mn-lt"/>
              </a:rPr>
              <a:t>null.value</a:t>
            </a:r>
            <a:r>
              <a:rPr lang="en-GB" sz="1800" dirty="0">
                <a:latin typeface="Courier New"/>
                <a:ea typeface="+mn-lt"/>
                <a:cs typeface="+mn-lt"/>
              </a:rPr>
              <a:t>"  "stderr"      "alternative" "method"      "data.name" </a:t>
            </a:r>
            <a:endParaRPr lang="en-GB" sz="1800">
              <a:latin typeface="Courier New"/>
            </a:endParaRPr>
          </a:p>
          <a:p>
            <a:endParaRPr lang="en-GB" sz="1800" dirty="0">
              <a:latin typeface="Courier New"/>
              <a:ea typeface="+mn-lt"/>
              <a:cs typeface="+mn-lt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test_res</a:t>
            </a:r>
            <a:r>
              <a:rPr lang="en-GB" sz="1800" dirty="0">
                <a:latin typeface="Courier New"/>
                <a:ea typeface="+mn-lt"/>
                <a:cs typeface="+mn-lt"/>
              </a:rPr>
              <a:t>[['</a:t>
            </a:r>
            <a:r>
              <a:rPr lang="en-GB" sz="1800" err="1">
                <a:latin typeface="Courier New"/>
                <a:ea typeface="+mn-lt"/>
                <a:cs typeface="+mn-lt"/>
              </a:rPr>
              <a:t>p.value</a:t>
            </a:r>
            <a:r>
              <a:rPr lang="en-GB" sz="1800" dirty="0">
                <a:latin typeface="Courier New"/>
                <a:ea typeface="+mn-lt"/>
                <a:cs typeface="+mn-lt"/>
              </a:rPr>
              <a:t>']]</a:t>
            </a:r>
            <a:endParaRPr lang="en-GB" sz="180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[1] 4.900288e-22</a:t>
            </a:r>
            <a:endParaRPr lang="en-GB" sz="1800" dirty="0">
              <a:latin typeface="Courier New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0444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B91CF-3639-05C5-173C-B349D1BF4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ED93-68FA-C6DB-405F-F4144ACC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Paired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5BF65-6851-FC4F-86C8-22EA6D211C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248" y="914400"/>
            <a:ext cx="10515600" cy="51206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rgbClr val="262626"/>
                </a:solidFill>
              </a:rPr>
              <a:t>Sometimes both measurements come from the </a:t>
            </a:r>
            <a:r>
              <a:rPr lang="en-US" sz="2000" b="1" dirty="0">
                <a:solidFill>
                  <a:srgbClr val="262626"/>
                </a:solidFill>
              </a:rPr>
              <a:t>same individuals</a:t>
            </a:r>
            <a:r>
              <a:rPr lang="en-US" sz="2000" dirty="0">
                <a:solidFill>
                  <a:srgbClr val="262626"/>
                </a:solidFill>
              </a:rPr>
              <a:t> (or from matched pairs). The two groups are then not independent → use the </a:t>
            </a:r>
            <a:r>
              <a:rPr lang="en-US" sz="2000" b="1" dirty="0">
                <a:solidFill>
                  <a:srgbClr val="262626"/>
                </a:solidFill>
              </a:rPr>
              <a:t>paired t-test</a:t>
            </a:r>
            <a:r>
              <a:rPr lang="en-US" sz="2000" dirty="0">
                <a:solidFill>
                  <a:srgbClr val="262626"/>
                </a:solidFill>
              </a:rPr>
              <a:t>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Life-science examples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Blood pressure of the same patients before and after a treatment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Tumour vs adjacent normal tissue from the same patient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The same mice weighed at the start and at the end of a diet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How it works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Compute the difference within each pair (e.g. after − before)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Test whether the mean of these differences is different from 0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Assumption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The differences are roughly normally distributed</a:t>
            </a:r>
          </a:p>
        </p:txBody>
      </p:sp>
    </p:spTree>
    <p:extLst>
      <p:ext uri="{BB962C8B-B14F-4D97-AF65-F5344CB8AC3E}">
        <p14:creationId xmlns:p14="http://schemas.microsoft.com/office/powerpoint/2010/main" val="3806972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64507-D5FC-8EB3-F9B5-9C8EA71EC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42B2A-6EB3-A2AC-0E25-1CA9BA7D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Paired data representation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A0CCD-36ED-B42E-A3B6-295B330E8C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data(sleep)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head(sleep, n=3)</a:t>
            </a: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extra group ID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1   0.7     1  1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2  -1.6     1  2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3  -0.2     1  3</a:t>
            </a:r>
            <a:endParaRPr lang="en-US" dirty="0">
              <a:latin typeface="Courier New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err="1">
                <a:latin typeface="Courier New"/>
                <a:ea typeface="+mn-lt"/>
                <a:cs typeface="+mn-lt"/>
              </a:rPr>
              <a:t>interaction.plot</a:t>
            </a:r>
            <a:r>
              <a:rPr lang="en-US" sz="1800" dirty="0">
                <a:latin typeface="Courier New"/>
                <a:ea typeface="+mn-lt"/>
                <a:cs typeface="+mn-lt"/>
              </a:rPr>
              <a:t>(response=</a:t>
            </a:r>
            <a:r>
              <a:rPr lang="en-US" sz="18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1800" dirty="0">
                <a:latin typeface="Courier New"/>
                <a:ea typeface="+mn-lt"/>
                <a:cs typeface="+mn-lt"/>
              </a:rPr>
              <a:t>, </a:t>
            </a:r>
            <a:endParaRPr lang="en-US">
              <a:latin typeface="Courier New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     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x.factor</a:t>
            </a:r>
            <a:r>
              <a:rPr lang="en-US" sz="1800" dirty="0">
                <a:latin typeface="Courier New"/>
                <a:ea typeface="+mn-lt"/>
                <a:cs typeface="+mn-lt"/>
              </a:rPr>
              <a:t>=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1800" dirty="0">
                <a:latin typeface="Courier New"/>
                <a:ea typeface="+mn-lt"/>
                <a:cs typeface="+mn-lt"/>
              </a:rPr>
              <a:t>, </a:t>
            </a:r>
            <a:endParaRPr lang="en-US" dirty="0">
              <a:latin typeface="Courier New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            </a:t>
            </a:r>
            <a:r>
              <a:rPr lang="en-US" sz="1800" err="1">
                <a:latin typeface="Courier New"/>
                <a:ea typeface="+mn-lt"/>
                <a:cs typeface="+mn-lt"/>
              </a:rPr>
              <a:t>trace.factor</a:t>
            </a:r>
            <a:r>
              <a:rPr lang="en-US" sz="1800" dirty="0">
                <a:latin typeface="Courier New"/>
                <a:ea typeface="+mn-lt"/>
                <a:cs typeface="+mn-lt"/>
              </a:rPr>
              <a:t>=</a:t>
            </a:r>
            <a:r>
              <a:rPr lang="en-US" sz="1800" err="1">
                <a:latin typeface="Courier New"/>
                <a:ea typeface="+mn-lt"/>
                <a:cs typeface="+mn-lt"/>
              </a:rPr>
              <a:t>sleep$ID</a:t>
            </a:r>
            <a:r>
              <a:rPr lang="en-US" sz="1800" dirty="0">
                <a:latin typeface="Courier New"/>
                <a:ea typeface="+mn-lt"/>
                <a:cs typeface="+mn-lt"/>
              </a:rPr>
              <a:t>, </a:t>
            </a:r>
            <a:endParaRPr lang="en-US">
              <a:latin typeface="Corbel" panose="020B0503020204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     legend=FALSE, </a:t>
            </a:r>
            <a:r>
              <a:rPr lang="en-US" sz="1800" dirty="0">
                <a:latin typeface="Courier New"/>
                <a:ea typeface="+mn-lt"/>
                <a:cs typeface="Courier New"/>
              </a:rPr>
              <a:t>type="b", </a:t>
            </a:r>
            <a:endParaRPr lang="en-US">
              <a:latin typeface="Corbel" panose="020B0503020204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           </a:t>
            </a:r>
            <a:r>
              <a:rPr lang="en-US" sz="1800" dirty="0" err="1">
                <a:latin typeface="Courier New"/>
                <a:ea typeface="+mn-lt"/>
                <a:cs typeface="Courier New"/>
              </a:rPr>
              <a:t>lty</a:t>
            </a:r>
            <a:r>
              <a:rPr lang="en-US" sz="1800" dirty="0">
                <a:latin typeface="Courier New"/>
                <a:ea typeface="+mn-lt"/>
                <a:cs typeface="Courier New"/>
              </a:rPr>
              <a:t>=1, </a:t>
            </a:r>
            <a:r>
              <a:rPr lang="en-US" sz="1800" dirty="0" err="1">
                <a:latin typeface="Courier New"/>
                <a:ea typeface="+mn-lt"/>
                <a:cs typeface="Courier New"/>
              </a:rPr>
              <a:t>pch</a:t>
            </a:r>
            <a:r>
              <a:rPr lang="en-US" sz="1800" dirty="0">
                <a:latin typeface="Courier New"/>
                <a:ea typeface="+mn-lt"/>
                <a:cs typeface="Courier New"/>
              </a:rPr>
              <a:t>=16, </a:t>
            </a:r>
            <a:endParaRPr lang="en-US" dirty="0">
              <a:latin typeface="Corbel" panose="020B0503020204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     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xlab</a:t>
            </a:r>
            <a:r>
              <a:rPr lang="en-US" sz="1800" dirty="0">
                <a:latin typeface="Courier New"/>
                <a:ea typeface="+mn-lt"/>
                <a:cs typeface="+mn-lt"/>
              </a:rPr>
              <a:t>="Drug received", </a:t>
            </a:r>
            <a:endParaRPr lang="en-US">
              <a:latin typeface="Corbel" panose="020B0503020204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     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ylab</a:t>
            </a:r>
            <a:r>
              <a:rPr lang="en-US" sz="1800" dirty="0">
                <a:latin typeface="Courier New"/>
                <a:ea typeface="+mn-lt"/>
                <a:cs typeface="+mn-lt"/>
              </a:rPr>
              <a:t>="Extra sleep")</a:t>
            </a:r>
            <a:endParaRPr lang="en-US" dirty="0"/>
          </a:p>
          <a:p>
            <a:pPr marL="2540">
              <a:lnSpc>
                <a:spcPct val="100000"/>
              </a:lnSpc>
              <a:spcBef>
                <a:spcPts val="0"/>
              </a:spcBef>
            </a:pPr>
            <a:endParaRPr lang="en-US" sz="2800" dirty="0">
              <a:latin typeface="Courier New"/>
              <a:ea typeface="Tahoma"/>
              <a:cs typeface="Arial"/>
            </a:endParaRPr>
          </a:p>
        </p:txBody>
      </p:sp>
      <p:pic>
        <p:nvPicPr>
          <p:cNvPr id="6" name="Picture 5" descr="A graph with lines and dots&#10;&#10;Description automatically generated">
            <a:extLst>
              <a:ext uri="{FF2B5EF4-FFF2-40B4-BE49-F238E27FC236}">
                <a16:creationId xmlns:a16="http://schemas.microsoft.com/office/drawing/2014/main" id="{E48249B1-52BB-8A61-54B3-184FF09C7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735" y="0"/>
            <a:ext cx="54349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52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E3AC-5B59-DDA0-3E94-5A5C8B7C6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B0ACF-6B69-06B2-F01F-FD04F7970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Check normality of the differences between pairs</a:t>
            </a:r>
            <a:endParaRPr lang="en-GB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BF0CD-634C-9C6E-47EB-67E7208889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ea typeface="+mn-lt"/>
                <a:cs typeface="+mn-lt"/>
              </a:rPr>
              <a:t>difference = </a:t>
            </a:r>
            <a:r>
              <a:rPr lang="en-US" sz="16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1600" dirty="0">
                <a:latin typeface="Courier New"/>
                <a:ea typeface="+mn-lt"/>
                <a:cs typeface="+mn-lt"/>
              </a:rPr>
              <a:t>[</a:t>
            </a:r>
            <a:r>
              <a:rPr lang="en-US" sz="16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1600" dirty="0">
                <a:latin typeface="Courier New"/>
                <a:ea typeface="+mn-lt"/>
                <a:cs typeface="+mn-lt"/>
              </a:rPr>
              <a:t>==2]-</a:t>
            </a:r>
            <a:r>
              <a:rPr lang="en-US" sz="16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1600" dirty="0">
                <a:latin typeface="Courier New"/>
                <a:ea typeface="+mn-lt"/>
                <a:cs typeface="+mn-lt"/>
              </a:rPr>
              <a:t>[</a:t>
            </a:r>
            <a:r>
              <a:rPr lang="en-US" sz="16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1600" dirty="0">
                <a:latin typeface="Courier New"/>
                <a:ea typeface="+mn-lt"/>
                <a:cs typeface="+mn-lt"/>
              </a:rPr>
              <a:t>==1]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>
              <a:latin typeface="Courier New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>
                <a:latin typeface="Courier New"/>
                <a:ea typeface="+mn-lt"/>
                <a:cs typeface="+mn-lt"/>
              </a:rPr>
              <a:t>hist(difference, </a:t>
            </a:r>
            <a:r>
              <a:rPr lang="en-US" sz="1600" err="1">
                <a:latin typeface="Courier New"/>
                <a:ea typeface="+mn-lt"/>
                <a:cs typeface="+mn-lt"/>
              </a:rPr>
              <a:t>freq</a:t>
            </a:r>
            <a:r>
              <a:rPr lang="en-US" sz="1600" dirty="0">
                <a:latin typeface="Courier New"/>
                <a:ea typeface="+mn-lt"/>
                <a:cs typeface="+mn-lt"/>
              </a:rPr>
              <a:t>=FALSE, </a:t>
            </a:r>
            <a:r>
              <a:rPr lang="en-US" sz="1600" err="1">
                <a:latin typeface="Courier New"/>
                <a:ea typeface="+mn-lt"/>
                <a:cs typeface="+mn-lt"/>
              </a:rPr>
              <a:t>xlab</a:t>
            </a:r>
            <a:r>
              <a:rPr lang="en-US" sz="1600" dirty="0">
                <a:latin typeface="Courier New"/>
                <a:ea typeface="+mn-lt"/>
                <a:cs typeface="+mn-lt"/>
              </a:rPr>
              <a:t>="Difference Drug 2 - Drug 1",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ea typeface="+mn-lt"/>
                <a:cs typeface="+mn-lt"/>
              </a:rPr>
              <a:t>                 main="Difference in extra sleep", col="white")</a:t>
            </a:r>
            <a:endParaRPr lang="en-US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>
              <a:latin typeface="Courier New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 err="1">
                <a:latin typeface="Courier New"/>
                <a:ea typeface="+mn-lt"/>
                <a:cs typeface="+mn-lt"/>
              </a:rPr>
              <a:t>qqnorm</a:t>
            </a:r>
            <a:r>
              <a:rPr lang="en-US" sz="1600" dirty="0">
                <a:latin typeface="Courier New"/>
                <a:ea typeface="+mn-lt"/>
                <a:cs typeface="+mn-lt"/>
              </a:rPr>
              <a:t>(difference)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 err="1">
                <a:latin typeface="Courier New"/>
                <a:ea typeface="+mn-lt"/>
                <a:cs typeface="+mn-lt"/>
              </a:rPr>
              <a:t>qqline</a:t>
            </a:r>
            <a:r>
              <a:rPr lang="en-US" sz="1600" dirty="0">
                <a:latin typeface="Courier New"/>
                <a:ea typeface="+mn-lt"/>
                <a:cs typeface="+mn-lt"/>
              </a:rPr>
              <a:t>(difference)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urier New"/>
              <a:ea typeface="+mn-lt"/>
              <a:cs typeface="+mn-lt"/>
            </a:endParaRPr>
          </a:p>
          <a:p>
            <a:pPr marL="2540">
              <a:lnSpc>
                <a:spcPct val="100000"/>
              </a:lnSpc>
              <a:spcBef>
                <a:spcPts val="0"/>
              </a:spcBef>
            </a:pPr>
            <a:endParaRPr lang="en-US" sz="2800" dirty="0">
              <a:latin typeface="Courier New"/>
              <a:ea typeface="Tahoma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91F774-757A-EF12-FD51-D45EFEE0B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810" y="2062466"/>
            <a:ext cx="7983373" cy="460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710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4F7F3-6423-CB50-7ABA-572966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2218F-7863-7639-3DA0-4B7813AF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Paired t-test</a:t>
            </a:r>
            <a:endParaRPr lang="en-GB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3A888-D2B8-2EF1-5123-87576ECF0F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using a paired t-test: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err="1">
                <a:latin typeface="Courier New"/>
                <a:ea typeface="+mn-lt"/>
                <a:cs typeface="+mn-lt"/>
              </a:rPr>
              <a:t>t.test</a:t>
            </a:r>
            <a:r>
              <a:rPr lang="en-US" sz="1800" dirty="0">
                <a:latin typeface="Courier New"/>
                <a:ea typeface="+mn-lt"/>
                <a:cs typeface="+mn-lt"/>
              </a:rPr>
              <a:t>(</a:t>
            </a:r>
            <a:r>
              <a:rPr lang="en-US" sz="18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1800" dirty="0">
                <a:latin typeface="Courier New"/>
                <a:ea typeface="+mn-lt"/>
                <a:cs typeface="+mn-lt"/>
              </a:rPr>
              <a:t>[</a:t>
            </a:r>
            <a:r>
              <a:rPr lang="en-US" sz="18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1800" dirty="0">
                <a:latin typeface="Courier New"/>
                <a:ea typeface="+mn-lt"/>
                <a:cs typeface="+mn-lt"/>
              </a:rPr>
              <a:t>==1],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</a:t>
            </a:r>
            <a:r>
              <a:rPr lang="en-US" sz="18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1800" dirty="0">
                <a:latin typeface="Courier New"/>
                <a:ea typeface="+mn-lt"/>
                <a:cs typeface="+mn-lt"/>
              </a:rPr>
              <a:t>[</a:t>
            </a:r>
            <a:r>
              <a:rPr lang="en-US" sz="18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1800" dirty="0">
                <a:latin typeface="Courier New"/>
                <a:ea typeface="+mn-lt"/>
                <a:cs typeface="+mn-lt"/>
              </a:rPr>
              <a:t>==2], 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paired=TRUE</a:t>
            </a:r>
            <a:r>
              <a:rPr lang="en-US" sz="1800" dirty="0">
                <a:latin typeface="Courier New"/>
                <a:ea typeface="+mn-lt"/>
                <a:cs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paired values must be at the same position in the two vectors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do not use formula notation (</a:t>
            </a:r>
            <a:r>
              <a:rPr lang="en-U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extra~sleep</a:t>
            </a:r>
            <a:r>
              <a:rPr lang="en-U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) for paired t-test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Paired t-test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urier New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data:  </a:t>
            </a:r>
            <a:r>
              <a:rPr lang="en-US" sz="18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1800" dirty="0">
                <a:latin typeface="Courier New"/>
                <a:ea typeface="+mn-lt"/>
                <a:cs typeface="+mn-lt"/>
              </a:rPr>
              <a:t>[</a:t>
            </a:r>
            <a:r>
              <a:rPr lang="en-US" sz="18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1800" dirty="0">
                <a:latin typeface="Courier New"/>
                <a:ea typeface="+mn-lt"/>
                <a:cs typeface="+mn-lt"/>
              </a:rPr>
              <a:t> == 1] and </a:t>
            </a:r>
            <a:r>
              <a:rPr lang="en-US" sz="18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1800" dirty="0">
                <a:latin typeface="Courier New"/>
                <a:ea typeface="+mn-lt"/>
                <a:cs typeface="+mn-lt"/>
              </a:rPr>
              <a:t>[</a:t>
            </a:r>
            <a:r>
              <a:rPr lang="en-US" sz="18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1800" dirty="0">
                <a:latin typeface="Courier New"/>
                <a:ea typeface="+mn-lt"/>
                <a:cs typeface="+mn-lt"/>
              </a:rPr>
              <a:t> == 2]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t = -4.0621, </a:t>
            </a:r>
            <a:r>
              <a:rPr lang="en-US" sz="1800" err="1">
                <a:latin typeface="Courier New"/>
                <a:ea typeface="+mn-lt"/>
                <a:cs typeface="+mn-lt"/>
              </a:rPr>
              <a:t>df</a:t>
            </a:r>
            <a:r>
              <a:rPr lang="en-US" sz="1800" dirty="0">
                <a:latin typeface="Courier New"/>
                <a:ea typeface="+mn-lt"/>
                <a:cs typeface="+mn-lt"/>
              </a:rPr>
              <a:t> = 9, p-value = 0.002833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alternative hypothesis: true difference in means is not equal to 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95 percent confidence interval: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-2.4598858 -0.7001142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sample estimates: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mean of the differences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          -1.58 </a:t>
            </a:r>
          </a:p>
          <a:p>
            <a:pPr marL="2540"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urier New"/>
              <a:ea typeface="Tahom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5116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E7122-791B-7807-B4E0-5A52A862F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7F74-2D0B-2F33-838D-E484144FD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Choosing a t-test, and alternatives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37560-D7D1-AA1D-24F6-190688A8D8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248" y="914400"/>
            <a:ext cx="10515600" cy="51206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Which t-test should I use?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Two independent groups (e.g. KO vs WT mice):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t.test(x, y)</a:t>
            </a:r>
            <a:endParaRPr lang="en-US" sz="1600" dirty="0"/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The same individuals measured twice (e.g. before / after treatment):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t.test(x, y, paired=TRUE)</a:t>
            </a:r>
            <a:endParaRPr lang="en-US" sz="16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What if the data are far from normal?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Small deviations are fine: the t-test is quite robust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For data that are clearly not normal (very skewed, strong outliers), alternative tests exist. They are called </a:t>
            </a:r>
            <a:r>
              <a:rPr lang="en-US" sz="2000" b="1" dirty="0">
                <a:solidFill>
                  <a:srgbClr val="262626"/>
                </a:solidFill>
              </a:rPr>
              <a:t>non-parametric tests</a:t>
            </a:r>
            <a:r>
              <a:rPr lang="en-US" sz="2000" dirty="0">
                <a:solidFill>
                  <a:srgbClr val="262626"/>
                </a:solidFill>
              </a:rPr>
              <a:t> and do not assume any particular distribution.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They are not covered in this course. If you need them, look at the resources at the end of the course or ask a statistician.</a:t>
            </a:r>
          </a:p>
        </p:txBody>
      </p:sp>
    </p:spTree>
    <p:extLst>
      <p:ext uri="{BB962C8B-B14F-4D97-AF65-F5344CB8AC3E}">
        <p14:creationId xmlns:p14="http://schemas.microsoft.com/office/powerpoint/2010/main" val="122153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1287-91AC-0AF0-E55F-D3F2B8B33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991" y="318882"/>
            <a:ext cx="5719843" cy="1168976"/>
          </a:xfrm>
        </p:spPr>
        <p:txBody>
          <a:bodyPr/>
          <a:lstStyle/>
          <a:p>
            <a:r>
              <a:rPr lang="en-GB" dirty="0">
                <a:ea typeface="Verdana"/>
              </a:rPr>
              <a:t>Let's practice - 10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94947-E283-3A3D-F6D8-50119A1D2BA2}"/>
              </a:ext>
            </a:extLst>
          </p:cNvPr>
          <p:cNvSpPr txBox="1"/>
          <p:nvPr/>
        </p:nvSpPr>
        <p:spPr>
          <a:xfrm>
            <a:off x="674413" y="1182414"/>
            <a:ext cx="10098689" cy="5942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349"/>
              </a:spcBef>
              <a:spcAft>
                <a:spcPts val="850"/>
              </a:spcAft>
            </a:pPr>
            <a:r>
              <a:rPr lang="en-US" sz="2000" dirty="0">
                <a:solidFill>
                  <a:srgbClr val="262626"/>
                </a:solidFill>
                <a:ea typeface="+mn-lt"/>
                <a:cs typeface="+mn-lt"/>
              </a:rPr>
              <a:t>Come back to the mice data-set stored in the "</a:t>
            </a:r>
            <a:r>
              <a:rPr lang="en-US" sz="2000" err="1">
                <a:solidFill>
                  <a:srgbClr val="262626"/>
                </a:solidFill>
                <a:ea typeface="+mn-lt"/>
                <a:cs typeface="+mn-lt"/>
              </a:rPr>
              <a:t>mice_data</a:t>
            </a:r>
            <a:r>
              <a:rPr lang="en-US" sz="2000" dirty="0">
                <a:solidFill>
                  <a:srgbClr val="262626"/>
                </a:solidFill>
                <a:ea typeface="+mn-lt"/>
                <a:cs typeface="+mn-lt"/>
              </a:rPr>
              <a:t>" data frame.</a:t>
            </a:r>
          </a:p>
          <a:p>
            <a:pPr marL="215900" indent="-212725">
              <a:spcBef>
                <a:spcPts val="1417"/>
              </a:spcBef>
              <a:spcAft>
                <a:spcPts val="850"/>
              </a:spcAft>
              <a:buAutoNum type="arabicPeriod"/>
            </a:pPr>
            <a:r>
              <a:rPr lang="en-US" sz="2000" dirty="0">
                <a:solidFill>
                  <a:srgbClr val="262626"/>
                </a:solidFill>
                <a:latin typeface="Corbel"/>
                <a:cs typeface="Arial"/>
              </a:rPr>
              <a:t> Considering WT mice weight and KO mice weight separately, check the assumption of normality graphically. </a:t>
            </a:r>
          </a:p>
          <a:p>
            <a:pPr marL="215900" indent="-212725">
              <a:spcBef>
                <a:spcPts val="1417"/>
              </a:spcBef>
              <a:spcAft>
                <a:spcPts val="850"/>
              </a:spcAft>
              <a:buAutoNum type="arabicPeriod"/>
            </a:pPr>
            <a:r>
              <a:rPr lang="en-US" sz="2000" dirty="0">
                <a:solidFill>
                  <a:srgbClr val="262626"/>
                </a:solidFill>
                <a:latin typeface="Corbel"/>
                <a:cs typeface="Arial"/>
              </a:rPr>
              <a:t> Make an appropriate plot to visualize the mouse weights grouped by genotype.</a:t>
            </a:r>
          </a:p>
          <a:p>
            <a:pPr marL="215900" indent="-212725">
              <a:spcBef>
                <a:spcPts val="1417"/>
              </a:spcBef>
              <a:spcAft>
                <a:spcPts val="850"/>
              </a:spcAft>
              <a:buAutoNum type="arabicPeriod"/>
            </a:pPr>
            <a:r>
              <a:rPr lang="en-US" sz="2000" dirty="0">
                <a:solidFill>
                  <a:srgbClr val="262626"/>
                </a:solidFill>
                <a:latin typeface="Corbel"/>
                <a:cs typeface="Arial"/>
              </a:rPr>
              <a:t> Perform a test to see whether the mouse weight is different between the two genotypes.</a:t>
            </a:r>
          </a:p>
          <a:p>
            <a:pPr marL="215900" indent="-212725">
              <a:spcBef>
                <a:spcPts val="1417"/>
              </a:spcBef>
              <a:spcAft>
                <a:spcPts val="850"/>
              </a:spcAft>
              <a:buAutoNum type="arabicPeriod"/>
            </a:pPr>
            <a:r>
              <a:rPr lang="en-US" sz="2000" i="1" dirty="0">
                <a:solidFill>
                  <a:srgbClr val="262626"/>
                </a:solidFill>
                <a:latin typeface="Corbel"/>
                <a:cs typeface="Arial"/>
              </a:rPr>
              <a:t> Repeat steps </a:t>
            </a:r>
            <a:r>
              <a:rPr lang="en-US" sz="2000" b="1" i="1" dirty="0">
                <a:solidFill>
                  <a:srgbClr val="262626"/>
                </a:solidFill>
                <a:latin typeface="Corbel"/>
                <a:cs typeface="Arial"/>
              </a:rPr>
              <a:t>1</a:t>
            </a:r>
            <a:r>
              <a:rPr lang="en-US" sz="2000" i="1" dirty="0">
                <a:solidFill>
                  <a:srgbClr val="262626"/>
                </a:solidFill>
                <a:latin typeface="Corbel"/>
                <a:cs typeface="Arial"/>
              </a:rPr>
              <a:t> to </a:t>
            </a:r>
            <a:r>
              <a:rPr lang="en-US" sz="2000" b="1" i="1" dirty="0">
                <a:solidFill>
                  <a:srgbClr val="262626"/>
                </a:solidFill>
                <a:latin typeface="Corbel"/>
                <a:cs typeface="Arial"/>
              </a:rPr>
              <a:t>3</a:t>
            </a:r>
            <a:r>
              <a:rPr lang="en-US" sz="2000" i="1" dirty="0">
                <a:solidFill>
                  <a:srgbClr val="262626"/>
                </a:solidFill>
                <a:latin typeface="Corbel"/>
                <a:cs typeface="Arial"/>
              </a:rPr>
              <a:t> for the diet variable.</a:t>
            </a:r>
            <a:endParaRPr lang="en-US" sz="2000" dirty="0">
              <a:solidFill>
                <a:srgbClr val="262626"/>
              </a:solidFill>
              <a:latin typeface="Corbel"/>
              <a:cs typeface="Arial"/>
            </a:endParaRPr>
          </a:p>
          <a:p>
            <a:pPr>
              <a:spcBef>
                <a:spcPts val="850"/>
              </a:spcBef>
              <a:spcAft>
                <a:spcPts val="850"/>
              </a:spcAft>
            </a:pPr>
            <a:endParaRPr lang="en-US" sz="2000" dirty="0">
              <a:solidFill>
                <a:srgbClr val="000000"/>
              </a:solidFill>
              <a:latin typeface="Corbel"/>
              <a:cs typeface="Arial"/>
            </a:endParaRPr>
          </a:p>
          <a:p>
            <a:pPr>
              <a:spcBef>
                <a:spcPts val="850"/>
              </a:spcBef>
              <a:spcAft>
                <a:spcPts val="850"/>
              </a:spcAft>
            </a:pPr>
            <a:r>
              <a:rPr lang="en-US" sz="2000" b="1" dirty="0">
                <a:solidFill>
                  <a:srgbClr val="000000"/>
                </a:solidFill>
                <a:latin typeface="Corbel"/>
                <a:cs typeface="Arial"/>
              </a:rPr>
              <a:t>EXTRA TASKS:</a:t>
            </a:r>
          </a:p>
          <a:p>
            <a:pPr marL="457200" indent="-457200">
              <a:spcBef>
                <a:spcPts val="850"/>
              </a:spcBef>
              <a:spcAft>
                <a:spcPts val="850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Test if the two groups have equal variance with var.test(). If they do, look in ?t.test which option you can change, and try it.</a:t>
            </a:r>
          </a:p>
          <a:p>
            <a:endParaRPr lang="en-US" dirty="0">
              <a:solidFill>
                <a:srgbClr val="1E2232"/>
              </a:solidFill>
              <a:latin typeface="Corbe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2042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304F5-B21E-21AA-FF79-4E38A2E6D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46C49-2842-1FFE-F4B4-E11423DE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Bivariate linear correlation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6C782-B470-1A44-BD66-5E98F27E85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sz="2000" b="1" dirty="0">
                <a:solidFill>
                  <a:srgbClr val="262626"/>
                </a:solidFill>
              </a:rPr>
              <a:t>Goal: measure how strongly two continuous variables are linearly related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Examples: expression of two genes across samples; BMI and blood pressure of patients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The correlation coefficient goes from -1 (perfect negative) through 0 (none) to +1 (perfect positive)</a:t>
            </a:r>
          </a:p>
          <a:p>
            <a:pPr marL="0" indent="0">
              <a:buNone/>
            </a:pPr>
            <a:endParaRPr lang="en-US" sz="108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800" dirty="0">
                <a:solidFill>
                  <a:srgbClr val="262626"/>
                </a:solidFill>
                <a:latin typeface="Courier New"/>
                <a:cs typeface="Courier New"/>
              </a:rPr>
              <a:t>cor()</a:t>
            </a:r>
            <a:r>
              <a:rPr lang="en-US" sz="1800" dirty="0">
                <a:solidFill>
                  <a:srgbClr val="262626"/>
                </a:solidFill>
              </a:rPr>
              <a:t> computes the correlation between two variables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Default: </a:t>
            </a:r>
            <a:r>
              <a:rPr lang="en-US" sz="1800" dirty="0">
                <a:solidFill>
                  <a:srgbClr val="262626"/>
                </a:solidFill>
                <a:latin typeface="Courier New"/>
                <a:cs typeface="Courier New"/>
              </a:rPr>
              <a:t>method="pearson"</a:t>
            </a:r>
            <a:r>
              <a:rPr lang="en-US" sz="1800" dirty="0">
                <a:solidFill>
                  <a:srgbClr val="262626"/>
                </a:solidFill>
              </a:rPr>
              <a:t> (linear correlation)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Other options: </a:t>
            </a:r>
            <a:r>
              <a:rPr lang="en-US" sz="1800" dirty="0">
                <a:solidFill>
                  <a:srgbClr val="262626"/>
                </a:solidFill>
                <a:latin typeface="Courier New"/>
                <a:cs typeface="Courier New"/>
              </a:rPr>
              <a:t>method="spearman"</a:t>
            </a:r>
            <a:r>
              <a:rPr lang="en-US" sz="1800" dirty="0">
                <a:solidFill>
                  <a:srgbClr val="262626"/>
                </a:solidFill>
              </a:rPr>
              <a:t>, </a:t>
            </a:r>
            <a:r>
              <a:rPr lang="en-US" sz="1800" dirty="0">
                <a:solidFill>
                  <a:srgbClr val="262626"/>
                </a:solidFill>
                <a:latin typeface="Courier New"/>
                <a:cs typeface="Courier New"/>
              </a:rPr>
              <a:t>method="kendall"</a:t>
            </a:r>
            <a:r>
              <a:rPr lang="en-US" sz="1800" dirty="0">
                <a:solidFill>
                  <a:srgbClr val="262626"/>
                </a:solidFill>
              </a:rPr>
              <a:t> (rank-based correlations)</a:t>
            </a:r>
          </a:p>
          <a:p>
            <a:pPr marL="0" indent="0">
              <a:buNone/>
            </a:pPr>
            <a:endParaRPr lang="en-US" sz="108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800" dirty="0">
                <a:solidFill>
                  <a:srgbClr val="262626"/>
                </a:solidFill>
                <a:latin typeface="Courier New"/>
                <a:cs typeface="Courier New"/>
              </a:rPr>
              <a:t>cor.test()</a:t>
            </a:r>
            <a:r>
              <a:rPr lang="en-US" sz="1800" dirty="0">
                <a:solidFill>
                  <a:srgbClr val="262626"/>
                </a:solidFill>
              </a:rPr>
              <a:t> computes the correlation </a:t>
            </a:r>
            <a:r>
              <a:rPr lang="en-US" sz="1800" b="1" dirty="0">
                <a:solidFill>
                  <a:srgbClr val="262626"/>
                </a:solidFill>
              </a:rPr>
              <a:t>and</a:t>
            </a:r>
            <a:r>
              <a:rPr lang="en-US" sz="1800" dirty="0">
                <a:solidFill>
                  <a:srgbClr val="262626"/>
                </a:solidFill>
              </a:rPr>
              <a:t> tests whether it is different from 0 (p-value)</a:t>
            </a:r>
          </a:p>
          <a:p>
            <a:pPr marL="0" indent="0">
              <a:buNone/>
            </a:pPr>
            <a:endParaRPr lang="en-US" sz="108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800" i="1" dirty="0">
                <a:solidFill>
                  <a:srgbClr val="595959"/>
                </a:solidFill>
              </a:rPr>
              <a:t>Correlation does not mean causation!</a:t>
            </a:r>
          </a:p>
        </p:txBody>
      </p:sp>
    </p:spTree>
    <p:extLst>
      <p:ext uri="{BB962C8B-B14F-4D97-AF65-F5344CB8AC3E}">
        <p14:creationId xmlns:p14="http://schemas.microsoft.com/office/powerpoint/2010/main" val="4284215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2AD0-ECD2-73AE-81A5-1339B2AE3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7D01D-B301-6B3B-6C97-C396B801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Visualization of linear correlation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B734-48C9-05DD-8B5B-0A6868D18E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648" y="4788447"/>
            <a:ext cx="3324774" cy="12507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540">
              <a:lnSpc>
                <a:spcPct val="100000"/>
              </a:lnSpc>
              <a:spcBef>
                <a:spcPts val="479"/>
              </a:spcBef>
            </a:pPr>
            <a:r>
              <a:rPr lang="en-US" dirty="0">
                <a:ea typeface="Tahoma"/>
                <a:cs typeface="Arial"/>
              </a:rPr>
              <a:t>Strong linear correlation</a:t>
            </a:r>
          </a:p>
          <a:p>
            <a:pPr marL="2540">
              <a:lnSpc>
                <a:spcPct val="100000"/>
              </a:lnSpc>
              <a:spcBef>
                <a:spcPts val="479"/>
              </a:spcBef>
            </a:pPr>
            <a:endParaRPr lang="en-US" b="1" dirty="0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B8301-CFDD-576C-A757-3D593383327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42924" y="1102625"/>
            <a:ext cx="10255984" cy="3692416"/>
          </a:xfrm>
          <a:prstGeom prst="rect">
            <a:avLst/>
          </a:prstGeom>
          <a:ln>
            <a:noFill/>
          </a:ln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6DE83EE-C002-A908-3D78-A70DA33B4B0E}"/>
              </a:ext>
            </a:extLst>
          </p:cNvPr>
          <p:cNvSpPr txBox="1">
            <a:spLocks/>
          </p:cNvSpPr>
          <p:nvPr/>
        </p:nvSpPr>
        <p:spPr>
          <a:xfrm>
            <a:off x="4432738" y="4791950"/>
            <a:ext cx="3324774" cy="1250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1pPr>
            <a:lvl2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669925" indent="-304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  <a:lvl4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4pPr>
            <a:lvl5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algn="ctr">
              <a:lnSpc>
                <a:spcPct val="100000"/>
              </a:lnSpc>
              <a:spcBef>
                <a:spcPts val="479"/>
              </a:spcBef>
            </a:pPr>
            <a:r>
              <a:rPr lang="en-US" dirty="0">
                <a:ea typeface="Tahoma"/>
                <a:cs typeface="Arial"/>
              </a:rPr>
              <a:t>Medium-strong linear correlation</a:t>
            </a:r>
            <a:endParaRPr lang="en-US"/>
          </a:p>
          <a:p>
            <a:pPr marL="2540">
              <a:lnSpc>
                <a:spcPct val="100000"/>
              </a:lnSpc>
              <a:spcBef>
                <a:spcPts val="479"/>
              </a:spcBef>
            </a:pPr>
            <a:endParaRPr lang="en-US" b="1" dirty="0">
              <a:cs typeface="Arial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86E1819-661D-48F0-11A0-B4E6B0F3AB24}"/>
              </a:ext>
            </a:extLst>
          </p:cNvPr>
          <p:cNvSpPr txBox="1">
            <a:spLocks/>
          </p:cNvSpPr>
          <p:nvPr/>
        </p:nvSpPr>
        <p:spPr>
          <a:xfrm>
            <a:off x="8452945" y="4791950"/>
            <a:ext cx="3324774" cy="1250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1pPr>
            <a:lvl2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669925" indent="-304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  <a:lvl4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4pPr>
            <a:lvl5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>
              <a:lnSpc>
                <a:spcPct val="100000"/>
              </a:lnSpc>
              <a:spcBef>
                <a:spcPts val="479"/>
              </a:spcBef>
            </a:pPr>
            <a:r>
              <a:rPr lang="en-US" dirty="0">
                <a:ea typeface="Tahoma"/>
                <a:cs typeface="Arial"/>
              </a:rPr>
              <a:t>No correlation</a:t>
            </a:r>
          </a:p>
          <a:p>
            <a:pPr marL="2540">
              <a:lnSpc>
                <a:spcPct val="100000"/>
              </a:lnSpc>
              <a:spcBef>
                <a:spcPts val="479"/>
              </a:spcBef>
            </a:pPr>
            <a:endParaRPr lang="en-US" b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8190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35BA6-806A-9ECC-263D-7F5B7F47D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D7A75-8B8C-6B3F-E9D7-954F0DE6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More </a:t>
            </a:r>
            <a:r>
              <a:rPr lang="en-GB" dirty="0" err="1">
                <a:ea typeface="Verdana"/>
                <a:cs typeface="Gill Sans"/>
              </a:rPr>
              <a:t>visualization</a:t>
            </a:r>
            <a:r>
              <a:rPr lang="en-GB" dirty="0">
                <a:ea typeface="Verdana"/>
                <a:cs typeface="Gill Sans"/>
              </a:rPr>
              <a:t> of linear correlation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C7D57-8D18-E1FE-02AA-0E28F9FFE0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6890" y="5506654"/>
            <a:ext cx="10515600" cy="120699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ea typeface="+mn-lt"/>
                <a:cs typeface="+mn-lt"/>
              </a:rPr>
              <a:t>correlation reflects the noisiness and direction of a linear relationship (top row)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ea typeface="+mn-lt"/>
                <a:cs typeface="+mn-lt"/>
              </a:rPr>
              <a:t>but not the slope of that relationship (middle)</a:t>
            </a:r>
            <a:endParaRPr lang="en-US" dirty="0">
              <a:solidFill>
                <a:srgbClr val="1E2232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ea typeface="+mn-lt"/>
                <a:cs typeface="+mn-lt"/>
              </a:rPr>
              <a:t>nor many aspects of nonlinear relationships (bottom). </a:t>
            </a:r>
            <a:endParaRPr lang="en-US" dirty="0"/>
          </a:p>
          <a:p>
            <a:pPr marL="2540">
              <a:lnSpc>
                <a:spcPct val="100000"/>
              </a:lnSpc>
              <a:spcBef>
                <a:spcPts val="479"/>
              </a:spcBef>
            </a:pPr>
            <a:endParaRPr lang="en-US">
              <a:solidFill>
                <a:srgbClr val="1E2232"/>
              </a:solidFill>
              <a:latin typeface="Corbel" panose="020B0503020204020204"/>
            </a:endParaRPr>
          </a:p>
        </p:txBody>
      </p:sp>
      <p:pic>
        <p:nvPicPr>
          <p:cNvPr id="4" name="Picture 3" descr="A collage of symbols&#10;&#10;Description automatically generated">
            <a:extLst>
              <a:ext uri="{FF2B5EF4-FFF2-40B4-BE49-F238E27FC236}">
                <a16:creationId xmlns:a16="http://schemas.microsoft.com/office/drawing/2014/main" id="{16B44871-B461-3489-6493-ADE1903E7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5" y="709777"/>
            <a:ext cx="10508263" cy="47960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EFE3F8-C6D3-E3D7-9CC7-95344C7B1F40}"/>
              </a:ext>
            </a:extLst>
          </p:cNvPr>
          <p:cNvSpPr txBox="1"/>
          <p:nvPr/>
        </p:nvSpPr>
        <p:spPr>
          <a:xfrm>
            <a:off x="9492906" y="5507212"/>
            <a:ext cx="3277475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  <a:latin typeface="Arial"/>
                <a:cs typeface="Arial"/>
              </a:rPr>
              <a:t>Image credit: </a:t>
            </a:r>
            <a:endParaRPr lang="en-US">
              <a:solidFill>
                <a:srgbClr val="1E2232"/>
              </a:solidFill>
              <a:latin typeface="Corbel" panose="020B0503020204020204"/>
              <a:cs typeface="Arial"/>
            </a:endParaRPr>
          </a:p>
          <a:p>
            <a:r>
              <a:rPr lang="en-US" sz="1500" dirty="0" err="1">
                <a:solidFill>
                  <a:srgbClr val="000000"/>
                </a:solidFill>
                <a:latin typeface="Arial"/>
                <a:cs typeface="Arial"/>
              </a:rPr>
              <a:t>wikipedia</a:t>
            </a:r>
            <a:r>
              <a:rPr lang="en-US" sz="1500" dirty="0">
                <a:solidFill>
                  <a:srgbClr val="000000"/>
                </a:solidFill>
                <a:latin typeface="Arial"/>
                <a:cs typeface="Arial"/>
              </a:rPr>
              <a:t> user </a:t>
            </a:r>
            <a:r>
              <a:rPr lang="en-US" sz="1500" dirty="0" err="1">
                <a:solidFill>
                  <a:srgbClr val="000000"/>
                </a:solidFill>
                <a:latin typeface="Arial"/>
                <a:cs typeface="Arial"/>
              </a:rPr>
              <a:t>DenisBoigelot</a:t>
            </a:r>
            <a:r>
              <a:rPr lang="en-US" sz="1500" dirty="0">
                <a:solidFill>
                  <a:srgbClr val="000000"/>
                </a:solidFill>
                <a:latin typeface="Arial"/>
                <a:cs typeface="Arial"/>
              </a:rPr>
              <a:t>, </a:t>
            </a:r>
            <a:endParaRPr lang="en-US"/>
          </a:p>
          <a:p>
            <a:r>
              <a:rPr lang="en-US" sz="1500" dirty="0">
                <a:solidFill>
                  <a:srgbClr val="000000"/>
                </a:solidFill>
                <a:latin typeface="Arial"/>
                <a:cs typeface="Arial"/>
              </a:rPr>
              <a:t>under the CC0 1.0 license</a:t>
            </a:r>
            <a:r>
              <a:rPr lang="en-US" sz="15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US"/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0694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8235B-781D-BA06-C397-5C024D4C3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1F4C-D37E-D2CF-4F5D-16D5A5165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Scatter plot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C5AC0-BF6C-82A7-470C-5BA7412F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Tahoma"/>
                <a:cs typeface="Courier New"/>
              </a:rPr>
              <a:t>plot(</a:t>
            </a:r>
            <a:r>
              <a:rPr lang="en-US" sz="2000" err="1">
                <a:latin typeface="Courier New"/>
                <a:ea typeface="Tahoma"/>
                <a:cs typeface="Courier New"/>
              </a:rPr>
              <a:t>iris$Petal.Length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, </a:t>
            </a:r>
            <a:r>
              <a:rPr lang="en-US" sz="2000" err="1">
                <a:latin typeface="Courier New"/>
                <a:ea typeface="Tahoma"/>
                <a:cs typeface="Courier New"/>
              </a:rPr>
              <a:t>iris$Petal.Width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,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Tahoma"/>
                <a:cs typeface="Courier New"/>
              </a:rPr>
              <a:t>       col="red", </a:t>
            </a:r>
            <a:r>
              <a:rPr lang="en-US" sz="2000" err="1">
                <a:latin typeface="Courier New"/>
                <a:ea typeface="Tahoma"/>
                <a:cs typeface="Courier New"/>
              </a:rPr>
              <a:t>pch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=20,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Tahoma"/>
                <a:cs typeface="Courier New"/>
              </a:rPr>
              <a:t>       </a:t>
            </a:r>
            <a:r>
              <a:rPr lang="en-US" sz="2000" err="1">
                <a:latin typeface="Courier New"/>
                <a:ea typeface="Tahoma"/>
                <a:cs typeface="Courier New"/>
              </a:rPr>
              <a:t>xlab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="Petal Length", </a:t>
            </a:r>
            <a:r>
              <a:rPr lang="en-US" sz="2000" err="1">
                <a:latin typeface="Courier New"/>
                <a:ea typeface="Tahoma"/>
                <a:cs typeface="Courier New"/>
              </a:rPr>
              <a:t>ylab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="Petal Width")</a:t>
            </a:r>
          </a:p>
          <a:p>
            <a:pPr marL="2540">
              <a:lnSpc>
                <a:spcPct val="100000"/>
              </a:lnSpc>
              <a:spcBef>
                <a:spcPts val="479"/>
              </a:spcBef>
            </a:pPr>
            <a:endParaRPr lang="en-US" b="1" dirty="0">
              <a:latin typeface="Courier New"/>
              <a:cs typeface="Arial"/>
            </a:endParaRPr>
          </a:p>
        </p:txBody>
      </p:sp>
      <p:pic>
        <p:nvPicPr>
          <p:cNvPr id="5" name="Picture 4" descr="A diagram of a petal length&#10;&#10;Description automatically generated">
            <a:extLst>
              <a:ext uri="{FF2B5EF4-FFF2-40B4-BE49-F238E27FC236}">
                <a16:creationId xmlns:a16="http://schemas.microsoft.com/office/drawing/2014/main" id="{D9D5E97D-27B7-583B-81FD-4A82C072B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71" y="2555109"/>
            <a:ext cx="56769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46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88822-5073-5580-8B6C-94796A2C3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13D6-3671-84D5-2C7A-E6F1D6CF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Scatter plot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79E09-79EA-60E7-9A50-C80235680F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Tahoma"/>
                <a:cs typeface="Courier New"/>
              </a:rPr>
              <a:t>plot(</a:t>
            </a:r>
            <a:r>
              <a:rPr lang="en-US" sz="2000" err="1">
                <a:latin typeface="Courier New"/>
                <a:ea typeface="Tahoma"/>
                <a:cs typeface="Courier New"/>
              </a:rPr>
              <a:t>iris$Petal.Length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, </a:t>
            </a:r>
            <a:r>
              <a:rPr lang="en-US" sz="2000" err="1">
                <a:latin typeface="Courier New"/>
                <a:ea typeface="Tahoma"/>
                <a:cs typeface="Courier New"/>
              </a:rPr>
              <a:t>iris$Petal.Width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,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Tahoma"/>
                <a:cs typeface="Courier New"/>
              </a:rPr>
              <a:t>       col="red", </a:t>
            </a:r>
            <a:r>
              <a:rPr lang="en-US" sz="2000" err="1">
                <a:latin typeface="Courier New"/>
                <a:ea typeface="Tahoma"/>
                <a:cs typeface="Courier New"/>
              </a:rPr>
              <a:t>pch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=20,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Tahoma"/>
                <a:cs typeface="Courier New"/>
              </a:rPr>
              <a:t>       </a:t>
            </a:r>
            <a:r>
              <a:rPr lang="en-US" sz="2000" err="1">
                <a:latin typeface="Courier New"/>
                <a:ea typeface="Tahoma"/>
                <a:cs typeface="Courier New"/>
              </a:rPr>
              <a:t>xlab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="Petal Length", </a:t>
            </a:r>
            <a:r>
              <a:rPr lang="en-US" sz="2000" err="1">
                <a:latin typeface="Courier New"/>
                <a:ea typeface="Tahoma"/>
                <a:cs typeface="Courier New"/>
              </a:rPr>
              <a:t>ylab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="Petal Width")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err="1">
                <a:latin typeface="Courier New"/>
                <a:ea typeface="Tahoma"/>
                <a:cs typeface="Courier New"/>
              </a:rPr>
              <a:t>abline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(</a:t>
            </a:r>
            <a:r>
              <a:rPr lang="en-US" sz="2000" b="1" err="1">
                <a:latin typeface="Courier New"/>
                <a:ea typeface="Tahoma"/>
                <a:cs typeface="Courier New"/>
              </a:rPr>
              <a:t>lm</a:t>
            </a:r>
            <a:r>
              <a:rPr lang="en-US" sz="2000" b="1" dirty="0">
                <a:latin typeface="Courier New"/>
                <a:ea typeface="Tahoma"/>
                <a:cs typeface="Courier New"/>
              </a:rPr>
              <a:t>(</a:t>
            </a:r>
            <a:r>
              <a:rPr lang="en-US" sz="2000" b="1" err="1">
                <a:latin typeface="Courier New"/>
                <a:ea typeface="Tahoma"/>
                <a:cs typeface="Courier New"/>
              </a:rPr>
              <a:t>iris$Petal.Width~iris$Petal.Length</a:t>
            </a:r>
            <a:r>
              <a:rPr lang="en-US" sz="2000" b="1" dirty="0">
                <a:latin typeface="Courier New"/>
                <a:ea typeface="Tahoma"/>
                <a:cs typeface="Courier New"/>
              </a:rPr>
              <a:t>)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Tahoma"/>
                <a:cs typeface="Courier New"/>
              </a:rPr>
              <a:t>       col="black", </a:t>
            </a:r>
            <a:r>
              <a:rPr lang="en-US" sz="2000" err="1">
                <a:latin typeface="Courier New"/>
                <a:ea typeface="Tahoma"/>
                <a:cs typeface="Courier New"/>
              </a:rPr>
              <a:t>lwd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=2)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Courier New"/>
              <a:cs typeface="Courier New"/>
            </a:endParaRPr>
          </a:p>
          <a:p>
            <a:pPr marL="2540">
              <a:lnSpc>
                <a:spcPct val="100000"/>
              </a:lnSpc>
              <a:spcBef>
                <a:spcPts val="479"/>
              </a:spcBef>
            </a:pPr>
            <a:endParaRPr lang="en-US" b="1" dirty="0">
              <a:latin typeface="Courier New"/>
              <a:cs typeface="Arial"/>
            </a:endParaRPr>
          </a:p>
        </p:txBody>
      </p:sp>
      <p:pic>
        <p:nvPicPr>
          <p:cNvPr id="5" name="Picture 4" descr="A graph with red dots&#10;&#10;Description automatically generated">
            <a:extLst>
              <a:ext uri="{FF2B5EF4-FFF2-40B4-BE49-F238E27FC236}">
                <a16:creationId xmlns:a16="http://schemas.microsoft.com/office/drawing/2014/main" id="{31849EC5-EBB6-565A-7D90-A54847095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68" y="2598137"/>
            <a:ext cx="5600700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50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13758-081A-B435-1860-20E4C970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60EF0-C2B2-E5FC-8552-969D388C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Linear correlation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318A1-2C0E-B7C5-1803-4AC790C3D2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err="1">
                <a:latin typeface="Courier New"/>
                <a:ea typeface="+mn-lt"/>
                <a:cs typeface="+mn-lt"/>
              </a:rPr>
              <a:t>cor</a:t>
            </a:r>
            <a:r>
              <a:rPr lang="en-US" sz="1800" dirty="0">
                <a:latin typeface="Courier New"/>
                <a:ea typeface="+mn-lt"/>
                <a:cs typeface="+mn-lt"/>
              </a:rPr>
              <a:t>(</a:t>
            </a:r>
            <a:r>
              <a:rPr lang="en-US" sz="1800" err="1">
                <a:latin typeface="Courier New"/>
                <a:ea typeface="+mn-lt"/>
                <a:cs typeface="+mn-lt"/>
              </a:rPr>
              <a:t>iris$Petal.Length</a:t>
            </a:r>
            <a:r>
              <a:rPr lang="en-US" sz="1800" dirty="0">
                <a:latin typeface="Courier New"/>
                <a:ea typeface="+mn-lt"/>
                <a:cs typeface="+mn-lt"/>
              </a:rPr>
              <a:t>, </a:t>
            </a:r>
            <a:r>
              <a:rPr lang="en-US" sz="1800" err="1">
                <a:latin typeface="Courier New"/>
                <a:ea typeface="+mn-lt"/>
                <a:cs typeface="+mn-lt"/>
              </a:rPr>
              <a:t>iris$Petal.Width</a:t>
            </a:r>
            <a:r>
              <a:rPr lang="en-US" sz="1800" dirty="0">
                <a:latin typeface="Courier New"/>
                <a:ea typeface="+mn-lt"/>
                <a:cs typeface="+mn-lt"/>
              </a:rPr>
              <a:t>, method="</a:t>
            </a:r>
            <a:r>
              <a:rPr lang="en-US" sz="1800" err="1">
                <a:latin typeface="Courier New"/>
                <a:ea typeface="+mn-lt"/>
                <a:cs typeface="+mn-lt"/>
              </a:rPr>
              <a:t>pearson</a:t>
            </a:r>
            <a:r>
              <a:rPr lang="en-US" sz="1800" dirty="0">
                <a:latin typeface="Courier New"/>
                <a:ea typeface="+mn-lt"/>
                <a:cs typeface="+mn-lt"/>
              </a:rPr>
              <a:t>") 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[1] 0.9628654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800" dirty="0">
              <a:latin typeface="Courier New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 err="1">
                <a:latin typeface="Courier New"/>
                <a:ea typeface="+mn-lt"/>
                <a:cs typeface="+mn-lt"/>
              </a:rPr>
              <a:t>cor.test</a:t>
            </a:r>
            <a:r>
              <a:rPr lang="en-US" sz="1800" dirty="0">
                <a:latin typeface="Courier New"/>
                <a:ea typeface="+mn-lt"/>
                <a:cs typeface="+mn-lt"/>
              </a:rPr>
              <a:t>(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iris$Petal.Length</a:t>
            </a:r>
            <a:r>
              <a:rPr lang="en-US" sz="1800" dirty="0">
                <a:latin typeface="Courier New"/>
                <a:ea typeface="+mn-lt"/>
                <a:cs typeface="+mn-lt"/>
              </a:rPr>
              <a:t>, 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iris$Petal.Width</a:t>
            </a:r>
            <a:r>
              <a:rPr lang="en-US" sz="1800" dirty="0">
                <a:latin typeface="Courier New"/>
                <a:ea typeface="+mn-lt"/>
                <a:cs typeface="+mn-lt"/>
              </a:rPr>
              <a:t>, method="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pearson</a:t>
            </a:r>
            <a:r>
              <a:rPr lang="en-US" sz="1800" dirty="0">
                <a:latin typeface="Courier New"/>
                <a:ea typeface="+mn-lt"/>
                <a:cs typeface="+mn-lt"/>
              </a:rPr>
              <a:t>") 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800" dirty="0">
              <a:latin typeface="Courier New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Pearson's product-moment correlation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dirty="0">
              <a:latin typeface="Courier New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data:  </a:t>
            </a:r>
            <a:r>
              <a:rPr lang="en-US" sz="1800" err="1">
                <a:latin typeface="Courier New"/>
                <a:ea typeface="+mn-lt"/>
                <a:cs typeface="+mn-lt"/>
              </a:rPr>
              <a:t>iris$Petal.Length</a:t>
            </a:r>
            <a:r>
              <a:rPr lang="en-US" sz="1800" dirty="0">
                <a:latin typeface="Courier New"/>
                <a:ea typeface="+mn-lt"/>
                <a:cs typeface="+mn-lt"/>
              </a:rPr>
              <a:t> and </a:t>
            </a:r>
            <a:r>
              <a:rPr lang="en-US" sz="1800" err="1">
                <a:latin typeface="Courier New"/>
                <a:ea typeface="+mn-lt"/>
                <a:cs typeface="+mn-lt"/>
              </a:rPr>
              <a:t>iris$Petal.Width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t = 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43.387</a:t>
            </a:r>
            <a:r>
              <a:rPr lang="en-US" sz="1800" dirty="0">
                <a:latin typeface="Courier New"/>
                <a:ea typeface="+mn-lt"/>
                <a:cs typeface="+mn-lt"/>
              </a:rPr>
              <a:t>, </a:t>
            </a:r>
            <a:r>
              <a:rPr lang="en-US" sz="1800" err="1">
                <a:latin typeface="Courier New"/>
                <a:ea typeface="+mn-lt"/>
                <a:cs typeface="+mn-lt"/>
              </a:rPr>
              <a:t>df</a:t>
            </a:r>
            <a:r>
              <a:rPr lang="en-US" sz="1800" dirty="0">
                <a:latin typeface="Courier New"/>
                <a:ea typeface="+mn-lt"/>
                <a:cs typeface="+mn-lt"/>
              </a:rPr>
              <a:t> = 148, p-value &lt; 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2.2e-16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alternative hypothesis: true correlation is not equal to 0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95 percent confidence interval: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</a:t>
            </a:r>
            <a:r>
              <a:rPr lang="en-US" sz="1800" b="1">
                <a:latin typeface="Courier New"/>
                <a:ea typeface="+mn-lt"/>
                <a:cs typeface="+mn-lt"/>
              </a:rPr>
              <a:t>0.9490525 0.9729853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sample estimates: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 </a:t>
            </a:r>
            <a:r>
              <a:rPr lang="en-US" sz="1800" err="1">
                <a:latin typeface="Courier New"/>
                <a:ea typeface="+mn-lt"/>
                <a:cs typeface="+mn-lt"/>
              </a:rPr>
              <a:t>cor</a:t>
            </a:r>
            <a:r>
              <a:rPr lang="en-US" sz="1800" dirty="0">
                <a:latin typeface="Courier New"/>
                <a:ea typeface="+mn-lt"/>
                <a:cs typeface="+mn-lt"/>
              </a:rPr>
              <a:t> 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b="1" dirty="0">
                <a:latin typeface="Courier New"/>
                <a:ea typeface="+mn-lt"/>
                <a:cs typeface="+mn-lt"/>
              </a:rPr>
              <a:t>0.9628654</a:t>
            </a:r>
            <a:r>
              <a:rPr lang="en-US" sz="1800" dirty="0">
                <a:latin typeface="Courier New"/>
                <a:ea typeface="+mn-lt"/>
                <a:cs typeface="+mn-lt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58971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27FAE-1A99-ED5D-63CF-BC364EC7D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38F9B-2982-05AD-FB6C-D57B5F4A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Linear regression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B4E99-B983-1EA5-90D9-DD01E973CD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Goal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rgbClr val="262626"/>
                </a:solidFill>
              </a:rPr>
              <a:t>Describe how an </a:t>
            </a:r>
            <a:r>
              <a:rPr lang="en-US" sz="2000" b="1" dirty="0">
                <a:solidFill>
                  <a:srgbClr val="262626"/>
                </a:solidFill>
              </a:rPr>
              <a:t>outcome</a:t>
            </a:r>
            <a:r>
              <a:rPr lang="en-US" sz="2000" dirty="0">
                <a:solidFill>
                  <a:srgbClr val="262626"/>
                </a:solidFill>
              </a:rPr>
              <a:t> variable changes with an </a:t>
            </a:r>
            <a:r>
              <a:rPr lang="en-US" sz="2000" b="1" dirty="0">
                <a:solidFill>
                  <a:srgbClr val="262626"/>
                </a:solidFill>
              </a:rPr>
              <a:t>explanatory</a:t>
            </a:r>
            <a:r>
              <a:rPr lang="en-US" sz="2000" dirty="0">
                <a:solidFill>
                  <a:srgbClr val="262626"/>
                </a:solidFill>
              </a:rPr>
              <a:t> variable, using a straight line. The line can also be used to make predictions.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Life-science examples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How does blood glucose change with BMI?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How does the response to a drug change with the dose?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How does height change with age in children? (our example)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In R, the model is written as a formula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Courier New"/>
                <a:cs typeface="Courier New"/>
              </a:rPr>
              <a:t>outcome ~ explanatory variable</a:t>
            </a:r>
            <a:endParaRPr lang="en-US" sz="17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Courier New"/>
                <a:cs typeface="Courier New"/>
              </a:rPr>
              <a:t>Height ~ Age        # "Height explained by Age"</a:t>
            </a:r>
            <a:endParaRPr lang="en-US" sz="17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2000" i="1" dirty="0">
                <a:solidFill>
                  <a:srgbClr val="595959"/>
                </a:solidFill>
              </a:rPr>
              <a:t>Correlation: how strongly are X and Y related?   Regression: how much does Y change when X increases?</a:t>
            </a:r>
          </a:p>
        </p:txBody>
      </p:sp>
    </p:spTree>
    <p:extLst>
      <p:ext uri="{BB962C8B-B14F-4D97-AF65-F5344CB8AC3E}">
        <p14:creationId xmlns:p14="http://schemas.microsoft.com/office/powerpoint/2010/main" val="2310058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BC77E-2BE0-9B66-B7CC-A97275CF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5B4BD-79B5-4425-7E86-C7AC79C1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Simple linear regression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C3973-90D4-EF64-7802-37E90D7B9A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rgbClr val="262626"/>
                </a:solidFill>
              </a:rPr>
              <a:t>R finds the straight line that best fits the points: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cs typeface="Courier New"/>
              </a:rPr>
              <a:t>        y = a + b × x</a:t>
            </a:r>
            <a:endParaRPr lang="en-US" sz="2400" dirty="0"/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b="1" dirty="0">
                <a:solidFill>
                  <a:srgbClr val="262626"/>
                </a:solidFill>
              </a:rPr>
              <a:t>x</a:t>
            </a:r>
            <a:r>
              <a:rPr lang="en-US" sz="2000" dirty="0">
                <a:solidFill>
                  <a:srgbClr val="262626"/>
                </a:solidFill>
              </a:rPr>
              <a:t>: explanatory variable (e.g. Age)      </a:t>
            </a:r>
            <a:r>
              <a:rPr lang="en-US" sz="2000" b="1" dirty="0">
                <a:solidFill>
                  <a:srgbClr val="262626"/>
                </a:solidFill>
              </a:rPr>
              <a:t>y</a:t>
            </a:r>
            <a:r>
              <a:rPr lang="en-US" sz="2000" dirty="0">
                <a:solidFill>
                  <a:srgbClr val="262626"/>
                </a:solidFill>
              </a:rPr>
              <a:t>: outcome (e.g. Height)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b="1" dirty="0">
                <a:solidFill>
                  <a:srgbClr val="262626"/>
                </a:solidFill>
              </a:rPr>
              <a:t>a, the intercept</a:t>
            </a:r>
            <a:r>
              <a:rPr lang="en-US" sz="2000" dirty="0">
                <a:solidFill>
                  <a:srgbClr val="262626"/>
                </a:solidFill>
              </a:rPr>
              <a:t>: value of y when x = 0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b="1" dirty="0">
                <a:solidFill>
                  <a:srgbClr val="262626"/>
                </a:solidFill>
              </a:rPr>
              <a:t>b, the slope</a:t>
            </a:r>
            <a:r>
              <a:rPr lang="en-US" sz="2000" dirty="0">
                <a:solidFill>
                  <a:srgbClr val="262626"/>
                </a:solidFill>
              </a:rPr>
              <a:t>: how much y changes on average when x increases by 1 (e.g. cm per year)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b="1" dirty="0">
                <a:solidFill>
                  <a:srgbClr val="262626"/>
                </a:solidFill>
              </a:rPr>
              <a:t>Residuals</a:t>
            </a:r>
            <a:r>
              <a:rPr lang="en-US" sz="2000" dirty="0">
                <a:solidFill>
                  <a:srgbClr val="262626"/>
                </a:solidFill>
              </a:rPr>
              <a:t>: vertical distance between each point and the line (what the line does not explain)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Assumptions (checked with plots)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The relationship looks roughly like a straight line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Observations are independent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Residuals have a similar spread all along the line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Residuals are roughly normally distributed</a:t>
            </a:r>
          </a:p>
        </p:txBody>
      </p:sp>
    </p:spTree>
    <p:extLst>
      <p:ext uri="{BB962C8B-B14F-4D97-AF65-F5344CB8AC3E}">
        <p14:creationId xmlns:p14="http://schemas.microsoft.com/office/powerpoint/2010/main" val="1473777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ED28C-90B0-7E12-C71C-BAED6078F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1F52D-CD0E-ACBF-E555-51342B00E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Summary of the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298BB-925D-A7BA-5FED-785931EFAE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CLASS dataset, from the program SAS </a:t>
            </a:r>
            <a:endParaRPr lang="en-US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(names removed and units have been modified from imperial to metric)</a:t>
            </a:r>
            <a:endParaRPr lang="en-US"/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en-US" sz="2000" dirty="0">
              <a:solidFill>
                <a:srgbClr val="4F81BD"/>
              </a:solidFill>
              <a:latin typeface="Courier New"/>
              <a:ea typeface="+mn-lt"/>
              <a:cs typeface="Courier New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r>
              <a:rPr lang="en-US" sz="2000" err="1">
                <a:latin typeface="Courier New"/>
                <a:ea typeface="+mn-lt"/>
                <a:cs typeface="Courier New"/>
              </a:rPr>
              <a:t>class_data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 &lt;- read.csv("</a:t>
            </a:r>
            <a:r>
              <a:rPr lang="en-US" sz="2000" err="1">
                <a:latin typeface="Courier New"/>
                <a:ea typeface="+mn-lt"/>
                <a:cs typeface="Courier New"/>
              </a:rPr>
              <a:t>course_dataset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/class.csv") </a:t>
            </a:r>
            <a:endParaRPr lang="en-US" sz="2000">
              <a:latin typeface="Courier New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r>
              <a:rPr lang="en-US" sz="2000" dirty="0" err="1">
                <a:latin typeface="Courier New"/>
                <a:ea typeface="+mn-lt"/>
                <a:cs typeface="Courier New"/>
              </a:rPr>
              <a:t>class_data$Gender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=</a:t>
            </a:r>
            <a:r>
              <a:rPr lang="en-US" sz="2000" dirty="0" err="1">
                <a:latin typeface="Courier New"/>
                <a:ea typeface="+mn-lt"/>
                <a:cs typeface="Courier New"/>
              </a:rPr>
              <a:t>as.factor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(</a:t>
            </a:r>
            <a:r>
              <a:rPr lang="en-US" sz="2000" dirty="0" err="1">
                <a:latin typeface="Courier New"/>
                <a:ea typeface="+mn-lt"/>
                <a:cs typeface="Courier New"/>
              </a:rPr>
              <a:t>class_data$Gender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) </a:t>
            </a:r>
          </a:p>
          <a:p>
            <a:pPr>
              <a:lnSpc>
                <a:spcPct val="100000"/>
              </a:lnSpc>
              <a:spcBef>
                <a:spcPts val="479"/>
              </a:spcBef>
            </a:pPr>
            <a:r>
              <a:rPr lang="en-US" sz="2000" dirty="0">
                <a:latin typeface="Courier New"/>
                <a:ea typeface="+mn-lt"/>
                <a:cs typeface="Courier New"/>
              </a:rPr>
              <a:t>summary(</a:t>
            </a:r>
            <a:r>
              <a:rPr lang="en-US" sz="2000" err="1">
                <a:latin typeface="Courier New"/>
                <a:ea typeface="+mn-lt"/>
                <a:cs typeface="Courier New"/>
              </a:rPr>
              <a:t>class_data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en-US" sz="20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latin typeface="Courier New"/>
                <a:ea typeface="+mn-lt"/>
                <a:cs typeface="Courier New"/>
              </a:rPr>
              <a:t>Gender      Age            Height          Weight    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latin typeface="Courier New"/>
                <a:ea typeface="+mn-lt"/>
                <a:cs typeface="Courier New"/>
              </a:rPr>
              <a:t> F: 9   Min.   :11.00   Min.   :130.3   Min.   :22.91 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latin typeface="Courier New"/>
                <a:ea typeface="+mn-lt"/>
                <a:cs typeface="Courier New"/>
              </a:rPr>
              <a:t> M:10   1st Qu.:12.00   1st Qu.:148.0   1st Qu.:38.22 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latin typeface="Courier New"/>
                <a:ea typeface="+mn-lt"/>
                <a:cs typeface="Courier New"/>
              </a:rPr>
              <a:t>        Median :13.00   Median :159.5   Median :45.13 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latin typeface="Courier New"/>
                <a:ea typeface="+mn-lt"/>
                <a:cs typeface="Courier New"/>
              </a:rPr>
              <a:t>        Mean   :13.32   Mean   :158.3   Mean   :45.37 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latin typeface="Courier New"/>
                <a:ea typeface="+mn-lt"/>
                <a:cs typeface="Courier New"/>
              </a:rPr>
              <a:t>        3rd Qu.:14.50   3rd Qu.:167.4   3rd Qu.:50.92 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latin typeface="Courier New"/>
                <a:ea typeface="+mn-lt"/>
                <a:cs typeface="Courier New"/>
              </a:rPr>
              <a:t>        Max.   :16.00   Max.   :182.9   Max.   :68.04 </a:t>
            </a:r>
          </a:p>
          <a:p>
            <a:pPr marL="5080">
              <a:spcBef>
                <a:spcPts val="1001"/>
              </a:spcBef>
            </a:pPr>
            <a:endParaRPr lang="en-US" sz="2000" dirty="0">
              <a:latin typeface="Corbel"/>
              <a:ea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9293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3F2E-73AD-9553-1A63-F3F22496B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7101B-DD46-0E7B-FED1-9F5625EB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Visual summary of the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365E7-E55C-C7F1-532D-13400768BF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latin typeface="Courier New"/>
                <a:ea typeface="+mn-lt"/>
                <a:cs typeface="+mn-lt"/>
              </a:rPr>
              <a:t>pairs(</a:t>
            </a:r>
            <a:r>
              <a:rPr lang="en-US" sz="2800" dirty="0" err="1">
                <a:latin typeface="Courier New"/>
                <a:ea typeface="+mn-lt"/>
                <a:cs typeface="+mn-lt"/>
              </a:rPr>
              <a:t>class_data</a:t>
            </a:r>
            <a:r>
              <a:rPr lang="en-US" sz="2800" dirty="0">
                <a:latin typeface="Courier New"/>
                <a:ea typeface="+mn-lt"/>
                <a:cs typeface="+mn-lt"/>
              </a:rPr>
              <a:t>[2:4] , col = </a:t>
            </a:r>
            <a:r>
              <a:rPr lang="en-US" sz="2800" dirty="0" err="1">
                <a:latin typeface="Courier New"/>
                <a:ea typeface="+mn-lt"/>
                <a:cs typeface="+mn-lt"/>
              </a:rPr>
              <a:t>class_data$Gender</a:t>
            </a:r>
            <a:r>
              <a:rPr lang="en-US" sz="2800" dirty="0">
                <a:latin typeface="Courier New"/>
                <a:ea typeface="+mn-lt"/>
                <a:cs typeface="+mn-lt"/>
              </a:rPr>
              <a:t>,</a:t>
            </a:r>
            <a:endParaRPr lang="en-US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latin typeface="Courier New"/>
                <a:ea typeface="+mn-lt"/>
                <a:cs typeface="+mn-lt"/>
              </a:rPr>
              <a:t>   </a:t>
            </a:r>
            <a:r>
              <a:rPr lang="en-US" sz="2800" dirty="0" err="1">
                <a:latin typeface="Courier New"/>
                <a:ea typeface="+mn-lt"/>
                <a:cs typeface="+mn-lt"/>
              </a:rPr>
              <a:t>pch</a:t>
            </a:r>
            <a:r>
              <a:rPr lang="en-US" sz="2800" dirty="0">
                <a:latin typeface="Courier New"/>
                <a:ea typeface="+mn-lt"/>
                <a:cs typeface="+mn-lt"/>
              </a:rPr>
              <a:t>=19 )</a:t>
            </a:r>
            <a:endParaRPr lang="en-US" dirty="0">
              <a:latin typeface="Courier New"/>
              <a:ea typeface="+mn-lt"/>
              <a:cs typeface="+mn-lt"/>
            </a:endParaRPr>
          </a:p>
        </p:txBody>
      </p:sp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B3337BC4-5D8B-C01B-CE8D-C620577A4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618" y="1452232"/>
            <a:ext cx="8419289" cy="537949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F7842CE-CFC8-DAD9-DD79-8F0DC155C854}"/>
              </a:ext>
            </a:extLst>
          </p:cNvPr>
          <p:cNvSpPr/>
          <p:nvPr/>
        </p:nvSpPr>
        <p:spPr>
          <a:xfrm>
            <a:off x="3055009" y="3111938"/>
            <a:ext cx="3629571" cy="2053019"/>
          </a:xfrm>
          <a:prstGeom prst="ellips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363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FB5C8-051F-2AFA-CEE3-9027B9D92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10D4B-FEC6-EF89-7D5A-6FF5AA9FA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The  </a:t>
            </a:r>
            <a:r>
              <a:rPr lang="en-GB" dirty="0" err="1">
                <a:ea typeface="Verdana"/>
                <a:cs typeface="Gill Sans"/>
              </a:rPr>
              <a:t>lm</a:t>
            </a:r>
            <a:r>
              <a:rPr lang="en-GB" dirty="0">
                <a:ea typeface="Verdana"/>
                <a:cs typeface="Gill Sans"/>
              </a:rPr>
              <a:t>() function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5E439-3376-A947-0E33-6BD77D96FD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rgbClr val="262626"/>
                </a:solidFill>
                <a:latin typeface="Courier New"/>
                <a:cs typeface="Courier New"/>
              </a:rPr>
              <a:t>lm()</a:t>
            </a:r>
            <a:r>
              <a:rPr lang="en-US" sz="2000" dirty="0">
                <a:solidFill>
                  <a:srgbClr val="262626"/>
                </a:solidFill>
              </a:rPr>
              <a:t> fits a linear model and returns an object containing the result: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my_model &lt;- lm(outcome ~ explanatory, data = my_data)</a:t>
            </a:r>
            <a:endParaRPr lang="en-US" sz="18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262626"/>
                </a:solidFill>
              </a:rPr>
              <a:t>Useful functions to apply to the model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ourier New"/>
                <a:cs typeface="Courier New"/>
              </a:rPr>
              <a:t>my_model</a:t>
            </a:r>
            <a:r>
              <a:rPr lang="en-US" sz="2000" dirty="0">
                <a:solidFill>
                  <a:srgbClr val="262626"/>
                </a:solidFill>
              </a:rPr>
              <a:t> (just print it): the intercept and the slope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ourier New"/>
                <a:cs typeface="Courier New"/>
              </a:rPr>
              <a:t>plot(my_model)</a:t>
            </a:r>
            <a:r>
              <a:rPr lang="en-US" sz="2000" dirty="0">
                <a:solidFill>
                  <a:srgbClr val="262626"/>
                </a:solidFill>
              </a:rPr>
              <a:t>: plots to check the assumptions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ourier New"/>
                <a:cs typeface="Courier New"/>
              </a:rPr>
              <a:t>summary(my_model)</a:t>
            </a:r>
            <a:r>
              <a:rPr lang="en-US" sz="2000" dirty="0">
                <a:solidFill>
                  <a:srgbClr val="262626"/>
                </a:solidFill>
              </a:rPr>
              <a:t>: p-values and R-squared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2000" dirty="0">
                <a:solidFill>
                  <a:srgbClr val="262626"/>
                </a:solidFill>
                <a:latin typeface="Courier New"/>
                <a:cs typeface="Courier New"/>
              </a:rPr>
              <a:t>coef(my_model)</a:t>
            </a:r>
            <a:r>
              <a:rPr lang="en-US" sz="2000" dirty="0">
                <a:solidFill>
                  <a:srgbClr val="262626"/>
                </a:solidFill>
              </a:rPr>
              <a:t>, </a:t>
            </a:r>
            <a:r>
              <a:rPr lang="en-US" sz="2000" dirty="0">
                <a:solidFill>
                  <a:srgbClr val="262626"/>
                </a:solidFill>
                <a:latin typeface="Courier New"/>
                <a:cs typeface="Courier New"/>
              </a:rPr>
              <a:t>residuals(my_model)</a:t>
            </a:r>
            <a:r>
              <a:rPr lang="en-US" sz="2000" dirty="0">
                <a:solidFill>
                  <a:srgbClr val="262626"/>
                </a:solidFill>
              </a:rPr>
              <a:t>: extract the coefficients or the residuals</a:t>
            </a:r>
          </a:p>
        </p:txBody>
      </p:sp>
    </p:spTree>
    <p:extLst>
      <p:ext uri="{BB962C8B-B14F-4D97-AF65-F5344CB8AC3E}">
        <p14:creationId xmlns:p14="http://schemas.microsoft.com/office/powerpoint/2010/main" val="3808846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577B4-A576-22A2-FB1F-78709FD4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D12B-696E-663B-1118-CDA17A95C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Simple linear regression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52E26-7471-607B-96E0-462FB65E5E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dirty="0" err="1">
                <a:latin typeface="Courier New"/>
                <a:ea typeface="+mn-lt"/>
                <a:cs typeface="+mn-lt"/>
              </a:rPr>
              <a:t>model_height_age</a:t>
            </a:r>
            <a:r>
              <a:rPr lang="en-US" sz="2000" dirty="0">
                <a:latin typeface="Courier New"/>
                <a:ea typeface="+mn-lt"/>
                <a:cs typeface="+mn-lt"/>
              </a:rPr>
              <a:t> &lt;- 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lm</a:t>
            </a:r>
            <a:r>
              <a:rPr lang="en-US" sz="2000" dirty="0">
                <a:latin typeface="Courier New"/>
                <a:ea typeface="+mn-lt"/>
                <a:cs typeface="+mn-lt"/>
              </a:rPr>
              <a:t>(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Height~Age</a:t>
            </a:r>
            <a:r>
              <a:rPr lang="en-US" sz="2000" dirty="0">
                <a:latin typeface="Courier New"/>
                <a:ea typeface="+mn-lt"/>
                <a:cs typeface="+mn-lt"/>
              </a:rPr>
              <a:t>, data=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class_data</a:t>
            </a:r>
            <a:r>
              <a:rPr lang="en-US" sz="2000" dirty="0">
                <a:latin typeface="Courier New"/>
                <a:ea typeface="+mn-lt"/>
                <a:cs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err="1">
                <a:latin typeface="Courier New"/>
                <a:ea typeface="+mn-lt"/>
                <a:cs typeface="+mn-lt"/>
              </a:rPr>
              <a:t>model_height_age</a:t>
            </a:r>
            <a:endParaRPr lang="en-US" sz="20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Courier New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Courier New"/>
                <a:ea typeface="+mn-lt"/>
                <a:cs typeface="Courier New"/>
              </a:rPr>
              <a:t>Call: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err="1">
                <a:latin typeface="Courier New"/>
                <a:ea typeface="+mn-lt"/>
                <a:cs typeface="Courier New"/>
              </a:rPr>
              <a:t>lm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(formula = Height ~ Age, data = </a:t>
            </a:r>
            <a:r>
              <a:rPr lang="en-US" sz="2000" err="1">
                <a:latin typeface="Courier New"/>
                <a:ea typeface="+mn-lt"/>
                <a:cs typeface="Courier New"/>
              </a:rPr>
              <a:t>class_data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Courier New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Courier New"/>
                <a:ea typeface="+mn-lt"/>
                <a:cs typeface="Courier New"/>
              </a:rPr>
              <a:t>Coefficients: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Courier New"/>
                <a:ea typeface="+mn-lt"/>
                <a:cs typeface="Courier New"/>
              </a:rPr>
              <a:t>(Intercept)          Age  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Courier New"/>
                <a:ea typeface="+mn-lt"/>
                <a:cs typeface="Courier New"/>
              </a:rPr>
              <a:t>     64.069        7.079 </a:t>
            </a: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en-US" sz="2000" dirty="0">
              <a:latin typeface="Courier New"/>
              <a:ea typeface="+mn-lt"/>
              <a:cs typeface="Arial"/>
            </a:endParaRPr>
          </a:p>
          <a:p>
            <a:pPr marL="2540">
              <a:spcBef>
                <a:spcPts val="1001"/>
              </a:spcBef>
            </a:pPr>
            <a:endParaRPr lang="en-US" sz="2000" dirty="0">
              <a:latin typeface="Courier New"/>
              <a:ea typeface="+mn-lt"/>
              <a:cs typeface="Arial"/>
            </a:endParaRPr>
          </a:p>
          <a:p>
            <a:pPr marL="0" indent="0">
              <a:buNone/>
            </a:pPr>
            <a:endParaRPr lang="en-US" sz="108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rgbClr val="262626"/>
                </a:solidFill>
              </a:rPr>
              <a:t>→ </a:t>
            </a:r>
            <a:r>
              <a:rPr lang="en-US" sz="2000" b="1" dirty="0">
                <a:solidFill>
                  <a:srgbClr val="262626"/>
                </a:solidFill>
              </a:rPr>
              <a:t>Height ≈ 64.1 + 7.1 × Age</a:t>
            </a:r>
            <a:r>
              <a:rPr lang="en-US" sz="2000" dirty="0">
                <a:solidFill>
                  <a:srgbClr val="262626"/>
                </a:solidFill>
              </a:rPr>
              <a:t>  (in cm, age in years)</a:t>
            </a:r>
          </a:p>
        </p:txBody>
      </p:sp>
    </p:spTree>
    <p:extLst>
      <p:ext uri="{BB962C8B-B14F-4D97-AF65-F5344CB8AC3E}">
        <p14:creationId xmlns:p14="http://schemas.microsoft.com/office/powerpoint/2010/main" val="28283847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A88DD-76FB-CC14-ECEB-25B93F5D5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9AD4D-F0C9-D916-1C75-E362C495C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Representation of the fit (II)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DB03B-DA04-D8B9-3483-B60DED3D70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plot(</a:t>
            </a:r>
            <a:r>
              <a:rPr lang="en-US" sz="2000" err="1">
                <a:latin typeface="Courier New"/>
                <a:ea typeface="+mn-lt"/>
                <a:cs typeface="+mn-lt"/>
              </a:rPr>
              <a:t>Height~Age,data</a:t>
            </a:r>
            <a:r>
              <a:rPr lang="en-US" sz="2000" dirty="0">
                <a:latin typeface="Courier New"/>
                <a:ea typeface="+mn-lt"/>
                <a:cs typeface="+mn-lt"/>
              </a:rPr>
              <a:t>=</a:t>
            </a:r>
            <a:r>
              <a:rPr lang="en-US" sz="2000" err="1">
                <a:latin typeface="Courier New"/>
                <a:ea typeface="+mn-lt"/>
                <a:cs typeface="+mn-lt"/>
              </a:rPr>
              <a:t>class_data</a:t>
            </a:r>
            <a:r>
              <a:rPr lang="en-US" sz="2000" dirty="0">
                <a:latin typeface="Courier New"/>
                <a:ea typeface="+mn-lt"/>
                <a:cs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err="1">
                <a:latin typeface="Courier New"/>
                <a:ea typeface="+mn-lt"/>
                <a:cs typeface="+mn-lt"/>
              </a:rPr>
              <a:t>abline</a:t>
            </a:r>
            <a:r>
              <a:rPr lang="en-US" sz="2000" dirty="0">
                <a:latin typeface="Courier New"/>
                <a:ea typeface="+mn-lt"/>
                <a:cs typeface="+mn-lt"/>
              </a:rPr>
              <a:t>(</a:t>
            </a:r>
            <a:r>
              <a:rPr lang="en-US" sz="2000" err="1">
                <a:latin typeface="Courier New"/>
                <a:ea typeface="+mn-lt"/>
                <a:cs typeface="+mn-lt"/>
              </a:rPr>
              <a:t>model_height_age</a:t>
            </a:r>
            <a:r>
              <a:rPr lang="en-US" sz="2000" dirty="0">
                <a:latin typeface="Courier New"/>
                <a:ea typeface="+mn-lt"/>
                <a:cs typeface="+mn-lt"/>
              </a:rPr>
              <a:t>, col="red", </a:t>
            </a:r>
            <a:r>
              <a:rPr lang="en-US" sz="2000" err="1">
                <a:latin typeface="Courier New"/>
                <a:ea typeface="+mn-lt"/>
                <a:cs typeface="+mn-lt"/>
              </a:rPr>
              <a:t>lwd</a:t>
            </a:r>
            <a:r>
              <a:rPr lang="en-US" sz="2000" dirty="0">
                <a:latin typeface="Courier New"/>
                <a:ea typeface="+mn-lt"/>
                <a:cs typeface="+mn-lt"/>
              </a:rPr>
              <a:t>=2)</a:t>
            </a:r>
          </a:p>
          <a:p>
            <a:pPr>
              <a:spcBef>
                <a:spcPts val="400"/>
              </a:spcBef>
            </a:pP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spcBef>
                <a:spcPts val="400"/>
              </a:spcBef>
            </a:pPr>
            <a:endParaRPr lang="en-US" sz="18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Courier New"/>
              <a:ea typeface="+mn-lt"/>
              <a:cs typeface="Arial"/>
            </a:endParaRPr>
          </a:p>
        </p:txBody>
      </p:sp>
      <p:pic>
        <p:nvPicPr>
          <p:cNvPr id="10" name="Picture 9" descr="A red line with black dots&#10;&#10;Description automatically generated">
            <a:extLst>
              <a:ext uri="{FF2B5EF4-FFF2-40B4-BE49-F238E27FC236}">
                <a16:creationId xmlns:a16="http://schemas.microsoft.com/office/drawing/2014/main" id="{31660E71-E6E8-47C4-5182-2AA8C9CE5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03" y="1674871"/>
            <a:ext cx="4410501" cy="52248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57AC39-29F9-47B0-070C-B45D287511BC}"/>
              </a:ext>
            </a:extLst>
          </p:cNvPr>
          <p:cNvSpPr txBox="1"/>
          <p:nvPr/>
        </p:nvSpPr>
        <p:spPr>
          <a:xfrm>
            <a:off x="5705856" y="2066543"/>
            <a:ext cx="5925312" cy="32918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262626"/>
                </a:solidFill>
              </a:rPr>
              <a:t>Coefficients</a:t>
            </a:r>
            <a:r>
              <a:rPr lang="en-US" sz="1800" dirty="0">
                <a:solidFill>
                  <a:srgbClr val="262626"/>
                </a:solidFill>
              </a:rPr>
              <a:t> = intercept and slope of the red line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coef(model_height_age)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595959"/>
                </a:solidFill>
                <a:latin typeface="Courier New"/>
                <a:cs typeface="Courier New"/>
              </a:rPr>
              <a:t>(Intercept)         Age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595959"/>
                </a:solidFill>
                <a:latin typeface="Courier New"/>
                <a:cs typeface="Courier New"/>
              </a:rPr>
              <a:t>  64.068667    7.079333</a:t>
            </a:r>
            <a:endParaRPr lang="en-US" sz="1600" dirty="0"/>
          </a:p>
          <a:p>
            <a:pPr marL="0" indent="0">
              <a:buNone/>
            </a:pPr>
            <a:endParaRPr lang="en-US" sz="1080" dirty="0"/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800" b="1" dirty="0">
                <a:solidFill>
                  <a:srgbClr val="262626"/>
                </a:solidFill>
              </a:rPr>
              <a:t>Slope</a:t>
            </a:r>
            <a:r>
              <a:rPr lang="en-US" sz="1800" dirty="0">
                <a:solidFill>
                  <a:srgbClr val="262626"/>
                </a:solidFill>
              </a:rPr>
              <a:t>: each extra year of age adds on average about 7 cm of height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800" b="1" dirty="0">
                <a:solidFill>
                  <a:srgbClr val="262626"/>
                </a:solidFill>
              </a:rPr>
              <a:t>Intercept</a:t>
            </a:r>
            <a:r>
              <a:rPr lang="en-US" sz="1800" dirty="0">
                <a:solidFill>
                  <a:srgbClr val="262626"/>
                </a:solidFill>
              </a:rPr>
              <a:t>: predicted height at age 0 (64 cm). Not meaningful here: there is no child younger than 11 in the data!</a:t>
            </a:r>
          </a:p>
        </p:txBody>
      </p:sp>
    </p:spTree>
    <p:extLst>
      <p:ext uri="{BB962C8B-B14F-4D97-AF65-F5344CB8AC3E}">
        <p14:creationId xmlns:p14="http://schemas.microsoft.com/office/powerpoint/2010/main" val="27970449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0B1D2-2D76-C049-55B7-C4BD3E920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C0E0C-E575-B1A5-D53B-83014271E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Representation of the fit (III)</a:t>
            </a:r>
            <a:endParaRPr lang="en-US" dirty="0"/>
          </a:p>
        </p:txBody>
      </p:sp>
      <p:pic>
        <p:nvPicPr>
          <p:cNvPr id="10" name="Picture 9" descr="A red line with black dots&#10;&#10;Description automatically generated">
            <a:extLst>
              <a:ext uri="{FF2B5EF4-FFF2-40B4-BE49-F238E27FC236}">
                <a16:creationId xmlns:a16="http://schemas.microsoft.com/office/drawing/2014/main" id="{71E3A2F6-F0AD-725F-DD76-BCC1A802E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03" y="1674871"/>
            <a:ext cx="4410501" cy="52248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0C9D52-DEDA-1109-30A6-C0117C46FBFC}"/>
              </a:ext>
            </a:extLst>
          </p:cNvPr>
          <p:cNvSpPr txBox="1"/>
          <p:nvPr/>
        </p:nvSpPr>
        <p:spPr>
          <a:xfrm>
            <a:off x="5705856" y="2066543"/>
            <a:ext cx="5925312" cy="3566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262626"/>
                </a:solidFill>
              </a:rPr>
              <a:t>Residuals</a:t>
            </a:r>
            <a:r>
              <a:rPr lang="en-US" sz="1800" dirty="0">
                <a:solidFill>
                  <a:srgbClr val="262626"/>
                </a:solidFill>
              </a:rPr>
              <a:t>: vertical distance between each point and the line (observed − predicted)</a:t>
            </a:r>
          </a:p>
          <a:p>
            <a:pPr marL="0" indent="0">
              <a:buNone/>
            </a:pPr>
            <a:endParaRPr lang="en-US" sz="1080" dirty="0"/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residuals(model_height_age)[1:4]</a:t>
            </a:r>
            <a:endParaRPr lang="en-US" sz="15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rgbClr val="595959"/>
                </a:solidFill>
                <a:latin typeface="Courier New"/>
                <a:cs typeface="Courier New"/>
              </a:rPr>
              <a:t>         1          2          3          4</a:t>
            </a:r>
            <a:endParaRPr lang="en-US" sz="15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rgbClr val="595959"/>
                </a:solidFill>
                <a:latin typeface="Courier New"/>
                <a:cs typeface="Courier New"/>
              </a:rPr>
              <a:t>-11.639333   4.108667  -3.478667   2.871333</a:t>
            </a:r>
            <a:endParaRPr lang="en-US" sz="1500" dirty="0"/>
          </a:p>
          <a:p>
            <a:pPr marL="0" indent="0">
              <a:buNone/>
            </a:pPr>
            <a:endParaRPr lang="en-US" sz="1080" dirty="0"/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Positive residual: the point is above the line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Negative residual: the point is below the line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A good model has small residuals with no visible pattern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A042D5-935D-36BE-B61C-A15690FF8E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18889" y="5725619"/>
            <a:ext cx="4734911" cy="444994"/>
          </a:xfrm>
        </p:spPr>
        <p:txBody>
          <a:bodyPr/>
          <a:lstStyle/>
          <a:p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5E7CC9-E263-77BB-BA8D-128D9F5DED00}"/>
              </a:ext>
            </a:extLst>
          </p:cNvPr>
          <p:cNvCxnSpPr/>
          <p:nvPr/>
        </p:nvCxnSpPr>
        <p:spPr>
          <a:xfrm flipH="1">
            <a:off x="2751959" y="3917731"/>
            <a:ext cx="5254" cy="79178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17CDA0-BEE6-B88B-7698-48FDA3508B2B}"/>
              </a:ext>
            </a:extLst>
          </p:cNvPr>
          <p:cNvCxnSpPr/>
          <p:nvPr/>
        </p:nvCxnSpPr>
        <p:spPr>
          <a:xfrm flipH="1">
            <a:off x="4620282" y="2066837"/>
            <a:ext cx="2889" cy="333136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251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6A224-426F-10EF-AC4A-86A7C0638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BC80E-2096-EEAD-A89E-D742124D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Check model assumptions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DAE75-04CD-D99B-6938-7B032ADF3C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248" y="914400"/>
            <a:ext cx="5669280" cy="10058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par(mfrow=c(1,2))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plot(model_height_age, which=1:2)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A07A"/>
                </a:solidFill>
                <a:latin typeface="Courier New"/>
                <a:cs typeface="Courier New"/>
              </a:rPr>
              <a:t># only the 2 most useful plots</a:t>
            </a:r>
            <a:endParaRPr lang="en-US" sz="1600" dirty="0"/>
          </a:p>
        </p:txBody>
      </p:sp>
      <p:pic>
        <p:nvPicPr>
          <p:cNvPr id="5" name="Picture 4" descr="Residuals vs Fitted and Normal Q-Q plots of the height ~ age model">
            <a:extLst>
              <a:ext uri="{FF2B5EF4-FFF2-40B4-BE49-F238E27FC236}">
                <a16:creationId xmlns:a16="http://schemas.microsoft.com/office/drawing/2014/main" id="{1F7E99A4-D87B-8962-78EF-945A940E2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19"/>
            <a:ext cx="10515600" cy="32211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D35243-07F4-1B44-670A-813CFF3ABC77}"/>
              </a:ext>
            </a:extLst>
          </p:cNvPr>
          <p:cNvSpPr txBox="1"/>
          <p:nvPr/>
        </p:nvSpPr>
        <p:spPr>
          <a:xfrm>
            <a:off x="6583680" y="914400"/>
            <a:ext cx="5120640" cy="7315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More details on these plots:</a:t>
            </a:r>
          </a:p>
          <a:p>
            <a:r>
              <a:rPr lang="en-US" dirty="0">
                <a:hlinkClick r:id="rId4"/>
              </a:rPr>
              <a:t>https://library.virginia.edu/data/articles/diagnostic-plots</a:t>
            </a:r>
          </a:p>
        </p:txBody>
      </p:sp>
      <p:sp>
        <p:nvSpPr>
          <p:cNvPr id="30" name="Left explanation"/>
          <p:cNvSpPr txBox="1"/>
          <p:nvPr/>
        </p:nvSpPr>
        <p:spPr>
          <a:xfrm>
            <a:off x="841248" y="5187141"/>
            <a:ext cx="5120640" cy="1487978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262626"/>
                </a:solidFill>
              </a:rPr>
              <a:t>Residuals vs Fitted</a:t>
            </a:r>
            <a:r>
              <a:rPr lang="en-US" sz="1600" dirty="0">
                <a:solidFill>
                  <a:srgbClr val="262626"/>
                </a:solidFill>
              </a:rPr>
              <a:t>: are the residuals centred on 0?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Good: points scattered randomly around the dotted line at 0, no clear shape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Problem: a curve (the relation is not a straight line) or a funnel (spread increases)</a:t>
            </a:r>
          </a:p>
        </p:txBody>
      </p:sp>
      <p:sp>
        <p:nvSpPr>
          <p:cNvPr id="31" name="Right explanation"/>
          <p:cNvSpPr txBox="1"/>
          <p:nvPr/>
        </p:nvSpPr>
        <p:spPr>
          <a:xfrm>
            <a:off x="6263640" y="5187141"/>
            <a:ext cx="5120640" cy="1487978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262626"/>
                </a:solidFill>
              </a:rPr>
              <a:t>Normal Q-Q</a:t>
            </a:r>
            <a:r>
              <a:rPr lang="en-US" sz="1600" dirty="0">
                <a:solidFill>
                  <a:srgbClr val="262626"/>
                </a:solidFill>
              </a:rPr>
              <a:t>: are the residuals normally distributed?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Good: points lie roughly on the dashed line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Here: OK, small deviations at the ends are normal with only 19 children</a:t>
            </a:r>
          </a:p>
        </p:txBody>
      </p:sp>
    </p:spTree>
    <p:extLst>
      <p:ext uri="{BB962C8B-B14F-4D97-AF65-F5344CB8AC3E}">
        <p14:creationId xmlns:p14="http://schemas.microsoft.com/office/powerpoint/2010/main" val="29959482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70D3-F895-945D-38F8-78E884F05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F487B-F1A0-6B9E-BEF9-ABB550953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Model summary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F3972-9E6C-07AE-BE74-3DC917CCD4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14400"/>
            <a:ext cx="7132320" cy="53949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summary(model_height_age)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595959"/>
                </a:solidFill>
                <a:latin typeface="Courier New"/>
                <a:cs typeface="Courier New"/>
              </a:rPr>
              <a:t>Call: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595959"/>
                </a:solidFill>
                <a:latin typeface="Courier New"/>
                <a:cs typeface="Courier New"/>
              </a:rPr>
              <a:t>lm(formula = Height ~ Age, data = class_data)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595959"/>
                </a:solidFill>
                <a:latin typeface="Courier New"/>
                <a:cs typeface="Courier New"/>
              </a:rPr>
              <a:t>Residuals: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595959"/>
                </a:solidFill>
                <a:latin typeface="Courier New"/>
                <a:cs typeface="Courier New"/>
              </a:rPr>
              <a:t>     Min       1Q   Median       3Q      Max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595959"/>
                </a:solidFill>
                <a:latin typeface="Courier New"/>
                <a:cs typeface="Courier New"/>
              </a:rPr>
              <a:t>-12.5900  -3.5730  -0.0787   3.4900  15.5713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595959"/>
                </a:solidFill>
                <a:latin typeface="Courier New"/>
                <a:cs typeface="Courier New"/>
              </a:rPr>
              <a:t>Coefficients: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595959"/>
                </a:solidFill>
                <a:latin typeface="Courier New"/>
                <a:cs typeface="Courier New"/>
              </a:rPr>
              <a:t>            Estimate Std. Error t value Pr(&gt;|t|)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595959"/>
                </a:solidFill>
                <a:latin typeface="Courier New"/>
                <a:cs typeface="Courier New"/>
              </a:rPr>
              <a:t>(Intercept)   64.069     16.565   3.868  0.00124 **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/>
                <a:cs typeface="Courier New"/>
              </a:rPr>
              <a:t>Age            7.079      1.237   5.724 2.48e-05 ***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595959"/>
                </a:solidFill>
                <a:latin typeface="Courier New"/>
                <a:cs typeface="Courier New"/>
              </a:rPr>
              <a:t>---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595959"/>
                </a:solidFill>
                <a:latin typeface="Courier New"/>
                <a:cs typeface="Courier New"/>
              </a:rPr>
              <a:t>Signif. codes:  0 '***' 0.001 '**' 0.01 '*' 0.05 '.' 0.1 ' ' 1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595959"/>
                </a:solidFill>
                <a:latin typeface="Courier New"/>
                <a:cs typeface="Courier New"/>
              </a:rPr>
              <a:t>Residual standard error: 7.832 on 17 degrees of freedom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/>
                <a:cs typeface="Courier New"/>
              </a:rPr>
              <a:t>Multiple R-squared:  0.6584,  Adjusted R-squared:  0.6383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595959"/>
                </a:solidFill>
                <a:latin typeface="Courier New"/>
                <a:cs typeface="Courier New"/>
              </a:rPr>
              <a:t>F-statistic: 32.77 on 1 and 17 DF,  p-value: 2.48e-05</a:t>
            </a:r>
            <a:endParaRPr lang="en-US" sz="1400" dirty="0"/>
          </a:p>
        </p:txBody>
      </p:sp>
      <p:sp>
        <p:nvSpPr>
          <p:cNvPr id="20" name="Explanation"/>
          <p:cNvSpPr txBox="1"/>
          <p:nvPr/>
        </p:nvSpPr>
        <p:spPr>
          <a:xfrm>
            <a:off x="7680960" y="1051560"/>
            <a:ext cx="4206240" cy="493776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262626"/>
                </a:solidFill>
              </a:rPr>
              <a:t>What to look at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600" b="1" dirty="0">
                <a:solidFill>
                  <a:srgbClr val="262626"/>
                </a:solidFill>
              </a:rPr>
              <a:t>Age, Estimate</a:t>
            </a:r>
            <a:r>
              <a:rPr lang="en-US" sz="1600" dirty="0">
                <a:solidFill>
                  <a:srgbClr val="262626"/>
                </a:solidFill>
              </a:rPr>
              <a:t> = 7.079: the slope, height increases by about 7 cm per year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600" b="1" dirty="0">
                <a:solidFill>
                  <a:srgbClr val="262626"/>
                </a:solidFill>
              </a:rPr>
              <a:t>Age, Pr(&gt;|t|)</a:t>
            </a:r>
            <a:r>
              <a:rPr lang="en-US" sz="1600" dirty="0">
                <a:solidFill>
                  <a:srgbClr val="262626"/>
                </a:solidFill>
              </a:rPr>
              <a:t> = 2.48e-05: p-value testing whether the slope is different from 0. Very small → height is significantly associated with age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600" b="1" dirty="0">
                <a:solidFill>
                  <a:srgbClr val="262626"/>
                </a:solidFill>
              </a:rPr>
              <a:t>R-squared</a:t>
            </a:r>
            <a:r>
              <a:rPr lang="en-US" sz="1600" dirty="0">
                <a:solidFill>
                  <a:srgbClr val="262626"/>
                </a:solidFill>
              </a:rPr>
              <a:t> = 0.66: age explains about 66% of the variation in height</a:t>
            </a:r>
          </a:p>
          <a:p>
            <a:pPr marL="0" indent="0">
              <a:buNone/>
            </a:pPr>
            <a:endParaRPr lang="en-US" sz="96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600" i="1" dirty="0">
                <a:solidFill>
                  <a:srgbClr val="595959"/>
                </a:solidFill>
              </a:rPr>
              <a:t>You can ignore the rest of the output for now.</a:t>
            </a:r>
          </a:p>
        </p:txBody>
      </p:sp>
    </p:spTree>
    <p:extLst>
      <p:ext uri="{BB962C8B-B14F-4D97-AF65-F5344CB8AC3E}">
        <p14:creationId xmlns:p14="http://schemas.microsoft.com/office/powerpoint/2010/main" val="3942846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6E5C1-BDEB-4748-E82A-24B5D8074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05A2-CCCB-48E4-52F8-816149787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991" y="318882"/>
            <a:ext cx="5719843" cy="1168976"/>
          </a:xfrm>
        </p:spPr>
        <p:txBody>
          <a:bodyPr/>
          <a:lstStyle/>
          <a:p>
            <a:r>
              <a:rPr lang="en-GB" dirty="0">
                <a:ea typeface="Verdana"/>
              </a:rPr>
              <a:t>Let's practice - 11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43E71F-357E-7657-6702-6ED3B70A0208}"/>
              </a:ext>
            </a:extLst>
          </p:cNvPr>
          <p:cNvSpPr txBox="1"/>
          <p:nvPr/>
        </p:nvSpPr>
        <p:spPr>
          <a:xfrm>
            <a:off x="674413" y="1182414"/>
            <a:ext cx="10098689" cy="58810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The data set "Pima" comes from a study on diabetes in women of Pima Indian heritage. </a:t>
            </a:r>
            <a:endParaRPr lang="en-US"/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We are using a subset (Pima.tr).</a:t>
            </a:r>
            <a:endParaRPr lang="en-US" dirty="0"/>
          </a:p>
          <a:p>
            <a:pPr marL="457200" indent="-457200">
              <a:lnSpc>
                <a:spcPct val="90000"/>
              </a:lnSpc>
              <a:spcBef>
                <a:spcPts val="2401"/>
              </a:spcBef>
              <a:buAutoNum type="arabicPeriod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Load the package MASS using library(). Load the dataset Pima.tr using data(Pima.tr). Use ? to get an idea which variables it contains.</a:t>
            </a:r>
          </a:p>
          <a:p>
            <a:pPr marL="457200" indent="-457200">
              <a:lnSpc>
                <a:spcPct val="90000"/>
              </a:lnSpc>
              <a:spcBef>
                <a:spcPts val="2401"/>
              </a:spcBef>
              <a:buAutoNum type="arabicPeriod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Hypothesis: Blood glucose level (</a:t>
            </a:r>
            <a:r>
              <a:rPr lang="en-US" sz="2000" dirty="0" err="1">
                <a:solidFill>
                  <a:srgbClr val="000000"/>
                </a:solidFill>
                <a:ea typeface="+mn-lt"/>
                <a:cs typeface="+mn-lt"/>
              </a:rPr>
              <a:t>glu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) is associated with diastolic blood pressure (bp). Run a linear model to test the hypothesis.</a:t>
            </a:r>
          </a:p>
          <a:p>
            <a:pPr marL="457200" indent="-457200">
              <a:lnSpc>
                <a:spcPct val="90000"/>
              </a:lnSpc>
              <a:spcBef>
                <a:spcPts val="2401"/>
              </a:spcBef>
              <a:buAutoNum type="arabicPeriod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Visualize the fit with a scatter plot and a trend line.</a:t>
            </a:r>
          </a:p>
          <a:p>
            <a:pPr marL="457200" indent="-457200">
              <a:lnSpc>
                <a:spcPct val="90000"/>
              </a:lnSpc>
              <a:spcBef>
                <a:spcPts val="2401"/>
              </a:spcBef>
              <a:buAutoNum type="arabicPeriod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Check the assumptions of the model graphically with plot().</a:t>
            </a: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AutoNum type="arabicPeriod"/>
            </a:pPr>
            <a:endParaRPr lang="en-US" sz="200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EXTRA TASKS: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Try another explanatory variable, e.g. body mass index (bmi). Which of the two models explains more of the variation in glucose (R-squared)?</a:t>
            </a:r>
          </a:p>
          <a:p>
            <a:pPr>
              <a:lnSpc>
                <a:spcPct val="90000"/>
              </a:lnSpc>
              <a:spcBef>
                <a:spcPts val="1349"/>
              </a:spcBef>
              <a:spcAft>
                <a:spcPts val="850"/>
              </a:spcAft>
            </a:pPr>
            <a:endParaRPr lang="en-US" sz="2000" dirty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3414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DE9C2-B973-954A-6729-936D7F2E0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60DB-7EC9-8CEF-CAD6-D0FC63A9B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The next steps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A98E8-77E0-084E-5D9F-EF77286379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6640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6700" indent="-26416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Font typeface="Arial,Sans-Serif"/>
              <a:buChar char="•"/>
            </a:pPr>
            <a:r>
              <a:rPr lang="en-US" b="1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R manuals: </a:t>
            </a:r>
            <a:r>
              <a:rPr lang="en-US" dirty="0">
                <a:latin typeface="Corbel"/>
                <a:ea typeface="Tahoma"/>
                <a:cs typeface="Arial"/>
                <a:hlinkClick r:id="rId3"/>
              </a:rPr>
              <a:t>http://cran.r-project.org/manuals.html</a:t>
            </a:r>
            <a:endParaRPr lang="en-US">
              <a:solidFill>
                <a:srgbClr val="000000"/>
              </a:solidFill>
              <a:latin typeface="Corbel"/>
              <a:ea typeface="Tahoma"/>
              <a:cs typeface="Arial"/>
            </a:endParaRPr>
          </a:p>
          <a:p>
            <a:pPr marL="266700" indent="-26416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Font typeface="Arial,Sans-Serif"/>
              <a:buChar char="•"/>
            </a:pPr>
            <a:r>
              <a:rPr lang="en-US" b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free course material: </a:t>
            </a:r>
            <a:r>
              <a:rPr lang="en-US" dirty="0">
                <a:solidFill>
                  <a:srgbClr val="262626"/>
                </a:solidFill>
                <a:latin typeface="Corbel"/>
                <a:ea typeface="Tahoma"/>
                <a:cs typeface="Arial"/>
                <a:hlinkClick r:id="rId4"/>
              </a:rPr>
              <a:t>https://</a:t>
            </a:r>
            <a:r>
              <a:rPr lang="en-US" dirty="0">
                <a:latin typeface="Corbel"/>
                <a:ea typeface="Tahoma"/>
                <a:cs typeface="Arial"/>
                <a:hlinkClick r:id="rId4"/>
              </a:rPr>
              <a:t>glittr.org</a:t>
            </a:r>
            <a:endParaRPr lang="en-US" dirty="0">
              <a:solidFill>
                <a:srgbClr val="000000"/>
              </a:solidFill>
              <a:latin typeface="Corbel"/>
              <a:ea typeface="Tahoma"/>
              <a:cs typeface="Arial"/>
            </a:endParaRPr>
          </a:p>
          <a:p>
            <a:pPr marL="266700" indent="-26416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Font typeface="Arial,Sans-Serif"/>
              <a:buChar char="•"/>
            </a:pPr>
            <a:r>
              <a:rPr lang="en-US" b="1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STHDA (Statistical Tools for High Throughput Data Analysis) free tutorials: </a:t>
            </a:r>
            <a:r>
              <a:rPr lang="en-US" dirty="0">
                <a:latin typeface="Corbel"/>
                <a:ea typeface="Tahoma"/>
                <a:cs typeface="Arial"/>
                <a:hlinkClick r:id="rId5"/>
              </a:rPr>
              <a:t>http://www.sthda.com/english/</a:t>
            </a:r>
            <a:endParaRPr lang="en-US">
              <a:solidFill>
                <a:srgbClr val="000000"/>
              </a:solidFill>
              <a:latin typeface="Corbel"/>
              <a:ea typeface="Tahoma"/>
              <a:cs typeface="Arial"/>
            </a:endParaRPr>
          </a:p>
          <a:p>
            <a:pPr marL="266700" indent="-26416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Font typeface="Arial,Sans-Serif"/>
              <a:buChar char="•"/>
            </a:pPr>
            <a:r>
              <a:rPr lang="en-US" b="1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Stackoverflow</a:t>
            </a:r>
            <a:r>
              <a:rPr lang="en-US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 documentation, resources and user forum: </a:t>
            </a:r>
            <a:r>
              <a:rPr lang="en-US" dirty="0">
                <a:latin typeface="Corbel"/>
                <a:ea typeface="Tahoma"/>
                <a:cs typeface="Arial"/>
                <a:hlinkClick r:id="rId6"/>
              </a:rPr>
              <a:t>http://stackoverflow.com/tags/r/info</a:t>
            </a:r>
            <a:endParaRPr lang="en-US">
              <a:solidFill>
                <a:srgbClr val="000000"/>
              </a:solidFill>
              <a:latin typeface="Corbel"/>
              <a:ea typeface="Tahoma"/>
              <a:cs typeface="Arial"/>
            </a:endParaRPr>
          </a:p>
          <a:p>
            <a:pPr marL="266700" indent="-26416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Font typeface="Arial,Sans-Serif"/>
              <a:buChar char="•"/>
            </a:pPr>
            <a:r>
              <a:rPr lang="en-US" b="1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Rseek</a:t>
            </a:r>
            <a:r>
              <a:rPr lang="en-US" b="1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 -  </a:t>
            </a:r>
            <a:r>
              <a:rPr lang="en-US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search engine on numerous online R resources: </a:t>
            </a:r>
            <a:r>
              <a:rPr lang="en-US" dirty="0">
                <a:latin typeface="Corbel"/>
                <a:ea typeface="Tahoma"/>
                <a:cs typeface="Arial"/>
                <a:hlinkClick r:id="rId7"/>
              </a:rPr>
              <a:t>http://www.rseek.org</a:t>
            </a:r>
            <a:endParaRPr lang="en-US">
              <a:solidFill>
                <a:srgbClr val="000000"/>
              </a:solidFill>
              <a:latin typeface="Corbel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</a:pPr>
            <a:endParaRPr lang="en-US" dirty="0">
              <a:solidFill>
                <a:srgbClr val="000000"/>
              </a:solidFill>
              <a:latin typeface="Corbel"/>
              <a:cs typeface="Arial"/>
            </a:endParaRPr>
          </a:p>
          <a:p>
            <a:endParaRPr lang="en-US" sz="1800" dirty="0"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0312501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B3DD1-C653-8D6F-FCA5-C04BBEECF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3DD9-E6CF-4843-4471-1CA58AF4E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Credits and Acknowledgments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9D704-F64F-CFF6-D7F8-DC7B5273F4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66402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</a:pPr>
            <a:endParaRPr lang="en-US" dirty="0">
              <a:solidFill>
                <a:srgbClr val="000000"/>
              </a:solidFill>
              <a:latin typeface="Corbel"/>
              <a:cs typeface="Arial"/>
            </a:endParaRPr>
          </a:p>
          <a:p>
            <a:pPr marL="2540">
              <a:lnSpc>
                <a:spcPct val="100000"/>
              </a:lnSpc>
              <a:spcBef>
                <a:spcPts val="400"/>
              </a:spcBef>
            </a:pPr>
            <a:r>
              <a:rPr lang="en-US" sz="2000">
                <a:solidFill>
                  <a:srgbClr val="262626"/>
                </a:solidFill>
                <a:latin typeface="Arial"/>
                <a:cs typeface="Arial"/>
              </a:rPr>
              <a:t>Content and slides developed by: </a:t>
            </a:r>
            <a:br>
              <a:rPr lang="en-US" sz="2000" dirty="0">
                <a:solidFill>
                  <a:srgbClr val="262626"/>
                </a:solidFill>
                <a:latin typeface="Arial"/>
                <a:cs typeface="Arial"/>
              </a:rPr>
            </a:br>
            <a:r>
              <a:rPr lang="en-US" sz="2000">
                <a:solidFill>
                  <a:srgbClr val="262626"/>
                </a:solidFill>
                <a:latin typeface="Arial"/>
                <a:cs typeface="Arial"/>
              </a:rPr>
              <a:t>Diana Marek, Geoffrey Fucile, Alex Smith, Linda Dib, Leonore Wigger, Wandrille </a:t>
            </a: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Duchemin</a:t>
            </a:r>
          </a:p>
          <a:p>
            <a:pPr marL="2540">
              <a:lnSpc>
                <a:spcPct val="100000"/>
              </a:lnSpc>
              <a:spcBef>
                <a:spcPts val="400"/>
              </a:spcBef>
            </a:pPr>
            <a:endParaRPr lang="en-US" sz="2000" dirty="0">
              <a:solidFill>
                <a:srgbClr val="262626"/>
              </a:solidFill>
              <a:latin typeface="Arial"/>
              <a:cs typeface="Arial"/>
            </a:endParaRPr>
          </a:p>
          <a:p>
            <a:pPr marL="2540">
              <a:lnSpc>
                <a:spcPct val="100000"/>
              </a:lnSpc>
              <a:spcBef>
                <a:spcPts val="400"/>
              </a:spcBef>
              <a:buFont typeface="Arial,Sans-Serif"/>
            </a:pPr>
            <a:r>
              <a:rPr lang="en-US" sz="2000" dirty="0">
                <a:solidFill>
                  <a:srgbClr val="262626"/>
                </a:solidFill>
                <a:latin typeface="Arial"/>
                <a:ea typeface="Tahoma"/>
                <a:cs typeface="Arial"/>
              </a:rPr>
              <a:t>Content inspired by material from: </a:t>
            </a:r>
          </a:p>
          <a:p>
            <a:pPr marL="448945" lvl="1" indent="-18034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Owen L. PETCHEY and “Getting started with R” book </a:t>
            </a:r>
          </a:p>
          <a:p>
            <a:pPr marL="448945" lvl="1" indent="-18034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Daniel WEGMANN and Frédéric SCHÜTZ</a:t>
            </a:r>
          </a:p>
          <a:p>
            <a:pPr marL="448945" lvl="1" indent="-18034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Robert STOJNIĆ and Ian ROBERTS</a:t>
            </a:r>
          </a:p>
          <a:p>
            <a:pPr marL="448945" lvl="1" indent="-18034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Jenny DRNEVICH</a:t>
            </a:r>
          </a:p>
          <a:p>
            <a:pPr algn="ctr">
              <a:lnSpc>
                <a:spcPct val="100000"/>
              </a:lnSpc>
              <a:spcBef>
                <a:spcPts val="641"/>
              </a:spcBef>
            </a:pPr>
            <a:endParaRPr lang="en-US" sz="180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en-US" sz="320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61"/>
              </a:spcBef>
            </a:pPr>
            <a:r>
              <a:rPr lang="en-US" sz="2800" dirty="0">
                <a:ea typeface="+mn-lt"/>
                <a:cs typeface="+mn-lt"/>
                <a:hlinkClick r:id="rId3"/>
              </a:rPr>
              <a:t>http://www.sib.swiss/training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 Any questions? Contact </a:t>
            </a:r>
            <a:r>
              <a:rPr lang="en-US" sz="2800" dirty="0">
                <a:ea typeface="+mn-lt"/>
                <a:cs typeface="+mn-lt"/>
                <a:hlinkClick r:id="rId4"/>
              </a:rPr>
              <a:t>training@sib.swiss</a:t>
            </a:r>
            <a:endParaRPr lang="en-US" sz="280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sz="1800" dirty="0"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6515006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71C03-F154-28F6-60B0-88AA081692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/>
              <a:t>Thank you</a:t>
            </a:r>
            <a:endParaRPr lang="en-CH"/>
          </a:p>
        </p:txBody>
      </p:sp>
      <p:sp>
        <p:nvSpPr>
          <p:cNvPr id="4" name="Espace réservé du texte 6">
            <a:extLst>
              <a:ext uri="{FF2B5EF4-FFF2-40B4-BE49-F238E27FC236}">
                <a16:creationId xmlns:a16="http://schemas.microsoft.com/office/drawing/2014/main" id="{6214F1F6-DACC-2B92-A4DF-8FC9222FFECC}"/>
              </a:ext>
            </a:extLst>
          </p:cNvPr>
          <p:cNvSpPr txBox="1">
            <a:spLocks/>
          </p:cNvSpPr>
          <p:nvPr/>
        </p:nvSpPr>
        <p:spPr>
          <a:xfrm>
            <a:off x="5063924" y="6426200"/>
            <a:ext cx="1860550" cy="2921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  <a:defRPr sz="18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1pPr>
            <a:lvl2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Corbel" panose="020B0503020204020204" pitchFamily="34" charset="0"/>
              <a:buChar char="–"/>
              <a:tabLst/>
              <a:defRPr sz="18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  <a:lvl4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4pPr>
            <a:lvl5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1600"/>
              <a:t>sib.swiss</a:t>
            </a:r>
          </a:p>
        </p:txBody>
      </p:sp>
    </p:spTree>
    <p:extLst>
      <p:ext uri="{BB962C8B-B14F-4D97-AF65-F5344CB8AC3E}">
        <p14:creationId xmlns:p14="http://schemas.microsoft.com/office/powerpoint/2010/main" val="113214839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 theme">
  <a:themeElements>
    <a:clrScheme name="SIB">
      <a:dk1>
        <a:srgbClr val="1E2232"/>
      </a:dk1>
      <a:lt1>
        <a:srgbClr val="FFFFFF"/>
      </a:lt1>
      <a:dk2>
        <a:srgbClr val="E20613"/>
      </a:dk2>
      <a:lt2>
        <a:srgbClr val="E7E6E6"/>
      </a:lt2>
      <a:accent1>
        <a:srgbClr val="77E0C1"/>
      </a:accent1>
      <a:accent2>
        <a:srgbClr val="3368ED"/>
      </a:accent2>
      <a:accent3>
        <a:srgbClr val="F6D0D0"/>
      </a:accent3>
      <a:accent4>
        <a:srgbClr val="50B798"/>
      </a:accent4>
      <a:accent5>
        <a:srgbClr val="F6F6F6"/>
      </a:accent5>
      <a:accent6>
        <a:srgbClr val="000000"/>
      </a:accent6>
      <a:hlink>
        <a:srgbClr val="3267ED"/>
      </a:hlink>
      <a:folHlink>
        <a:srgbClr val="1E213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  <a:tailEnd type="triangle"/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884769A1460844A8276E9E33D9EC1F" ma:contentTypeVersion="17" ma:contentTypeDescription="Create a new document." ma:contentTypeScope="" ma:versionID="1e661dde982bb637ab265ef9bdeebac4">
  <xsd:schema xmlns:xsd="http://www.w3.org/2001/XMLSchema" xmlns:xs="http://www.w3.org/2001/XMLSchema" xmlns:p="http://schemas.microsoft.com/office/2006/metadata/properties" xmlns:ns2="51cd6d5f-6ae9-4e54-9898-8992a7ff3036" xmlns:ns3="1136f6dd-7c48-4f33-aa6a-8b8e7584cecf" targetNamespace="http://schemas.microsoft.com/office/2006/metadata/properties" ma:root="true" ma:fieldsID="268353165dcdbb2dfcde019cd206b759" ns2:_="" ns3:_="">
    <xsd:import namespace="51cd6d5f-6ae9-4e54-9898-8992a7ff3036"/>
    <xsd:import namespace="1136f6dd-7c48-4f33-aa6a-8b8e7584ce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d6d5f-6ae9-4e54-9898-8992a7ff3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af233ad-a872-49f3-8d8c-f1cf611cbd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36f6dd-7c48-4f33-aa6a-8b8e7584cec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d6480a6-8657-40ee-b73b-62f5e6461347}" ma:internalName="TaxCatchAll" ma:showField="CatchAllData" ma:web="1136f6dd-7c48-4f33-aa6a-8b8e7584ce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cd6d5f-6ae9-4e54-9898-8992a7ff3036">
      <Terms xmlns="http://schemas.microsoft.com/office/infopath/2007/PartnerControls"/>
    </lcf76f155ced4ddcb4097134ff3c332f>
    <TaxCatchAll xmlns="1136f6dd-7c48-4f33-aa6a-8b8e7584cecf" xsi:nil="true"/>
  </documentManagement>
</p:properties>
</file>

<file path=customXml/itemProps1.xml><?xml version="1.0" encoding="utf-8"?>
<ds:datastoreItem xmlns:ds="http://schemas.openxmlformats.org/officeDocument/2006/customXml" ds:itemID="{FC234DFD-9E98-47EE-A822-37224EBFD7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CC3BE7-1E24-4E91-A36E-E39FC0373FB8}">
  <ds:schemaRefs>
    <ds:schemaRef ds:uri="1136f6dd-7c48-4f33-aa6a-8b8e7584cecf"/>
    <ds:schemaRef ds:uri="51cd6d5f-6ae9-4e54-9898-8992a7ff30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0B38228-41B2-4CC0-85B6-8CB372D27A8C}">
  <ds:schemaRefs>
    <ds:schemaRef ds:uri="51cd6d5f-6ae9-4e54-9898-8992a7ff3036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1136f6dd-7c48-4f33-aa6a-8b8e7584cecf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6737</TotalTime>
  <Words>6773</Words>
  <Application>Microsoft Macintosh PowerPoint</Application>
  <PresentationFormat>Widescreen</PresentationFormat>
  <Paragraphs>556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Arial,Sans-Serif</vt:lpstr>
      <vt:lpstr>Corbel</vt:lpstr>
      <vt:lpstr>Courier New</vt:lpstr>
      <vt:lpstr>Tahoma</vt:lpstr>
      <vt:lpstr>Verdana</vt:lpstr>
      <vt:lpstr>Global theme</vt:lpstr>
      <vt:lpstr>First Steps with R in Life Sciences: Statistics</vt:lpstr>
      <vt:lpstr>Statistical hypothesis testing</vt:lpstr>
      <vt:lpstr>The p-value in plain words</vt:lpstr>
      <vt:lpstr>t-test</vt:lpstr>
      <vt:lpstr>How does the t-test work?</vt:lpstr>
      <vt:lpstr>Example data set: iris </vt:lpstr>
      <vt:lpstr>Check normality of the data with plots</vt:lpstr>
      <vt:lpstr>Check normality of the data with tests</vt:lpstr>
      <vt:lpstr>Visualize group differences</vt:lpstr>
      <vt:lpstr>Function t.test()</vt:lpstr>
      <vt:lpstr>Reading the t.test() output</vt:lpstr>
      <vt:lpstr>t.test object</vt:lpstr>
      <vt:lpstr>Paired data</vt:lpstr>
      <vt:lpstr>Paired data representation</vt:lpstr>
      <vt:lpstr>Check normality of the differences between pairs</vt:lpstr>
      <vt:lpstr>Paired t-test</vt:lpstr>
      <vt:lpstr>Choosing a t-test, and alternatives</vt:lpstr>
      <vt:lpstr>Let's practice - 10</vt:lpstr>
      <vt:lpstr>Bivariate linear correlation</vt:lpstr>
      <vt:lpstr>Visualization of linear correlation</vt:lpstr>
      <vt:lpstr>More visualization of linear correlation</vt:lpstr>
      <vt:lpstr>Scatter plot</vt:lpstr>
      <vt:lpstr>Scatter plot</vt:lpstr>
      <vt:lpstr>Linear correlation</vt:lpstr>
      <vt:lpstr>Linear regression</vt:lpstr>
      <vt:lpstr>Simple linear regression</vt:lpstr>
      <vt:lpstr>Summary of the data</vt:lpstr>
      <vt:lpstr>Visual summary of the data</vt:lpstr>
      <vt:lpstr>The  lm() function</vt:lpstr>
      <vt:lpstr>Simple linear regression code</vt:lpstr>
      <vt:lpstr>Representation of the fit (II)</vt:lpstr>
      <vt:lpstr>Representation of the fit (III)</vt:lpstr>
      <vt:lpstr>Check model assumptions</vt:lpstr>
      <vt:lpstr>Model summary</vt:lpstr>
      <vt:lpstr>Let's practice - 11</vt:lpstr>
      <vt:lpstr>The next steps</vt:lpstr>
      <vt:lpstr>Credits and Acknowledgments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SIB Swiss Institute of Bioinformatics</dc:title>
  <dc:creator>O365</dc:creator>
  <cp:lastModifiedBy>Fred Xavier</cp:lastModifiedBy>
  <cp:revision>818</cp:revision>
  <dcterms:created xsi:type="dcterms:W3CDTF">2023-02-23T13:26:01Z</dcterms:created>
  <dcterms:modified xsi:type="dcterms:W3CDTF">2026-10-04T18:38:13Z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0x010100D1884769A1460844A8276E9E33D9EC1F</vt:lpwstr>
  </property>
  <property fmtid="{D5CDD505-2E9C-101B-9397-08002B2CF9AE}" pid="3" name="MediaServiceImageTags">
    <vt:lpwstr/>
  </property>
</Properties>
</file>