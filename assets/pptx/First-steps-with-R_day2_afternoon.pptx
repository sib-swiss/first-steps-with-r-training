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49"/>
  </p:notesMasterIdLst>
  <p:handoutMasterIdLst>
    <p:handoutMasterId r:id="rId50"/>
  </p:handoutMasterIdLst>
  <p:sldIdLst>
    <p:sldId id="2199" r:id="rId5"/>
    <p:sldId id="2201" r:id="rId6"/>
    <p:sldId id="2202" r:id="rId7"/>
    <p:sldId id="2203" r:id="rId8"/>
    <p:sldId id="2204" r:id="rId9"/>
    <p:sldId id="2205" r:id="rId10"/>
    <p:sldId id="2206" r:id="rId11"/>
    <p:sldId id="2207" r:id="rId12"/>
    <p:sldId id="2208" r:id="rId13"/>
    <p:sldId id="2209" r:id="rId14"/>
    <p:sldId id="2210" r:id="rId15"/>
    <p:sldId id="2211" r:id="rId16"/>
    <p:sldId id="2212" r:id="rId17"/>
    <p:sldId id="2213" r:id="rId18"/>
    <p:sldId id="2214" r:id="rId19"/>
    <p:sldId id="2215" r:id="rId20"/>
    <p:sldId id="2216" r:id="rId21"/>
    <p:sldId id="2217" r:id="rId22"/>
    <p:sldId id="2218" r:id="rId23"/>
    <p:sldId id="2219" r:id="rId24"/>
    <p:sldId id="2220" r:id="rId25"/>
    <p:sldId id="2221" r:id="rId26"/>
    <p:sldId id="2222" r:id="rId27"/>
    <p:sldId id="2223" r:id="rId28"/>
    <p:sldId id="2224" r:id="rId29"/>
    <p:sldId id="2225" r:id="rId30"/>
    <p:sldId id="2226" r:id="rId31"/>
    <p:sldId id="2227" r:id="rId32"/>
    <p:sldId id="2228" r:id="rId33"/>
    <p:sldId id="2229" r:id="rId34"/>
    <p:sldId id="2232" r:id="rId35"/>
    <p:sldId id="2233" r:id="rId36"/>
    <p:sldId id="2234" r:id="rId37"/>
    <p:sldId id="2230" r:id="rId38"/>
    <p:sldId id="2231" r:id="rId39"/>
    <p:sldId id="2235" r:id="rId40"/>
    <p:sldId id="2236" r:id="rId41"/>
    <p:sldId id="2240" r:id="rId42"/>
    <p:sldId id="2237" r:id="rId43"/>
    <p:sldId id="2238" r:id="rId44"/>
    <p:sldId id="2239" r:id="rId45"/>
    <p:sldId id="2241" r:id="rId46"/>
    <p:sldId id="2242" r:id="rId47"/>
    <p:sldId id="2178" r:id="rId48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6BC7DA7-61C6-FE01-D5D8-A892A102519B}" name="Marie Dangles" initials="MD" userId="S::Marie.Dangles@sib.swiss::7b63edcb-ccf4-4a75-88d0-c14d201c4d6b" providerId="AD"/>
  <p188:author id="{CE5D80B9-1F14-B145-DF47-4868472354CC}" name="Marie Dangles" initials="MD" userId="S::marie.dangles@sib.swiss::7b63edcb-ccf4-4a75-88d0-c14d201c4d6b" providerId="AD"/>
  <p188:author id="{808096D5-8C93-63BC-E4B0-42D5AEA0682D}" name="Maia Berman" initials="MB" userId="S::maia.berman@sib.swiss::1345ac14-4068-45c8-a090-8c43709fd17f" providerId="AD"/>
  <p188:author id="{6B1FADD7-C699-59FF-534C-F7CDC6EE7682}" name="Maia Berman" initials="MB" userId="S::Maia.Berman@sib.swiss::1345ac14-4068-45c8-a090-8c43709fd17f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2D5ABB26-0587-4C30-8999-92F81FD0307C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348"/>
    <p:restoredTop sz="81277"/>
  </p:normalViewPr>
  <p:slideViewPr>
    <p:cSldViewPr snapToGrid="0">
      <p:cViewPr varScale="1">
        <p:scale>
          <a:sx n="98" d="100"/>
          <a:sy n="98" d="100"/>
        </p:scale>
        <p:origin x="29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handoutMaster" Target="handoutMasters/handoutMaster1.xml"/><Relationship Id="rId55" Type="http://schemas.microsoft.com/office/2018/10/relationships/authors" Target="author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8" Type="http://schemas.openxmlformats.org/officeDocument/2006/relationships/slide" Target="slides/slide4.xml"/><Relationship Id="rId51" Type="http://schemas.openxmlformats.org/officeDocument/2006/relationships/presProps" Target="pres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5F87670A-975B-8A3E-CA1E-1C95318AB1F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>
              <a:latin typeface="Corbel" panose="020B0503020204020204" pitchFamily="34" charset="0"/>
            </a:endParaRP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F7AF402A-CBD2-E8BA-AAA8-34E54EAE212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F29005-80C1-A548-84CE-9D8F7C27BC60}" type="datetimeFigureOut">
              <a:rPr lang="fr-FR" smtClean="0">
                <a:latin typeface="Corbel" panose="020B0503020204020204" pitchFamily="34" charset="0"/>
              </a:rPr>
              <a:t>28/09/2026</a:t>
            </a:fld>
            <a:endParaRPr lang="fr-FR">
              <a:latin typeface="Corbel" panose="020B0503020204020204" pitchFamily="34" charset="0"/>
            </a:endParaRP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F918FD6-F4AE-D982-B32D-7F319AFAF6A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>
              <a:latin typeface="Corbel" panose="020B0503020204020204" pitchFamily="34" charset="0"/>
            </a:endParaRP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4C636B7-0054-2915-21E4-2E5FE709443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A0CD75-09BC-0C48-AAA4-476A4268C9A9}" type="slidenum">
              <a:rPr lang="fr-FR" smtClean="0">
                <a:latin typeface="Corbel" panose="020B0503020204020204" pitchFamily="34" charset="0"/>
              </a:rPr>
              <a:t>‹N°›</a:t>
            </a:fld>
            <a:endParaRPr lang="fr-FR">
              <a:latin typeface="Corbel" panose="020B05030202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739205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Corbel" panose="020B0503020204020204" pitchFamily="34" charset="0"/>
              </a:defRPr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Corbel" panose="020B0503020204020204" pitchFamily="34" charset="0"/>
              </a:defRPr>
            </a:lvl1pPr>
          </a:lstStyle>
          <a:p>
            <a:fld id="{252EF52D-CFFC-FA47-BBAF-74B3994A70AD}" type="datetimeFigureOut">
              <a:rPr lang="fr-FR" smtClean="0"/>
              <a:pPr/>
              <a:t>28/09/2026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Corbel" panose="020B0503020204020204" pitchFamily="34" charset="0"/>
              </a:defRPr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Corbel" panose="020B0503020204020204" pitchFamily="34" charset="0"/>
              </a:defRPr>
            </a:lvl1pPr>
          </a:lstStyle>
          <a:p>
            <a:fld id="{170F0992-BC5E-544C-9AC1-207704CC8F47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508859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Corbel" panose="020B0503020204020204" pitchFamily="34" charset="0"/>
        <a:ea typeface="+mn-ea"/>
        <a:cs typeface="+mn-cs"/>
      </a:defRPr>
    </a:lvl1pPr>
    <a:lvl2pPr marL="457200" algn="l" defTabSz="914400" rtl="0" eaLnBrk="1" latinLnBrk="0" hangingPunct="1">
      <a:defRPr sz="1200" b="0" i="0" kern="1200">
        <a:solidFill>
          <a:schemeClr val="tx1"/>
        </a:solidFill>
        <a:latin typeface="Corbel" panose="020B0503020204020204" pitchFamily="34" charset="0"/>
        <a:ea typeface="+mn-ea"/>
        <a:cs typeface="+mn-cs"/>
      </a:defRPr>
    </a:lvl2pPr>
    <a:lvl3pPr marL="914400" algn="l" defTabSz="914400" rtl="0" eaLnBrk="1" latinLnBrk="0" hangingPunct="1">
      <a:defRPr sz="1200" b="0" i="0" kern="1200">
        <a:solidFill>
          <a:schemeClr val="tx1"/>
        </a:solidFill>
        <a:latin typeface="Corbel" panose="020B0503020204020204" pitchFamily="34" charset="0"/>
        <a:ea typeface="+mn-ea"/>
        <a:cs typeface="+mn-cs"/>
      </a:defRPr>
    </a:lvl3pPr>
    <a:lvl4pPr marL="1371600" algn="l" defTabSz="914400" rtl="0" eaLnBrk="1" latinLnBrk="0" hangingPunct="1">
      <a:defRPr sz="1200" b="0" i="0" kern="1200">
        <a:solidFill>
          <a:schemeClr val="tx1"/>
        </a:solidFill>
        <a:latin typeface="Corbel" panose="020B0503020204020204" pitchFamily="34" charset="0"/>
        <a:ea typeface="+mn-ea"/>
        <a:cs typeface="+mn-cs"/>
      </a:defRPr>
    </a:lvl4pPr>
    <a:lvl5pPr marL="1828800" algn="l" defTabSz="914400" rtl="0" eaLnBrk="1" latinLnBrk="0" hangingPunct="1">
      <a:defRPr sz="1200" b="0" i="0" kern="1200">
        <a:solidFill>
          <a:schemeClr val="tx1"/>
        </a:solidFill>
        <a:latin typeface="Corbel" panose="020B0503020204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fr-CH" dirty="0"/>
              <a:t>Shapiro-Wilk tests </a:t>
            </a:r>
            <a:r>
              <a:rPr lang="fr-CH" dirty="0" err="1"/>
              <a:t>whether</a:t>
            </a:r>
            <a:r>
              <a:rPr lang="fr-CH" dirty="0"/>
              <a:t> data are </a:t>
            </a:r>
            <a:r>
              <a:rPr lang="fr-CH" i="1" dirty="0" err="1"/>
              <a:t>perfectly</a:t>
            </a:r>
            <a:r>
              <a:rPr lang="fr-CH" dirty="0"/>
              <a:t> normal, not </a:t>
            </a:r>
            <a:r>
              <a:rPr lang="fr-CH" dirty="0" err="1"/>
              <a:t>whether</a:t>
            </a:r>
            <a:r>
              <a:rPr lang="fr-CH" dirty="0"/>
              <a:t> the </a:t>
            </a:r>
            <a:r>
              <a:rPr lang="fr-CH" dirty="0" err="1"/>
              <a:t>t</a:t>
            </a:r>
            <a:r>
              <a:rPr lang="fr-CH" dirty="0"/>
              <a:t>-test </a:t>
            </a:r>
            <a:r>
              <a:rPr lang="fr-CH" dirty="0" err="1"/>
              <a:t>will</a:t>
            </a:r>
            <a:r>
              <a:rPr lang="fr-CH" dirty="0"/>
              <a:t> </a:t>
            </a:r>
            <a:r>
              <a:rPr lang="fr-CH" dirty="0" err="1"/>
              <a:t>work</a:t>
            </a:r>
            <a:r>
              <a:rPr lang="fr-CH" dirty="0"/>
              <a:t>. </a:t>
            </a:r>
            <a:r>
              <a:rPr lang="fr-CH" dirty="0" err="1"/>
              <a:t>Two</a:t>
            </a:r>
            <a:r>
              <a:rPr lang="fr-CH" dirty="0"/>
              <a:t> </a:t>
            </a:r>
            <a:r>
              <a:rPr lang="fr-CH" dirty="0" err="1"/>
              <a:t>problems</a:t>
            </a:r>
            <a:r>
              <a:rPr lang="fr-CH" dirty="0"/>
              <a:t> </a:t>
            </a:r>
            <a:r>
              <a:rPr lang="fr-CH" dirty="0" err="1"/>
              <a:t>with</a:t>
            </a:r>
            <a:r>
              <a:rPr lang="fr-CH" dirty="0"/>
              <a:t> </a:t>
            </a:r>
            <a:r>
              <a:rPr lang="fr-CH" dirty="0" err="1"/>
              <a:t>being</a:t>
            </a:r>
            <a:r>
              <a:rPr lang="fr-CH" dirty="0"/>
              <a:t> strict about </a:t>
            </a:r>
            <a:r>
              <a:rPr lang="fr-CH" dirty="0" err="1"/>
              <a:t>it</a:t>
            </a:r>
            <a:r>
              <a:rPr lang="fr-CH" dirty="0"/>
              <a:t>:</a:t>
            </a:r>
          </a:p>
          <a:p>
            <a:pPr lvl="0" rtl="0"/>
            <a:r>
              <a:rPr lang="fr-CH" dirty="0"/>
              <a:t>With </a:t>
            </a:r>
            <a:r>
              <a:rPr lang="fr-CH" dirty="0" err="1"/>
              <a:t>small</a:t>
            </a:r>
            <a:r>
              <a:rPr lang="fr-CH" dirty="0"/>
              <a:t> n, Shapiro has </a:t>
            </a:r>
            <a:r>
              <a:rPr lang="fr-CH" dirty="0" err="1"/>
              <a:t>low</a:t>
            </a:r>
            <a:r>
              <a:rPr lang="fr-CH" dirty="0"/>
              <a:t> power — </a:t>
            </a:r>
            <a:r>
              <a:rPr lang="fr-CH" dirty="0" err="1"/>
              <a:t>it</a:t>
            </a:r>
            <a:r>
              <a:rPr lang="fr-CH" dirty="0"/>
              <a:t> </a:t>
            </a:r>
            <a:r>
              <a:rPr lang="fr-CH" dirty="0" err="1"/>
              <a:t>won't</a:t>
            </a:r>
            <a:r>
              <a:rPr lang="fr-CH" dirty="0"/>
              <a:t> flag non-</a:t>
            </a:r>
            <a:r>
              <a:rPr lang="fr-CH" dirty="0" err="1"/>
              <a:t>normality</a:t>
            </a:r>
            <a:r>
              <a:rPr lang="fr-CH" dirty="0"/>
              <a:t> </a:t>
            </a:r>
            <a:r>
              <a:rPr lang="fr-CH" dirty="0" err="1"/>
              <a:t>even</a:t>
            </a:r>
            <a:r>
              <a:rPr lang="fr-CH" dirty="0"/>
              <a:t> </a:t>
            </a:r>
            <a:r>
              <a:rPr lang="fr-CH" dirty="0" err="1"/>
              <a:t>when</a:t>
            </a:r>
            <a:r>
              <a:rPr lang="fr-CH" dirty="0"/>
              <a:t> </a:t>
            </a:r>
            <a:r>
              <a:rPr lang="fr-CH" dirty="0" err="1"/>
              <a:t>it</a:t>
            </a:r>
            <a:r>
              <a:rPr lang="fr-CH" dirty="0"/>
              <a:t> </a:t>
            </a:r>
            <a:r>
              <a:rPr lang="fr-CH" dirty="0" err="1"/>
              <a:t>exists</a:t>
            </a:r>
            <a:r>
              <a:rPr lang="fr-CH" dirty="0"/>
              <a:t> (p=0.16 </a:t>
            </a:r>
            <a:r>
              <a:rPr lang="fr-CH" dirty="0" err="1"/>
              <a:t>might</a:t>
            </a:r>
            <a:r>
              <a:rPr lang="fr-CH" dirty="0"/>
              <a:t> </a:t>
            </a:r>
            <a:r>
              <a:rPr lang="fr-CH" dirty="0" err="1"/>
              <a:t>just</a:t>
            </a:r>
            <a:r>
              <a:rPr lang="fr-CH" dirty="0"/>
              <a:t> </a:t>
            </a:r>
            <a:r>
              <a:rPr lang="fr-CH" dirty="0" err="1"/>
              <a:t>mean</a:t>
            </a:r>
            <a:r>
              <a:rPr lang="fr-CH" dirty="0"/>
              <a:t> "</a:t>
            </a:r>
            <a:r>
              <a:rPr lang="fr-CH" dirty="0" err="1"/>
              <a:t>we</a:t>
            </a:r>
            <a:r>
              <a:rPr lang="fr-CH" dirty="0"/>
              <a:t> </a:t>
            </a:r>
            <a:r>
              <a:rPr lang="fr-CH" dirty="0" err="1"/>
              <a:t>don't</a:t>
            </a:r>
            <a:r>
              <a:rPr lang="fr-CH" dirty="0"/>
              <a:t> have </a:t>
            </a:r>
            <a:r>
              <a:rPr lang="fr-CH" dirty="0" err="1"/>
              <a:t>enough</a:t>
            </a:r>
            <a:r>
              <a:rPr lang="fr-CH" dirty="0"/>
              <a:t> data to tell")</a:t>
            </a:r>
          </a:p>
          <a:p>
            <a:pPr lvl="0" rtl="0"/>
            <a:r>
              <a:rPr lang="fr-CH" dirty="0"/>
              <a:t>With large n, Shapiro flags </a:t>
            </a:r>
            <a:r>
              <a:rPr lang="fr-CH" dirty="0" err="1"/>
              <a:t>tiny</a:t>
            </a:r>
            <a:r>
              <a:rPr lang="fr-CH" dirty="0"/>
              <a:t>, </a:t>
            </a:r>
            <a:r>
              <a:rPr lang="fr-CH" dirty="0" err="1"/>
              <a:t>irrelevant</a:t>
            </a:r>
            <a:r>
              <a:rPr lang="fr-CH" dirty="0"/>
              <a:t> </a:t>
            </a:r>
            <a:r>
              <a:rPr lang="fr-CH" dirty="0" err="1"/>
              <a:t>deviations</a:t>
            </a:r>
            <a:r>
              <a:rPr lang="fr-CH" dirty="0"/>
              <a:t> </a:t>
            </a:r>
            <a:r>
              <a:rPr lang="fr-CH" dirty="0" err="1"/>
              <a:t>that</a:t>
            </a:r>
            <a:r>
              <a:rPr lang="fr-CH" dirty="0"/>
              <a:t> </a:t>
            </a:r>
            <a:r>
              <a:rPr lang="fr-CH" dirty="0" err="1"/>
              <a:t>won't</a:t>
            </a:r>
            <a:r>
              <a:rPr lang="fr-CH" dirty="0"/>
              <a:t> affect the </a:t>
            </a:r>
            <a:r>
              <a:rPr lang="fr-CH" dirty="0" err="1"/>
              <a:t>t</a:t>
            </a:r>
            <a:r>
              <a:rPr lang="fr-CH" dirty="0"/>
              <a:t>-test at all</a:t>
            </a:r>
          </a:p>
          <a:p>
            <a:pPr rtl="0"/>
            <a:r>
              <a:rPr lang="fr-CH" dirty="0" err="1"/>
              <a:t>What</a:t>
            </a:r>
            <a:r>
              <a:rPr lang="fr-CH" dirty="0"/>
              <a:t> </a:t>
            </a:r>
            <a:r>
              <a:rPr lang="fr-CH" dirty="0" err="1"/>
              <a:t>actually</a:t>
            </a:r>
            <a:r>
              <a:rPr lang="fr-CH" dirty="0"/>
              <a:t> </a:t>
            </a:r>
            <a:r>
              <a:rPr lang="fr-CH" dirty="0" err="1"/>
              <a:t>protects</a:t>
            </a:r>
            <a:r>
              <a:rPr lang="fr-CH" dirty="0"/>
              <a:t> the </a:t>
            </a:r>
            <a:r>
              <a:rPr lang="fr-CH" dirty="0" err="1"/>
              <a:t>t</a:t>
            </a:r>
            <a:r>
              <a:rPr lang="fr-CH" dirty="0"/>
              <a:t>-test </a:t>
            </a:r>
            <a:r>
              <a:rPr lang="fr-CH" dirty="0" err="1"/>
              <a:t>is</a:t>
            </a:r>
            <a:r>
              <a:rPr lang="fr-CH" dirty="0"/>
              <a:t> the </a:t>
            </a:r>
            <a:r>
              <a:rPr lang="fr-CH" b="1" dirty="0"/>
              <a:t>Central Limit </a:t>
            </a:r>
            <a:r>
              <a:rPr lang="fr-CH" b="1" dirty="0" err="1"/>
              <a:t>Theorem</a:t>
            </a:r>
            <a:r>
              <a:rPr lang="fr-CH" dirty="0"/>
              <a:t>: the sampling distribution of the </a:t>
            </a:r>
            <a:r>
              <a:rPr lang="fr-CH" dirty="0" err="1"/>
              <a:t>mean</a:t>
            </a:r>
            <a:r>
              <a:rPr lang="fr-CH" dirty="0"/>
              <a:t> </a:t>
            </a:r>
            <a:r>
              <a:rPr lang="fr-CH" dirty="0" err="1"/>
              <a:t>approaches</a:t>
            </a:r>
            <a:r>
              <a:rPr lang="fr-CH" dirty="0"/>
              <a:t> </a:t>
            </a:r>
            <a:r>
              <a:rPr lang="fr-CH" dirty="0" err="1"/>
              <a:t>normality</a:t>
            </a:r>
            <a:r>
              <a:rPr lang="fr-CH" dirty="0"/>
              <a:t> as n </a:t>
            </a:r>
            <a:r>
              <a:rPr lang="fr-CH" dirty="0" err="1"/>
              <a:t>grows</a:t>
            </a:r>
            <a:r>
              <a:rPr lang="fr-CH" dirty="0"/>
              <a:t>, </a:t>
            </a:r>
            <a:r>
              <a:rPr lang="fr-CH" dirty="0" err="1"/>
              <a:t>regardless</a:t>
            </a:r>
            <a:r>
              <a:rPr lang="fr-CH" dirty="0"/>
              <a:t> of the </a:t>
            </a:r>
            <a:r>
              <a:rPr lang="fr-CH" dirty="0" err="1"/>
              <a:t>raw</a:t>
            </a:r>
            <a:r>
              <a:rPr lang="fr-CH" dirty="0"/>
              <a:t> </a:t>
            </a:r>
            <a:r>
              <a:rPr lang="fr-CH" dirty="0" err="1"/>
              <a:t>data's</a:t>
            </a:r>
            <a:r>
              <a:rPr lang="fr-CH" dirty="0"/>
              <a:t> distribution. </a:t>
            </a:r>
            <a:r>
              <a:rPr lang="fr-CH" dirty="0" err="1"/>
              <a:t>Roughly</a:t>
            </a:r>
            <a:r>
              <a:rPr lang="fr-CH" dirty="0"/>
              <a:t>, n ≥ 30 per group and no </a:t>
            </a:r>
            <a:r>
              <a:rPr lang="fr-CH" dirty="0" err="1"/>
              <a:t>extreme</a:t>
            </a:r>
            <a:r>
              <a:rPr lang="fr-CH" dirty="0"/>
              <a:t> </a:t>
            </a:r>
            <a:r>
              <a:rPr lang="fr-CH" dirty="0" err="1"/>
              <a:t>outliers</a:t>
            </a:r>
            <a:r>
              <a:rPr lang="fr-CH" dirty="0"/>
              <a:t> → </a:t>
            </a:r>
            <a:r>
              <a:rPr lang="fr-CH" dirty="0" err="1"/>
              <a:t>t</a:t>
            </a:r>
            <a:r>
              <a:rPr lang="fr-CH" dirty="0"/>
              <a:t>-test </a:t>
            </a:r>
            <a:r>
              <a:rPr lang="fr-CH" dirty="0" err="1"/>
              <a:t>is</a:t>
            </a:r>
            <a:r>
              <a:rPr lang="fr-CH" dirty="0"/>
              <a:t> fine. For </a:t>
            </a:r>
            <a:r>
              <a:rPr lang="fr-CH" dirty="0" err="1"/>
              <a:t>smaller</a:t>
            </a:r>
            <a:r>
              <a:rPr lang="fr-CH" dirty="0"/>
              <a:t> n, look at a QQ-plot </a:t>
            </a:r>
            <a:r>
              <a:rPr lang="fr-CH" dirty="0" err="1"/>
              <a:t>rather</a:t>
            </a:r>
            <a:r>
              <a:rPr lang="fr-CH" dirty="0"/>
              <a:t> </a:t>
            </a:r>
            <a:r>
              <a:rPr lang="fr-CH" dirty="0" err="1"/>
              <a:t>than</a:t>
            </a:r>
            <a:r>
              <a:rPr lang="fr-CH" dirty="0"/>
              <a:t> </a:t>
            </a:r>
            <a:r>
              <a:rPr lang="fr-CH" dirty="0" err="1"/>
              <a:t>relying</a:t>
            </a:r>
            <a:r>
              <a:rPr lang="fr-CH" dirty="0"/>
              <a:t> on a p-value.</a:t>
            </a:r>
          </a:p>
          <a:p>
            <a:pPr rtl="0"/>
            <a:r>
              <a:rPr lang="fr-CH" dirty="0"/>
              <a:t>So the workflow </a:t>
            </a:r>
            <a:r>
              <a:rPr lang="fr-CH" dirty="0" err="1"/>
              <a:t>becomes</a:t>
            </a:r>
            <a:r>
              <a:rPr lang="fr-CH" dirty="0"/>
              <a:t>: run Shapiro as a quick check, but </a:t>
            </a:r>
            <a:r>
              <a:rPr lang="fr-CH" dirty="0" err="1"/>
              <a:t>don't</a:t>
            </a:r>
            <a:r>
              <a:rPr lang="fr-CH" dirty="0"/>
              <a:t> </a:t>
            </a:r>
            <a:r>
              <a:rPr lang="fr-CH" dirty="0" err="1"/>
              <a:t>treat</a:t>
            </a:r>
            <a:r>
              <a:rPr lang="fr-CH" dirty="0"/>
              <a:t> 0.05 as a hard </a:t>
            </a:r>
            <a:r>
              <a:rPr lang="fr-CH" dirty="0" err="1"/>
              <a:t>wall</a:t>
            </a:r>
            <a:r>
              <a:rPr lang="fr-CH" dirty="0"/>
              <a:t> - look at the QQ-plot and </a:t>
            </a:r>
            <a:r>
              <a:rPr lang="fr-CH" dirty="0" err="1"/>
              <a:t>consider</a:t>
            </a:r>
            <a:r>
              <a:rPr lang="fr-CH" dirty="0"/>
              <a:t> </a:t>
            </a:r>
            <a:r>
              <a:rPr lang="fr-CH" dirty="0" err="1"/>
              <a:t>your</a:t>
            </a:r>
            <a:r>
              <a:rPr lang="fr-CH" dirty="0"/>
              <a:t> </a:t>
            </a:r>
            <a:r>
              <a:rPr lang="fr-CH" dirty="0" err="1"/>
              <a:t>sample</a:t>
            </a:r>
            <a:r>
              <a:rPr lang="fr-CH" dirty="0"/>
              <a:t> size.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0F0992-BC5E-544C-9AC1-207704CC8F47}" type="slidenum">
              <a:rPr lang="fr-FR" smtClean="0"/>
              <a:pPr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005119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emf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0.png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graph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6">
            <a:extLst>
              <a:ext uri="{FF2B5EF4-FFF2-40B4-BE49-F238E27FC236}">
                <a16:creationId xmlns:a16="http://schemas.microsoft.com/office/drawing/2014/main" id="{D6A4036E-D85D-A184-409E-2273352F1C4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0477"/>
          <a:stretch/>
        </p:blipFill>
        <p:spPr>
          <a:xfrm rot="5400000">
            <a:off x="6516289" y="666647"/>
            <a:ext cx="6323119" cy="5028302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484A197B-42EE-7E36-CA2A-208BE5C878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0812" y="3053222"/>
            <a:ext cx="6817301" cy="130948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4400" b="0" i="0">
                <a:latin typeface="+mj-lt"/>
              </a:defRPr>
            </a:lvl1pPr>
          </a:lstStyle>
          <a:p>
            <a:r>
              <a:rPr lang="en-GB" noProof="0" dirty="0"/>
              <a:t>Title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B3413D0-F0C5-B0D1-C1C4-682D69D9BB98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10813" y="2483568"/>
            <a:ext cx="6817300" cy="42620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buNone/>
              <a:defRPr sz="1200" b="0" i="0" cap="all" spc="300" baseline="0">
                <a:solidFill>
                  <a:schemeClr val="tx1"/>
                </a:solidFill>
                <a:latin typeface="+mn-lt"/>
                <a:cs typeface="Gill Sans" panose="020B0502020104020203" pitchFamily="34" charset="-79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noProof="0" dirty="0"/>
              <a:t>SUB-TITLE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C304F84F-F1E5-7B79-33D4-5383FF6BE8C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43913" y="520351"/>
            <a:ext cx="2727302" cy="1311202"/>
          </a:xfrm>
          <a:prstGeom prst="rect">
            <a:avLst/>
          </a:prstGeom>
        </p:spPr>
      </p:pic>
      <p:sp>
        <p:nvSpPr>
          <p:cNvPr id="6" name="Espace réservé du texte 4">
            <a:extLst>
              <a:ext uri="{FF2B5EF4-FFF2-40B4-BE49-F238E27FC236}">
                <a16:creationId xmlns:a16="http://schemas.microsoft.com/office/drawing/2014/main" id="{73E26040-493B-53F9-2620-DDFB0901DE3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11163" y="5355033"/>
            <a:ext cx="2724150" cy="26171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1600" b="0"/>
            </a:lvl1pPr>
          </a:lstStyle>
          <a:p>
            <a:pPr lvl="0"/>
            <a:r>
              <a:rPr lang="en-GB" noProof="0" dirty="0"/>
              <a:t>Date and location</a:t>
            </a:r>
          </a:p>
        </p:txBody>
      </p:sp>
      <p:pic>
        <p:nvPicPr>
          <p:cNvPr id="7" name="Image 8">
            <a:extLst>
              <a:ext uri="{FF2B5EF4-FFF2-40B4-BE49-F238E27FC236}">
                <a16:creationId xmlns:a16="http://schemas.microsoft.com/office/drawing/2014/main" id="{EC5E4898-5706-F441-9C38-D0C7D97D527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31472"/>
          <a:stretch/>
        </p:blipFill>
        <p:spPr>
          <a:xfrm rot="10800000" flipV="1">
            <a:off x="5217759" y="1525932"/>
            <a:ext cx="4193535" cy="1492608"/>
          </a:xfrm>
          <a:prstGeom prst="rect">
            <a:avLst/>
          </a:prstGeom>
        </p:spPr>
      </p:pic>
      <p:sp>
        <p:nvSpPr>
          <p:cNvPr id="9" name="Espace réservé du texte 4">
            <a:extLst>
              <a:ext uri="{FF2B5EF4-FFF2-40B4-BE49-F238E27FC236}">
                <a16:creationId xmlns:a16="http://schemas.microsoft.com/office/drawing/2014/main" id="{53090551-4FA3-8BD4-932A-287498CAB2C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10812" y="5066270"/>
            <a:ext cx="2724150" cy="26171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GB" noProof="0" dirty="0"/>
              <a:t>Author, Group name </a:t>
            </a:r>
          </a:p>
        </p:txBody>
      </p:sp>
      <p:pic>
        <p:nvPicPr>
          <p:cNvPr id="5" name="Picture 4" descr="A logo with orange and grey letters&#10;&#10;Description automatically generated">
            <a:extLst>
              <a:ext uri="{FF2B5EF4-FFF2-40B4-BE49-F238E27FC236}">
                <a16:creationId xmlns:a16="http://schemas.microsoft.com/office/drawing/2014/main" id="{1C19E4D0-3074-51FB-06DC-4C49BD099F24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10812" y="6163222"/>
            <a:ext cx="1054917" cy="507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57557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B3413D0-F0C5-B0D1-C1C4-682D69D9BB98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10813" y="2481027"/>
            <a:ext cx="5685187" cy="42620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buNone/>
              <a:defRPr sz="1200" b="0" i="0" cap="all" spc="300" baseline="0">
                <a:solidFill>
                  <a:schemeClr val="tx1"/>
                </a:solidFill>
                <a:latin typeface="Corbel" panose="020B0503020204020204" pitchFamily="34" charset="0"/>
                <a:cs typeface="Gill Sans" panose="020B0502020104020203" pitchFamily="34" charset="-79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noProof="0" dirty="0"/>
              <a:t>SUB-TITLE</a:t>
            </a:r>
          </a:p>
        </p:txBody>
      </p:sp>
      <p:sp>
        <p:nvSpPr>
          <p:cNvPr id="7" name="Espace réservé pour une image  6">
            <a:extLst>
              <a:ext uri="{FF2B5EF4-FFF2-40B4-BE49-F238E27FC236}">
                <a16:creationId xmlns:a16="http://schemas.microsoft.com/office/drawing/2014/main" id="{F880213D-89B1-3800-87F3-0045D35E0A4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15213" y="0"/>
            <a:ext cx="4776787" cy="6858000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C304F84F-F1E5-7B79-33D4-5383FF6BE8C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3913" y="520351"/>
            <a:ext cx="2727302" cy="1311202"/>
          </a:xfrm>
          <a:prstGeom prst="rect">
            <a:avLst/>
          </a:prstGeom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6174D3E9-3CB8-1293-F324-12517D2E2D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0813" y="3052800"/>
            <a:ext cx="6817301" cy="1309483"/>
          </a:xfrm>
          <a:prstGeom prst="rect">
            <a:avLst/>
          </a:prstGeom>
        </p:spPr>
        <p:txBody>
          <a:bodyPr anchor="t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lang="en-GB" sz="4400" b="0" i="0" kern="1200" noProof="0" dirty="0">
                <a:solidFill>
                  <a:schemeClr val="tx1"/>
                </a:solidFill>
                <a:latin typeface="+mj-lt"/>
                <a:ea typeface="Verdana" panose="020B0604030504040204" pitchFamily="34" charset="0"/>
                <a:cs typeface="Gill Sans" panose="020B0502020104020203" pitchFamily="34" charset="-79"/>
              </a:defRPr>
            </a:lvl1pPr>
          </a:lstStyle>
          <a:p>
            <a:r>
              <a:rPr lang="en-GB" noProof="0" dirty="0"/>
              <a:t>Title</a:t>
            </a:r>
          </a:p>
        </p:txBody>
      </p:sp>
      <p:sp>
        <p:nvSpPr>
          <p:cNvPr id="6" name="Espace réservé du texte 4">
            <a:extLst>
              <a:ext uri="{FF2B5EF4-FFF2-40B4-BE49-F238E27FC236}">
                <a16:creationId xmlns:a16="http://schemas.microsoft.com/office/drawing/2014/main" id="{14BD102C-AA50-9B30-F804-3089D180E78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11164" y="5351168"/>
            <a:ext cx="2724150" cy="26171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1600" b="0"/>
            </a:lvl1pPr>
          </a:lstStyle>
          <a:p>
            <a:pPr lvl="0"/>
            <a:r>
              <a:rPr lang="en-GB" noProof="0" dirty="0"/>
              <a:t>Date and location</a:t>
            </a:r>
          </a:p>
        </p:txBody>
      </p:sp>
      <p:sp>
        <p:nvSpPr>
          <p:cNvPr id="9" name="Espace réservé du texte 4">
            <a:extLst>
              <a:ext uri="{FF2B5EF4-FFF2-40B4-BE49-F238E27FC236}">
                <a16:creationId xmlns:a16="http://schemas.microsoft.com/office/drawing/2014/main" id="{F42A1719-D5FD-C104-F48D-FEF55559DE5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10813" y="5062405"/>
            <a:ext cx="2724150" cy="26171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GB" noProof="0" dirty="0"/>
              <a:t>Author, Group name </a:t>
            </a:r>
          </a:p>
        </p:txBody>
      </p:sp>
      <p:pic>
        <p:nvPicPr>
          <p:cNvPr id="11" name="Picture 10" descr="A logo with orange and grey letters&#10;&#10;Description automatically generated">
            <a:extLst>
              <a:ext uri="{FF2B5EF4-FFF2-40B4-BE49-F238E27FC236}">
                <a16:creationId xmlns:a16="http://schemas.microsoft.com/office/drawing/2014/main" id="{6DAA9095-74D9-EEBF-5F10-15053C77C26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10812" y="6163222"/>
            <a:ext cx="1054917" cy="507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6216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message 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C206A323-E28E-0970-02BD-0A9A42E59FD3}"/>
              </a:ext>
            </a:extLst>
          </p:cNvPr>
          <p:cNvSpPr/>
          <p:nvPr userDrawn="1"/>
        </p:nvSpPr>
        <p:spPr>
          <a:xfrm>
            <a:off x="1182370" y="708797"/>
            <a:ext cx="9827260" cy="5482046"/>
          </a:xfrm>
          <a:prstGeom prst="roundRect">
            <a:avLst>
              <a:gd name="adj" fmla="val 5444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accent2"/>
              </a:solidFill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D2559E90-99B6-97A4-09B6-E7031AD7A91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577556" y="6362267"/>
            <a:ext cx="474844" cy="356133"/>
          </a:xfrm>
          <a:prstGeom prst="rect">
            <a:avLst/>
          </a:prstGeom>
        </p:spPr>
      </p:pic>
      <p:sp>
        <p:nvSpPr>
          <p:cNvPr id="3" name="Titre 1">
            <a:extLst>
              <a:ext uri="{FF2B5EF4-FFF2-40B4-BE49-F238E27FC236}">
                <a16:creationId xmlns:a16="http://schemas.microsoft.com/office/drawing/2014/main" id="{37F542CB-EF84-68BA-9A50-B6575183E8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41174" y="2002631"/>
            <a:ext cx="9332844" cy="2852737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3600" b="0" i="0"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Key message text</a:t>
            </a:r>
          </a:p>
        </p:txBody>
      </p:sp>
    </p:spTree>
    <p:extLst>
      <p:ext uri="{BB962C8B-B14F-4D97-AF65-F5344CB8AC3E}">
        <p14:creationId xmlns:p14="http://schemas.microsoft.com/office/powerpoint/2010/main" val="39011322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message pi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C206A323-E28E-0970-02BD-0A9A42E59FD3}"/>
              </a:ext>
            </a:extLst>
          </p:cNvPr>
          <p:cNvSpPr/>
          <p:nvPr userDrawn="1"/>
        </p:nvSpPr>
        <p:spPr>
          <a:xfrm>
            <a:off x="1182370" y="708797"/>
            <a:ext cx="9827260" cy="5482046"/>
          </a:xfrm>
          <a:prstGeom prst="roundRect">
            <a:avLst>
              <a:gd name="adj" fmla="val 5444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accent2"/>
              </a:solidFill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D2559E90-99B6-97A4-09B6-E7031AD7A91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577556" y="6362267"/>
            <a:ext cx="474844" cy="356133"/>
          </a:xfrm>
          <a:prstGeom prst="rect">
            <a:avLst/>
          </a:prstGeom>
        </p:spPr>
      </p:pic>
      <p:sp>
        <p:nvSpPr>
          <p:cNvPr id="3" name="Titre 1">
            <a:extLst>
              <a:ext uri="{FF2B5EF4-FFF2-40B4-BE49-F238E27FC236}">
                <a16:creationId xmlns:a16="http://schemas.microsoft.com/office/drawing/2014/main" id="{1DB113ED-E4E6-4F61-AFF2-2D6137F50F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41174" y="2002631"/>
            <a:ext cx="9332844" cy="2852737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3600" b="0" i="0">
                <a:solidFill>
                  <a:schemeClr val="tx1"/>
                </a:solidFill>
              </a:defRPr>
            </a:lvl1pPr>
          </a:lstStyle>
          <a:p>
            <a:r>
              <a:rPr lang="en-GB" noProof="0" dirty="0"/>
              <a:t>Key message text</a:t>
            </a:r>
          </a:p>
        </p:txBody>
      </p:sp>
    </p:spTree>
    <p:extLst>
      <p:ext uri="{BB962C8B-B14F-4D97-AF65-F5344CB8AC3E}">
        <p14:creationId xmlns:p14="http://schemas.microsoft.com/office/powerpoint/2010/main" val="27200427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message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C206A323-E28E-0970-02BD-0A9A42E59FD3}"/>
              </a:ext>
            </a:extLst>
          </p:cNvPr>
          <p:cNvSpPr/>
          <p:nvPr userDrawn="1"/>
        </p:nvSpPr>
        <p:spPr>
          <a:xfrm>
            <a:off x="1182370" y="708797"/>
            <a:ext cx="9827260" cy="5482046"/>
          </a:xfrm>
          <a:prstGeom prst="roundRect">
            <a:avLst>
              <a:gd name="adj" fmla="val 5444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2"/>
              </a:solidFill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84A197B-42EE-7E36-CA2A-208BE5C878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41174" y="2002631"/>
            <a:ext cx="9332844" cy="2852737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3600" b="0" i="0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Key message text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D2559E90-99B6-97A4-09B6-E7031AD7A91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577556" y="6362267"/>
            <a:ext cx="474844" cy="356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03872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message 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C206A323-E28E-0970-02BD-0A9A42E59FD3}"/>
              </a:ext>
            </a:extLst>
          </p:cNvPr>
          <p:cNvSpPr/>
          <p:nvPr userDrawn="1"/>
        </p:nvSpPr>
        <p:spPr>
          <a:xfrm>
            <a:off x="1182370" y="708797"/>
            <a:ext cx="9827260" cy="5482046"/>
          </a:xfrm>
          <a:prstGeom prst="roundRect">
            <a:avLst>
              <a:gd name="adj" fmla="val 5444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accent2"/>
              </a:solidFill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D2559E90-99B6-97A4-09B6-E7031AD7A91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577556" y="6362267"/>
            <a:ext cx="474844" cy="356133"/>
          </a:xfrm>
          <a:prstGeom prst="rect">
            <a:avLst/>
          </a:prstGeom>
        </p:spPr>
      </p:pic>
      <p:sp>
        <p:nvSpPr>
          <p:cNvPr id="3" name="Titre 1">
            <a:extLst>
              <a:ext uri="{FF2B5EF4-FFF2-40B4-BE49-F238E27FC236}">
                <a16:creationId xmlns:a16="http://schemas.microsoft.com/office/drawing/2014/main" id="{9A746E69-DEDB-F5B5-CAF6-095827C42BE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41174" y="2002631"/>
            <a:ext cx="9332844" cy="2852737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3600" b="0" i="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Key message text</a:t>
            </a:r>
          </a:p>
        </p:txBody>
      </p:sp>
    </p:spTree>
    <p:extLst>
      <p:ext uri="{BB962C8B-B14F-4D97-AF65-F5344CB8AC3E}">
        <p14:creationId xmlns:p14="http://schemas.microsoft.com/office/powerpoint/2010/main" val="15480554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message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C206A323-E28E-0970-02BD-0A9A42E59FD3}"/>
              </a:ext>
            </a:extLst>
          </p:cNvPr>
          <p:cNvSpPr/>
          <p:nvPr userDrawn="1"/>
        </p:nvSpPr>
        <p:spPr>
          <a:xfrm>
            <a:off x="1182370" y="708797"/>
            <a:ext cx="9827260" cy="5482046"/>
          </a:xfrm>
          <a:prstGeom prst="roundRect">
            <a:avLst>
              <a:gd name="adj" fmla="val 5444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accent2"/>
              </a:solidFill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D2559E90-99B6-97A4-09B6-E7031AD7A91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577556" y="6362267"/>
            <a:ext cx="474844" cy="356133"/>
          </a:xfrm>
          <a:prstGeom prst="rect">
            <a:avLst/>
          </a:prstGeom>
        </p:spPr>
      </p:pic>
      <p:sp>
        <p:nvSpPr>
          <p:cNvPr id="3" name="Titre 1">
            <a:extLst>
              <a:ext uri="{FF2B5EF4-FFF2-40B4-BE49-F238E27FC236}">
                <a16:creationId xmlns:a16="http://schemas.microsoft.com/office/drawing/2014/main" id="{DC2582AC-69EE-6A66-007B-371C19BB57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41174" y="2002631"/>
            <a:ext cx="9332844" cy="2852737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3600" b="0" i="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Key message text</a:t>
            </a:r>
          </a:p>
        </p:txBody>
      </p:sp>
    </p:spTree>
    <p:extLst>
      <p:ext uri="{BB962C8B-B14F-4D97-AF65-F5344CB8AC3E}">
        <p14:creationId xmlns:p14="http://schemas.microsoft.com/office/powerpoint/2010/main" val="15567643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5A240260-958F-F5B6-EDA1-7F63221F475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577556" y="6362267"/>
            <a:ext cx="474844" cy="35613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EA9DB7C-CCD5-2762-99F6-9387BFF5EB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Title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BBFD76F-4B2D-8AFE-0E41-04FBC8DBB5A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8200" y="1819275"/>
            <a:ext cx="10515600" cy="4351338"/>
          </a:xfrm>
        </p:spPr>
        <p:txBody>
          <a:bodyPr/>
          <a:lstStyle>
            <a:lvl2pPr marL="358775" indent="-358775">
              <a:buFontTx/>
              <a:buBlip>
                <a:blip r:embed="rId3"/>
              </a:buBlip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2pPr>
            <a:lvl3pPr marL="669925" indent="-304800">
              <a:buFontTx/>
              <a:buBlip>
                <a:blip r:embed="rId3"/>
              </a:buBlip>
              <a:tabLst/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3pPr>
          </a:lstStyle>
          <a:p>
            <a:pPr lvl="0"/>
            <a:r>
              <a:rPr lang="en-GB" dirty="0"/>
              <a:t>Click to edit Master text styles</a:t>
            </a:r>
          </a:p>
          <a:p>
            <a:pPr marL="358775" lvl="1" indent="-358775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4"/>
              </a:buBlip>
              <a:tabLst/>
            </a:pPr>
            <a:r>
              <a:rPr lang="en-GB" dirty="0"/>
              <a:t>Second level</a:t>
            </a:r>
          </a:p>
          <a:p>
            <a:pPr marL="714375" lvl="2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4"/>
              </a:buBlip>
              <a:tabLst/>
            </a:pPr>
            <a:r>
              <a:rPr lang="en-GB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0340592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lacehol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9">
            <a:extLst>
              <a:ext uri="{FF2B5EF4-FFF2-40B4-BE49-F238E27FC236}">
                <a16:creationId xmlns:a16="http://schemas.microsoft.com/office/drawing/2014/main" id="{4F1E9F87-214B-A780-CA56-3B0F35E5CEC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838201" y="1816100"/>
            <a:ext cx="5181600" cy="4351338"/>
          </a:xfrm>
        </p:spPr>
        <p:txBody>
          <a:bodyPr/>
          <a:lstStyle>
            <a:lvl2pPr marL="358775" indent="-358775">
              <a:spcBef>
                <a:spcPts val="1000"/>
              </a:spcBef>
              <a:buFontTx/>
              <a:buBlip>
                <a:blip r:embed="rId2"/>
              </a:buBlip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2pPr>
            <a:lvl3pPr marL="762000" indent="-374650">
              <a:tabLst/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3pPr>
          </a:lstStyle>
          <a:p>
            <a:pPr lvl="0"/>
            <a:r>
              <a:rPr lang="en-GB" dirty="0"/>
              <a:t>Click to edit Master text styles</a:t>
            </a:r>
          </a:p>
          <a:p>
            <a:pPr marL="358775" lvl="1" indent="-358775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3"/>
              </a:buBlip>
              <a:tabLst/>
            </a:pPr>
            <a:r>
              <a:rPr lang="en-GB" dirty="0"/>
              <a:t>Second level</a:t>
            </a:r>
          </a:p>
          <a:p>
            <a:pPr marL="714375" lvl="2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3"/>
              </a:buBlip>
              <a:tabLst/>
            </a:pPr>
            <a:r>
              <a:rPr lang="en-GB" dirty="0"/>
              <a:t>Third level</a:t>
            </a:r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71D74064-9855-E307-BE4C-FF1AC6C9FAD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72199" y="1816100"/>
            <a:ext cx="5181600" cy="4351338"/>
          </a:xfrm>
        </p:spPr>
        <p:txBody>
          <a:bodyPr/>
          <a:lstStyle>
            <a:lvl2pPr marL="358775" indent="-358775">
              <a:spcBef>
                <a:spcPts val="1000"/>
              </a:spcBef>
              <a:buFontTx/>
              <a:buBlip>
                <a:blip r:embed="rId2"/>
              </a:buBlip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2pPr>
            <a:lvl3pPr marL="762000" indent="-374650">
              <a:tabLst/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3pPr>
          </a:lstStyle>
          <a:p>
            <a:pPr lvl="0"/>
            <a:r>
              <a:rPr lang="en-GB" dirty="0"/>
              <a:t>Click to edit Master text styles</a:t>
            </a:r>
          </a:p>
          <a:p>
            <a:pPr marL="358775" lvl="1" indent="-358775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3"/>
              </a:buBlip>
              <a:tabLst/>
            </a:pPr>
            <a:r>
              <a:rPr lang="en-GB" dirty="0"/>
              <a:t>Second level</a:t>
            </a:r>
          </a:p>
          <a:p>
            <a:pPr marL="714375" lvl="2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3"/>
              </a:buBlip>
              <a:tabLst/>
            </a:pPr>
            <a:r>
              <a:rPr lang="en-GB" dirty="0"/>
              <a:t>Third level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04096A7F-17E3-1944-DBB4-18263DE8D953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577556" y="6362267"/>
            <a:ext cx="474844" cy="356133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60934A60-C3FD-F1F7-C71C-505AC974FF6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32464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figures with embl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>
            <a:extLst>
              <a:ext uri="{FF2B5EF4-FFF2-40B4-BE49-F238E27FC236}">
                <a16:creationId xmlns:a16="http://schemas.microsoft.com/office/drawing/2014/main" id="{3B310AEF-E302-7CA7-22FA-C063913AC3E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577556" y="6362267"/>
            <a:ext cx="474844" cy="356133"/>
          </a:xfrm>
          <a:prstGeom prst="rect">
            <a:avLst/>
          </a:prstGeom>
        </p:spPr>
      </p:pic>
      <p:sp>
        <p:nvSpPr>
          <p:cNvPr id="10" name="Rectangle : coins arrondis 1">
            <a:extLst>
              <a:ext uri="{FF2B5EF4-FFF2-40B4-BE49-F238E27FC236}">
                <a16:creationId xmlns:a16="http://schemas.microsoft.com/office/drawing/2014/main" id="{C518B50C-3518-E963-7EB2-CF27A10646B9}"/>
              </a:ext>
            </a:extLst>
          </p:cNvPr>
          <p:cNvSpPr/>
          <p:nvPr userDrawn="1"/>
        </p:nvSpPr>
        <p:spPr>
          <a:xfrm>
            <a:off x="838200" y="1101600"/>
            <a:ext cx="5043534" cy="2417275"/>
          </a:xfrm>
          <a:prstGeom prst="roundRect">
            <a:avLst>
              <a:gd name="adj" fmla="val 5444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accent2"/>
              </a:solidFill>
            </a:endParaRPr>
          </a:p>
        </p:txBody>
      </p:sp>
      <p:sp>
        <p:nvSpPr>
          <p:cNvPr id="11" name="Rectangle : coins arrondis 2">
            <a:extLst>
              <a:ext uri="{FF2B5EF4-FFF2-40B4-BE49-F238E27FC236}">
                <a16:creationId xmlns:a16="http://schemas.microsoft.com/office/drawing/2014/main" id="{AF7FFA4B-45D7-B7FA-6B0D-442AB264A084}"/>
              </a:ext>
            </a:extLst>
          </p:cNvPr>
          <p:cNvSpPr/>
          <p:nvPr userDrawn="1"/>
        </p:nvSpPr>
        <p:spPr>
          <a:xfrm>
            <a:off x="6310265" y="1101600"/>
            <a:ext cx="5043535" cy="2417275"/>
          </a:xfrm>
          <a:prstGeom prst="roundRect">
            <a:avLst>
              <a:gd name="adj" fmla="val 5444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accent2"/>
              </a:solidFill>
            </a:endParaRPr>
          </a:p>
        </p:txBody>
      </p:sp>
      <p:sp>
        <p:nvSpPr>
          <p:cNvPr id="12" name="Rectangle : coins arrondis 6">
            <a:extLst>
              <a:ext uri="{FF2B5EF4-FFF2-40B4-BE49-F238E27FC236}">
                <a16:creationId xmlns:a16="http://schemas.microsoft.com/office/drawing/2014/main" id="{DF00A995-522B-4021-102B-BCBD0FD9DCE3}"/>
              </a:ext>
            </a:extLst>
          </p:cNvPr>
          <p:cNvSpPr/>
          <p:nvPr userDrawn="1"/>
        </p:nvSpPr>
        <p:spPr>
          <a:xfrm>
            <a:off x="838200" y="3839175"/>
            <a:ext cx="5043534" cy="2417275"/>
          </a:xfrm>
          <a:prstGeom prst="roundRect">
            <a:avLst>
              <a:gd name="adj" fmla="val 5444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2"/>
              </a:solidFill>
            </a:endParaRPr>
          </a:p>
        </p:txBody>
      </p:sp>
      <p:sp>
        <p:nvSpPr>
          <p:cNvPr id="13" name="Rectangle : coins arrondis 7">
            <a:extLst>
              <a:ext uri="{FF2B5EF4-FFF2-40B4-BE49-F238E27FC236}">
                <a16:creationId xmlns:a16="http://schemas.microsoft.com/office/drawing/2014/main" id="{7816F90A-A539-B087-965E-1578FF34D6E7}"/>
              </a:ext>
            </a:extLst>
          </p:cNvPr>
          <p:cNvSpPr/>
          <p:nvPr userDrawn="1"/>
        </p:nvSpPr>
        <p:spPr>
          <a:xfrm>
            <a:off x="6310265" y="3839175"/>
            <a:ext cx="5043535" cy="2417275"/>
          </a:xfrm>
          <a:prstGeom prst="roundRect">
            <a:avLst>
              <a:gd name="adj" fmla="val 5444"/>
            </a:avLst>
          </a:prstGeom>
          <a:solidFill>
            <a:schemeClr val="accent3"/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accent2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B558C04-A85E-141F-D30C-22896D91893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Title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BF415C-547B-26E1-70E8-BB6C2005A4C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20786" y="1206131"/>
            <a:ext cx="4678363" cy="2208212"/>
          </a:xfrm>
        </p:spPr>
        <p:txBody>
          <a:bodyPr anchor="ctr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ECA972A6-C18B-E653-4933-08A90C461B6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492851" y="1206131"/>
            <a:ext cx="4678363" cy="2208212"/>
          </a:xfr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EE2428-489D-DF92-9019-A2F54EF7ED2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020786" y="3943706"/>
            <a:ext cx="4678363" cy="2208212"/>
          </a:xfrm>
        </p:spPr>
        <p:txBody>
          <a:bodyPr anchor="ctr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5635DDFA-F6B7-A5DC-0F14-CB6A0C903E2B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492851" y="3943706"/>
            <a:ext cx="4678363" cy="2208212"/>
          </a:xfr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989513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d 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98086D16-C425-1BC7-0C85-E10C16659F96}"/>
              </a:ext>
            </a:extLst>
          </p:cNvPr>
          <p:cNvSpPr/>
          <p:nvPr userDrawn="1"/>
        </p:nvSpPr>
        <p:spPr>
          <a:xfrm>
            <a:off x="0" y="0"/>
            <a:ext cx="12202633" cy="69008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Titre 1">
            <a:extLst>
              <a:ext uri="{FF2B5EF4-FFF2-40B4-BE49-F238E27FC236}">
                <a16:creationId xmlns:a16="http://schemas.microsoft.com/office/drawing/2014/main" id="{59498766-DA08-75EA-8073-17495259A6C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084290" y="2718613"/>
            <a:ext cx="4593903" cy="2044707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lnSpc>
                <a:spcPct val="100000"/>
              </a:lnSpc>
              <a:defRPr sz="3600" b="1" i="0">
                <a:solidFill>
                  <a:schemeClr val="bg1"/>
                </a:solidFill>
                <a:latin typeface="+mj-lt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GB" noProof="0"/>
              <a:t>Title</a:t>
            </a:r>
          </a:p>
        </p:txBody>
      </p:sp>
      <p:sp>
        <p:nvSpPr>
          <p:cNvPr id="17" name="Espace réservé pour une image  16">
            <a:extLst>
              <a:ext uri="{FF2B5EF4-FFF2-40B4-BE49-F238E27FC236}">
                <a16:creationId xmlns:a16="http://schemas.microsoft.com/office/drawing/2014/main" id="{A47EA4EA-2597-99C9-7F28-56E9FEE07C9A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03565" y="1237683"/>
            <a:ext cx="6479824" cy="4406579"/>
          </a:xfrm>
          <a:custGeom>
            <a:avLst/>
            <a:gdLst>
              <a:gd name="connsiteX0" fmla="*/ 2204504 w 6479824"/>
              <a:gd name="connsiteY0" fmla="*/ 0 h 4406579"/>
              <a:gd name="connsiteX1" fmla="*/ 6479824 w 6479824"/>
              <a:gd name="connsiteY1" fmla="*/ 0 h 4406579"/>
              <a:gd name="connsiteX2" fmla="*/ 6479824 w 6479824"/>
              <a:gd name="connsiteY2" fmla="*/ 2197826 h 4406579"/>
              <a:gd name="connsiteX3" fmla="*/ 6479544 w 6479824"/>
              <a:gd name="connsiteY3" fmla="*/ 2197826 h 4406579"/>
              <a:gd name="connsiteX4" fmla="*/ 6479824 w 6479824"/>
              <a:gd name="connsiteY4" fmla="*/ 2203379 h 4406579"/>
              <a:gd name="connsiteX5" fmla="*/ 4501889 w 6479824"/>
              <a:gd name="connsiteY5" fmla="*/ 4395204 h 4406579"/>
              <a:gd name="connsiteX6" fmla="*/ 4338104 w 6479824"/>
              <a:gd name="connsiteY6" fmla="*/ 4403475 h 4406579"/>
              <a:gd name="connsiteX7" fmla="*/ 4338104 w 6479824"/>
              <a:gd name="connsiteY7" fmla="*/ 4406579 h 4406579"/>
              <a:gd name="connsiteX8" fmla="*/ 4276624 w 6479824"/>
              <a:gd name="connsiteY8" fmla="*/ 4406579 h 4406579"/>
              <a:gd name="connsiteX9" fmla="*/ 2204504 w 6479824"/>
              <a:gd name="connsiteY9" fmla="*/ 4406579 h 4406579"/>
              <a:gd name="connsiteX10" fmla="*/ 2204504 w 6479824"/>
              <a:gd name="connsiteY10" fmla="*/ 4406513 h 4406579"/>
              <a:gd name="connsiteX11" fmla="*/ 2203200 w 6479824"/>
              <a:gd name="connsiteY11" fmla="*/ 4406579 h 4406579"/>
              <a:gd name="connsiteX12" fmla="*/ 0 w 6479824"/>
              <a:gd name="connsiteY12" fmla="*/ 2203379 h 4406579"/>
              <a:gd name="connsiteX13" fmla="*/ 2203200 w 6479824"/>
              <a:gd name="connsiteY13" fmla="*/ 179 h 4406579"/>
              <a:gd name="connsiteX14" fmla="*/ 2204504 w 6479824"/>
              <a:gd name="connsiteY14" fmla="*/ 245 h 44065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6479824" h="4406579">
                <a:moveTo>
                  <a:pt x="2204504" y="0"/>
                </a:moveTo>
                <a:lnTo>
                  <a:pt x="6479824" y="0"/>
                </a:lnTo>
                <a:lnTo>
                  <a:pt x="6479824" y="2197826"/>
                </a:lnTo>
                <a:lnTo>
                  <a:pt x="6479544" y="2197826"/>
                </a:lnTo>
                <a:lnTo>
                  <a:pt x="6479824" y="2203379"/>
                </a:lnTo>
                <a:cubicBezTo>
                  <a:pt x="6479824" y="3344124"/>
                  <a:pt x="5612866" y="4282379"/>
                  <a:pt x="4501889" y="4395204"/>
                </a:cubicBezTo>
                <a:lnTo>
                  <a:pt x="4338104" y="4403475"/>
                </a:lnTo>
                <a:lnTo>
                  <a:pt x="4338104" y="4406579"/>
                </a:lnTo>
                <a:lnTo>
                  <a:pt x="4276624" y="4406579"/>
                </a:lnTo>
                <a:lnTo>
                  <a:pt x="2204504" y="4406579"/>
                </a:lnTo>
                <a:lnTo>
                  <a:pt x="2204504" y="4406513"/>
                </a:lnTo>
                <a:lnTo>
                  <a:pt x="2203200" y="4406579"/>
                </a:lnTo>
                <a:cubicBezTo>
                  <a:pt x="986406" y="4406579"/>
                  <a:pt x="0" y="3420173"/>
                  <a:pt x="0" y="2203379"/>
                </a:cubicBezTo>
                <a:cubicBezTo>
                  <a:pt x="0" y="986585"/>
                  <a:pt x="986406" y="179"/>
                  <a:pt x="2203200" y="179"/>
                </a:cubicBezTo>
                <a:lnTo>
                  <a:pt x="2204504" y="245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/>
            </a:lvl1pPr>
          </a:lstStyle>
          <a:p>
            <a:endParaRPr lang="en-GB" noProof="0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B9D6A197-143B-AEFD-829C-A370B9E48C7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069311" y="2058487"/>
            <a:ext cx="4608882" cy="30684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200" b="0" i="0" cap="all" spc="300" baseline="0">
                <a:solidFill>
                  <a:schemeClr val="bg1"/>
                </a:solidFill>
                <a:latin typeface="+mn-lt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noProof="0" dirty="0"/>
              <a:t>SECTION NUMBER/ SUBTITLE</a:t>
            </a:r>
          </a:p>
        </p:txBody>
      </p:sp>
    </p:spTree>
    <p:extLst>
      <p:ext uri="{BB962C8B-B14F-4D97-AF65-F5344CB8AC3E}">
        <p14:creationId xmlns:p14="http://schemas.microsoft.com/office/powerpoint/2010/main" val="283168685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nk section 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re 1">
            <a:extLst>
              <a:ext uri="{FF2B5EF4-FFF2-40B4-BE49-F238E27FC236}">
                <a16:creationId xmlns:a16="http://schemas.microsoft.com/office/drawing/2014/main" id="{59498766-DA08-75EA-8073-17495259A6C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084290" y="2718613"/>
            <a:ext cx="4593903" cy="2044707"/>
          </a:xfrm>
        </p:spPr>
        <p:txBody>
          <a:bodyPr anchor="t">
            <a:noAutofit/>
          </a:bodyPr>
          <a:lstStyle>
            <a:lvl1pPr algn="l">
              <a:lnSpc>
                <a:spcPct val="100000"/>
              </a:lnSpc>
              <a:defRPr sz="3600" b="1" i="0">
                <a:solidFill>
                  <a:schemeClr val="tx1"/>
                </a:solidFill>
                <a:latin typeface="+mj-lt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GB" noProof="0"/>
              <a:t>Title</a:t>
            </a:r>
          </a:p>
        </p:txBody>
      </p:sp>
      <p:sp>
        <p:nvSpPr>
          <p:cNvPr id="17" name="Espace réservé pour une image  16">
            <a:extLst>
              <a:ext uri="{FF2B5EF4-FFF2-40B4-BE49-F238E27FC236}">
                <a16:creationId xmlns:a16="http://schemas.microsoft.com/office/drawing/2014/main" id="{A47EA4EA-2597-99C9-7F28-56E9FEE07C9A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03565" y="1237683"/>
            <a:ext cx="6479824" cy="4406579"/>
          </a:xfrm>
          <a:custGeom>
            <a:avLst/>
            <a:gdLst>
              <a:gd name="connsiteX0" fmla="*/ 2204504 w 6479824"/>
              <a:gd name="connsiteY0" fmla="*/ 0 h 4406579"/>
              <a:gd name="connsiteX1" fmla="*/ 6479824 w 6479824"/>
              <a:gd name="connsiteY1" fmla="*/ 0 h 4406579"/>
              <a:gd name="connsiteX2" fmla="*/ 6479824 w 6479824"/>
              <a:gd name="connsiteY2" fmla="*/ 2197826 h 4406579"/>
              <a:gd name="connsiteX3" fmla="*/ 6479544 w 6479824"/>
              <a:gd name="connsiteY3" fmla="*/ 2197826 h 4406579"/>
              <a:gd name="connsiteX4" fmla="*/ 6479824 w 6479824"/>
              <a:gd name="connsiteY4" fmla="*/ 2203379 h 4406579"/>
              <a:gd name="connsiteX5" fmla="*/ 4501889 w 6479824"/>
              <a:gd name="connsiteY5" fmla="*/ 4395204 h 4406579"/>
              <a:gd name="connsiteX6" fmla="*/ 4338104 w 6479824"/>
              <a:gd name="connsiteY6" fmla="*/ 4403475 h 4406579"/>
              <a:gd name="connsiteX7" fmla="*/ 4338104 w 6479824"/>
              <a:gd name="connsiteY7" fmla="*/ 4406579 h 4406579"/>
              <a:gd name="connsiteX8" fmla="*/ 4276624 w 6479824"/>
              <a:gd name="connsiteY8" fmla="*/ 4406579 h 4406579"/>
              <a:gd name="connsiteX9" fmla="*/ 2204504 w 6479824"/>
              <a:gd name="connsiteY9" fmla="*/ 4406579 h 4406579"/>
              <a:gd name="connsiteX10" fmla="*/ 2204504 w 6479824"/>
              <a:gd name="connsiteY10" fmla="*/ 4406513 h 4406579"/>
              <a:gd name="connsiteX11" fmla="*/ 2203200 w 6479824"/>
              <a:gd name="connsiteY11" fmla="*/ 4406579 h 4406579"/>
              <a:gd name="connsiteX12" fmla="*/ 0 w 6479824"/>
              <a:gd name="connsiteY12" fmla="*/ 2203379 h 4406579"/>
              <a:gd name="connsiteX13" fmla="*/ 2203200 w 6479824"/>
              <a:gd name="connsiteY13" fmla="*/ 179 h 4406579"/>
              <a:gd name="connsiteX14" fmla="*/ 2204504 w 6479824"/>
              <a:gd name="connsiteY14" fmla="*/ 245 h 44065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6479824" h="4406579">
                <a:moveTo>
                  <a:pt x="2204504" y="0"/>
                </a:moveTo>
                <a:lnTo>
                  <a:pt x="6479824" y="0"/>
                </a:lnTo>
                <a:lnTo>
                  <a:pt x="6479824" y="2197826"/>
                </a:lnTo>
                <a:lnTo>
                  <a:pt x="6479544" y="2197826"/>
                </a:lnTo>
                <a:lnTo>
                  <a:pt x="6479824" y="2203379"/>
                </a:lnTo>
                <a:cubicBezTo>
                  <a:pt x="6479824" y="3344124"/>
                  <a:pt x="5612866" y="4282379"/>
                  <a:pt x="4501889" y="4395204"/>
                </a:cubicBezTo>
                <a:lnTo>
                  <a:pt x="4338104" y="4403475"/>
                </a:lnTo>
                <a:lnTo>
                  <a:pt x="4338104" y="4406579"/>
                </a:lnTo>
                <a:lnTo>
                  <a:pt x="4276624" y="4406579"/>
                </a:lnTo>
                <a:lnTo>
                  <a:pt x="2204504" y="4406579"/>
                </a:lnTo>
                <a:lnTo>
                  <a:pt x="2204504" y="4406513"/>
                </a:lnTo>
                <a:lnTo>
                  <a:pt x="2203200" y="4406579"/>
                </a:lnTo>
                <a:cubicBezTo>
                  <a:pt x="986406" y="4406579"/>
                  <a:pt x="0" y="3420173"/>
                  <a:pt x="0" y="2203379"/>
                </a:cubicBezTo>
                <a:cubicBezTo>
                  <a:pt x="0" y="986585"/>
                  <a:pt x="986406" y="179"/>
                  <a:pt x="2203200" y="179"/>
                </a:cubicBezTo>
                <a:lnTo>
                  <a:pt x="2204504" y="245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/>
            </a:lvl1pPr>
          </a:lstStyle>
          <a:p>
            <a:endParaRPr lang="en-GB" noProof="0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77F1758D-FA39-78AD-05BA-1F0701430BD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069311" y="2058487"/>
            <a:ext cx="4608882" cy="30684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200" b="0" i="0" spc="30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noProof="0" dirty="0"/>
              <a:t>SECTION NUMBER/ SUBTITLE</a:t>
            </a:r>
          </a:p>
        </p:txBody>
      </p:sp>
    </p:spTree>
    <p:extLst>
      <p:ext uri="{BB962C8B-B14F-4D97-AF65-F5344CB8AC3E}">
        <p14:creationId xmlns:p14="http://schemas.microsoft.com/office/powerpoint/2010/main" val="9679579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98086D16-C425-1BC7-0C85-E10C16659F96}"/>
              </a:ext>
            </a:extLst>
          </p:cNvPr>
          <p:cNvSpPr/>
          <p:nvPr userDrawn="1"/>
        </p:nvSpPr>
        <p:spPr>
          <a:xfrm>
            <a:off x="0" y="0"/>
            <a:ext cx="12202633" cy="69008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Titre 1">
            <a:extLst>
              <a:ext uri="{FF2B5EF4-FFF2-40B4-BE49-F238E27FC236}">
                <a16:creationId xmlns:a16="http://schemas.microsoft.com/office/drawing/2014/main" id="{59498766-DA08-75EA-8073-17495259A6C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084290" y="2718613"/>
            <a:ext cx="4593903" cy="2044707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lnSpc>
                <a:spcPct val="100000"/>
              </a:lnSpc>
              <a:defRPr sz="3600" b="1" i="0">
                <a:solidFill>
                  <a:schemeClr val="bg1"/>
                </a:solidFill>
                <a:latin typeface="+mj-lt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GB" noProof="0"/>
              <a:t>Title</a:t>
            </a:r>
          </a:p>
        </p:txBody>
      </p:sp>
      <p:sp>
        <p:nvSpPr>
          <p:cNvPr id="17" name="Espace réservé pour une image  16">
            <a:extLst>
              <a:ext uri="{FF2B5EF4-FFF2-40B4-BE49-F238E27FC236}">
                <a16:creationId xmlns:a16="http://schemas.microsoft.com/office/drawing/2014/main" id="{A47EA4EA-2597-99C9-7F28-56E9FEE07C9A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03565" y="1237683"/>
            <a:ext cx="6479824" cy="4406579"/>
          </a:xfrm>
          <a:custGeom>
            <a:avLst/>
            <a:gdLst>
              <a:gd name="connsiteX0" fmla="*/ 2204504 w 6479824"/>
              <a:gd name="connsiteY0" fmla="*/ 0 h 4406579"/>
              <a:gd name="connsiteX1" fmla="*/ 6479824 w 6479824"/>
              <a:gd name="connsiteY1" fmla="*/ 0 h 4406579"/>
              <a:gd name="connsiteX2" fmla="*/ 6479824 w 6479824"/>
              <a:gd name="connsiteY2" fmla="*/ 2197826 h 4406579"/>
              <a:gd name="connsiteX3" fmla="*/ 6479544 w 6479824"/>
              <a:gd name="connsiteY3" fmla="*/ 2197826 h 4406579"/>
              <a:gd name="connsiteX4" fmla="*/ 6479824 w 6479824"/>
              <a:gd name="connsiteY4" fmla="*/ 2203379 h 4406579"/>
              <a:gd name="connsiteX5" fmla="*/ 4501889 w 6479824"/>
              <a:gd name="connsiteY5" fmla="*/ 4395204 h 4406579"/>
              <a:gd name="connsiteX6" fmla="*/ 4338104 w 6479824"/>
              <a:gd name="connsiteY6" fmla="*/ 4403475 h 4406579"/>
              <a:gd name="connsiteX7" fmla="*/ 4338104 w 6479824"/>
              <a:gd name="connsiteY7" fmla="*/ 4406579 h 4406579"/>
              <a:gd name="connsiteX8" fmla="*/ 4276624 w 6479824"/>
              <a:gd name="connsiteY8" fmla="*/ 4406579 h 4406579"/>
              <a:gd name="connsiteX9" fmla="*/ 2204504 w 6479824"/>
              <a:gd name="connsiteY9" fmla="*/ 4406579 h 4406579"/>
              <a:gd name="connsiteX10" fmla="*/ 2204504 w 6479824"/>
              <a:gd name="connsiteY10" fmla="*/ 4406513 h 4406579"/>
              <a:gd name="connsiteX11" fmla="*/ 2203200 w 6479824"/>
              <a:gd name="connsiteY11" fmla="*/ 4406579 h 4406579"/>
              <a:gd name="connsiteX12" fmla="*/ 0 w 6479824"/>
              <a:gd name="connsiteY12" fmla="*/ 2203379 h 4406579"/>
              <a:gd name="connsiteX13" fmla="*/ 2203200 w 6479824"/>
              <a:gd name="connsiteY13" fmla="*/ 179 h 4406579"/>
              <a:gd name="connsiteX14" fmla="*/ 2204504 w 6479824"/>
              <a:gd name="connsiteY14" fmla="*/ 245 h 44065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6479824" h="4406579">
                <a:moveTo>
                  <a:pt x="2204504" y="0"/>
                </a:moveTo>
                <a:lnTo>
                  <a:pt x="6479824" y="0"/>
                </a:lnTo>
                <a:lnTo>
                  <a:pt x="6479824" y="2197826"/>
                </a:lnTo>
                <a:lnTo>
                  <a:pt x="6479544" y="2197826"/>
                </a:lnTo>
                <a:lnTo>
                  <a:pt x="6479824" y="2203379"/>
                </a:lnTo>
                <a:cubicBezTo>
                  <a:pt x="6479824" y="3344124"/>
                  <a:pt x="5612866" y="4282379"/>
                  <a:pt x="4501889" y="4395204"/>
                </a:cubicBezTo>
                <a:lnTo>
                  <a:pt x="4338104" y="4403475"/>
                </a:lnTo>
                <a:lnTo>
                  <a:pt x="4338104" y="4406579"/>
                </a:lnTo>
                <a:lnTo>
                  <a:pt x="4276624" y="4406579"/>
                </a:lnTo>
                <a:lnTo>
                  <a:pt x="2204504" y="4406579"/>
                </a:lnTo>
                <a:lnTo>
                  <a:pt x="2204504" y="4406513"/>
                </a:lnTo>
                <a:lnTo>
                  <a:pt x="2203200" y="4406579"/>
                </a:lnTo>
                <a:cubicBezTo>
                  <a:pt x="986406" y="4406579"/>
                  <a:pt x="0" y="3420173"/>
                  <a:pt x="0" y="2203379"/>
                </a:cubicBezTo>
                <a:cubicBezTo>
                  <a:pt x="0" y="986585"/>
                  <a:pt x="986406" y="179"/>
                  <a:pt x="2203200" y="179"/>
                </a:cubicBezTo>
                <a:lnTo>
                  <a:pt x="2204504" y="245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en-GB" noProof="0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8AD1FA9F-FAA3-CC60-961C-DDECEC3D8E6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069311" y="2058487"/>
            <a:ext cx="4608882" cy="30684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200" b="0" i="0" spc="300">
                <a:solidFill>
                  <a:schemeClr val="bg1"/>
                </a:solidFill>
                <a:latin typeface="+mn-lt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noProof="0" dirty="0"/>
              <a:t>SECTION NUMBER/ SUBTITLE</a:t>
            </a:r>
          </a:p>
        </p:txBody>
      </p:sp>
    </p:spTree>
    <p:extLst>
      <p:ext uri="{BB962C8B-B14F-4D97-AF65-F5344CB8AC3E}">
        <p14:creationId xmlns:p14="http://schemas.microsoft.com/office/powerpoint/2010/main" val="33427515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en 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98086D16-C425-1BC7-0C85-E10C16659F96}"/>
              </a:ext>
            </a:extLst>
          </p:cNvPr>
          <p:cNvSpPr/>
          <p:nvPr userDrawn="1"/>
        </p:nvSpPr>
        <p:spPr>
          <a:xfrm>
            <a:off x="0" y="0"/>
            <a:ext cx="12202633" cy="69008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Titre 1">
            <a:extLst>
              <a:ext uri="{FF2B5EF4-FFF2-40B4-BE49-F238E27FC236}">
                <a16:creationId xmlns:a16="http://schemas.microsoft.com/office/drawing/2014/main" id="{59498766-DA08-75EA-8073-17495259A6C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084290" y="2718613"/>
            <a:ext cx="4593903" cy="2044707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lnSpc>
                <a:spcPct val="100000"/>
              </a:lnSpc>
              <a:defRPr sz="3600" b="1" i="0">
                <a:solidFill>
                  <a:schemeClr val="bg1"/>
                </a:solidFill>
                <a:latin typeface="+mj-lt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GB" noProof="0"/>
              <a:t>Title</a:t>
            </a:r>
          </a:p>
        </p:txBody>
      </p:sp>
      <p:sp>
        <p:nvSpPr>
          <p:cNvPr id="17" name="Espace réservé pour une image  16">
            <a:extLst>
              <a:ext uri="{FF2B5EF4-FFF2-40B4-BE49-F238E27FC236}">
                <a16:creationId xmlns:a16="http://schemas.microsoft.com/office/drawing/2014/main" id="{A47EA4EA-2597-99C9-7F28-56E9FEE07C9A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03565" y="1237683"/>
            <a:ext cx="6479824" cy="4406579"/>
          </a:xfrm>
          <a:custGeom>
            <a:avLst/>
            <a:gdLst>
              <a:gd name="connsiteX0" fmla="*/ 2204504 w 6479824"/>
              <a:gd name="connsiteY0" fmla="*/ 0 h 4406579"/>
              <a:gd name="connsiteX1" fmla="*/ 6479824 w 6479824"/>
              <a:gd name="connsiteY1" fmla="*/ 0 h 4406579"/>
              <a:gd name="connsiteX2" fmla="*/ 6479824 w 6479824"/>
              <a:gd name="connsiteY2" fmla="*/ 2197826 h 4406579"/>
              <a:gd name="connsiteX3" fmla="*/ 6479544 w 6479824"/>
              <a:gd name="connsiteY3" fmla="*/ 2197826 h 4406579"/>
              <a:gd name="connsiteX4" fmla="*/ 6479824 w 6479824"/>
              <a:gd name="connsiteY4" fmla="*/ 2203379 h 4406579"/>
              <a:gd name="connsiteX5" fmla="*/ 4501889 w 6479824"/>
              <a:gd name="connsiteY5" fmla="*/ 4395204 h 4406579"/>
              <a:gd name="connsiteX6" fmla="*/ 4338104 w 6479824"/>
              <a:gd name="connsiteY6" fmla="*/ 4403475 h 4406579"/>
              <a:gd name="connsiteX7" fmla="*/ 4338104 w 6479824"/>
              <a:gd name="connsiteY7" fmla="*/ 4406579 h 4406579"/>
              <a:gd name="connsiteX8" fmla="*/ 4276624 w 6479824"/>
              <a:gd name="connsiteY8" fmla="*/ 4406579 h 4406579"/>
              <a:gd name="connsiteX9" fmla="*/ 2204504 w 6479824"/>
              <a:gd name="connsiteY9" fmla="*/ 4406579 h 4406579"/>
              <a:gd name="connsiteX10" fmla="*/ 2204504 w 6479824"/>
              <a:gd name="connsiteY10" fmla="*/ 4406513 h 4406579"/>
              <a:gd name="connsiteX11" fmla="*/ 2203200 w 6479824"/>
              <a:gd name="connsiteY11" fmla="*/ 4406579 h 4406579"/>
              <a:gd name="connsiteX12" fmla="*/ 0 w 6479824"/>
              <a:gd name="connsiteY12" fmla="*/ 2203379 h 4406579"/>
              <a:gd name="connsiteX13" fmla="*/ 2203200 w 6479824"/>
              <a:gd name="connsiteY13" fmla="*/ 179 h 4406579"/>
              <a:gd name="connsiteX14" fmla="*/ 2204504 w 6479824"/>
              <a:gd name="connsiteY14" fmla="*/ 245 h 44065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6479824" h="4406579">
                <a:moveTo>
                  <a:pt x="2204504" y="0"/>
                </a:moveTo>
                <a:lnTo>
                  <a:pt x="6479824" y="0"/>
                </a:lnTo>
                <a:lnTo>
                  <a:pt x="6479824" y="2197826"/>
                </a:lnTo>
                <a:lnTo>
                  <a:pt x="6479544" y="2197826"/>
                </a:lnTo>
                <a:lnTo>
                  <a:pt x="6479824" y="2203379"/>
                </a:lnTo>
                <a:cubicBezTo>
                  <a:pt x="6479824" y="3344124"/>
                  <a:pt x="5612866" y="4282379"/>
                  <a:pt x="4501889" y="4395204"/>
                </a:cubicBezTo>
                <a:lnTo>
                  <a:pt x="4338104" y="4403475"/>
                </a:lnTo>
                <a:lnTo>
                  <a:pt x="4338104" y="4406579"/>
                </a:lnTo>
                <a:lnTo>
                  <a:pt x="4276624" y="4406579"/>
                </a:lnTo>
                <a:lnTo>
                  <a:pt x="2204504" y="4406579"/>
                </a:lnTo>
                <a:lnTo>
                  <a:pt x="2204504" y="4406513"/>
                </a:lnTo>
                <a:lnTo>
                  <a:pt x="2203200" y="4406579"/>
                </a:lnTo>
                <a:cubicBezTo>
                  <a:pt x="986406" y="4406579"/>
                  <a:pt x="0" y="3420173"/>
                  <a:pt x="0" y="2203379"/>
                </a:cubicBezTo>
                <a:cubicBezTo>
                  <a:pt x="0" y="986585"/>
                  <a:pt x="986406" y="179"/>
                  <a:pt x="2203200" y="179"/>
                </a:cubicBezTo>
                <a:lnTo>
                  <a:pt x="2204504" y="245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>
                <a:solidFill>
                  <a:schemeClr val="tx1"/>
                </a:solidFill>
              </a:defRPr>
            </a:lvl1pPr>
          </a:lstStyle>
          <a:p>
            <a:endParaRPr lang="en-GB" noProof="0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7EB932D8-947A-D8D7-D24E-FCAC4FA07BB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069311" y="2058487"/>
            <a:ext cx="4608882" cy="30684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200" b="0" i="0" spc="300">
                <a:solidFill>
                  <a:schemeClr val="bg1"/>
                </a:solidFill>
                <a:latin typeface="+mn-lt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noProof="0" dirty="0"/>
              <a:t>SECTION NUMBER/ SUBTITLE</a:t>
            </a:r>
          </a:p>
        </p:txBody>
      </p:sp>
    </p:spTree>
    <p:extLst>
      <p:ext uri="{BB962C8B-B14F-4D97-AF65-F5344CB8AC3E}">
        <p14:creationId xmlns:p14="http://schemas.microsoft.com/office/powerpoint/2010/main" val="377797674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Green 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98086D16-C425-1BC7-0C85-E10C16659F96}"/>
              </a:ext>
            </a:extLst>
          </p:cNvPr>
          <p:cNvSpPr/>
          <p:nvPr userDrawn="1"/>
        </p:nvSpPr>
        <p:spPr>
          <a:xfrm>
            <a:off x="0" y="0"/>
            <a:ext cx="12202633" cy="69008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Titre 1">
            <a:extLst>
              <a:ext uri="{FF2B5EF4-FFF2-40B4-BE49-F238E27FC236}">
                <a16:creationId xmlns:a16="http://schemas.microsoft.com/office/drawing/2014/main" id="{59498766-DA08-75EA-8073-17495259A6C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084290" y="2718613"/>
            <a:ext cx="4593903" cy="2044707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lnSpc>
                <a:spcPct val="100000"/>
              </a:lnSpc>
              <a:defRPr sz="3600" b="1" i="0">
                <a:solidFill>
                  <a:schemeClr val="bg1"/>
                </a:solidFill>
                <a:latin typeface="+mj-lt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GB" noProof="0"/>
              <a:t>Title</a:t>
            </a:r>
          </a:p>
        </p:txBody>
      </p:sp>
      <p:sp>
        <p:nvSpPr>
          <p:cNvPr id="17" name="Espace réservé pour une image  16">
            <a:extLst>
              <a:ext uri="{FF2B5EF4-FFF2-40B4-BE49-F238E27FC236}">
                <a16:creationId xmlns:a16="http://schemas.microsoft.com/office/drawing/2014/main" id="{A47EA4EA-2597-99C9-7F28-56E9FEE07C9A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03565" y="1237683"/>
            <a:ext cx="6479824" cy="4406579"/>
          </a:xfrm>
          <a:custGeom>
            <a:avLst/>
            <a:gdLst>
              <a:gd name="connsiteX0" fmla="*/ 2204504 w 6479824"/>
              <a:gd name="connsiteY0" fmla="*/ 0 h 4406579"/>
              <a:gd name="connsiteX1" fmla="*/ 6479824 w 6479824"/>
              <a:gd name="connsiteY1" fmla="*/ 0 h 4406579"/>
              <a:gd name="connsiteX2" fmla="*/ 6479824 w 6479824"/>
              <a:gd name="connsiteY2" fmla="*/ 2197826 h 4406579"/>
              <a:gd name="connsiteX3" fmla="*/ 6479544 w 6479824"/>
              <a:gd name="connsiteY3" fmla="*/ 2197826 h 4406579"/>
              <a:gd name="connsiteX4" fmla="*/ 6479824 w 6479824"/>
              <a:gd name="connsiteY4" fmla="*/ 2203379 h 4406579"/>
              <a:gd name="connsiteX5" fmla="*/ 4501889 w 6479824"/>
              <a:gd name="connsiteY5" fmla="*/ 4395204 h 4406579"/>
              <a:gd name="connsiteX6" fmla="*/ 4338104 w 6479824"/>
              <a:gd name="connsiteY6" fmla="*/ 4403475 h 4406579"/>
              <a:gd name="connsiteX7" fmla="*/ 4338104 w 6479824"/>
              <a:gd name="connsiteY7" fmla="*/ 4406579 h 4406579"/>
              <a:gd name="connsiteX8" fmla="*/ 4276624 w 6479824"/>
              <a:gd name="connsiteY8" fmla="*/ 4406579 h 4406579"/>
              <a:gd name="connsiteX9" fmla="*/ 2204504 w 6479824"/>
              <a:gd name="connsiteY9" fmla="*/ 4406579 h 4406579"/>
              <a:gd name="connsiteX10" fmla="*/ 2204504 w 6479824"/>
              <a:gd name="connsiteY10" fmla="*/ 4406513 h 4406579"/>
              <a:gd name="connsiteX11" fmla="*/ 2203200 w 6479824"/>
              <a:gd name="connsiteY11" fmla="*/ 4406579 h 4406579"/>
              <a:gd name="connsiteX12" fmla="*/ 0 w 6479824"/>
              <a:gd name="connsiteY12" fmla="*/ 2203379 h 4406579"/>
              <a:gd name="connsiteX13" fmla="*/ 2203200 w 6479824"/>
              <a:gd name="connsiteY13" fmla="*/ 179 h 4406579"/>
              <a:gd name="connsiteX14" fmla="*/ 2204504 w 6479824"/>
              <a:gd name="connsiteY14" fmla="*/ 245 h 44065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6479824" h="4406579">
                <a:moveTo>
                  <a:pt x="2204504" y="0"/>
                </a:moveTo>
                <a:lnTo>
                  <a:pt x="6479824" y="0"/>
                </a:lnTo>
                <a:lnTo>
                  <a:pt x="6479824" y="2197826"/>
                </a:lnTo>
                <a:lnTo>
                  <a:pt x="6479544" y="2197826"/>
                </a:lnTo>
                <a:lnTo>
                  <a:pt x="6479824" y="2203379"/>
                </a:lnTo>
                <a:cubicBezTo>
                  <a:pt x="6479824" y="3344124"/>
                  <a:pt x="5612866" y="4282379"/>
                  <a:pt x="4501889" y="4395204"/>
                </a:cubicBezTo>
                <a:lnTo>
                  <a:pt x="4338104" y="4403475"/>
                </a:lnTo>
                <a:lnTo>
                  <a:pt x="4338104" y="4406579"/>
                </a:lnTo>
                <a:lnTo>
                  <a:pt x="4276624" y="4406579"/>
                </a:lnTo>
                <a:lnTo>
                  <a:pt x="2204504" y="4406579"/>
                </a:lnTo>
                <a:lnTo>
                  <a:pt x="2204504" y="4406513"/>
                </a:lnTo>
                <a:lnTo>
                  <a:pt x="2203200" y="4406579"/>
                </a:lnTo>
                <a:cubicBezTo>
                  <a:pt x="986406" y="4406579"/>
                  <a:pt x="0" y="3420173"/>
                  <a:pt x="0" y="2203379"/>
                </a:cubicBezTo>
                <a:cubicBezTo>
                  <a:pt x="0" y="986585"/>
                  <a:pt x="986406" y="179"/>
                  <a:pt x="2203200" y="179"/>
                </a:cubicBezTo>
                <a:lnTo>
                  <a:pt x="2204504" y="245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en-GB" noProof="0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40B52BE3-5107-0A54-7B28-79B3E81F8D4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069311" y="2058487"/>
            <a:ext cx="4608882" cy="30684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200" b="0" i="0" spc="300">
                <a:solidFill>
                  <a:schemeClr val="bg1"/>
                </a:solidFill>
                <a:latin typeface="+mn-lt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noProof="0" dirty="0"/>
              <a:t>SECTION NUMBER/ SUBTITLE</a:t>
            </a:r>
          </a:p>
        </p:txBody>
      </p:sp>
    </p:spTree>
    <p:extLst>
      <p:ext uri="{BB962C8B-B14F-4D97-AF65-F5344CB8AC3E}">
        <p14:creationId xmlns:p14="http://schemas.microsoft.com/office/powerpoint/2010/main" val="31853016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Red section tex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5A240260-958F-F5B6-EDA1-7F63221F47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577556" y="6362267"/>
            <a:ext cx="474844" cy="356133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6A9BFEC0-5DA3-56C2-248F-D500D2FE836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206076" y="201600"/>
            <a:ext cx="506729" cy="506729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8896185D-C189-43C8-56F0-DC714250B92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2" name="Content Placeholder 9">
            <a:extLst>
              <a:ext uri="{FF2B5EF4-FFF2-40B4-BE49-F238E27FC236}">
                <a16:creationId xmlns:a16="http://schemas.microsoft.com/office/drawing/2014/main" id="{112190F2-119D-1880-693A-C35BB81F9E50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38200" y="1365250"/>
            <a:ext cx="10515599" cy="4802188"/>
          </a:xfrm>
        </p:spPr>
        <p:txBody>
          <a:bodyPr/>
          <a:lstStyle>
            <a:lvl2pPr marL="358775" indent="-358775">
              <a:spcBef>
                <a:spcPts val="1000"/>
              </a:spcBef>
              <a:buFontTx/>
              <a:buBlip>
                <a:blip r:embed="rId4"/>
              </a:buBlip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2pPr>
            <a:lvl3pPr marL="762000" indent="-374650">
              <a:buFontTx/>
              <a:buBlip>
                <a:blip r:embed="rId4"/>
              </a:buBlip>
              <a:tabLst/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3pPr>
          </a:lstStyle>
          <a:p>
            <a:pPr lvl="0"/>
            <a:r>
              <a:rPr lang="en-GB" dirty="0"/>
              <a:t>Click to edit Master text styles</a:t>
            </a:r>
          </a:p>
          <a:p>
            <a:pPr marL="358775" lvl="1" indent="-358775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5"/>
              </a:buBlip>
              <a:tabLst/>
            </a:pPr>
            <a:r>
              <a:rPr lang="en-GB" dirty="0"/>
              <a:t>Second level</a:t>
            </a:r>
          </a:p>
          <a:p>
            <a:pPr marL="714375" lvl="2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5"/>
              </a:buBlip>
              <a:tabLst/>
            </a:pPr>
            <a:r>
              <a:rPr lang="en-GB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84289153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nk section tex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5A240260-958F-F5B6-EDA1-7F63221F47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577556" y="6362267"/>
            <a:ext cx="474844" cy="356133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6A9BFEC0-5DA3-56C2-248F-D500D2FE836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206076" y="201600"/>
            <a:ext cx="506729" cy="50672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A29F137C-E460-9399-CD33-4A2C4360A87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5" name="Content Placeholder 9">
            <a:extLst>
              <a:ext uri="{FF2B5EF4-FFF2-40B4-BE49-F238E27FC236}">
                <a16:creationId xmlns:a16="http://schemas.microsoft.com/office/drawing/2014/main" id="{83BA3B39-EAE1-433A-6A33-289E6A2626EF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38200" y="1365250"/>
            <a:ext cx="10515599" cy="4802188"/>
          </a:xfrm>
        </p:spPr>
        <p:txBody>
          <a:bodyPr/>
          <a:lstStyle>
            <a:lvl2pPr marL="358775" indent="-358775">
              <a:spcBef>
                <a:spcPts val="1000"/>
              </a:spcBef>
              <a:buFontTx/>
              <a:buBlip>
                <a:blip r:embed="rId4"/>
              </a:buBlip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2pPr>
            <a:lvl3pPr marL="762000" indent="-374650">
              <a:buFontTx/>
              <a:buBlip>
                <a:blip r:embed="rId4"/>
              </a:buBlip>
              <a:tabLst/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3pPr>
          </a:lstStyle>
          <a:p>
            <a:pPr lvl="0"/>
            <a:r>
              <a:rPr lang="en-GB" dirty="0"/>
              <a:t>Click to edit Master text styles</a:t>
            </a:r>
          </a:p>
          <a:p>
            <a:pPr marL="358775" lvl="1" indent="-358775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5"/>
              </a:buBlip>
              <a:tabLst/>
            </a:pPr>
            <a:r>
              <a:rPr lang="en-GB" dirty="0"/>
              <a:t>Second level</a:t>
            </a:r>
          </a:p>
          <a:p>
            <a:pPr marL="714375" lvl="2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5"/>
              </a:buBlip>
              <a:tabLst/>
            </a:pPr>
            <a:r>
              <a:rPr lang="en-GB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38687394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Grey section tex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5A240260-958F-F5B6-EDA1-7F63221F47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577556" y="6362267"/>
            <a:ext cx="474844" cy="356133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6F0CCA9F-64B1-86D3-B610-B2B226EAAF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Title</a:t>
            </a:r>
            <a:endParaRPr lang="en-GB" dirty="0"/>
          </a:p>
        </p:txBody>
      </p:sp>
      <p:pic>
        <p:nvPicPr>
          <p:cNvPr id="8" name="Image 5">
            <a:extLst>
              <a:ext uri="{FF2B5EF4-FFF2-40B4-BE49-F238E27FC236}">
                <a16:creationId xmlns:a16="http://schemas.microsoft.com/office/drawing/2014/main" id="{362E6140-FFAE-26F1-DE48-719AB018F13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206076" y="201600"/>
            <a:ext cx="506729" cy="506729"/>
          </a:xfrm>
          <a:prstGeom prst="rect">
            <a:avLst/>
          </a:prstGeom>
        </p:spPr>
      </p:pic>
      <p:sp>
        <p:nvSpPr>
          <p:cNvPr id="3" name="Content Placeholder 9">
            <a:extLst>
              <a:ext uri="{FF2B5EF4-FFF2-40B4-BE49-F238E27FC236}">
                <a16:creationId xmlns:a16="http://schemas.microsoft.com/office/drawing/2014/main" id="{8E097653-5197-A0E7-0D0F-5503D8FF9E9F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38200" y="1365250"/>
            <a:ext cx="10515599" cy="4802188"/>
          </a:xfrm>
        </p:spPr>
        <p:txBody>
          <a:bodyPr/>
          <a:lstStyle>
            <a:lvl2pPr marL="358775" indent="-358775">
              <a:spcBef>
                <a:spcPts val="1000"/>
              </a:spcBef>
              <a:buFontTx/>
              <a:buBlip>
                <a:blip r:embed="rId4"/>
              </a:buBlip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2pPr>
            <a:lvl3pPr marL="762000" indent="-374650">
              <a:buFontTx/>
              <a:buBlip>
                <a:blip r:embed="rId4"/>
              </a:buBlip>
              <a:tabLst/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3pPr>
          </a:lstStyle>
          <a:p>
            <a:pPr lvl="0"/>
            <a:r>
              <a:rPr lang="en-GB" dirty="0"/>
              <a:t>Click to edit Master text styles</a:t>
            </a:r>
          </a:p>
          <a:p>
            <a:pPr marL="358775" lvl="1" indent="-358775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5"/>
              </a:buBlip>
              <a:tabLst/>
            </a:pPr>
            <a:r>
              <a:rPr lang="en-GB" dirty="0"/>
              <a:t>Second level</a:t>
            </a:r>
          </a:p>
          <a:p>
            <a:pPr marL="714375" lvl="2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5"/>
              </a:buBlip>
              <a:tabLst/>
            </a:pPr>
            <a:r>
              <a:rPr lang="en-GB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95398194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Green section tex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5A240260-958F-F5B6-EDA1-7F63221F47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577556" y="6362267"/>
            <a:ext cx="474844" cy="35613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9364D93-5897-7C43-6A16-6A175307F45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Title</a:t>
            </a:r>
            <a:endParaRPr lang="en-GB" dirty="0"/>
          </a:p>
        </p:txBody>
      </p:sp>
      <p:pic>
        <p:nvPicPr>
          <p:cNvPr id="5" name="Image 5">
            <a:extLst>
              <a:ext uri="{FF2B5EF4-FFF2-40B4-BE49-F238E27FC236}">
                <a16:creationId xmlns:a16="http://schemas.microsoft.com/office/drawing/2014/main" id="{A510E9E1-90A9-831D-C2F6-C212AB9CE9C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206076" y="201600"/>
            <a:ext cx="506729" cy="506729"/>
          </a:xfrm>
          <a:prstGeom prst="rect">
            <a:avLst/>
          </a:prstGeom>
        </p:spPr>
      </p:pic>
      <p:sp>
        <p:nvSpPr>
          <p:cNvPr id="6" name="Content Placeholder 9">
            <a:extLst>
              <a:ext uri="{FF2B5EF4-FFF2-40B4-BE49-F238E27FC236}">
                <a16:creationId xmlns:a16="http://schemas.microsoft.com/office/drawing/2014/main" id="{9E9BDC3A-E9DB-753C-35A5-4FAB18E7EB98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38200" y="1365250"/>
            <a:ext cx="10515599" cy="4802188"/>
          </a:xfrm>
        </p:spPr>
        <p:txBody>
          <a:bodyPr/>
          <a:lstStyle>
            <a:lvl2pPr marL="358775" indent="-358775">
              <a:spcBef>
                <a:spcPts val="1000"/>
              </a:spcBef>
              <a:buFontTx/>
              <a:buBlip>
                <a:blip r:embed="rId4"/>
              </a:buBlip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2pPr>
            <a:lvl3pPr marL="762000" indent="-374650">
              <a:buFontTx/>
              <a:buBlip>
                <a:blip r:embed="rId4"/>
              </a:buBlip>
              <a:tabLst/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3pPr>
          </a:lstStyle>
          <a:p>
            <a:pPr lvl="0"/>
            <a:r>
              <a:rPr lang="en-GB" dirty="0"/>
              <a:t>Click to edit Master text styles</a:t>
            </a:r>
          </a:p>
          <a:p>
            <a:pPr marL="358775" lvl="1" indent="-358775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5"/>
              </a:buBlip>
              <a:tabLst/>
            </a:pPr>
            <a:r>
              <a:rPr lang="en-GB" dirty="0"/>
              <a:t>Second level</a:t>
            </a:r>
          </a:p>
          <a:p>
            <a:pPr marL="714375" lvl="2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5"/>
              </a:buBlip>
              <a:tabLst/>
            </a:pPr>
            <a:r>
              <a:rPr lang="en-GB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72193060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ue section tex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5A240260-958F-F5B6-EDA1-7F63221F47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577556" y="6362267"/>
            <a:ext cx="474844" cy="35613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BEA09CA-36EE-F3C0-0BBA-9FB96C243F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Title</a:t>
            </a:r>
            <a:endParaRPr lang="en-GB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C488ACDC-796B-3D38-6C7C-66BA405ADC3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206076" y="201600"/>
            <a:ext cx="506729" cy="506729"/>
          </a:xfrm>
          <a:prstGeom prst="rect">
            <a:avLst/>
          </a:prstGeom>
        </p:spPr>
      </p:pic>
      <p:sp>
        <p:nvSpPr>
          <p:cNvPr id="5" name="Content Placeholder 9">
            <a:extLst>
              <a:ext uri="{FF2B5EF4-FFF2-40B4-BE49-F238E27FC236}">
                <a16:creationId xmlns:a16="http://schemas.microsoft.com/office/drawing/2014/main" id="{91B84487-9C16-DBA9-4F45-D4B5DB2A7605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38200" y="1365250"/>
            <a:ext cx="10515599" cy="4802188"/>
          </a:xfrm>
        </p:spPr>
        <p:txBody>
          <a:bodyPr/>
          <a:lstStyle>
            <a:lvl2pPr marL="358775" indent="-358775">
              <a:spcBef>
                <a:spcPts val="1000"/>
              </a:spcBef>
              <a:buFontTx/>
              <a:buBlip>
                <a:blip r:embed="rId4"/>
              </a:buBlip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2pPr>
            <a:lvl3pPr marL="762000" indent="-374650">
              <a:buFontTx/>
              <a:buBlip>
                <a:blip r:embed="rId4"/>
              </a:buBlip>
              <a:tabLst/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3pPr>
          </a:lstStyle>
          <a:p>
            <a:pPr lvl="0"/>
            <a:r>
              <a:rPr lang="en-GB" dirty="0"/>
              <a:t>Click to edit Master text styles</a:t>
            </a:r>
          </a:p>
          <a:p>
            <a:pPr marL="358775" lvl="1" indent="-358775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5"/>
              </a:buBlip>
              <a:tabLst/>
            </a:pPr>
            <a:r>
              <a:rPr lang="en-GB" dirty="0"/>
              <a:t>Second level</a:t>
            </a:r>
          </a:p>
          <a:p>
            <a:pPr marL="714375" lvl="2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5"/>
              </a:buBlip>
              <a:tabLst/>
            </a:pPr>
            <a:r>
              <a:rPr lang="en-GB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66743808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d section content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 : avec coins arrondis en haut 4">
            <a:extLst>
              <a:ext uri="{FF2B5EF4-FFF2-40B4-BE49-F238E27FC236}">
                <a16:creationId xmlns:a16="http://schemas.microsoft.com/office/drawing/2014/main" id="{3DCF99A6-67DF-D9BC-C50D-0A87828E102D}"/>
              </a:ext>
            </a:extLst>
          </p:cNvPr>
          <p:cNvSpPr/>
          <p:nvPr userDrawn="1"/>
        </p:nvSpPr>
        <p:spPr>
          <a:xfrm>
            <a:off x="0" y="1222745"/>
            <a:ext cx="12192000" cy="5635255"/>
          </a:xfrm>
          <a:prstGeom prst="round2SameRect">
            <a:avLst>
              <a:gd name="adj1" fmla="val 5736"/>
              <a:gd name="adj2" fmla="val 0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6B3CDA9-572A-C618-F5C1-D5F99D203D6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1672911"/>
            <a:ext cx="10515600" cy="2354638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400"/>
            </a:lvl1pPr>
          </a:lstStyle>
          <a:p>
            <a:pPr lvl="0"/>
            <a:r>
              <a:rPr lang="en-GB" noProof="0" dirty="0"/>
              <a:t>Click to modify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9935361-3835-30E7-CA0B-A30C6AA2908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577556" y="6362267"/>
            <a:ext cx="474844" cy="356133"/>
          </a:xfrm>
          <a:prstGeom prst="rect">
            <a:avLst/>
          </a:prstGeom>
        </p:spPr>
      </p:pic>
      <p:sp>
        <p:nvSpPr>
          <p:cNvPr id="35" name="Espace réservé pour une image  34">
            <a:extLst>
              <a:ext uri="{FF2B5EF4-FFF2-40B4-BE49-F238E27FC236}">
                <a16:creationId xmlns:a16="http://schemas.microsoft.com/office/drawing/2014/main" id="{A645C968-F0EE-32F7-4625-893A218543E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8201" y="4104036"/>
            <a:ext cx="3339123" cy="2185081"/>
          </a:xfrm>
          <a:custGeom>
            <a:avLst/>
            <a:gdLst>
              <a:gd name="connsiteX0" fmla="*/ 0 w 4082443"/>
              <a:gd name="connsiteY0" fmla="*/ 0 h 2671500"/>
              <a:gd name="connsiteX1" fmla="*/ 1334656 w 4082443"/>
              <a:gd name="connsiteY1" fmla="*/ 0 h 2671500"/>
              <a:gd name="connsiteX2" fmla="*/ 2747787 w 4082443"/>
              <a:gd name="connsiteY2" fmla="*/ 0 h 2671500"/>
              <a:gd name="connsiteX3" fmla="*/ 2747963 w 4082443"/>
              <a:gd name="connsiteY3" fmla="*/ 0 h 2671500"/>
              <a:gd name="connsiteX4" fmla="*/ 2747963 w 4082443"/>
              <a:gd name="connsiteY4" fmla="*/ 9 h 2671500"/>
              <a:gd name="connsiteX5" fmla="*/ 2884248 w 4082443"/>
              <a:gd name="connsiteY5" fmla="*/ 6896 h 2671500"/>
              <a:gd name="connsiteX6" fmla="*/ 4082443 w 4082443"/>
              <a:gd name="connsiteY6" fmla="*/ 1335750 h 2671500"/>
              <a:gd name="connsiteX7" fmla="*/ 2884248 w 4082443"/>
              <a:gd name="connsiteY7" fmla="*/ 2664604 h 2671500"/>
              <a:gd name="connsiteX8" fmla="*/ 2747962 w 4082443"/>
              <a:gd name="connsiteY8" fmla="*/ 2671491 h 2671500"/>
              <a:gd name="connsiteX9" fmla="*/ 2747962 w 4082443"/>
              <a:gd name="connsiteY9" fmla="*/ 2671499 h 2671500"/>
              <a:gd name="connsiteX10" fmla="*/ 2747807 w 4082443"/>
              <a:gd name="connsiteY10" fmla="*/ 2671499 h 2671500"/>
              <a:gd name="connsiteX11" fmla="*/ 2747787 w 4082443"/>
              <a:gd name="connsiteY11" fmla="*/ 2671500 h 2671500"/>
              <a:gd name="connsiteX12" fmla="*/ 2747767 w 4082443"/>
              <a:gd name="connsiteY12" fmla="*/ 2671499 h 2671500"/>
              <a:gd name="connsiteX13" fmla="*/ 1334676 w 4082443"/>
              <a:gd name="connsiteY13" fmla="*/ 2671499 h 2671500"/>
              <a:gd name="connsiteX14" fmla="*/ 1334656 w 4082443"/>
              <a:gd name="connsiteY14" fmla="*/ 2671500 h 2671500"/>
              <a:gd name="connsiteX15" fmla="*/ 1334637 w 4082443"/>
              <a:gd name="connsiteY15" fmla="*/ 2671499 h 2671500"/>
              <a:gd name="connsiteX16" fmla="*/ 1330323 w 4082443"/>
              <a:gd name="connsiteY16" fmla="*/ 2671499 h 2671500"/>
              <a:gd name="connsiteX17" fmla="*/ 1330323 w 4082443"/>
              <a:gd name="connsiteY17" fmla="*/ 2671281 h 2671500"/>
              <a:gd name="connsiteX18" fmla="*/ 1198195 w 4082443"/>
              <a:gd name="connsiteY18" fmla="*/ 2664604 h 2671500"/>
              <a:gd name="connsiteX19" fmla="*/ 6063 w 4082443"/>
              <a:gd name="connsiteY19" fmla="*/ 1463896 h 2671500"/>
              <a:gd name="connsiteX20" fmla="*/ 795 w 4082443"/>
              <a:gd name="connsiteY20" fmla="*/ 1352550 h 2671500"/>
              <a:gd name="connsiteX21" fmla="*/ 0 w 4082443"/>
              <a:gd name="connsiteY21" fmla="*/ 1352550 h 2671500"/>
              <a:gd name="connsiteX22" fmla="*/ 0 w 4082443"/>
              <a:gd name="connsiteY22" fmla="*/ 1335750 h 26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4082443" h="2671500">
                <a:moveTo>
                  <a:pt x="0" y="0"/>
                </a:moveTo>
                <a:lnTo>
                  <a:pt x="1334656" y="0"/>
                </a:lnTo>
                <a:lnTo>
                  <a:pt x="2747787" y="0"/>
                </a:lnTo>
                <a:lnTo>
                  <a:pt x="2747963" y="0"/>
                </a:lnTo>
                <a:lnTo>
                  <a:pt x="2747963" y="9"/>
                </a:lnTo>
                <a:lnTo>
                  <a:pt x="2884248" y="6896"/>
                </a:lnTo>
                <a:cubicBezTo>
                  <a:pt x="3557256" y="75300"/>
                  <a:pt x="4082443" y="644143"/>
                  <a:pt x="4082443" y="1335750"/>
                </a:cubicBezTo>
                <a:cubicBezTo>
                  <a:pt x="4082443" y="2027357"/>
                  <a:pt x="3557256" y="2596200"/>
                  <a:pt x="2884248" y="2664604"/>
                </a:cubicBezTo>
                <a:lnTo>
                  <a:pt x="2747962" y="2671491"/>
                </a:lnTo>
                <a:lnTo>
                  <a:pt x="2747962" y="2671499"/>
                </a:lnTo>
                <a:lnTo>
                  <a:pt x="2747807" y="2671499"/>
                </a:lnTo>
                <a:lnTo>
                  <a:pt x="2747787" y="2671500"/>
                </a:lnTo>
                <a:lnTo>
                  <a:pt x="2747767" y="2671499"/>
                </a:lnTo>
                <a:lnTo>
                  <a:pt x="1334676" y="2671499"/>
                </a:lnTo>
                <a:lnTo>
                  <a:pt x="1334656" y="2671500"/>
                </a:lnTo>
                <a:lnTo>
                  <a:pt x="1334637" y="2671499"/>
                </a:lnTo>
                <a:lnTo>
                  <a:pt x="1330323" y="2671499"/>
                </a:lnTo>
                <a:lnTo>
                  <a:pt x="1330323" y="2671281"/>
                </a:lnTo>
                <a:lnTo>
                  <a:pt x="1198195" y="2664604"/>
                </a:lnTo>
                <a:cubicBezTo>
                  <a:pt x="567250" y="2600475"/>
                  <a:pt x="66226" y="2096508"/>
                  <a:pt x="6063" y="1463896"/>
                </a:cubicBezTo>
                <a:lnTo>
                  <a:pt x="795" y="1352550"/>
                </a:lnTo>
                <a:lnTo>
                  <a:pt x="0" y="1352550"/>
                </a:lnTo>
                <a:lnTo>
                  <a:pt x="0" y="1335750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/>
          <a:p>
            <a:endParaRPr lang="en-GB" noProof="0"/>
          </a:p>
        </p:txBody>
      </p:sp>
      <p:sp>
        <p:nvSpPr>
          <p:cNvPr id="41" name="Espace réservé pour une image  40">
            <a:extLst>
              <a:ext uri="{FF2B5EF4-FFF2-40B4-BE49-F238E27FC236}">
                <a16:creationId xmlns:a16="http://schemas.microsoft.com/office/drawing/2014/main" id="{E78266C7-8721-F11F-D042-62D33616610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020778" y="4104036"/>
            <a:ext cx="3339123" cy="2185081"/>
          </a:xfrm>
          <a:custGeom>
            <a:avLst/>
            <a:gdLst>
              <a:gd name="connsiteX0" fmla="*/ 0 w 4082443"/>
              <a:gd name="connsiteY0" fmla="*/ 0 h 2671500"/>
              <a:gd name="connsiteX1" fmla="*/ 1334656 w 4082443"/>
              <a:gd name="connsiteY1" fmla="*/ 0 h 2671500"/>
              <a:gd name="connsiteX2" fmla="*/ 2747787 w 4082443"/>
              <a:gd name="connsiteY2" fmla="*/ 0 h 2671500"/>
              <a:gd name="connsiteX3" fmla="*/ 2747963 w 4082443"/>
              <a:gd name="connsiteY3" fmla="*/ 0 h 2671500"/>
              <a:gd name="connsiteX4" fmla="*/ 2747963 w 4082443"/>
              <a:gd name="connsiteY4" fmla="*/ 9 h 2671500"/>
              <a:gd name="connsiteX5" fmla="*/ 2884248 w 4082443"/>
              <a:gd name="connsiteY5" fmla="*/ 6896 h 2671500"/>
              <a:gd name="connsiteX6" fmla="*/ 4082443 w 4082443"/>
              <a:gd name="connsiteY6" fmla="*/ 1335750 h 2671500"/>
              <a:gd name="connsiteX7" fmla="*/ 2884248 w 4082443"/>
              <a:gd name="connsiteY7" fmla="*/ 2664604 h 2671500"/>
              <a:gd name="connsiteX8" fmla="*/ 2747962 w 4082443"/>
              <a:gd name="connsiteY8" fmla="*/ 2671491 h 2671500"/>
              <a:gd name="connsiteX9" fmla="*/ 2747962 w 4082443"/>
              <a:gd name="connsiteY9" fmla="*/ 2671499 h 2671500"/>
              <a:gd name="connsiteX10" fmla="*/ 2747807 w 4082443"/>
              <a:gd name="connsiteY10" fmla="*/ 2671499 h 2671500"/>
              <a:gd name="connsiteX11" fmla="*/ 2747787 w 4082443"/>
              <a:gd name="connsiteY11" fmla="*/ 2671500 h 2671500"/>
              <a:gd name="connsiteX12" fmla="*/ 2747767 w 4082443"/>
              <a:gd name="connsiteY12" fmla="*/ 2671499 h 2671500"/>
              <a:gd name="connsiteX13" fmla="*/ 1334676 w 4082443"/>
              <a:gd name="connsiteY13" fmla="*/ 2671499 h 2671500"/>
              <a:gd name="connsiteX14" fmla="*/ 1334656 w 4082443"/>
              <a:gd name="connsiteY14" fmla="*/ 2671500 h 2671500"/>
              <a:gd name="connsiteX15" fmla="*/ 1334637 w 4082443"/>
              <a:gd name="connsiteY15" fmla="*/ 2671499 h 2671500"/>
              <a:gd name="connsiteX16" fmla="*/ 1330323 w 4082443"/>
              <a:gd name="connsiteY16" fmla="*/ 2671499 h 2671500"/>
              <a:gd name="connsiteX17" fmla="*/ 1330323 w 4082443"/>
              <a:gd name="connsiteY17" fmla="*/ 2671281 h 2671500"/>
              <a:gd name="connsiteX18" fmla="*/ 1198195 w 4082443"/>
              <a:gd name="connsiteY18" fmla="*/ 2664604 h 2671500"/>
              <a:gd name="connsiteX19" fmla="*/ 6063 w 4082443"/>
              <a:gd name="connsiteY19" fmla="*/ 1463896 h 2671500"/>
              <a:gd name="connsiteX20" fmla="*/ 795 w 4082443"/>
              <a:gd name="connsiteY20" fmla="*/ 1352550 h 2671500"/>
              <a:gd name="connsiteX21" fmla="*/ 0 w 4082443"/>
              <a:gd name="connsiteY21" fmla="*/ 1352550 h 2671500"/>
              <a:gd name="connsiteX22" fmla="*/ 0 w 4082443"/>
              <a:gd name="connsiteY22" fmla="*/ 1335750 h 26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4082443" h="2671500">
                <a:moveTo>
                  <a:pt x="0" y="0"/>
                </a:moveTo>
                <a:lnTo>
                  <a:pt x="1334656" y="0"/>
                </a:lnTo>
                <a:lnTo>
                  <a:pt x="2747787" y="0"/>
                </a:lnTo>
                <a:lnTo>
                  <a:pt x="2747963" y="0"/>
                </a:lnTo>
                <a:lnTo>
                  <a:pt x="2747963" y="9"/>
                </a:lnTo>
                <a:lnTo>
                  <a:pt x="2884248" y="6896"/>
                </a:lnTo>
                <a:cubicBezTo>
                  <a:pt x="3557256" y="75300"/>
                  <a:pt x="4082443" y="644143"/>
                  <a:pt x="4082443" y="1335750"/>
                </a:cubicBezTo>
                <a:cubicBezTo>
                  <a:pt x="4082443" y="2027357"/>
                  <a:pt x="3557256" y="2596200"/>
                  <a:pt x="2884248" y="2664604"/>
                </a:cubicBezTo>
                <a:lnTo>
                  <a:pt x="2747962" y="2671491"/>
                </a:lnTo>
                <a:lnTo>
                  <a:pt x="2747962" y="2671499"/>
                </a:lnTo>
                <a:lnTo>
                  <a:pt x="2747807" y="2671499"/>
                </a:lnTo>
                <a:lnTo>
                  <a:pt x="2747787" y="2671500"/>
                </a:lnTo>
                <a:lnTo>
                  <a:pt x="2747767" y="2671499"/>
                </a:lnTo>
                <a:lnTo>
                  <a:pt x="1334676" y="2671499"/>
                </a:lnTo>
                <a:lnTo>
                  <a:pt x="1334656" y="2671500"/>
                </a:lnTo>
                <a:lnTo>
                  <a:pt x="1334637" y="2671499"/>
                </a:lnTo>
                <a:lnTo>
                  <a:pt x="1330323" y="2671499"/>
                </a:lnTo>
                <a:lnTo>
                  <a:pt x="1330323" y="2671281"/>
                </a:lnTo>
                <a:lnTo>
                  <a:pt x="1198195" y="2664604"/>
                </a:lnTo>
                <a:cubicBezTo>
                  <a:pt x="567250" y="2600475"/>
                  <a:pt x="66226" y="2096508"/>
                  <a:pt x="6063" y="1463896"/>
                </a:cubicBezTo>
                <a:lnTo>
                  <a:pt x="795" y="1352550"/>
                </a:lnTo>
                <a:lnTo>
                  <a:pt x="0" y="1352550"/>
                </a:lnTo>
                <a:lnTo>
                  <a:pt x="0" y="1335750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/>
          <a:p>
            <a:endParaRPr lang="en-GB" noProof="0"/>
          </a:p>
        </p:txBody>
      </p:sp>
      <p:sp>
        <p:nvSpPr>
          <p:cNvPr id="42" name="Espace réservé pour une image  41">
            <a:extLst>
              <a:ext uri="{FF2B5EF4-FFF2-40B4-BE49-F238E27FC236}">
                <a16:creationId xmlns:a16="http://schemas.microsoft.com/office/drawing/2014/main" id="{8F6D8692-7B6B-CC2C-89A5-37D0AEFA222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429490" y="4104036"/>
            <a:ext cx="3339123" cy="2185081"/>
          </a:xfrm>
          <a:custGeom>
            <a:avLst/>
            <a:gdLst>
              <a:gd name="connsiteX0" fmla="*/ 0 w 4082443"/>
              <a:gd name="connsiteY0" fmla="*/ 0 h 2671500"/>
              <a:gd name="connsiteX1" fmla="*/ 1334656 w 4082443"/>
              <a:gd name="connsiteY1" fmla="*/ 0 h 2671500"/>
              <a:gd name="connsiteX2" fmla="*/ 2747787 w 4082443"/>
              <a:gd name="connsiteY2" fmla="*/ 0 h 2671500"/>
              <a:gd name="connsiteX3" fmla="*/ 2747963 w 4082443"/>
              <a:gd name="connsiteY3" fmla="*/ 0 h 2671500"/>
              <a:gd name="connsiteX4" fmla="*/ 2747963 w 4082443"/>
              <a:gd name="connsiteY4" fmla="*/ 9 h 2671500"/>
              <a:gd name="connsiteX5" fmla="*/ 2884248 w 4082443"/>
              <a:gd name="connsiteY5" fmla="*/ 6896 h 2671500"/>
              <a:gd name="connsiteX6" fmla="*/ 4082443 w 4082443"/>
              <a:gd name="connsiteY6" fmla="*/ 1335750 h 2671500"/>
              <a:gd name="connsiteX7" fmla="*/ 2884248 w 4082443"/>
              <a:gd name="connsiteY7" fmla="*/ 2664604 h 2671500"/>
              <a:gd name="connsiteX8" fmla="*/ 2747962 w 4082443"/>
              <a:gd name="connsiteY8" fmla="*/ 2671491 h 2671500"/>
              <a:gd name="connsiteX9" fmla="*/ 2747962 w 4082443"/>
              <a:gd name="connsiteY9" fmla="*/ 2671499 h 2671500"/>
              <a:gd name="connsiteX10" fmla="*/ 2747807 w 4082443"/>
              <a:gd name="connsiteY10" fmla="*/ 2671499 h 2671500"/>
              <a:gd name="connsiteX11" fmla="*/ 2747787 w 4082443"/>
              <a:gd name="connsiteY11" fmla="*/ 2671500 h 2671500"/>
              <a:gd name="connsiteX12" fmla="*/ 2747767 w 4082443"/>
              <a:gd name="connsiteY12" fmla="*/ 2671499 h 2671500"/>
              <a:gd name="connsiteX13" fmla="*/ 1334676 w 4082443"/>
              <a:gd name="connsiteY13" fmla="*/ 2671499 h 2671500"/>
              <a:gd name="connsiteX14" fmla="*/ 1334656 w 4082443"/>
              <a:gd name="connsiteY14" fmla="*/ 2671500 h 2671500"/>
              <a:gd name="connsiteX15" fmla="*/ 1334637 w 4082443"/>
              <a:gd name="connsiteY15" fmla="*/ 2671499 h 2671500"/>
              <a:gd name="connsiteX16" fmla="*/ 1330323 w 4082443"/>
              <a:gd name="connsiteY16" fmla="*/ 2671499 h 2671500"/>
              <a:gd name="connsiteX17" fmla="*/ 1330323 w 4082443"/>
              <a:gd name="connsiteY17" fmla="*/ 2671281 h 2671500"/>
              <a:gd name="connsiteX18" fmla="*/ 1198195 w 4082443"/>
              <a:gd name="connsiteY18" fmla="*/ 2664604 h 2671500"/>
              <a:gd name="connsiteX19" fmla="*/ 6063 w 4082443"/>
              <a:gd name="connsiteY19" fmla="*/ 1463896 h 2671500"/>
              <a:gd name="connsiteX20" fmla="*/ 795 w 4082443"/>
              <a:gd name="connsiteY20" fmla="*/ 1352550 h 2671500"/>
              <a:gd name="connsiteX21" fmla="*/ 0 w 4082443"/>
              <a:gd name="connsiteY21" fmla="*/ 1352550 h 2671500"/>
              <a:gd name="connsiteX22" fmla="*/ 0 w 4082443"/>
              <a:gd name="connsiteY22" fmla="*/ 1335750 h 26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4082443" h="2671500">
                <a:moveTo>
                  <a:pt x="0" y="0"/>
                </a:moveTo>
                <a:lnTo>
                  <a:pt x="1334656" y="0"/>
                </a:lnTo>
                <a:lnTo>
                  <a:pt x="2747787" y="0"/>
                </a:lnTo>
                <a:lnTo>
                  <a:pt x="2747963" y="0"/>
                </a:lnTo>
                <a:lnTo>
                  <a:pt x="2747963" y="9"/>
                </a:lnTo>
                <a:lnTo>
                  <a:pt x="2884248" y="6896"/>
                </a:lnTo>
                <a:cubicBezTo>
                  <a:pt x="3557256" y="75300"/>
                  <a:pt x="4082443" y="644143"/>
                  <a:pt x="4082443" y="1335750"/>
                </a:cubicBezTo>
                <a:cubicBezTo>
                  <a:pt x="4082443" y="2027357"/>
                  <a:pt x="3557256" y="2596200"/>
                  <a:pt x="2884248" y="2664604"/>
                </a:cubicBezTo>
                <a:lnTo>
                  <a:pt x="2747962" y="2671491"/>
                </a:lnTo>
                <a:lnTo>
                  <a:pt x="2747962" y="2671499"/>
                </a:lnTo>
                <a:lnTo>
                  <a:pt x="2747807" y="2671499"/>
                </a:lnTo>
                <a:lnTo>
                  <a:pt x="2747787" y="2671500"/>
                </a:lnTo>
                <a:lnTo>
                  <a:pt x="2747767" y="2671499"/>
                </a:lnTo>
                <a:lnTo>
                  <a:pt x="1334676" y="2671499"/>
                </a:lnTo>
                <a:lnTo>
                  <a:pt x="1334656" y="2671500"/>
                </a:lnTo>
                <a:lnTo>
                  <a:pt x="1334637" y="2671499"/>
                </a:lnTo>
                <a:lnTo>
                  <a:pt x="1330323" y="2671499"/>
                </a:lnTo>
                <a:lnTo>
                  <a:pt x="1330323" y="2671281"/>
                </a:lnTo>
                <a:lnTo>
                  <a:pt x="1198195" y="2664604"/>
                </a:lnTo>
                <a:cubicBezTo>
                  <a:pt x="567250" y="2600475"/>
                  <a:pt x="66226" y="2096508"/>
                  <a:pt x="6063" y="1463896"/>
                </a:cubicBezTo>
                <a:lnTo>
                  <a:pt x="795" y="1352550"/>
                </a:lnTo>
                <a:lnTo>
                  <a:pt x="0" y="1352550"/>
                </a:lnTo>
                <a:lnTo>
                  <a:pt x="0" y="1335750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/>
          <a:p>
            <a:endParaRPr lang="en-GB" noProof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C45D891C-6969-239C-3B65-2BC05D1B9A7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02295" y="201600"/>
            <a:ext cx="514292" cy="5067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2C751B8-43CB-171F-4934-1C39A27CCA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424772797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nk section content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 : avec coins arrondis en haut 4">
            <a:extLst>
              <a:ext uri="{FF2B5EF4-FFF2-40B4-BE49-F238E27FC236}">
                <a16:creationId xmlns:a16="http://schemas.microsoft.com/office/drawing/2014/main" id="{3DCF99A6-67DF-D9BC-C50D-0A87828E102D}"/>
              </a:ext>
            </a:extLst>
          </p:cNvPr>
          <p:cNvSpPr/>
          <p:nvPr userDrawn="1"/>
        </p:nvSpPr>
        <p:spPr>
          <a:xfrm>
            <a:off x="0" y="1222745"/>
            <a:ext cx="12192000" cy="5635255"/>
          </a:xfrm>
          <a:prstGeom prst="round2SameRect">
            <a:avLst>
              <a:gd name="adj1" fmla="val 5736"/>
              <a:gd name="adj2" fmla="val 0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6B3CDA9-572A-C618-F5C1-D5F99D203D6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1672911"/>
            <a:ext cx="10515600" cy="2354638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400"/>
            </a:lvl1pPr>
          </a:lstStyle>
          <a:p>
            <a:pPr lvl="0"/>
            <a:r>
              <a:rPr lang="en-GB" noProof="0" dirty="0"/>
              <a:t>Click to modify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9935361-3835-30E7-CA0B-A30C6AA2908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577556" y="6362267"/>
            <a:ext cx="474844" cy="356133"/>
          </a:xfrm>
          <a:prstGeom prst="rect">
            <a:avLst/>
          </a:prstGeom>
        </p:spPr>
      </p:pic>
      <p:sp>
        <p:nvSpPr>
          <p:cNvPr id="35" name="Espace réservé pour une image  34">
            <a:extLst>
              <a:ext uri="{FF2B5EF4-FFF2-40B4-BE49-F238E27FC236}">
                <a16:creationId xmlns:a16="http://schemas.microsoft.com/office/drawing/2014/main" id="{A645C968-F0EE-32F7-4625-893A218543E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8201" y="4104036"/>
            <a:ext cx="3339123" cy="2185081"/>
          </a:xfrm>
          <a:custGeom>
            <a:avLst/>
            <a:gdLst>
              <a:gd name="connsiteX0" fmla="*/ 0 w 4082443"/>
              <a:gd name="connsiteY0" fmla="*/ 0 h 2671500"/>
              <a:gd name="connsiteX1" fmla="*/ 1334656 w 4082443"/>
              <a:gd name="connsiteY1" fmla="*/ 0 h 2671500"/>
              <a:gd name="connsiteX2" fmla="*/ 2747787 w 4082443"/>
              <a:gd name="connsiteY2" fmla="*/ 0 h 2671500"/>
              <a:gd name="connsiteX3" fmla="*/ 2747963 w 4082443"/>
              <a:gd name="connsiteY3" fmla="*/ 0 h 2671500"/>
              <a:gd name="connsiteX4" fmla="*/ 2747963 w 4082443"/>
              <a:gd name="connsiteY4" fmla="*/ 9 h 2671500"/>
              <a:gd name="connsiteX5" fmla="*/ 2884248 w 4082443"/>
              <a:gd name="connsiteY5" fmla="*/ 6896 h 2671500"/>
              <a:gd name="connsiteX6" fmla="*/ 4082443 w 4082443"/>
              <a:gd name="connsiteY6" fmla="*/ 1335750 h 2671500"/>
              <a:gd name="connsiteX7" fmla="*/ 2884248 w 4082443"/>
              <a:gd name="connsiteY7" fmla="*/ 2664604 h 2671500"/>
              <a:gd name="connsiteX8" fmla="*/ 2747962 w 4082443"/>
              <a:gd name="connsiteY8" fmla="*/ 2671491 h 2671500"/>
              <a:gd name="connsiteX9" fmla="*/ 2747962 w 4082443"/>
              <a:gd name="connsiteY9" fmla="*/ 2671499 h 2671500"/>
              <a:gd name="connsiteX10" fmla="*/ 2747807 w 4082443"/>
              <a:gd name="connsiteY10" fmla="*/ 2671499 h 2671500"/>
              <a:gd name="connsiteX11" fmla="*/ 2747787 w 4082443"/>
              <a:gd name="connsiteY11" fmla="*/ 2671500 h 2671500"/>
              <a:gd name="connsiteX12" fmla="*/ 2747767 w 4082443"/>
              <a:gd name="connsiteY12" fmla="*/ 2671499 h 2671500"/>
              <a:gd name="connsiteX13" fmla="*/ 1334676 w 4082443"/>
              <a:gd name="connsiteY13" fmla="*/ 2671499 h 2671500"/>
              <a:gd name="connsiteX14" fmla="*/ 1334656 w 4082443"/>
              <a:gd name="connsiteY14" fmla="*/ 2671500 h 2671500"/>
              <a:gd name="connsiteX15" fmla="*/ 1334637 w 4082443"/>
              <a:gd name="connsiteY15" fmla="*/ 2671499 h 2671500"/>
              <a:gd name="connsiteX16" fmla="*/ 1330323 w 4082443"/>
              <a:gd name="connsiteY16" fmla="*/ 2671499 h 2671500"/>
              <a:gd name="connsiteX17" fmla="*/ 1330323 w 4082443"/>
              <a:gd name="connsiteY17" fmla="*/ 2671281 h 2671500"/>
              <a:gd name="connsiteX18" fmla="*/ 1198195 w 4082443"/>
              <a:gd name="connsiteY18" fmla="*/ 2664604 h 2671500"/>
              <a:gd name="connsiteX19" fmla="*/ 6063 w 4082443"/>
              <a:gd name="connsiteY19" fmla="*/ 1463896 h 2671500"/>
              <a:gd name="connsiteX20" fmla="*/ 795 w 4082443"/>
              <a:gd name="connsiteY20" fmla="*/ 1352550 h 2671500"/>
              <a:gd name="connsiteX21" fmla="*/ 0 w 4082443"/>
              <a:gd name="connsiteY21" fmla="*/ 1352550 h 2671500"/>
              <a:gd name="connsiteX22" fmla="*/ 0 w 4082443"/>
              <a:gd name="connsiteY22" fmla="*/ 1335750 h 26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4082443" h="2671500">
                <a:moveTo>
                  <a:pt x="0" y="0"/>
                </a:moveTo>
                <a:lnTo>
                  <a:pt x="1334656" y="0"/>
                </a:lnTo>
                <a:lnTo>
                  <a:pt x="2747787" y="0"/>
                </a:lnTo>
                <a:lnTo>
                  <a:pt x="2747963" y="0"/>
                </a:lnTo>
                <a:lnTo>
                  <a:pt x="2747963" y="9"/>
                </a:lnTo>
                <a:lnTo>
                  <a:pt x="2884248" y="6896"/>
                </a:lnTo>
                <a:cubicBezTo>
                  <a:pt x="3557256" y="75300"/>
                  <a:pt x="4082443" y="644143"/>
                  <a:pt x="4082443" y="1335750"/>
                </a:cubicBezTo>
                <a:cubicBezTo>
                  <a:pt x="4082443" y="2027357"/>
                  <a:pt x="3557256" y="2596200"/>
                  <a:pt x="2884248" y="2664604"/>
                </a:cubicBezTo>
                <a:lnTo>
                  <a:pt x="2747962" y="2671491"/>
                </a:lnTo>
                <a:lnTo>
                  <a:pt x="2747962" y="2671499"/>
                </a:lnTo>
                <a:lnTo>
                  <a:pt x="2747807" y="2671499"/>
                </a:lnTo>
                <a:lnTo>
                  <a:pt x="2747787" y="2671500"/>
                </a:lnTo>
                <a:lnTo>
                  <a:pt x="2747767" y="2671499"/>
                </a:lnTo>
                <a:lnTo>
                  <a:pt x="1334676" y="2671499"/>
                </a:lnTo>
                <a:lnTo>
                  <a:pt x="1334656" y="2671500"/>
                </a:lnTo>
                <a:lnTo>
                  <a:pt x="1334637" y="2671499"/>
                </a:lnTo>
                <a:lnTo>
                  <a:pt x="1330323" y="2671499"/>
                </a:lnTo>
                <a:lnTo>
                  <a:pt x="1330323" y="2671281"/>
                </a:lnTo>
                <a:lnTo>
                  <a:pt x="1198195" y="2664604"/>
                </a:lnTo>
                <a:cubicBezTo>
                  <a:pt x="567250" y="2600475"/>
                  <a:pt x="66226" y="2096508"/>
                  <a:pt x="6063" y="1463896"/>
                </a:cubicBezTo>
                <a:lnTo>
                  <a:pt x="795" y="1352550"/>
                </a:lnTo>
                <a:lnTo>
                  <a:pt x="0" y="1352550"/>
                </a:lnTo>
                <a:lnTo>
                  <a:pt x="0" y="1335750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/>
          <a:p>
            <a:endParaRPr lang="en-GB" noProof="0"/>
          </a:p>
        </p:txBody>
      </p:sp>
      <p:sp>
        <p:nvSpPr>
          <p:cNvPr id="41" name="Espace réservé pour une image  40">
            <a:extLst>
              <a:ext uri="{FF2B5EF4-FFF2-40B4-BE49-F238E27FC236}">
                <a16:creationId xmlns:a16="http://schemas.microsoft.com/office/drawing/2014/main" id="{E78266C7-8721-F11F-D042-62D33616610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020778" y="4104036"/>
            <a:ext cx="3339123" cy="2185081"/>
          </a:xfrm>
          <a:custGeom>
            <a:avLst/>
            <a:gdLst>
              <a:gd name="connsiteX0" fmla="*/ 0 w 4082443"/>
              <a:gd name="connsiteY0" fmla="*/ 0 h 2671500"/>
              <a:gd name="connsiteX1" fmla="*/ 1334656 w 4082443"/>
              <a:gd name="connsiteY1" fmla="*/ 0 h 2671500"/>
              <a:gd name="connsiteX2" fmla="*/ 2747787 w 4082443"/>
              <a:gd name="connsiteY2" fmla="*/ 0 h 2671500"/>
              <a:gd name="connsiteX3" fmla="*/ 2747963 w 4082443"/>
              <a:gd name="connsiteY3" fmla="*/ 0 h 2671500"/>
              <a:gd name="connsiteX4" fmla="*/ 2747963 w 4082443"/>
              <a:gd name="connsiteY4" fmla="*/ 9 h 2671500"/>
              <a:gd name="connsiteX5" fmla="*/ 2884248 w 4082443"/>
              <a:gd name="connsiteY5" fmla="*/ 6896 h 2671500"/>
              <a:gd name="connsiteX6" fmla="*/ 4082443 w 4082443"/>
              <a:gd name="connsiteY6" fmla="*/ 1335750 h 2671500"/>
              <a:gd name="connsiteX7" fmla="*/ 2884248 w 4082443"/>
              <a:gd name="connsiteY7" fmla="*/ 2664604 h 2671500"/>
              <a:gd name="connsiteX8" fmla="*/ 2747962 w 4082443"/>
              <a:gd name="connsiteY8" fmla="*/ 2671491 h 2671500"/>
              <a:gd name="connsiteX9" fmla="*/ 2747962 w 4082443"/>
              <a:gd name="connsiteY9" fmla="*/ 2671499 h 2671500"/>
              <a:gd name="connsiteX10" fmla="*/ 2747807 w 4082443"/>
              <a:gd name="connsiteY10" fmla="*/ 2671499 h 2671500"/>
              <a:gd name="connsiteX11" fmla="*/ 2747787 w 4082443"/>
              <a:gd name="connsiteY11" fmla="*/ 2671500 h 2671500"/>
              <a:gd name="connsiteX12" fmla="*/ 2747767 w 4082443"/>
              <a:gd name="connsiteY12" fmla="*/ 2671499 h 2671500"/>
              <a:gd name="connsiteX13" fmla="*/ 1334676 w 4082443"/>
              <a:gd name="connsiteY13" fmla="*/ 2671499 h 2671500"/>
              <a:gd name="connsiteX14" fmla="*/ 1334656 w 4082443"/>
              <a:gd name="connsiteY14" fmla="*/ 2671500 h 2671500"/>
              <a:gd name="connsiteX15" fmla="*/ 1334637 w 4082443"/>
              <a:gd name="connsiteY15" fmla="*/ 2671499 h 2671500"/>
              <a:gd name="connsiteX16" fmla="*/ 1330323 w 4082443"/>
              <a:gd name="connsiteY16" fmla="*/ 2671499 h 2671500"/>
              <a:gd name="connsiteX17" fmla="*/ 1330323 w 4082443"/>
              <a:gd name="connsiteY17" fmla="*/ 2671281 h 2671500"/>
              <a:gd name="connsiteX18" fmla="*/ 1198195 w 4082443"/>
              <a:gd name="connsiteY18" fmla="*/ 2664604 h 2671500"/>
              <a:gd name="connsiteX19" fmla="*/ 6063 w 4082443"/>
              <a:gd name="connsiteY19" fmla="*/ 1463896 h 2671500"/>
              <a:gd name="connsiteX20" fmla="*/ 795 w 4082443"/>
              <a:gd name="connsiteY20" fmla="*/ 1352550 h 2671500"/>
              <a:gd name="connsiteX21" fmla="*/ 0 w 4082443"/>
              <a:gd name="connsiteY21" fmla="*/ 1352550 h 2671500"/>
              <a:gd name="connsiteX22" fmla="*/ 0 w 4082443"/>
              <a:gd name="connsiteY22" fmla="*/ 1335750 h 26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4082443" h="2671500">
                <a:moveTo>
                  <a:pt x="0" y="0"/>
                </a:moveTo>
                <a:lnTo>
                  <a:pt x="1334656" y="0"/>
                </a:lnTo>
                <a:lnTo>
                  <a:pt x="2747787" y="0"/>
                </a:lnTo>
                <a:lnTo>
                  <a:pt x="2747963" y="0"/>
                </a:lnTo>
                <a:lnTo>
                  <a:pt x="2747963" y="9"/>
                </a:lnTo>
                <a:lnTo>
                  <a:pt x="2884248" y="6896"/>
                </a:lnTo>
                <a:cubicBezTo>
                  <a:pt x="3557256" y="75300"/>
                  <a:pt x="4082443" y="644143"/>
                  <a:pt x="4082443" y="1335750"/>
                </a:cubicBezTo>
                <a:cubicBezTo>
                  <a:pt x="4082443" y="2027357"/>
                  <a:pt x="3557256" y="2596200"/>
                  <a:pt x="2884248" y="2664604"/>
                </a:cubicBezTo>
                <a:lnTo>
                  <a:pt x="2747962" y="2671491"/>
                </a:lnTo>
                <a:lnTo>
                  <a:pt x="2747962" y="2671499"/>
                </a:lnTo>
                <a:lnTo>
                  <a:pt x="2747807" y="2671499"/>
                </a:lnTo>
                <a:lnTo>
                  <a:pt x="2747787" y="2671500"/>
                </a:lnTo>
                <a:lnTo>
                  <a:pt x="2747767" y="2671499"/>
                </a:lnTo>
                <a:lnTo>
                  <a:pt x="1334676" y="2671499"/>
                </a:lnTo>
                <a:lnTo>
                  <a:pt x="1334656" y="2671500"/>
                </a:lnTo>
                <a:lnTo>
                  <a:pt x="1334637" y="2671499"/>
                </a:lnTo>
                <a:lnTo>
                  <a:pt x="1330323" y="2671499"/>
                </a:lnTo>
                <a:lnTo>
                  <a:pt x="1330323" y="2671281"/>
                </a:lnTo>
                <a:lnTo>
                  <a:pt x="1198195" y="2664604"/>
                </a:lnTo>
                <a:cubicBezTo>
                  <a:pt x="567250" y="2600475"/>
                  <a:pt x="66226" y="2096508"/>
                  <a:pt x="6063" y="1463896"/>
                </a:cubicBezTo>
                <a:lnTo>
                  <a:pt x="795" y="1352550"/>
                </a:lnTo>
                <a:lnTo>
                  <a:pt x="0" y="1352550"/>
                </a:lnTo>
                <a:lnTo>
                  <a:pt x="0" y="1335750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/>
          <a:p>
            <a:endParaRPr lang="en-GB" noProof="0"/>
          </a:p>
        </p:txBody>
      </p:sp>
      <p:sp>
        <p:nvSpPr>
          <p:cNvPr id="42" name="Espace réservé pour une image  41">
            <a:extLst>
              <a:ext uri="{FF2B5EF4-FFF2-40B4-BE49-F238E27FC236}">
                <a16:creationId xmlns:a16="http://schemas.microsoft.com/office/drawing/2014/main" id="{8F6D8692-7B6B-CC2C-89A5-37D0AEFA222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429490" y="4104036"/>
            <a:ext cx="3339123" cy="2185081"/>
          </a:xfrm>
          <a:custGeom>
            <a:avLst/>
            <a:gdLst>
              <a:gd name="connsiteX0" fmla="*/ 0 w 4082443"/>
              <a:gd name="connsiteY0" fmla="*/ 0 h 2671500"/>
              <a:gd name="connsiteX1" fmla="*/ 1334656 w 4082443"/>
              <a:gd name="connsiteY1" fmla="*/ 0 h 2671500"/>
              <a:gd name="connsiteX2" fmla="*/ 2747787 w 4082443"/>
              <a:gd name="connsiteY2" fmla="*/ 0 h 2671500"/>
              <a:gd name="connsiteX3" fmla="*/ 2747963 w 4082443"/>
              <a:gd name="connsiteY3" fmla="*/ 0 h 2671500"/>
              <a:gd name="connsiteX4" fmla="*/ 2747963 w 4082443"/>
              <a:gd name="connsiteY4" fmla="*/ 9 h 2671500"/>
              <a:gd name="connsiteX5" fmla="*/ 2884248 w 4082443"/>
              <a:gd name="connsiteY5" fmla="*/ 6896 h 2671500"/>
              <a:gd name="connsiteX6" fmla="*/ 4082443 w 4082443"/>
              <a:gd name="connsiteY6" fmla="*/ 1335750 h 2671500"/>
              <a:gd name="connsiteX7" fmla="*/ 2884248 w 4082443"/>
              <a:gd name="connsiteY7" fmla="*/ 2664604 h 2671500"/>
              <a:gd name="connsiteX8" fmla="*/ 2747962 w 4082443"/>
              <a:gd name="connsiteY8" fmla="*/ 2671491 h 2671500"/>
              <a:gd name="connsiteX9" fmla="*/ 2747962 w 4082443"/>
              <a:gd name="connsiteY9" fmla="*/ 2671499 h 2671500"/>
              <a:gd name="connsiteX10" fmla="*/ 2747807 w 4082443"/>
              <a:gd name="connsiteY10" fmla="*/ 2671499 h 2671500"/>
              <a:gd name="connsiteX11" fmla="*/ 2747787 w 4082443"/>
              <a:gd name="connsiteY11" fmla="*/ 2671500 h 2671500"/>
              <a:gd name="connsiteX12" fmla="*/ 2747767 w 4082443"/>
              <a:gd name="connsiteY12" fmla="*/ 2671499 h 2671500"/>
              <a:gd name="connsiteX13" fmla="*/ 1334676 w 4082443"/>
              <a:gd name="connsiteY13" fmla="*/ 2671499 h 2671500"/>
              <a:gd name="connsiteX14" fmla="*/ 1334656 w 4082443"/>
              <a:gd name="connsiteY14" fmla="*/ 2671500 h 2671500"/>
              <a:gd name="connsiteX15" fmla="*/ 1334637 w 4082443"/>
              <a:gd name="connsiteY15" fmla="*/ 2671499 h 2671500"/>
              <a:gd name="connsiteX16" fmla="*/ 1330323 w 4082443"/>
              <a:gd name="connsiteY16" fmla="*/ 2671499 h 2671500"/>
              <a:gd name="connsiteX17" fmla="*/ 1330323 w 4082443"/>
              <a:gd name="connsiteY17" fmla="*/ 2671281 h 2671500"/>
              <a:gd name="connsiteX18" fmla="*/ 1198195 w 4082443"/>
              <a:gd name="connsiteY18" fmla="*/ 2664604 h 2671500"/>
              <a:gd name="connsiteX19" fmla="*/ 6063 w 4082443"/>
              <a:gd name="connsiteY19" fmla="*/ 1463896 h 2671500"/>
              <a:gd name="connsiteX20" fmla="*/ 795 w 4082443"/>
              <a:gd name="connsiteY20" fmla="*/ 1352550 h 2671500"/>
              <a:gd name="connsiteX21" fmla="*/ 0 w 4082443"/>
              <a:gd name="connsiteY21" fmla="*/ 1352550 h 2671500"/>
              <a:gd name="connsiteX22" fmla="*/ 0 w 4082443"/>
              <a:gd name="connsiteY22" fmla="*/ 1335750 h 26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4082443" h="2671500">
                <a:moveTo>
                  <a:pt x="0" y="0"/>
                </a:moveTo>
                <a:lnTo>
                  <a:pt x="1334656" y="0"/>
                </a:lnTo>
                <a:lnTo>
                  <a:pt x="2747787" y="0"/>
                </a:lnTo>
                <a:lnTo>
                  <a:pt x="2747963" y="0"/>
                </a:lnTo>
                <a:lnTo>
                  <a:pt x="2747963" y="9"/>
                </a:lnTo>
                <a:lnTo>
                  <a:pt x="2884248" y="6896"/>
                </a:lnTo>
                <a:cubicBezTo>
                  <a:pt x="3557256" y="75300"/>
                  <a:pt x="4082443" y="644143"/>
                  <a:pt x="4082443" y="1335750"/>
                </a:cubicBezTo>
                <a:cubicBezTo>
                  <a:pt x="4082443" y="2027357"/>
                  <a:pt x="3557256" y="2596200"/>
                  <a:pt x="2884248" y="2664604"/>
                </a:cubicBezTo>
                <a:lnTo>
                  <a:pt x="2747962" y="2671491"/>
                </a:lnTo>
                <a:lnTo>
                  <a:pt x="2747962" y="2671499"/>
                </a:lnTo>
                <a:lnTo>
                  <a:pt x="2747807" y="2671499"/>
                </a:lnTo>
                <a:lnTo>
                  <a:pt x="2747787" y="2671500"/>
                </a:lnTo>
                <a:lnTo>
                  <a:pt x="2747767" y="2671499"/>
                </a:lnTo>
                <a:lnTo>
                  <a:pt x="1334676" y="2671499"/>
                </a:lnTo>
                <a:lnTo>
                  <a:pt x="1334656" y="2671500"/>
                </a:lnTo>
                <a:lnTo>
                  <a:pt x="1334637" y="2671499"/>
                </a:lnTo>
                <a:lnTo>
                  <a:pt x="1330323" y="2671499"/>
                </a:lnTo>
                <a:lnTo>
                  <a:pt x="1330323" y="2671281"/>
                </a:lnTo>
                <a:lnTo>
                  <a:pt x="1198195" y="2664604"/>
                </a:lnTo>
                <a:cubicBezTo>
                  <a:pt x="567250" y="2600475"/>
                  <a:pt x="66226" y="2096508"/>
                  <a:pt x="6063" y="1463896"/>
                </a:cubicBezTo>
                <a:lnTo>
                  <a:pt x="795" y="1352550"/>
                </a:lnTo>
                <a:lnTo>
                  <a:pt x="0" y="1352550"/>
                </a:lnTo>
                <a:lnTo>
                  <a:pt x="0" y="1335750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/>
          <a:p>
            <a:endParaRPr lang="en-GB" noProof="0"/>
          </a:p>
        </p:txBody>
      </p:sp>
      <p:pic>
        <p:nvPicPr>
          <p:cNvPr id="2" name="Image 5">
            <a:extLst>
              <a:ext uri="{FF2B5EF4-FFF2-40B4-BE49-F238E27FC236}">
                <a16:creationId xmlns:a16="http://schemas.microsoft.com/office/drawing/2014/main" id="{D55CDB6B-0D3D-B6B1-5274-D76EBD678D4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206076" y="201600"/>
            <a:ext cx="506729" cy="506729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90BF0361-23BE-604D-00BB-68E4E829AD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53305124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section content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 : avec coins arrondis en haut 4">
            <a:extLst>
              <a:ext uri="{FF2B5EF4-FFF2-40B4-BE49-F238E27FC236}">
                <a16:creationId xmlns:a16="http://schemas.microsoft.com/office/drawing/2014/main" id="{3DCF99A6-67DF-D9BC-C50D-0A87828E102D}"/>
              </a:ext>
            </a:extLst>
          </p:cNvPr>
          <p:cNvSpPr/>
          <p:nvPr userDrawn="1"/>
        </p:nvSpPr>
        <p:spPr>
          <a:xfrm>
            <a:off x="0" y="1222745"/>
            <a:ext cx="12192000" cy="5635255"/>
          </a:xfrm>
          <a:prstGeom prst="round2SameRect">
            <a:avLst>
              <a:gd name="adj1" fmla="val 5736"/>
              <a:gd name="adj2" fmla="val 0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6B3CDA9-572A-C618-F5C1-D5F99D203D6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1672911"/>
            <a:ext cx="10515600" cy="2354638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400"/>
            </a:lvl1pPr>
          </a:lstStyle>
          <a:p>
            <a:pPr lvl="0"/>
            <a:r>
              <a:rPr lang="en-GB" noProof="0" dirty="0"/>
              <a:t>Click to modify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9935361-3835-30E7-CA0B-A30C6AA2908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577556" y="6362267"/>
            <a:ext cx="474844" cy="356133"/>
          </a:xfrm>
          <a:prstGeom prst="rect">
            <a:avLst/>
          </a:prstGeom>
        </p:spPr>
      </p:pic>
      <p:sp>
        <p:nvSpPr>
          <p:cNvPr id="35" name="Espace réservé pour une image  34">
            <a:extLst>
              <a:ext uri="{FF2B5EF4-FFF2-40B4-BE49-F238E27FC236}">
                <a16:creationId xmlns:a16="http://schemas.microsoft.com/office/drawing/2014/main" id="{A645C968-F0EE-32F7-4625-893A218543E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8201" y="4104036"/>
            <a:ext cx="3339123" cy="2185081"/>
          </a:xfrm>
          <a:custGeom>
            <a:avLst/>
            <a:gdLst>
              <a:gd name="connsiteX0" fmla="*/ 0 w 4082443"/>
              <a:gd name="connsiteY0" fmla="*/ 0 h 2671500"/>
              <a:gd name="connsiteX1" fmla="*/ 1334656 w 4082443"/>
              <a:gd name="connsiteY1" fmla="*/ 0 h 2671500"/>
              <a:gd name="connsiteX2" fmla="*/ 2747787 w 4082443"/>
              <a:gd name="connsiteY2" fmla="*/ 0 h 2671500"/>
              <a:gd name="connsiteX3" fmla="*/ 2747963 w 4082443"/>
              <a:gd name="connsiteY3" fmla="*/ 0 h 2671500"/>
              <a:gd name="connsiteX4" fmla="*/ 2747963 w 4082443"/>
              <a:gd name="connsiteY4" fmla="*/ 9 h 2671500"/>
              <a:gd name="connsiteX5" fmla="*/ 2884248 w 4082443"/>
              <a:gd name="connsiteY5" fmla="*/ 6896 h 2671500"/>
              <a:gd name="connsiteX6" fmla="*/ 4082443 w 4082443"/>
              <a:gd name="connsiteY6" fmla="*/ 1335750 h 2671500"/>
              <a:gd name="connsiteX7" fmla="*/ 2884248 w 4082443"/>
              <a:gd name="connsiteY7" fmla="*/ 2664604 h 2671500"/>
              <a:gd name="connsiteX8" fmla="*/ 2747962 w 4082443"/>
              <a:gd name="connsiteY8" fmla="*/ 2671491 h 2671500"/>
              <a:gd name="connsiteX9" fmla="*/ 2747962 w 4082443"/>
              <a:gd name="connsiteY9" fmla="*/ 2671499 h 2671500"/>
              <a:gd name="connsiteX10" fmla="*/ 2747807 w 4082443"/>
              <a:gd name="connsiteY10" fmla="*/ 2671499 h 2671500"/>
              <a:gd name="connsiteX11" fmla="*/ 2747787 w 4082443"/>
              <a:gd name="connsiteY11" fmla="*/ 2671500 h 2671500"/>
              <a:gd name="connsiteX12" fmla="*/ 2747767 w 4082443"/>
              <a:gd name="connsiteY12" fmla="*/ 2671499 h 2671500"/>
              <a:gd name="connsiteX13" fmla="*/ 1334676 w 4082443"/>
              <a:gd name="connsiteY13" fmla="*/ 2671499 h 2671500"/>
              <a:gd name="connsiteX14" fmla="*/ 1334656 w 4082443"/>
              <a:gd name="connsiteY14" fmla="*/ 2671500 h 2671500"/>
              <a:gd name="connsiteX15" fmla="*/ 1334637 w 4082443"/>
              <a:gd name="connsiteY15" fmla="*/ 2671499 h 2671500"/>
              <a:gd name="connsiteX16" fmla="*/ 1330323 w 4082443"/>
              <a:gd name="connsiteY16" fmla="*/ 2671499 h 2671500"/>
              <a:gd name="connsiteX17" fmla="*/ 1330323 w 4082443"/>
              <a:gd name="connsiteY17" fmla="*/ 2671281 h 2671500"/>
              <a:gd name="connsiteX18" fmla="*/ 1198195 w 4082443"/>
              <a:gd name="connsiteY18" fmla="*/ 2664604 h 2671500"/>
              <a:gd name="connsiteX19" fmla="*/ 6063 w 4082443"/>
              <a:gd name="connsiteY19" fmla="*/ 1463896 h 2671500"/>
              <a:gd name="connsiteX20" fmla="*/ 795 w 4082443"/>
              <a:gd name="connsiteY20" fmla="*/ 1352550 h 2671500"/>
              <a:gd name="connsiteX21" fmla="*/ 0 w 4082443"/>
              <a:gd name="connsiteY21" fmla="*/ 1352550 h 2671500"/>
              <a:gd name="connsiteX22" fmla="*/ 0 w 4082443"/>
              <a:gd name="connsiteY22" fmla="*/ 1335750 h 26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4082443" h="2671500">
                <a:moveTo>
                  <a:pt x="0" y="0"/>
                </a:moveTo>
                <a:lnTo>
                  <a:pt x="1334656" y="0"/>
                </a:lnTo>
                <a:lnTo>
                  <a:pt x="2747787" y="0"/>
                </a:lnTo>
                <a:lnTo>
                  <a:pt x="2747963" y="0"/>
                </a:lnTo>
                <a:lnTo>
                  <a:pt x="2747963" y="9"/>
                </a:lnTo>
                <a:lnTo>
                  <a:pt x="2884248" y="6896"/>
                </a:lnTo>
                <a:cubicBezTo>
                  <a:pt x="3557256" y="75300"/>
                  <a:pt x="4082443" y="644143"/>
                  <a:pt x="4082443" y="1335750"/>
                </a:cubicBezTo>
                <a:cubicBezTo>
                  <a:pt x="4082443" y="2027357"/>
                  <a:pt x="3557256" y="2596200"/>
                  <a:pt x="2884248" y="2664604"/>
                </a:cubicBezTo>
                <a:lnTo>
                  <a:pt x="2747962" y="2671491"/>
                </a:lnTo>
                <a:lnTo>
                  <a:pt x="2747962" y="2671499"/>
                </a:lnTo>
                <a:lnTo>
                  <a:pt x="2747807" y="2671499"/>
                </a:lnTo>
                <a:lnTo>
                  <a:pt x="2747787" y="2671500"/>
                </a:lnTo>
                <a:lnTo>
                  <a:pt x="2747767" y="2671499"/>
                </a:lnTo>
                <a:lnTo>
                  <a:pt x="1334676" y="2671499"/>
                </a:lnTo>
                <a:lnTo>
                  <a:pt x="1334656" y="2671500"/>
                </a:lnTo>
                <a:lnTo>
                  <a:pt x="1334637" y="2671499"/>
                </a:lnTo>
                <a:lnTo>
                  <a:pt x="1330323" y="2671499"/>
                </a:lnTo>
                <a:lnTo>
                  <a:pt x="1330323" y="2671281"/>
                </a:lnTo>
                <a:lnTo>
                  <a:pt x="1198195" y="2664604"/>
                </a:lnTo>
                <a:cubicBezTo>
                  <a:pt x="567250" y="2600475"/>
                  <a:pt x="66226" y="2096508"/>
                  <a:pt x="6063" y="1463896"/>
                </a:cubicBezTo>
                <a:lnTo>
                  <a:pt x="795" y="1352550"/>
                </a:lnTo>
                <a:lnTo>
                  <a:pt x="0" y="1352550"/>
                </a:lnTo>
                <a:lnTo>
                  <a:pt x="0" y="1335750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/>
          <a:p>
            <a:endParaRPr lang="en-GB" noProof="0"/>
          </a:p>
        </p:txBody>
      </p:sp>
      <p:sp>
        <p:nvSpPr>
          <p:cNvPr id="41" name="Espace réservé pour une image  40">
            <a:extLst>
              <a:ext uri="{FF2B5EF4-FFF2-40B4-BE49-F238E27FC236}">
                <a16:creationId xmlns:a16="http://schemas.microsoft.com/office/drawing/2014/main" id="{E78266C7-8721-F11F-D042-62D33616610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020778" y="4104036"/>
            <a:ext cx="3339123" cy="2185081"/>
          </a:xfrm>
          <a:custGeom>
            <a:avLst/>
            <a:gdLst>
              <a:gd name="connsiteX0" fmla="*/ 0 w 4082443"/>
              <a:gd name="connsiteY0" fmla="*/ 0 h 2671500"/>
              <a:gd name="connsiteX1" fmla="*/ 1334656 w 4082443"/>
              <a:gd name="connsiteY1" fmla="*/ 0 h 2671500"/>
              <a:gd name="connsiteX2" fmla="*/ 2747787 w 4082443"/>
              <a:gd name="connsiteY2" fmla="*/ 0 h 2671500"/>
              <a:gd name="connsiteX3" fmla="*/ 2747963 w 4082443"/>
              <a:gd name="connsiteY3" fmla="*/ 0 h 2671500"/>
              <a:gd name="connsiteX4" fmla="*/ 2747963 w 4082443"/>
              <a:gd name="connsiteY4" fmla="*/ 9 h 2671500"/>
              <a:gd name="connsiteX5" fmla="*/ 2884248 w 4082443"/>
              <a:gd name="connsiteY5" fmla="*/ 6896 h 2671500"/>
              <a:gd name="connsiteX6" fmla="*/ 4082443 w 4082443"/>
              <a:gd name="connsiteY6" fmla="*/ 1335750 h 2671500"/>
              <a:gd name="connsiteX7" fmla="*/ 2884248 w 4082443"/>
              <a:gd name="connsiteY7" fmla="*/ 2664604 h 2671500"/>
              <a:gd name="connsiteX8" fmla="*/ 2747962 w 4082443"/>
              <a:gd name="connsiteY8" fmla="*/ 2671491 h 2671500"/>
              <a:gd name="connsiteX9" fmla="*/ 2747962 w 4082443"/>
              <a:gd name="connsiteY9" fmla="*/ 2671499 h 2671500"/>
              <a:gd name="connsiteX10" fmla="*/ 2747807 w 4082443"/>
              <a:gd name="connsiteY10" fmla="*/ 2671499 h 2671500"/>
              <a:gd name="connsiteX11" fmla="*/ 2747787 w 4082443"/>
              <a:gd name="connsiteY11" fmla="*/ 2671500 h 2671500"/>
              <a:gd name="connsiteX12" fmla="*/ 2747767 w 4082443"/>
              <a:gd name="connsiteY12" fmla="*/ 2671499 h 2671500"/>
              <a:gd name="connsiteX13" fmla="*/ 1334676 w 4082443"/>
              <a:gd name="connsiteY13" fmla="*/ 2671499 h 2671500"/>
              <a:gd name="connsiteX14" fmla="*/ 1334656 w 4082443"/>
              <a:gd name="connsiteY14" fmla="*/ 2671500 h 2671500"/>
              <a:gd name="connsiteX15" fmla="*/ 1334637 w 4082443"/>
              <a:gd name="connsiteY15" fmla="*/ 2671499 h 2671500"/>
              <a:gd name="connsiteX16" fmla="*/ 1330323 w 4082443"/>
              <a:gd name="connsiteY16" fmla="*/ 2671499 h 2671500"/>
              <a:gd name="connsiteX17" fmla="*/ 1330323 w 4082443"/>
              <a:gd name="connsiteY17" fmla="*/ 2671281 h 2671500"/>
              <a:gd name="connsiteX18" fmla="*/ 1198195 w 4082443"/>
              <a:gd name="connsiteY18" fmla="*/ 2664604 h 2671500"/>
              <a:gd name="connsiteX19" fmla="*/ 6063 w 4082443"/>
              <a:gd name="connsiteY19" fmla="*/ 1463896 h 2671500"/>
              <a:gd name="connsiteX20" fmla="*/ 795 w 4082443"/>
              <a:gd name="connsiteY20" fmla="*/ 1352550 h 2671500"/>
              <a:gd name="connsiteX21" fmla="*/ 0 w 4082443"/>
              <a:gd name="connsiteY21" fmla="*/ 1352550 h 2671500"/>
              <a:gd name="connsiteX22" fmla="*/ 0 w 4082443"/>
              <a:gd name="connsiteY22" fmla="*/ 1335750 h 26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4082443" h="2671500">
                <a:moveTo>
                  <a:pt x="0" y="0"/>
                </a:moveTo>
                <a:lnTo>
                  <a:pt x="1334656" y="0"/>
                </a:lnTo>
                <a:lnTo>
                  <a:pt x="2747787" y="0"/>
                </a:lnTo>
                <a:lnTo>
                  <a:pt x="2747963" y="0"/>
                </a:lnTo>
                <a:lnTo>
                  <a:pt x="2747963" y="9"/>
                </a:lnTo>
                <a:lnTo>
                  <a:pt x="2884248" y="6896"/>
                </a:lnTo>
                <a:cubicBezTo>
                  <a:pt x="3557256" y="75300"/>
                  <a:pt x="4082443" y="644143"/>
                  <a:pt x="4082443" y="1335750"/>
                </a:cubicBezTo>
                <a:cubicBezTo>
                  <a:pt x="4082443" y="2027357"/>
                  <a:pt x="3557256" y="2596200"/>
                  <a:pt x="2884248" y="2664604"/>
                </a:cubicBezTo>
                <a:lnTo>
                  <a:pt x="2747962" y="2671491"/>
                </a:lnTo>
                <a:lnTo>
                  <a:pt x="2747962" y="2671499"/>
                </a:lnTo>
                <a:lnTo>
                  <a:pt x="2747807" y="2671499"/>
                </a:lnTo>
                <a:lnTo>
                  <a:pt x="2747787" y="2671500"/>
                </a:lnTo>
                <a:lnTo>
                  <a:pt x="2747767" y="2671499"/>
                </a:lnTo>
                <a:lnTo>
                  <a:pt x="1334676" y="2671499"/>
                </a:lnTo>
                <a:lnTo>
                  <a:pt x="1334656" y="2671500"/>
                </a:lnTo>
                <a:lnTo>
                  <a:pt x="1334637" y="2671499"/>
                </a:lnTo>
                <a:lnTo>
                  <a:pt x="1330323" y="2671499"/>
                </a:lnTo>
                <a:lnTo>
                  <a:pt x="1330323" y="2671281"/>
                </a:lnTo>
                <a:lnTo>
                  <a:pt x="1198195" y="2664604"/>
                </a:lnTo>
                <a:cubicBezTo>
                  <a:pt x="567250" y="2600475"/>
                  <a:pt x="66226" y="2096508"/>
                  <a:pt x="6063" y="1463896"/>
                </a:cubicBezTo>
                <a:lnTo>
                  <a:pt x="795" y="1352550"/>
                </a:lnTo>
                <a:lnTo>
                  <a:pt x="0" y="1352550"/>
                </a:lnTo>
                <a:lnTo>
                  <a:pt x="0" y="1335750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/>
          <a:p>
            <a:endParaRPr lang="en-GB" noProof="0"/>
          </a:p>
        </p:txBody>
      </p:sp>
      <p:sp>
        <p:nvSpPr>
          <p:cNvPr id="42" name="Espace réservé pour une image  41">
            <a:extLst>
              <a:ext uri="{FF2B5EF4-FFF2-40B4-BE49-F238E27FC236}">
                <a16:creationId xmlns:a16="http://schemas.microsoft.com/office/drawing/2014/main" id="{8F6D8692-7B6B-CC2C-89A5-37D0AEFA222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429490" y="4104036"/>
            <a:ext cx="3339123" cy="2185081"/>
          </a:xfrm>
          <a:custGeom>
            <a:avLst/>
            <a:gdLst>
              <a:gd name="connsiteX0" fmla="*/ 0 w 4082443"/>
              <a:gd name="connsiteY0" fmla="*/ 0 h 2671500"/>
              <a:gd name="connsiteX1" fmla="*/ 1334656 w 4082443"/>
              <a:gd name="connsiteY1" fmla="*/ 0 h 2671500"/>
              <a:gd name="connsiteX2" fmla="*/ 2747787 w 4082443"/>
              <a:gd name="connsiteY2" fmla="*/ 0 h 2671500"/>
              <a:gd name="connsiteX3" fmla="*/ 2747963 w 4082443"/>
              <a:gd name="connsiteY3" fmla="*/ 0 h 2671500"/>
              <a:gd name="connsiteX4" fmla="*/ 2747963 w 4082443"/>
              <a:gd name="connsiteY4" fmla="*/ 9 h 2671500"/>
              <a:gd name="connsiteX5" fmla="*/ 2884248 w 4082443"/>
              <a:gd name="connsiteY5" fmla="*/ 6896 h 2671500"/>
              <a:gd name="connsiteX6" fmla="*/ 4082443 w 4082443"/>
              <a:gd name="connsiteY6" fmla="*/ 1335750 h 2671500"/>
              <a:gd name="connsiteX7" fmla="*/ 2884248 w 4082443"/>
              <a:gd name="connsiteY7" fmla="*/ 2664604 h 2671500"/>
              <a:gd name="connsiteX8" fmla="*/ 2747962 w 4082443"/>
              <a:gd name="connsiteY8" fmla="*/ 2671491 h 2671500"/>
              <a:gd name="connsiteX9" fmla="*/ 2747962 w 4082443"/>
              <a:gd name="connsiteY9" fmla="*/ 2671499 h 2671500"/>
              <a:gd name="connsiteX10" fmla="*/ 2747807 w 4082443"/>
              <a:gd name="connsiteY10" fmla="*/ 2671499 h 2671500"/>
              <a:gd name="connsiteX11" fmla="*/ 2747787 w 4082443"/>
              <a:gd name="connsiteY11" fmla="*/ 2671500 h 2671500"/>
              <a:gd name="connsiteX12" fmla="*/ 2747767 w 4082443"/>
              <a:gd name="connsiteY12" fmla="*/ 2671499 h 2671500"/>
              <a:gd name="connsiteX13" fmla="*/ 1334676 w 4082443"/>
              <a:gd name="connsiteY13" fmla="*/ 2671499 h 2671500"/>
              <a:gd name="connsiteX14" fmla="*/ 1334656 w 4082443"/>
              <a:gd name="connsiteY14" fmla="*/ 2671500 h 2671500"/>
              <a:gd name="connsiteX15" fmla="*/ 1334637 w 4082443"/>
              <a:gd name="connsiteY15" fmla="*/ 2671499 h 2671500"/>
              <a:gd name="connsiteX16" fmla="*/ 1330323 w 4082443"/>
              <a:gd name="connsiteY16" fmla="*/ 2671499 h 2671500"/>
              <a:gd name="connsiteX17" fmla="*/ 1330323 w 4082443"/>
              <a:gd name="connsiteY17" fmla="*/ 2671281 h 2671500"/>
              <a:gd name="connsiteX18" fmla="*/ 1198195 w 4082443"/>
              <a:gd name="connsiteY18" fmla="*/ 2664604 h 2671500"/>
              <a:gd name="connsiteX19" fmla="*/ 6063 w 4082443"/>
              <a:gd name="connsiteY19" fmla="*/ 1463896 h 2671500"/>
              <a:gd name="connsiteX20" fmla="*/ 795 w 4082443"/>
              <a:gd name="connsiteY20" fmla="*/ 1352550 h 2671500"/>
              <a:gd name="connsiteX21" fmla="*/ 0 w 4082443"/>
              <a:gd name="connsiteY21" fmla="*/ 1352550 h 2671500"/>
              <a:gd name="connsiteX22" fmla="*/ 0 w 4082443"/>
              <a:gd name="connsiteY22" fmla="*/ 1335750 h 26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4082443" h="2671500">
                <a:moveTo>
                  <a:pt x="0" y="0"/>
                </a:moveTo>
                <a:lnTo>
                  <a:pt x="1334656" y="0"/>
                </a:lnTo>
                <a:lnTo>
                  <a:pt x="2747787" y="0"/>
                </a:lnTo>
                <a:lnTo>
                  <a:pt x="2747963" y="0"/>
                </a:lnTo>
                <a:lnTo>
                  <a:pt x="2747963" y="9"/>
                </a:lnTo>
                <a:lnTo>
                  <a:pt x="2884248" y="6896"/>
                </a:lnTo>
                <a:cubicBezTo>
                  <a:pt x="3557256" y="75300"/>
                  <a:pt x="4082443" y="644143"/>
                  <a:pt x="4082443" y="1335750"/>
                </a:cubicBezTo>
                <a:cubicBezTo>
                  <a:pt x="4082443" y="2027357"/>
                  <a:pt x="3557256" y="2596200"/>
                  <a:pt x="2884248" y="2664604"/>
                </a:cubicBezTo>
                <a:lnTo>
                  <a:pt x="2747962" y="2671491"/>
                </a:lnTo>
                <a:lnTo>
                  <a:pt x="2747962" y="2671499"/>
                </a:lnTo>
                <a:lnTo>
                  <a:pt x="2747807" y="2671499"/>
                </a:lnTo>
                <a:lnTo>
                  <a:pt x="2747787" y="2671500"/>
                </a:lnTo>
                <a:lnTo>
                  <a:pt x="2747767" y="2671499"/>
                </a:lnTo>
                <a:lnTo>
                  <a:pt x="1334676" y="2671499"/>
                </a:lnTo>
                <a:lnTo>
                  <a:pt x="1334656" y="2671500"/>
                </a:lnTo>
                <a:lnTo>
                  <a:pt x="1334637" y="2671499"/>
                </a:lnTo>
                <a:lnTo>
                  <a:pt x="1330323" y="2671499"/>
                </a:lnTo>
                <a:lnTo>
                  <a:pt x="1330323" y="2671281"/>
                </a:lnTo>
                <a:lnTo>
                  <a:pt x="1198195" y="2664604"/>
                </a:lnTo>
                <a:cubicBezTo>
                  <a:pt x="567250" y="2600475"/>
                  <a:pt x="66226" y="2096508"/>
                  <a:pt x="6063" y="1463896"/>
                </a:cubicBezTo>
                <a:lnTo>
                  <a:pt x="795" y="1352550"/>
                </a:lnTo>
                <a:lnTo>
                  <a:pt x="0" y="1352550"/>
                </a:lnTo>
                <a:lnTo>
                  <a:pt x="0" y="1335750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/>
          <a:p>
            <a:endParaRPr lang="en-GB" noProof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9131A041-7A2D-5DF0-312F-374FCDE3D8D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02295" y="201600"/>
            <a:ext cx="514292" cy="5067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808B731-9BD9-0580-0F24-09E82AA0235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359681454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en section content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 : avec coins arrondis en haut 4">
            <a:extLst>
              <a:ext uri="{FF2B5EF4-FFF2-40B4-BE49-F238E27FC236}">
                <a16:creationId xmlns:a16="http://schemas.microsoft.com/office/drawing/2014/main" id="{3DCF99A6-67DF-D9BC-C50D-0A87828E102D}"/>
              </a:ext>
            </a:extLst>
          </p:cNvPr>
          <p:cNvSpPr/>
          <p:nvPr userDrawn="1"/>
        </p:nvSpPr>
        <p:spPr>
          <a:xfrm>
            <a:off x="0" y="1222745"/>
            <a:ext cx="12192000" cy="5635255"/>
          </a:xfrm>
          <a:prstGeom prst="round2SameRect">
            <a:avLst>
              <a:gd name="adj1" fmla="val 5736"/>
              <a:gd name="adj2" fmla="val 0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6B3CDA9-572A-C618-F5C1-D5F99D203D6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1672911"/>
            <a:ext cx="10515600" cy="2354638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400"/>
            </a:lvl1pPr>
          </a:lstStyle>
          <a:p>
            <a:pPr lvl="0"/>
            <a:r>
              <a:rPr lang="en-GB" noProof="0" dirty="0"/>
              <a:t>Click to modify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9935361-3835-30E7-CA0B-A30C6AA2908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577556" y="6362267"/>
            <a:ext cx="474844" cy="356133"/>
          </a:xfrm>
          <a:prstGeom prst="rect">
            <a:avLst/>
          </a:prstGeom>
        </p:spPr>
      </p:pic>
      <p:sp>
        <p:nvSpPr>
          <p:cNvPr id="35" name="Espace réservé pour une image  34">
            <a:extLst>
              <a:ext uri="{FF2B5EF4-FFF2-40B4-BE49-F238E27FC236}">
                <a16:creationId xmlns:a16="http://schemas.microsoft.com/office/drawing/2014/main" id="{A645C968-F0EE-32F7-4625-893A218543E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8201" y="4104036"/>
            <a:ext cx="3339123" cy="2185081"/>
          </a:xfrm>
          <a:custGeom>
            <a:avLst/>
            <a:gdLst>
              <a:gd name="connsiteX0" fmla="*/ 0 w 4082443"/>
              <a:gd name="connsiteY0" fmla="*/ 0 h 2671500"/>
              <a:gd name="connsiteX1" fmla="*/ 1334656 w 4082443"/>
              <a:gd name="connsiteY1" fmla="*/ 0 h 2671500"/>
              <a:gd name="connsiteX2" fmla="*/ 2747787 w 4082443"/>
              <a:gd name="connsiteY2" fmla="*/ 0 h 2671500"/>
              <a:gd name="connsiteX3" fmla="*/ 2747963 w 4082443"/>
              <a:gd name="connsiteY3" fmla="*/ 0 h 2671500"/>
              <a:gd name="connsiteX4" fmla="*/ 2747963 w 4082443"/>
              <a:gd name="connsiteY4" fmla="*/ 9 h 2671500"/>
              <a:gd name="connsiteX5" fmla="*/ 2884248 w 4082443"/>
              <a:gd name="connsiteY5" fmla="*/ 6896 h 2671500"/>
              <a:gd name="connsiteX6" fmla="*/ 4082443 w 4082443"/>
              <a:gd name="connsiteY6" fmla="*/ 1335750 h 2671500"/>
              <a:gd name="connsiteX7" fmla="*/ 2884248 w 4082443"/>
              <a:gd name="connsiteY7" fmla="*/ 2664604 h 2671500"/>
              <a:gd name="connsiteX8" fmla="*/ 2747962 w 4082443"/>
              <a:gd name="connsiteY8" fmla="*/ 2671491 h 2671500"/>
              <a:gd name="connsiteX9" fmla="*/ 2747962 w 4082443"/>
              <a:gd name="connsiteY9" fmla="*/ 2671499 h 2671500"/>
              <a:gd name="connsiteX10" fmla="*/ 2747807 w 4082443"/>
              <a:gd name="connsiteY10" fmla="*/ 2671499 h 2671500"/>
              <a:gd name="connsiteX11" fmla="*/ 2747787 w 4082443"/>
              <a:gd name="connsiteY11" fmla="*/ 2671500 h 2671500"/>
              <a:gd name="connsiteX12" fmla="*/ 2747767 w 4082443"/>
              <a:gd name="connsiteY12" fmla="*/ 2671499 h 2671500"/>
              <a:gd name="connsiteX13" fmla="*/ 1334676 w 4082443"/>
              <a:gd name="connsiteY13" fmla="*/ 2671499 h 2671500"/>
              <a:gd name="connsiteX14" fmla="*/ 1334656 w 4082443"/>
              <a:gd name="connsiteY14" fmla="*/ 2671500 h 2671500"/>
              <a:gd name="connsiteX15" fmla="*/ 1334637 w 4082443"/>
              <a:gd name="connsiteY15" fmla="*/ 2671499 h 2671500"/>
              <a:gd name="connsiteX16" fmla="*/ 1330323 w 4082443"/>
              <a:gd name="connsiteY16" fmla="*/ 2671499 h 2671500"/>
              <a:gd name="connsiteX17" fmla="*/ 1330323 w 4082443"/>
              <a:gd name="connsiteY17" fmla="*/ 2671281 h 2671500"/>
              <a:gd name="connsiteX18" fmla="*/ 1198195 w 4082443"/>
              <a:gd name="connsiteY18" fmla="*/ 2664604 h 2671500"/>
              <a:gd name="connsiteX19" fmla="*/ 6063 w 4082443"/>
              <a:gd name="connsiteY19" fmla="*/ 1463896 h 2671500"/>
              <a:gd name="connsiteX20" fmla="*/ 795 w 4082443"/>
              <a:gd name="connsiteY20" fmla="*/ 1352550 h 2671500"/>
              <a:gd name="connsiteX21" fmla="*/ 0 w 4082443"/>
              <a:gd name="connsiteY21" fmla="*/ 1352550 h 2671500"/>
              <a:gd name="connsiteX22" fmla="*/ 0 w 4082443"/>
              <a:gd name="connsiteY22" fmla="*/ 1335750 h 26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4082443" h="2671500">
                <a:moveTo>
                  <a:pt x="0" y="0"/>
                </a:moveTo>
                <a:lnTo>
                  <a:pt x="1334656" y="0"/>
                </a:lnTo>
                <a:lnTo>
                  <a:pt x="2747787" y="0"/>
                </a:lnTo>
                <a:lnTo>
                  <a:pt x="2747963" y="0"/>
                </a:lnTo>
                <a:lnTo>
                  <a:pt x="2747963" y="9"/>
                </a:lnTo>
                <a:lnTo>
                  <a:pt x="2884248" y="6896"/>
                </a:lnTo>
                <a:cubicBezTo>
                  <a:pt x="3557256" y="75300"/>
                  <a:pt x="4082443" y="644143"/>
                  <a:pt x="4082443" y="1335750"/>
                </a:cubicBezTo>
                <a:cubicBezTo>
                  <a:pt x="4082443" y="2027357"/>
                  <a:pt x="3557256" y="2596200"/>
                  <a:pt x="2884248" y="2664604"/>
                </a:cubicBezTo>
                <a:lnTo>
                  <a:pt x="2747962" y="2671491"/>
                </a:lnTo>
                <a:lnTo>
                  <a:pt x="2747962" y="2671499"/>
                </a:lnTo>
                <a:lnTo>
                  <a:pt x="2747807" y="2671499"/>
                </a:lnTo>
                <a:lnTo>
                  <a:pt x="2747787" y="2671500"/>
                </a:lnTo>
                <a:lnTo>
                  <a:pt x="2747767" y="2671499"/>
                </a:lnTo>
                <a:lnTo>
                  <a:pt x="1334676" y="2671499"/>
                </a:lnTo>
                <a:lnTo>
                  <a:pt x="1334656" y="2671500"/>
                </a:lnTo>
                <a:lnTo>
                  <a:pt x="1334637" y="2671499"/>
                </a:lnTo>
                <a:lnTo>
                  <a:pt x="1330323" y="2671499"/>
                </a:lnTo>
                <a:lnTo>
                  <a:pt x="1330323" y="2671281"/>
                </a:lnTo>
                <a:lnTo>
                  <a:pt x="1198195" y="2664604"/>
                </a:lnTo>
                <a:cubicBezTo>
                  <a:pt x="567250" y="2600475"/>
                  <a:pt x="66226" y="2096508"/>
                  <a:pt x="6063" y="1463896"/>
                </a:cubicBezTo>
                <a:lnTo>
                  <a:pt x="795" y="1352550"/>
                </a:lnTo>
                <a:lnTo>
                  <a:pt x="0" y="1352550"/>
                </a:lnTo>
                <a:lnTo>
                  <a:pt x="0" y="1335750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/>
          <a:p>
            <a:endParaRPr lang="en-GB" noProof="0"/>
          </a:p>
        </p:txBody>
      </p:sp>
      <p:sp>
        <p:nvSpPr>
          <p:cNvPr id="41" name="Espace réservé pour une image  40">
            <a:extLst>
              <a:ext uri="{FF2B5EF4-FFF2-40B4-BE49-F238E27FC236}">
                <a16:creationId xmlns:a16="http://schemas.microsoft.com/office/drawing/2014/main" id="{E78266C7-8721-F11F-D042-62D33616610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020778" y="4104036"/>
            <a:ext cx="3339123" cy="2185081"/>
          </a:xfrm>
          <a:custGeom>
            <a:avLst/>
            <a:gdLst>
              <a:gd name="connsiteX0" fmla="*/ 0 w 4082443"/>
              <a:gd name="connsiteY0" fmla="*/ 0 h 2671500"/>
              <a:gd name="connsiteX1" fmla="*/ 1334656 w 4082443"/>
              <a:gd name="connsiteY1" fmla="*/ 0 h 2671500"/>
              <a:gd name="connsiteX2" fmla="*/ 2747787 w 4082443"/>
              <a:gd name="connsiteY2" fmla="*/ 0 h 2671500"/>
              <a:gd name="connsiteX3" fmla="*/ 2747963 w 4082443"/>
              <a:gd name="connsiteY3" fmla="*/ 0 h 2671500"/>
              <a:gd name="connsiteX4" fmla="*/ 2747963 w 4082443"/>
              <a:gd name="connsiteY4" fmla="*/ 9 h 2671500"/>
              <a:gd name="connsiteX5" fmla="*/ 2884248 w 4082443"/>
              <a:gd name="connsiteY5" fmla="*/ 6896 h 2671500"/>
              <a:gd name="connsiteX6" fmla="*/ 4082443 w 4082443"/>
              <a:gd name="connsiteY6" fmla="*/ 1335750 h 2671500"/>
              <a:gd name="connsiteX7" fmla="*/ 2884248 w 4082443"/>
              <a:gd name="connsiteY7" fmla="*/ 2664604 h 2671500"/>
              <a:gd name="connsiteX8" fmla="*/ 2747962 w 4082443"/>
              <a:gd name="connsiteY8" fmla="*/ 2671491 h 2671500"/>
              <a:gd name="connsiteX9" fmla="*/ 2747962 w 4082443"/>
              <a:gd name="connsiteY9" fmla="*/ 2671499 h 2671500"/>
              <a:gd name="connsiteX10" fmla="*/ 2747807 w 4082443"/>
              <a:gd name="connsiteY10" fmla="*/ 2671499 h 2671500"/>
              <a:gd name="connsiteX11" fmla="*/ 2747787 w 4082443"/>
              <a:gd name="connsiteY11" fmla="*/ 2671500 h 2671500"/>
              <a:gd name="connsiteX12" fmla="*/ 2747767 w 4082443"/>
              <a:gd name="connsiteY12" fmla="*/ 2671499 h 2671500"/>
              <a:gd name="connsiteX13" fmla="*/ 1334676 w 4082443"/>
              <a:gd name="connsiteY13" fmla="*/ 2671499 h 2671500"/>
              <a:gd name="connsiteX14" fmla="*/ 1334656 w 4082443"/>
              <a:gd name="connsiteY14" fmla="*/ 2671500 h 2671500"/>
              <a:gd name="connsiteX15" fmla="*/ 1334637 w 4082443"/>
              <a:gd name="connsiteY15" fmla="*/ 2671499 h 2671500"/>
              <a:gd name="connsiteX16" fmla="*/ 1330323 w 4082443"/>
              <a:gd name="connsiteY16" fmla="*/ 2671499 h 2671500"/>
              <a:gd name="connsiteX17" fmla="*/ 1330323 w 4082443"/>
              <a:gd name="connsiteY17" fmla="*/ 2671281 h 2671500"/>
              <a:gd name="connsiteX18" fmla="*/ 1198195 w 4082443"/>
              <a:gd name="connsiteY18" fmla="*/ 2664604 h 2671500"/>
              <a:gd name="connsiteX19" fmla="*/ 6063 w 4082443"/>
              <a:gd name="connsiteY19" fmla="*/ 1463896 h 2671500"/>
              <a:gd name="connsiteX20" fmla="*/ 795 w 4082443"/>
              <a:gd name="connsiteY20" fmla="*/ 1352550 h 2671500"/>
              <a:gd name="connsiteX21" fmla="*/ 0 w 4082443"/>
              <a:gd name="connsiteY21" fmla="*/ 1352550 h 2671500"/>
              <a:gd name="connsiteX22" fmla="*/ 0 w 4082443"/>
              <a:gd name="connsiteY22" fmla="*/ 1335750 h 26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4082443" h="2671500">
                <a:moveTo>
                  <a:pt x="0" y="0"/>
                </a:moveTo>
                <a:lnTo>
                  <a:pt x="1334656" y="0"/>
                </a:lnTo>
                <a:lnTo>
                  <a:pt x="2747787" y="0"/>
                </a:lnTo>
                <a:lnTo>
                  <a:pt x="2747963" y="0"/>
                </a:lnTo>
                <a:lnTo>
                  <a:pt x="2747963" y="9"/>
                </a:lnTo>
                <a:lnTo>
                  <a:pt x="2884248" y="6896"/>
                </a:lnTo>
                <a:cubicBezTo>
                  <a:pt x="3557256" y="75300"/>
                  <a:pt x="4082443" y="644143"/>
                  <a:pt x="4082443" y="1335750"/>
                </a:cubicBezTo>
                <a:cubicBezTo>
                  <a:pt x="4082443" y="2027357"/>
                  <a:pt x="3557256" y="2596200"/>
                  <a:pt x="2884248" y="2664604"/>
                </a:cubicBezTo>
                <a:lnTo>
                  <a:pt x="2747962" y="2671491"/>
                </a:lnTo>
                <a:lnTo>
                  <a:pt x="2747962" y="2671499"/>
                </a:lnTo>
                <a:lnTo>
                  <a:pt x="2747807" y="2671499"/>
                </a:lnTo>
                <a:lnTo>
                  <a:pt x="2747787" y="2671500"/>
                </a:lnTo>
                <a:lnTo>
                  <a:pt x="2747767" y="2671499"/>
                </a:lnTo>
                <a:lnTo>
                  <a:pt x="1334676" y="2671499"/>
                </a:lnTo>
                <a:lnTo>
                  <a:pt x="1334656" y="2671500"/>
                </a:lnTo>
                <a:lnTo>
                  <a:pt x="1334637" y="2671499"/>
                </a:lnTo>
                <a:lnTo>
                  <a:pt x="1330323" y="2671499"/>
                </a:lnTo>
                <a:lnTo>
                  <a:pt x="1330323" y="2671281"/>
                </a:lnTo>
                <a:lnTo>
                  <a:pt x="1198195" y="2664604"/>
                </a:lnTo>
                <a:cubicBezTo>
                  <a:pt x="567250" y="2600475"/>
                  <a:pt x="66226" y="2096508"/>
                  <a:pt x="6063" y="1463896"/>
                </a:cubicBezTo>
                <a:lnTo>
                  <a:pt x="795" y="1352550"/>
                </a:lnTo>
                <a:lnTo>
                  <a:pt x="0" y="1352550"/>
                </a:lnTo>
                <a:lnTo>
                  <a:pt x="0" y="1335750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/>
          <a:p>
            <a:endParaRPr lang="en-GB" noProof="0"/>
          </a:p>
        </p:txBody>
      </p:sp>
      <p:sp>
        <p:nvSpPr>
          <p:cNvPr id="42" name="Espace réservé pour une image  41">
            <a:extLst>
              <a:ext uri="{FF2B5EF4-FFF2-40B4-BE49-F238E27FC236}">
                <a16:creationId xmlns:a16="http://schemas.microsoft.com/office/drawing/2014/main" id="{8F6D8692-7B6B-CC2C-89A5-37D0AEFA222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429490" y="4104036"/>
            <a:ext cx="3339123" cy="2185081"/>
          </a:xfrm>
          <a:custGeom>
            <a:avLst/>
            <a:gdLst>
              <a:gd name="connsiteX0" fmla="*/ 0 w 4082443"/>
              <a:gd name="connsiteY0" fmla="*/ 0 h 2671500"/>
              <a:gd name="connsiteX1" fmla="*/ 1334656 w 4082443"/>
              <a:gd name="connsiteY1" fmla="*/ 0 h 2671500"/>
              <a:gd name="connsiteX2" fmla="*/ 2747787 w 4082443"/>
              <a:gd name="connsiteY2" fmla="*/ 0 h 2671500"/>
              <a:gd name="connsiteX3" fmla="*/ 2747963 w 4082443"/>
              <a:gd name="connsiteY3" fmla="*/ 0 h 2671500"/>
              <a:gd name="connsiteX4" fmla="*/ 2747963 w 4082443"/>
              <a:gd name="connsiteY4" fmla="*/ 9 h 2671500"/>
              <a:gd name="connsiteX5" fmla="*/ 2884248 w 4082443"/>
              <a:gd name="connsiteY5" fmla="*/ 6896 h 2671500"/>
              <a:gd name="connsiteX6" fmla="*/ 4082443 w 4082443"/>
              <a:gd name="connsiteY6" fmla="*/ 1335750 h 2671500"/>
              <a:gd name="connsiteX7" fmla="*/ 2884248 w 4082443"/>
              <a:gd name="connsiteY7" fmla="*/ 2664604 h 2671500"/>
              <a:gd name="connsiteX8" fmla="*/ 2747962 w 4082443"/>
              <a:gd name="connsiteY8" fmla="*/ 2671491 h 2671500"/>
              <a:gd name="connsiteX9" fmla="*/ 2747962 w 4082443"/>
              <a:gd name="connsiteY9" fmla="*/ 2671499 h 2671500"/>
              <a:gd name="connsiteX10" fmla="*/ 2747807 w 4082443"/>
              <a:gd name="connsiteY10" fmla="*/ 2671499 h 2671500"/>
              <a:gd name="connsiteX11" fmla="*/ 2747787 w 4082443"/>
              <a:gd name="connsiteY11" fmla="*/ 2671500 h 2671500"/>
              <a:gd name="connsiteX12" fmla="*/ 2747767 w 4082443"/>
              <a:gd name="connsiteY12" fmla="*/ 2671499 h 2671500"/>
              <a:gd name="connsiteX13" fmla="*/ 1334676 w 4082443"/>
              <a:gd name="connsiteY13" fmla="*/ 2671499 h 2671500"/>
              <a:gd name="connsiteX14" fmla="*/ 1334656 w 4082443"/>
              <a:gd name="connsiteY14" fmla="*/ 2671500 h 2671500"/>
              <a:gd name="connsiteX15" fmla="*/ 1334637 w 4082443"/>
              <a:gd name="connsiteY15" fmla="*/ 2671499 h 2671500"/>
              <a:gd name="connsiteX16" fmla="*/ 1330323 w 4082443"/>
              <a:gd name="connsiteY16" fmla="*/ 2671499 h 2671500"/>
              <a:gd name="connsiteX17" fmla="*/ 1330323 w 4082443"/>
              <a:gd name="connsiteY17" fmla="*/ 2671281 h 2671500"/>
              <a:gd name="connsiteX18" fmla="*/ 1198195 w 4082443"/>
              <a:gd name="connsiteY18" fmla="*/ 2664604 h 2671500"/>
              <a:gd name="connsiteX19" fmla="*/ 6063 w 4082443"/>
              <a:gd name="connsiteY19" fmla="*/ 1463896 h 2671500"/>
              <a:gd name="connsiteX20" fmla="*/ 795 w 4082443"/>
              <a:gd name="connsiteY20" fmla="*/ 1352550 h 2671500"/>
              <a:gd name="connsiteX21" fmla="*/ 0 w 4082443"/>
              <a:gd name="connsiteY21" fmla="*/ 1352550 h 2671500"/>
              <a:gd name="connsiteX22" fmla="*/ 0 w 4082443"/>
              <a:gd name="connsiteY22" fmla="*/ 1335750 h 26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4082443" h="2671500">
                <a:moveTo>
                  <a:pt x="0" y="0"/>
                </a:moveTo>
                <a:lnTo>
                  <a:pt x="1334656" y="0"/>
                </a:lnTo>
                <a:lnTo>
                  <a:pt x="2747787" y="0"/>
                </a:lnTo>
                <a:lnTo>
                  <a:pt x="2747963" y="0"/>
                </a:lnTo>
                <a:lnTo>
                  <a:pt x="2747963" y="9"/>
                </a:lnTo>
                <a:lnTo>
                  <a:pt x="2884248" y="6896"/>
                </a:lnTo>
                <a:cubicBezTo>
                  <a:pt x="3557256" y="75300"/>
                  <a:pt x="4082443" y="644143"/>
                  <a:pt x="4082443" y="1335750"/>
                </a:cubicBezTo>
                <a:cubicBezTo>
                  <a:pt x="4082443" y="2027357"/>
                  <a:pt x="3557256" y="2596200"/>
                  <a:pt x="2884248" y="2664604"/>
                </a:cubicBezTo>
                <a:lnTo>
                  <a:pt x="2747962" y="2671491"/>
                </a:lnTo>
                <a:lnTo>
                  <a:pt x="2747962" y="2671499"/>
                </a:lnTo>
                <a:lnTo>
                  <a:pt x="2747807" y="2671499"/>
                </a:lnTo>
                <a:lnTo>
                  <a:pt x="2747787" y="2671500"/>
                </a:lnTo>
                <a:lnTo>
                  <a:pt x="2747767" y="2671499"/>
                </a:lnTo>
                <a:lnTo>
                  <a:pt x="1334676" y="2671499"/>
                </a:lnTo>
                <a:lnTo>
                  <a:pt x="1334656" y="2671500"/>
                </a:lnTo>
                <a:lnTo>
                  <a:pt x="1334637" y="2671499"/>
                </a:lnTo>
                <a:lnTo>
                  <a:pt x="1330323" y="2671499"/>
                </a:lnTo>
                <a:lnTo>
                  <a:pt x="1330323" y="2671281"/>
                </a:lnTo>
                <a:lnTo>
                  <a:pt x="1198195" y="2664604"/>
                </a:lnTo>
                <a:cubicBezTo>
                  <a:pt x="567250" y="2600475"/>
                  <a:pt x="66226" y="2096508"/>
                  <a:pt x="6063" y="1463896"/>
                </a:cubicBezTo>
                <a:lnTo>
                  <a:pt x="795" y="1352550"/>
                </a:lnTo>
                <a:lnTo>
                  <a:pt x="0" y="1352550"/>
                </a:lnTo>
                <a:lnTo>
                  <a:pt x="0" y="1335750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/>
          <a:p>
            <a:endParaRPr lang="en-GB" noProof="0"/>
          </a:p>
        </p:txBody>
      </p:sp>
      <p:pic>
        <p:nvPicPr>
          <p:cNvPr id="6" name="Image 4">
            <a:extLst>
              <a:ext uri="{FF2B5EF4-FFF2-40B4-BE49-F238E27FC236}">
                <a16:creationId xmlns:a16="http://schemas.microsoft.com/office/drawing/2014/main" id="{DB7CC7CD-36EB-30C0-7B63-92EB9A5C875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02295" y="201600"/>
            <a:ext cx="514292" cy="5067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06E255D-7155-3DC1-36A0-05461143B51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54373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section content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 : avec coins arrondis en haut 4">
            <a:extLst>
              <a:ext uri="{FF2B5EF4-FFF2-40B4-BE49-F238E27FC236}">
                <a16:creationId xmlns:a16="http://schemas.microsoft.com/office/drawing/2014/main" id="{3DCF99A6-67DF-D9BC-C50D-0A87828E102D}"/>
              </a:ext>
            </a:extLst>
          </p:cNvPr>
          <p:cNvSpPr/>
          <p:nvPr userDrawn="1"/>
        </p:nvSpPr>
        <p:spPr>
          <a:xfrm>
            <a:off x="0" y="1222745"/>
            <a:ext cx="12192000" cy="5635255"/>
          </a:xfrm>
          <a:prstGeom prst="round2SameRect">
            <a:avLst>
              <a:gd name="adj1" fmla="val 5736"/>
              <a:gd name="adj2" fmla="val 0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6B3CDA9-572A-C618-F5C1-D5F99D203D6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1672911"/>
            <a:ext cx="10515600" cy="2354638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400"/>
            </a:lvl1pPr>
          </a:lstStyle>
          <a:p>
            <a:pPr lvl="0"/>
            <a:r>
              <a:rPr lang="en-GB" noProof="0" dirty="0"/>
              <a:t>Click to modify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9935361-3835-30E7-CA0B-A30C6AA2908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577556" y="6362267"/>
            <a:ext cx="474844" cy="356133"/>
          </a:xfrm>
          <a:prstGeom prst="rect">
            <a:avLst/>
          </a:prstGeom>
        </p:spPr>
      </p:pic>
      <p:sp>
        <p:nvSpPr>
          <p:cNvPr id="35" name="Espace réservé pour une image  34">
            <a:extLst>
              <a:ext uri="{FF2B5EF4-FFF2-40B4-BE49-F238E27FC236}">
                <a16:creationId xmlns:a16="http://schemas.microsoft.com/office/drawing/2014/main" id="{A645C968-F0EE-32F7-4625-893A218543E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8201" y="4104036"/>
            <a:ext cx="3339123" cy="2185081"/>
          </a:xfrm>
          <a:custGeom>
            <a:avLst/>
            <a:gdLst>
              <a:gd name="connsiteX0" fmla="*/ 0 w 4082443"/>
              <a:gd name="connsiteY0" fmla="*/ 0 h 2671500"/>
              <a:gd name="connsiteX1" fmla="*/ 1334656 w 4082443"/>
              <a:gd name="connsiteY1" fmla="*/ 0 h 2671500"/>
              <a:gd name="connsiteX2" fmla="*/ 2747787 w 4082443"/>
              <a:gd name="connsiteY2" fmla="*/ 0 h 2671500"/>
              <a:gd name="connsiteX3" fmla="*/ 2747963 w 4082443"/>
              <a:gd name="connsiteY3" fmla="*/ 0 h 2671500"/>
              <a:gd name="connsiteX4" fmla="*/ 2747963 w 4082443"/>
              <a:gd name="connsiteY4" fmla="*/ 9 h 2671500"/>
              <a:gd name="connsiteX5" fmla="*/ 2884248 w 4082443"/>
              <a:gd name="connsiteY5" fmla="*/ 6896 h 2671500"/>
              <a:gd name="connsiteX6" fmla="*/ 4082443 w 4082443"/>
              <a:gd name="connsiteY6" fmla="*/ 1335750 h 2671500"/>
              <a:gd name="connsiteX7" fmla="*/ 2884248 w 4082443"/>
              <a:gd name="connsiteY7" fmla="*/ 2664604 h 2671500"/>
              <a:gd name="connsiteX8" fmla="*/ 2747962 w 4082443"/>
              <a:gd name="connsiteY8" fmla="*/ 2671491 h 2671500"/>
              <a:gd name="connsiteX9" fmla="*/ 2747962 w 4082443"/>
              <a:gd name="connsiteY9" fmla="*/ 2671499 h 2671500"/>
              <a:gd name="connsiteX10" fmla="*/ 2747807 w 4082443"/>
              <a:gd name="connsiteY10" fmla="*/ 2671499 h 2671500"/>
              <a:gd name="connsiteX11" fmla="*/ 2747787 w 4082443"/>
              <a:gd name="connsiteY11" fmla="*/ 2671500 h 2671500"/>
              <a:gd name="connsiteX12" fmla="*/ 2747767 w 4082443"/>
              <a:gd name="connsiteY12" fmla="*/ 2671499 h 2671500"/>
              <a:gd name="connsiteX13" fmla="*/ 1334676 w 4082443"/>
              <a:gd name="connsiteY13" fmla="*/ 2671499 h 2671500"/>
              <a:gd name="connsiteX14" fmla="*/ 1334656 w 4082443"/>
              <a:gd name="connsiteY14" fmla="*/ 2671500 h 2671500"/>
              <a:gd name="connsiteX15" fmla="*/ 1334637 w 4082443"/>
              <a:gd name="connsiteY15" fmla="*/ 2671499 h 2671500"/>
              <a:gd name="connsiteX16" fmla="*/ 1330323 w 4082443"/>
              <a:gd name="connsiteY16" fmla="*/ 2671499 h 2671500"/>
              <a:gd name="connsiteX17" fmla="*/ 1330323 w 4082443"/>
              <a:gd name="connsiteY17" fmla="*/ 2671281 h 2671500"/>
              <a:gd name="connsiteX18" fmla="*/ 1198195 w 4082443"/>
              <a:gd name="connsiteY18" fmla="*/ 2664604 h 2671500"/>
              <a:gd name="connsiteX19" fmla="*/ 6063 w 4082443"/>
              <a:gd name="connsiteY19" fmla="*/ 1463896 h 2671500"/>
              <a:gd name="connsiteX20" fmla="*/ 795 w 4082443"/>
              <a:gd name="connsiteY20" fmla="*/ 1352550 h 2671500"/>
              <a:gd name="connsiteX21" fmla="*/ 0 w 4082443"/>
              <a:gd name="connsiteY21" fmla="*/ 1352550 h 2671500"/>
              <a:gd name="connsiteX22" fmla="*/ 0 w 4082443"/>
              <a:gd name="connsiteY22" fmla="*/ 1335750 h 26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4082443" h="2671500">
                <a:moveTo>
                  <a:pt x="0" y="0"/>
                </a:moveTo>
                <a:lnTo>
                  <a:pt x="1334656" y="0"/>
                </a:lnTo>
                <a:lnTo>
                  <a:pt x="2747787" y="0"/>
                </a:lnTo>
                <a:lnTo>
                  <a:pt x="2747963" y="0"/>
                </a:lnTo>
                <a:lnTo>
                  <a:pt x="2747963" y="9"/>
                </a:lnTo>
                <a:lnTo>
                  <a:pt x="2884248" y="6896"/>
                </a:lnTo>
                <a:cubicBezTo>
                  <a:pt x="3557256" y="75300"/>
                  <a:pt x="4082443" y="644143"/>
                  <a:pt x="4082443" y="1335750"/>
                </a:cubicBezTo>
                <a:cubicBezTo>
                  <a:pt x="4082443" y="2027357"/>
                  <a:pt x="3557256" y="2596200"/>
                  <a:pt x="2884248" y="2664604"/>
                </a:cubicBezTo>
                <a:lnTo>
                  <a:pt x="2747962" y="2671491"/>
                </a:lnTo>
                <a:lnTo>
                  <a:pt x="2747962" y="2671499"/>
                </a:lnTo>
                <a:lnTo>
                  <a:pt x="2747807" y="2671499"/>
                </a:lnTo>
                <a:lnTo>
                  <a:pt x="2747787" y="2671500"/>
                </a:lnTo>
                <a:lnTo>
                  <a:pt x="2747767" y="2671499"/>
                </a:lnTo>
                <a:lnTo>
                  <a:pt x="1334676" y="2671499"/>
                </a:lnTo>
                <a:lnTo>
                  <a:pt x="1334656" y="2671500"/>
                </a:lnTo>
                <a:lnTo>
                  <a:pt x="1334637" y="2671499"/>
                </a:lnTo>
                <a:lnTo>
                  <a:pt x="1330323" y="2671499"/>
                </a:lnTo>
                <a:lnTo>
                  <a:pt x="1330323" y="2671281"/>
                </a:lnTo>
                <a:lnTo>
                  <a:pt x="1198195" y="2664604"/>
                </a:lnTo>
                <a:cubicBezTo>
                  <a:pt x="567250" y="2600475"/>
                  <a:pt x="66226" y="2096508"/>
                  <a:pt x="6063" y="1463896"/>
                </a:cubicBezTo>
                <a:lnTo>
                  <a:pt x="795" y="1352550"/>
                </a:lnTo>
                <a:lnTo>
                  <a:pt x="0" y="1352550"/>
                </a:lnTo>
                <a:lnTo>
                  <a:pt x="0" y="1335750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/>
          <a:p>
            <a:endParaRPr lang="en-GB" noProof="0"/>
          </a:p>
        </p:txBody>
      </p:sp>
      <p:sp>
        <p:nvSpPr>
          <p:cNvPr id="41" name="Espace réservé pour une image  40">
            <a:extLst>
              <a:ext uri="{FF2B5EF4-FFF2-40B4-BE49-F238E27FC236}">
                <a16:creationId xmlns:a16="http://schemas.microsoft.com/office/drawing/2014/main" id="{E78266C7-8721-F11F-D042-62D33616610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020778" y="4104036"/>
            <a:ext cx="3339123" cy="2185081"/>
          </a:xfrm>
          <a:custGeom>
            <a:avLst/>
            <a:gdLst>
              <a:gd name="connsiteX0" fmla="*/ 0 w 4082443"/>
              <a:gd name="connsiteY0" fmla="*/ 0 h 2671500"/>
              <a:gd name="connsiteX1" fmla="*/ 1334656 w 4082443"/>
              <a:gd name="connsiteY1" fmla="*/ 0 h 2671500"/>
              <a:gd name="connsiteX2" fmla="*/ 2747787 w 4082443"/>
              <a:gd name="connsiteY2" fmla="*/ 0 h 2671500"/>
              <a:gd name="connsiteX3" fmla="*/ 2747963 w 4082443"/>
              <a:gd name="connsiteY3" fmla="*/ 0 h 2671500"/>
              <a:gd name="connsiteX4" fmla="*/ 2747963 w 4082443"/>
              <a:gd name="connsiteY4" fmla="*/ 9 h 2671500"/>
              <a:gd name="connsiteX5" fmla="*/ 2884248 w 4082443"/>
              <a:gd name="connsiteY5" fmla="*/ 6896 h 2671500"/>
              <a:gd name="connsiteX6" fmla="*/ 4082443 w 4082443"/>
              <a:gd name="connsiteY6" fmla="*/ 1335750 h 2671500"/>
              <a:gd name="connsiteX7" fmla="*/ 2884248 w 4082443"/>
              <a:gd name="connsiteY7" fmla="*/ 2664604 h 2671500"/>
              <a:gd name="connsiteX8" fmla="*/ 2747962 w 4082443"/>
              <a:gd name="connsiteY8" fmla="*/ 2671491 h 2671500"/>
              <a:gd name="connsiteX9" fmla="*/ 2747962 w 4082443"/>
              <a:gd name="connsiteY9" fmla="*/ 2671499 h 2671500"/>
              <a:gd name="connsiteX10" fmla="*/ 2747807 w 4082443"/>
              <a:gd name="connsiteY10" fmla="*/ 2671499 h 2671500"/>
              <a:gd name="connsiteX11" fmla="*/ 2747787 w 4082443"/>
              <a:gd name="connsiteY11" fmla="*/ 2671500 h 2671500"/>
              <a:gd name="connsiteX12" fmla="*/ 2747767 w 4082443"/>
              <a:gd name="connsiteY12" fmla="*/ 2671499 h 2671500"/>
              <a:gd name="connsiteX13" fmla="*/ 1334676 w 4082443"/>
              <a:gd name="connsiteY13" fmla="*/ 2671499 h 2671500"/>
              <a:gd name="connsiteX14" fmla="*/ 1334656 w 4082443"/>
              <a:gd name="connsiteY14" fmla="*/ 2671500 h 2671500"/>
              <a:gd name="connsiteX15" fmla="*/ 1334637 w 4082443"/>
              <a:gd name="connsiteY15" fmla="*/ 2671499 h 2671500"/>
              <a:gd name="connsiteX16" fmla="*/ 1330323 w 4082443"/>
              <a:gd name="connsiteY16" fmla="*/ 2671499 h 2671500"/>
              <a:gd name="connsiteX17" fmla="*/ 1330323 w 4082443"/>
              <a:gd name="connsiteY17" fmla="*/ 2671281 h 2671500"/>
              <a:gd name="connsiteX18" fmla="*/ 1198195 w 4082443"/>
              <a:gd name="connsiteY18" fmla="*/ 2664604 h 2671500"/>
              <a:gd name="connsiteX19" fmla="*/ 6063 w 4082443"/>
              <a:gd name="connsiteY19" fmla="*/ 1463896 h 2671500"/>
              <a:gd name="connsiteX20" fmla="*/ 795 w 4082443"/>
              <a:gd name="connsiteY20" fmla="*/ 1352550 h 2671500"/>
              <a:gd name="connsiteX21" fmla="*/ 0 w 4082443"/>
              <a:gd name="connsiteY21" fmla="*/ 1352550 h 2671500"/>
              <a:gd name="connsiteX22" fmla="*/ 0 w 4082443"/>
              <a:gd name="connsiteY22" fmla="*/ 1335750 h 26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4082443" h="2671500">
                <a:moveTo>
                  <a:pt x="0" y="0"/>
                </a:moveTo>
                <a:lnTo>
                  <a:pt x="1334656" y="0"/>
                </a:lnTo>
                <a:lnTo>
                  <a:pt x="2747787" y="0"/>
                </a:lnTo>
                <a:lnTo>
                  <a:pt x="2747963" y="0"/>
                </a:lnTo>
                <a:lnTo>
                  <a:pt x="2747963" y="9"/>
                </a:lnTo>
                <a:lnTo>
                  <a:pt x="2884248" y="6896"/>
                </a:lnTo>
                <a:cubicBezTo>
                  <a:pt x="3557256" y="75300"/>
                  <a:pt x="4082443" y="644143"/>
                  <a:pt x="4082443" y="1335750"/>
                </a:cubicBezTo>
                <a:cubicBezTo>
                  <a:pt x="4082443" y="2027357"/>
                  <a:pt x="3557256" y="2596200"/>
                  <a:pt x="2884248" y="2664604"/>
                </a:cubicBezTo>
                <a:lnTo>
                  <a:pt x="2747962" y="2671491"/>
                </a:lnTo>
                <a:lnTo>
                  <a:pt x="2747962" y="2671499"/>
                </a:lnTo>
                <a:lnTo>
                  <a:pt x="2747807" y="2671499"/>
                </a:lnTo>
                <a:lnTo>
                  <a:pt x="2747787" y="2671500"/>
                </a:lnTo>
                <a:lnTo>
                  <a:pt x="2747767" y="2671499"/>
                </a:lnTo>
                <a:lnTo>
                  <a:pt x="1334676" y="2671499"/>
                </a:lnTo>
                <a:lnTo>
                  <a:pt x="1334656" y="2671500"/>
                </a:lnTo>
                <a:lnTo>
                  <a:pt x="1334637" y="2671499"/>
                </a:lnTo>
                <a:lnTo>
                  <a:pt x="1330323" y="2671499"/>
                </a:lnTo>
                <a:lnTo>
                  <a:pt x="1330323" y="2671281"/>
                </a:lnTo>
                <a:lnTo>
                  <a:pt x="1198195" y="2664604"/>
                </a:lnTo>
                <a:cubicBezTo>
                  <a:pt x="567250" y="2600475"/>
                  <a:pt x="66226" y="2096508"/>
                  <a:pt x="6063" y="1463896"/>
                </a:cubicBezTo>
                <a:lnTo>
                  <a:pt x="795" y="1352550"/>
                </a:lnTo>
                <a:lnTo>
                  <a:pt x="0" y="1352550"/>
                </a:lnTo>
                <a:lnTo>
                  <a:pt x="0" y="1335750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/>
          <a:p>
            <a:endParaRPr lang="en-GB" noProof="0"/>
          </a:p>
        </p:txBody>
      </p:sp>
      <p:sp>
        <p:nvSpPr>
          <p:cNvPr id="42" name="Espace réservé pour une image  41">
            <a:extLst>
              <a:ext uri="{FF2B5EF4-FFF2-40B4-BE49-F238E27FC236}">
                <a16:creationId xmlns:a16="http://schemas.microsoft.com/office/drawing/2014/main" id="{8F6D8692-7B6B-CC2C-89A5-37D0AEFA222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429490" y="4104036"/>
            <a:ext cx="3339123" cy="2185081"/>
          </a:xfrm>
          <a:custGeom>
            <a:avLst/>
            <a:gdLst>
              <a:gd name="connsiteX0" fmla="*/ 0 w 4082443"/>
              <a:gd name="connsiteY0" fmla="*/ 0 h 2671500"/>
              <a:gd name="connsiteX1" fmla="*/ 1334656 w 4082443"/>
              <a:gd name="connsiteY1" fmla="*/ 0 h 2671500"/>
              <a:gd name="connsiteX2" fmla="*/ 2747787 w 4082443"/>
              <a:gd name="connsiteY2" fmla="*/ 0 h 2671500"/>
              <a:gd name="connsiteX3" fmla="*/ 2747963 w 4082443"/>
              <a:gd name="connsiteY3" fmla="*/ 0 h 2671500"/>
              <a:gd name="connsiteX4" fmla="*/ 2747963 w 4082443"/>
              <a:gd name="connsiteY4" fmla="*/ 9 h 2671500"/>
              <a:gd name="connsiteX5" fmla="*/ 2884248 w 4082443"/>
              <a:gd name="connsiteY5" fmla="*/ 6896 h 2671500"/>
              <a:gd name="connsiteX6" fmla="*/ 4082443 w 4082443"/>
              <a:gd name="connsiteY6" fmla="*/ 1335750 h 2671500"/>
              <a:gd name="connsiteX7" fmla="*/ 2884248 w 4082443"/>
              <a:gd name="connsiteY7" fmla="*/ 2664604 h 2671500"/>
              <a:gd name="connsiteX8" fmla="*/ 2747962 w 4082443"/>
              <a:gd name="connsiteY8" fmla="*/ 2671491 h 2671500"/>
              <a:gd name="connsiteX9" fmla="*/ 2747962 w 4082443"/>
              <a:gd name="connsiteY9" fmla="*/ 2671499 h 2671500"/>
              <a:gd name="connsiteX10" fmla="*/ 2747807 w 4082443"/>
              <a:gd name="connsiteY10" fmla="*/ 2671499 h 2671500"/>
              <a:gd name="connsiteX11" fmla="*/ 2747787 w 4082443"/>
              <a:gd name="connsiteY11" fmla="*/ 2671500 h 2671500"/>
              <a:gd name="connsiteX12" fmla="*/ 2747767 w 4082443"/>
              <a:gd name="connsiteY12" fmla="*/ 2671499 h 2671500"/>
              <a:gd name="connsiteX13" fmla="*/ 1334676 w 4082443"/>
              <a:gd name="connsiteY13" fmla="*/ 2671499 h 2671500"/>
              <a:gd name="connsiteX14" fmla="*/ 1334656 w 4082443"/>
              <a:gd name="connsiteY14" fmla="*/ 2671500 h 2671500"/>
              <a:gd name="connsiteX15" fmla="*/ 1334637 w 4082443"/>
              <a:gd name="connsiteY15" fmla="*/ 2671499 h 2671500"/>
              <a:gd name="connsiteX16" fmla="*/ 1330323 w 4082443"/>
              <a:gd name="connsiteY16" fmla="*/ 2671499 h 2671500"/>
              <a:gd name="connsiteX17" fmla="*/ 1330323 w 4082443"/>
              <a:gd name="connsiteY17" fmla="*/ 2671281 h 2671500"/>
              <a:gd name="connsiteX18" fmla="*/ 1198195 w 4082443"/>
              <a:gd name="connsiteY18" fmla="*/ 2664604 h 2671500"/>
              <a:gd name="connsiteX19" fmla="*/ 6063 w 4082443"/>
              <a:gd name="connsiteY19" fmla="*/ 1463896 h 2671500"/>
              <a:gd name="connsiteX20" fmla="*/ 795 w 4082443"/>
              <a:gd name="connsiteY20" fmla="*/ 1352550 h 2671500"/>
              <a:gd name="connsiteX21" fmla="*/ 0 w 4082443"/>
              <a:gd name="connsiteY21" fmla="*/ 1352550 h 2671500"/>
              <a:gd name="connsiteX22" fmla="*/ 0 w 4082443"/>
              <a:gd name="connsiteY22" fmla="*/ 1335750 h 26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4082443" h="2671500">
                <a:moveTo>
                  <a:pt x="0" y="0"/>
                </a:moveTo>
                <a:lnTo>
                  <a:pt x="1334656" y="0"/>
                </a:lnTo>
                <a:lnTo>
                  <a:pt x="2747787" y="0"/>
                </a:lnTo>
                <a:lnTo>
                  <a:pt x="2747963" y="0"/>
                </a:lnTo>
                <a:lnTo>
                  <a:pt x="2747963" y="9"/>
                </a:lnTo>
                <a:lnTo>
                  <a:pt x="2884248" y="6896"/>
                </a:lnTo>
                <a:cubicBezTo>
                  <a:pt x="3557256" y="75300"/>
                  <a:pt x="4082443" y="644143"/>
                  <a:pt x="4082443" y="1335750"/>
                </a:cubicBezTo>
                <a:cubicBezTo>
                  <a:pt x="4082443" y="2027357"/>
                  <a:pt x="3557256" y="2596200"/>
                  <a:pt x="2884248" y="2664604"/>
                </a:cubicBezTo>
                <a:lnTo>
                  <a:pt x="2747962" y="2671491"/>
                </a:lnTo>
                <a:lnTo>
                  <a:pt x="2747962" y="2671499"/>
                </a:lnTo>
                <a:lnTo>
                  <a:pt x="2747807" y="2671499"/>
                </a:lnTo>
                <a:lnTo>
                  <a:pt x="2747787" y="2671500"/>
                </a:lnTo>
                <a:lnTo>
                  <a:pt x="2747767" y="2671499"/>
                </a:lnTo>
                <a:lnTo>
                  <a:pt x="1334676" y="2671499"/>
                </a:lnTo>
                <a:lnTo>
                  <a:pt x="1334656" y="2671500"/>
                </a:lnTo>
                <a:lnTo>
                  <a:pt x="1334637" y="2671499"/>
                </a:lnTo>
                <a:lnTo>
                  <a:pt x="1330323" y="2671499"/>
                </a:lnTo>
                <a:lnTo>
                  <a:pt x="1330323" y="2671281"/>
                </a:lnTo>
                <a:lnTo>
                  <a:pt x="1198195" y="2664604"/>
                </a:lnTo>
                <a:cubicBezTo>
                  <a:pt x="567250" y="2600475"/>
                  <a:pt x="66226" y="2096508"/>
                  <a:pt x="6063" y="1463896"/>
                </a:cubicBezTo>
                <a:lnTo>
                  <a:pt x="795" y="1352550"/>
                </a:lnTo>
                <a:lnTo>
                  <a:pt x="0" y="1352550"/>
                </a:lnTo>
                <a:lnTo>
                  <a:pt x="0" y="1335750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/>
          <a:p>
            <a:endParaRPr lang="en-GB" noProof="0"/>
          </a:p>
        </p:txBody>
      </p:sp>
      <p:pic>
        <p:nvPicPr>
          <p:cNvPr id="7" name="Image 5">
            <a:extLst>
              <a:ext uri="{FF2B5EF4-FFF2-40B4-BE49-F238E27FC236}">
                <a16:creationId xmlns:a16="http://schemas.microsoft.com/office/drawing/2014/main" id="{A19DB2DF-140E-EF43-5DCB-97E0C302068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02295" y="201600"/>
            <a:ext cx="514292" cy="5067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20188F5-35F8-C73A-64F2-4F36B578CD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5787420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Red section 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 : avec coins arrondis en haut 7">
            <a:extLst>
              <a:ext uri="{FF2B5EF4-FFF2-40B4-BE49-F238E27FC236}">
                <a16:creationId xmlns:a16="http://schemas.microsoft.com/office/drawing/2014/main" id="{A2421562-4873-AA32-48AC-BEE03DBE8B89}"/>
              </a:ext>
            </a:extLst>
          </p:cNvPr>
          <p:cNvSpPr/>
          <p:nvPr userDrawn="1"/>
        </p:nvSpPr>
        <p:spPr>
          <a:xfrm>
            <a:off x="6311153" y="1222745"/>
            <a:ext cx="5042647" cy="5635255"/>
          </a:xfrm>
          <a:prstGeom prst="round2SameRect">
            <a:avLst>
              <a:gd name="adj1" fmla="val 5736"/>
              <a:gd name="adj2" fmla="val 0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 : avec coins arrondis en haut 8">
            <a:extLst>
              <a:ext uri="{FF2B5EF4-FFF2-40B4-BE49-F238E27FC236}">
                <a16:creationId xmlns:a16="http://schemas.microsoft.com/office/drawing/2014/main" id="{EB53B0F7-BA87-198E-048A-598446C72EA1}"/>
              </a:ext>
            </a:extLst>
          </p:cNvPr>
          <p:cNvSpPr/>
          <p:nvPr userDrawn="1"/>
        </p:nvSpPr>
        <p:spPr>
          <a:xfrm>
            <a:off x="838199" y="1222745"/>
            <a:ext cx="5042647" cy="5635255"/>
          </a:xfrm>
          <a:prstGeom prst="round2SameRect">
            <a:avLst>
              <a:gd name="adj1" fmla="val 5736"/>
              <a:gd name="adj2" fmla="val 0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9935361-3835-30E7-CA0B-A30C6AA2908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577556" y="6362267"/>
            <a:ext cx="474844" cy="356133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300753F-C3F4-96FF-61E0-FF10ABF958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pic>
        <p:nvPicPr>
          <p:cNvPr id="2" name="Image 5">
            <a:extLst>
              <a:ext uri="{FF2B5EF4-FFF2-40B4-BE49-F238E27FC236}">
                <a16:creationId xmlns:a16="http://schemas.microsoft.com/office/drawing/2014/main" id="{C7C887E9-A174-8EE3-D419-4E1096196E6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206076" y="201600"/>
            <a:ext cx="506729" cy="506729"/>
          </a:xfrm>
          <a:prstGeom prst="rect">
            <a:avLst/>
          </a:prstGeom>
        </p:spPr>
      </p:pic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AA2DAFB6-4120-0157-845E-21988732435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1188589" y="1660178"/>
            <a:ext cx="4367260" cy="4507259"/>
          </a:xfrm>
        </p:spPr>
        <p:txBody>
          <a:bodyPr/>
          <a:lstStyle>
            <a:lvl2pPr marL="358775" indent="-358775">
              <a:spcBef>
                <a:spcPts val="1000"/>
              </a:spcBef>
              <a:buFontTx/>
              <a:buBlip>
                <a:blip r:embed="rId4"/>
              </a:buBlip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2pPr>
            <a:lvl3pPr marL="762000" indent="-374650">
              <a:buFontTx/>
              <a:buBlip>
                <a:blip r:embed="rId4"/>
              </a:buBlip>
              <a:tabLst/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3pPr>
          </a:lstStyle>
          <a:p>
            <a:pPr lvl="0"/>
            <a:r>
              <a:rPr lang="en-GB" dirty="0"/>
              <a:t>Click to edit Master text styles</a:t>
            </a:r>
          </a:p>
          <a:p>
            <a:pPr marL="358775" lvl="1" indent="-358775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5"/>
              </a:buBlip>
              <a:tabLst/>
            </a:pPr>
            <a:r>
              <a:rPr lang="en-GB" dirty="0"/>
              <a:t>Second level</a:t>
            </a:r>
          </a:p>
          <a:p>
            <a:pPr marL="714375" lvl="2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5"/>
              </a:buBlip>
              <a:tabLst/>
            </a:pPr>
            <a:r>
              <a:rPr lang="en-GB" dirty="0"/>
              <a:t>Third level</a:t>
            </a:r>
          </a:p>
        </p:txBody>
      </p:sp>
      <p:sp>
        <p:nvSpPr>
          <p:cNvPr id="12" name="Content Placeholder 9">
            <a:extLst>
              <a:ext uri="{FF2B5EF4-FFF2-40B4-BE49-F238E27FC236}">
                <a16:creationId xmlns:a16="http://schemas.microsoft.com/office/drawing/2014/main" id="{0A31A2BD-9D88-F08D-D109-40987069C726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636151" y="1660178"/>
            <a:ext cx="4367260" cy="4507259"/>
          </a:xfrm>
        </p:spPr>
        <p:txBody>
          <a:bodyPr/>
          <a:lstStyle>
            <a:lvl2pPr marL="358775" indent="-358775">
              <a:spcBef>
                <a:spcPts val="1000"/>
              </a:spcBef>
              <a:buFontTx/>
              <a:buBlip>
                <a:blip r:embed="rId4"/>
              </a:buBlip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2pPr>
            <a:lvl3pPr marL="762000" indent="-374650">
              <a:buFontTx/>
              <a:buBlip>
                <a:blip r:embed="rId4"/>
              </a:buBlip>
              <a:tabLst/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3pPr>
          </a:lstStyle>
          <a:p>
            <a:pPr lvl="0"/>
            <a:r>
              <a:rPr lang="en-GB" dirty="0"/>
              <a:t>Click to edit Master text styles</a:t>
            </a:r>
          </a:p>
          <a:p>
            <a:pPr marL="358775" lvl="1" indent="-358775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5"/>
              </a:buBlip>
              <a:tabLst/>
            </a:pPr>
            <a:r>
              <a:rPr lang="en-GB" dirty="0"/>
              <a:t>Second level</a:t>
            </a:r>
          </a:p>
          <a:p>
            <a:pPr marL="714375" lvl="2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5"/>
              </a:buBlip>
              <a:tabLst/>
            </a:pPr>
            <a:r>
              <a:rPr lang="en-GB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35100151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nk section 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 : avec coins arrondis en haut 7">
            <a:extLst>
              <a:ext uri="{FF2B5EF4-FFF2-40B4-BE49-F238E27FC236}">
                <a16:creationId xmlns:a16="http://schemas.microsoft.com/office/drawing/2014/main" id="{A2421562-4873-AA32-48AC-BEE03DBE8B89}"/>
              </a:ext>
            </a:extLst>
          </p:cNvPr>
          <p:cNvSpPr/>
          <p:nvPr userDrawn="1"/>
        </p:nvSpPr>
        <p:spPr>
          <a:xfrm>
            <a:off x="6311153" y="1222745"/>
            <a:ext cx="5042647" cy="5635255"/>
          </a:xfrm>
          <a:prstGeom prst="round2SameRect">
            <a:avLst>
              <a:gd name="adj1" fmla="val 5736"/>
              <a:gd name="adj2" fmla="val 0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 : avec coins arrondis en haut 8">
            <a:extLst>
              <a:ext uri="{FF2B5EF4-FFF2-40B4-BE49-F238E27FC236}">
                <a16:creationId xmlns:a16="http://schemas.microsoft.com/office/drawing/2014/main" id="{EB53B0F7-BA87-198E-048A-598446C72EA1}"/>
              </a:ext>
            </a:extLst>
          </p:cNvPr>
          <p:cNvSpPr/>
          <p:nvPr userDrawn="1"/>
        </p:nvSpPr>
        <p:spPr>
          <a:xfrm>
            <a:off x="838199" y="1222745"/>
            <a:ext cx="5042647" cy="5635255"/>
          </a:xfrm>
          <a:prstGeom prst="round2SameRect">
            <a:avLst>
              <a:gd name="adj1" fmla="val 5736"/>
              <a:gd name="adj2" fmla="val 0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9935361-3835-30E7-CA0B-A30C6AA2908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577556" y="6362267"/>
            <a:ext cx="474844" cy="356133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300753F-C3F4-96FF-61E0-FF10ABF958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pic>
        <p:nvPicPr>
          <p:cNvPr id="2" name="Image 5">
            <a:extLst>
              <a:ext uri="{FF2B5EF4-FFF2-40B4-BE49-F238E27FC236}">
                <a16:creationId xmlns:a16="http://schemas.microsoft.com/office/drawing/2014/main" id="{C7C887E9-A174-8EE3-D419-4E1096196E6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206076" y="201600"/>
            <a:ext cx="506729" cy="506729"/>
          </a:xfrm>
          <a:prstGeom prst="rect">
            <a:avLst/>
          </a:prstGeom>
        </p:spPr>
      </p:pic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6DB28834-2377-2BA6-AA40-B17CFC2B560C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1188589" y="1660178"/>
            <a:ext cx="4367260" cy="4507259"/>
          </a:xfrm>
        </p:spPr>
        <p:txBody>
          <a:bodyPr/>
          <a:lstStyle>
            <a:lvl2pPr marL="358775" indent="-358775">
              <a:spcBef>
                <a:spcPts val="1000"/>
              </a:spcBef>
              <a:buFontTx/>
              <a:buBlip>
                <a:blip r:embed="rId4"/>
              </a:buBlip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2pPr>
            <a:lvl3pPr marL="762000" indent="-374650">
              <a:buFontTx/>
              <a:buBlip>
                <a:blip r:embed="rId4"/>
              </a:buBlip>
              <a:tabLst/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3pPr>
          </a:lstStyle>
          <a:p>
            <a:pPr lvl="0"/>
            <a:r>
              <a:rPr lang="en-GB" dirty="0"/>
              <a:t>Click to edit Master text styles</a:t>
            </a:r>
          </a:p>
          <a:p>
            <a:pPr marL="358775" lvl="1" indent="-358775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5"/>
              </a:buBlip>
              <a:tabLst/>
            </a:pPr>
            <a:r>
              <a:rPr lang="en-GB" dirty="0"/>
              <a:t>Second level</a:t>
            </a:r>
          </a:p>
          <a:p>
            <a:pPr marL="714375" lvl="2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5"/>
              </a:buBlip>
              <a:tabLst/>
            </a:pPr>
            <a:r>
              <a:rPr lang="en-GB" dirty="0"/>
              <a:t>Third level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2C58EF55-DFB6-1CAE-C474-F8D0E76AF9D6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636151" y="1660178"/>
            <a:ext cx="4367260" cy="4507259"/>
          </a:xfrm>
        </p:spPr>
        <p:txBody>
          <a:bodyPr/>
          <a:lstStyle>
            <a:lvl2pPr marL="358775" indent="-358775">
              <a:spcBef>
                <a:spcPts val="1000"/>
              </a:spcBef>
              <a:buFontTx/>
              <a:buBlip>
                <a:blip r:embed="rId4"/>
              </a:buBlip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2pPr>
            <a:lvl3pPr marL="762000" indent="-374650">
              <a:buFontTx/>
              <a:buBlip>
                <a:blip r:embed="rId4"/>
              </a:buBlip>
              <a:tabLst/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3pPr>
          </a:lstStyle>
          <a:p>
            <a:pPr lvl="0"/>
            <a:r>
              <a:rPr lang="en-GB" dirty="0"/>
              <a:t>Click to edit Master text styles</a:t>
            </a:r>
          </a:p>
          <a:p>
            <a:pPr marL="358775" lvl="1" indent="-358775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5"/>
              </a:buBlip>
              <a:tabLst/>
            </a:pPr>
            <a:r>
              <a:rPr lang="en-GB" dirty="0"/>
              <a:t>Second level</a:t>
            </a:r>
          </a:p>
          <a:p>
            <a:pPr marL="714375" lvl="2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5"/>
              </a:buBlip>
              <a:tabLst/>
            </a:pPr>
            <a:r>
              <a:rPr lang="en-GB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19677420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Grey section 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 : avec coins arrondis en haut 7">
            <a:extLst>
              <a:ext uri="{FF2B5EF4-FFF2-40B4-BE49-F238E27FC236}">
                <a16:creationId xmlns:a16="http://schemas.microsoft.com/office/drawing/2014/main" id="{A2421562-4873-AA32-48AC-BEE03DBE8B89}"/>
              </a:ext>
            </a:extLst>
          </p:cNvPr>
          <p:cNvSpPr/>
          <p:nvPr userDrawn="1"/>
        </p:nvSpPr>
        <p:spPr>
          <a:xfrm>
            <a:off x="6311153" y="1222745"/>
            <a:ext cx="5042647" cy="5635255"/>
          </a:xfrm>
          <a:prstGeom prst="round2SameRect">
            <a:avLst>
              <a:gd name="adj1" fmla="val 5736"/>
              <a:gd name="adj2" fmla="val 0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 : avec coins arrondis en haut 8">
            <a:extLst>
              <a:ext uri="{FF2B5EF4-FFF2-40B4-BE49-F238E27FC236}">
                <a16:creationId xmlns:a16="http://schemas.microsoft.com/office/drawing/2014/main" id="{EB53B0F7-BA87-198E-048A-598446C72EA1}"/>
              </a:ext>
            </a:extLst>
          </p:cNvPr>
          <p:cNvSpPr/>
          <p:nvPr userDrawn="1"/>
        </p:nvSpPr>
        <p:spPr>
          <a:xfrm>
            <a:off x="838199" y="1222745"/>
            <a:ext cx="5042647" cy="5635255"/>
          </a:xfrm>
          <a:prstGeom prst="round2SameRect">
            <a:avLst>
              <a:gd name="adj1" fmla="val 5736"/>
              <a:gd name="adj2" fmla="val 0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9935361-3835-30E7-CA0B-A30C6AA2908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577556" y="6362267"/>
            <a:ext cx="474844" cy="356133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EF408574-C683-1985-6632-7A59AB94C9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pic>
        <p:nvPicPr>
          <p:cNvPr id="2" name="Image 5">
            <a:extLst>
              <a:ext uri="{FF2B5EF4-FFF2-40B4-BE49-F238E27FC236}">
                <a16:creationId xmlns:a16="http://schemas.microsoft.com/office/drawing/2014/main" id="{9110A95F-7C10-1EBE-E254-51B73F31C29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206076" y="201600"/>
            <a:ext cx="506729" cy="506729"/>
          </a:xfrm>
          <a:prstGeom prst="rect">
            <a:avLst/>
          </a:prstGeom>
        </p:spPr>
      </p:pic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B046564C-405C-D92E-9921-39F8C498F130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1188589" y="1660178"/>
            <a:ext cx="4367260" cy="4507259"/>
          </a:xfrm>
        </p:spPr>
        <p:txBody>
          <a:bodyPr/>
          <a:lstStyle>
            <a:lvl2pPr marL="358775" indent="-358775">
              <a:spcBef>
                <a:spcPts val="1000"/>
              </a:spcBef>
              <a:buFontTx/>
              <a:buBlip>
                <a:blip r:embed="rId4"/>
              </a:buBlip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2pPr>
            <a:lvl3pPr marL="762000" indent="-374650">
              <a:buFontTx/>
              <a:buBlip>
                <a:blip r:embed="rId4"/>
              </a:buBlip>
              <a:tabLst/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3pPr>
          </a:lstStyle>
          <a:p>
            <a:pPr lvl="0"/>
            <a:r>
              <a:rPr lang="en-GB" dirty="0"/>
              <a:t>Click to edit Master text styles</a:t>
            </a:r>
          </a:p>
          <a:p>
            <a:pPr marL="358775" lvl="1" indent="-358775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5"/>
              </a:buBlip>
              <a:tabLst/>
            </a:pPr>
            <a:r>
              <a:rPr lang="en-GB" dirty="0"/>
              <a:t>Second level</a:t>
            </a:r>
          </a:p>
          <a:p>
            <a:pPr marL="714375" lvl="2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5"/>
              </a:buBlip>
              <a:tabLst/>
            </a:pPr>
            <a:r>
              <a:rPr lang="en-GB" dirty="0"/>
              <a:t>Third level</a:t>
            </a:r>
          </a:p>
        </p:txBody>
      </p:sp>
      <p:sp>
        <p:nvSpPr>
          <p:cNvPr id="12" name="Content Placeholder 9">
            <a:extLst>
              <a:ext uri="{FF2B5EF4-FFF2-40B4-BE49-F238E27FC236}">
                <a16:creationId xmlns:a16="http://schemas.microsoft.com/office/drawing/2014/main" id="{24F84300-D50C-CC9A-515D-1C7A50D2F46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636151" y="1660178"/>
            <a:ext cx="4367260" cy="4507259"/>
          </a:xfrm>
        </p:spPr>
        <p:txBody>
          <a:bodyPr/>
          <a:lstStyle>
            <a:lvl2pPr marL="358775" indent="-358775">
              <a:spcBef>
                <a:spcPts val="1000"/>
              </a:spcBef>
              <a:buFontTx/>
              <a:buBlip>
                <a:blip r:embed="rId4"/>
              </a:buBlip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2pPr>
            <a:lvl3pPr marL="762000" indent="-374650">
              <a:buFontTx/>
              <a:buBlip>
                <a:blip r:embed="rId4"/>
              </a:buBlip>
              <a:tabLst/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3pPr>
          </a:lstStyle>
          <a:p>
            <a:pPr lvl="0"/>
            <a:r>
              <a:rPr lang="en-GB" dirty="0"/>
              <a:t>Click to edit Master text styles</a:t>
            </a:r>
          </a:p>
          <a:p>
            <a:pPr marL="358775" lvl="1" indent="-358775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5"/>
              </a:buBlip>
              <a:tabLst/>
            </a:pPr>
            <a:r>
              <a:rPr lang="en-GB" dirty="0"/>
              <a:t>Second level</a:t>
            </a:r>
          </a:p>
          <a:p>
            <a:pPr marL="714375" lvl="2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5"/>
              </a:buBlip>
              <a:tabLst/>
            </a:pPr>
            <a:r>
              <a:rPr lang="en-GB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42209064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Green section 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 : avec coins arrondis en haut 7">
            <a:extLst>
              <a:ext uri="{FF2B5EF4-FFF2-40B4-BE49-F238E27FC236}">
                <a16:creationId xmlns:a16="http://schemas.microsoft.com/office/drawing/2014/main" id="{A2421562-4873-AA32-48AC-BEE03DBE8B89}"/>
              </a:ext>
            </a:extLst>
          </p:cNvPr>
          <p:cNvSpPr/>
          <p:nvPr userDrawn="1"/>
        </p:nvSpPr>
        <p:spPr>
          <a:xfrm>
            <a:off x="6311153" y="1222745"/>
            <a:ext cx="5042647" cy="5635255"/>
          </a:xfrm>
          <a:prstGeom prst="round2SameRect">
            <a:avLst>
              <a:gd name="adj1" fmla="val 5736"/>
              <a:gd name="adj2" fmla="val 0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 : avec coins arrondis en haut 8">
            <a:extLst>
              <a:ext uri="{FF2B5EF4-FFF2-40B4-BE49-F238E27FC236}">
                <a16:creationId xmlns:a16="http://schemas.microsoft.com/office/drawing/2014/main" id="{EB53B0F7-BA87-198E-048A-598446C72EA1}"/>
              </a:ext>
            </a:extLst>
          </p:cNvPr>
          <p:cNvSpPr/>
          <p:nvPr userDrawn="1"/>
        </p:nvSpPr>
        <p:spPr>
          <a:xfrm>
            <a:off x="838199" y="1222745"/>
            <a:ext cx="5042647" cy="5635255"/>
          </a:xfrm>
          <a:prstGeom prst="round2SameRect">
            <a:avLst>
              <a:gd name="adj1" fmla="val 5736"/>
              <a:gd name="adj2" fmla="val 0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9935361-3835-30E7-CA0B-A30C6AA2908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577556" y="6362267"/>
            <a:ext cx="474844" cy="356133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9DFDA38C-E54D-EE2E-3D3D-3473EB2C45C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pic>
        <p:nvPicPr>
          <p:cNvPr id="2" name="Image 5">
            <a:extLst>
              <a:ext uri="{FF2B5EF4-FFF2-40B4-BE49-F238E27FC236}">
                <a16:creationId xmlns:a16="http://schemas.microsoft.com/office/drawing/2014/main" id="{F1162257-C28A-4867-07F4-ED60C0E7A95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206076" y="201600"/>
            <a:ext cx="506729" cy="506729"/>
          </a:xfrm>
          <a:prstGeom prst="rect">
            <a:avLst/>
          </a:prstGeom>
        </p:spPr>
      </p:pic>
      <p:sp>
        <p:nvSpPr>
          <p:cNvPr id="7" name="Content Placeholder 9">
            <a:extLst>
              <a:ext uri="{FF2B5EF4-FFF2-40B4-BE49-F238E27FC236}">
                <a16:creationId xmlns:a16="http://schemas.microsoft.com/office/drawing/2014/main" id="{2D711CD7-613C-60AE-8C72-DA2437410907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1188589" y="1660178"/>
            <a:ext cx="4367260" cy="4507259"/>
          </a:xfrm>
        </p:spPr>
        <p:txBody>
          <a:bodyPr/>
          <a:lstStyle>
            <a:lvl2pPr marL="358775" indent="-358775">
              <a:spcBef>
                <a:spcPts val="1000"/>
              </a:spcBef>
              <a:buFontTx/>
              <a:buBlip>
                <a:blip r:embed="rId4"/>
              </a:buBlip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2pPr>
            <a:lvl3pPr marL="762000" indent="-374650">
              <a:buFontTx/>
              <a:buBlip>
                <a:blip r:embed="rId4"/>
              </a:buBlip>
              <a:tabLst/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3pPr>
          </a:lstStyle>
          <a:p>
            <a:pPr lvl="0"/>
            <a:r>
              <a:rPr lang="en-GB" dirty="0"/>
              <a:t>Click to edit Master text styles</a:t>
            </a:r>
          </a:p>
          <a:p>
            <a:pPr marL="358775" lvl="1" indent="-358775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5"/>
              </a:buBlip>
              <a:tabLst/>
            </a:pPr>
            <a:r>
              <a:rPr lang="en-GB" dirty="0"/>
              <a:t>Second level</a:t>
            </a:r>
          </a:p>
          <a:p>
            <a:pPr marL="714375" lvl="2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5"/>
              </a:buBlip>
              <a:tabLst/>
            </a:pPr>
            <a:r>
              <a:rPr lang="en-GB" dirty="0"/>
              <a:t>Third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0D732CC7-0FDE-D811-EDB1-AB646764A78E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636151" y="1660178"/>
            <a:ext cx="4367260" cy="4507259"/>
          </a:xfrm>
        </p:spPr>
        <p:txBody>
          <a:bodyPr/>
          <a:lstStyle>
            <a:lvl2pPr marL="358775" indent="-358775">
              <a:spcBef>
                <a:spcPts val="1000"/>
              </a:spcBef>
              <a:buFontTx/>
              <a:buBlip>
                <a:blip r:embed="rId4"/>
              </a:buBlip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2pPr>
            <a:lvl3pPr marL="762000" indent="-374650">
              <a:buFontTx/>
              <a:buBlip>
                <a:blip r:embed="rId4"/>
              </a:buBlip>
              <a:tabLst/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3pPr>
          </a:lstStyle>
          <a:p>
            <a:pPr lvl="0"/>
            <a:r>
              <a:rPr lang="en-GB" dirty="0"/>
              <a:t>Click to edit Master text styles</a:t>
            </a:r>
          </a:p>
          <a:p>
            <a:pPr marL="358775" lvl="1" indent="-358775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5"/>
              </a:buBlip>
              <a:tabLst/>
            </a:pPr>
            <a:r>
              <a:rPr lang="en-GB" dirty="0"/>
              <a:t>Second level</a:t>
            </a:r>
          </a:p>
          <a:p>
            <a:pPr marL="714375" lvl="2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5"/>
              </a:buBlip>
              <a:tabLst/>
            </a:pPr>
            <a:r>
              <a:rPr lang="en-GB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56274214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ue section 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 : avec coins arrondis en haut 7">
            <a:extLst>
              <a:ext uri="{FF2B5EF4-FFF2-40B4-BE49-F238E27FC236}">
                <a16:creationId xmlns:a16="http://schemas.microsoft.com/office/drawing/2014/main" id="{A2421562-4873-AA32-48AC-BEE03DBE8B89}"/>
              </a:ext>
            </a:extLst>
          </p:cNvPr>
          <p:cNvSpPr/>
          <p:nvPr userDrawn="1"/>
        </p:nvSpPr>
        <p:spPr>
          <a:xfrm>
            <a:off x="6311153" y="1222745"/>
            <a:ext cx="5042647" cy="5635255"/>
          </a:xfrm>
          <a:prstGeom prst="round2SameRect">
            <a:avLst>
              <a:gd name="adj1" fmla="val 5736"/>
              <a:gd name="adj2" fmla="val 0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 : avec coins arrondis en haut 8">
            <a:extLst>
              <a:ext uri="{FF2B5EF4-FFF2-40B4-BE49-F238E27FC236}">
                <a16:creationId xmlns:a16="http://schemas.microsoft.com/office/drawing/2014/main" id="{EB53B0F7-BA87-198E-048A-598446C72EA1}"/>
              </a:ext>
            </a:extLst>
          </p:cNvPr>
          <p:cNvSpPr/>
          <p:nvPr userDrawn="1"/>
        </p:nvSpPr>
        <p:spPr>
          <a:xfrm>
            <a:off x="838199" y="1222745"/>
            <a:ext cx="5042647" cy="5635255"/>
          </a:xfrm>
          <a:prstGeom prst="round2SameRect">
            <a:avLst>
              <a:gd name="adj1" fmla="val 5736"/>
              <a:gd name="adj2" fmla="val 0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9935361-3835-30E7-CA0B-A30C6AA2908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577556" y="6362267"/>
            <a:ext cx="474844" cy="356133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C20E56CA-9C63-7C92-E3C4-6C836C2F29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pic>
        <p:nvPicPr>
          <p:cNvPr id="2" name="Image 5">
            <a:extLst>
              <a:ext uri="{FF2B5EF4-FFF2-40B4-BE49-F238E27FC236}">
                <a16:creationId xmlns:a16="http://schemas.microsoft.com/office/drawing/2014/main" id="{B61C4734-C773-C156-A090-61CE06CB75F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206076" y="201600"/>
            <a:ext cx="506729" cy="506729"/>
          </a:xfrm>
          <a:prstGeom prst="rect">
            <a:avLst/>
          </a:prstGeom>
        </p:spPr>
      </p:pic>
      <p:sp>
        <p:nvSpPr>
          <p:cNvPr id="7" name="Content Placeholder 9">
            <a:extLst>
              <a:ext uri="{FF2B5EF4-FFF2-40B4-BE49-F238E27FC236}">
                <a16:creationId xmlns:a16="http://schemas.microsoft.com/office/drawing/2014/main" id="{820FF58A-BBC7-12B7-1C2F-482012CE486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1188589" y="1660178"/>
            <a:ext cx="4367260" cy="4507259"/>
          </a:xfrm>
        </p:spPr>
        <p:txBody>
          <a:bodyPr/>
          <a:lstStyle>
            <a:lvl2pPr marL="358775" indent="-358775">
              <a:spcBef>
                <a:spcPts val="1000"/>
              </a:spcBef>
              <a:buFontTx/>
              <a:buBlip>
                <a:blip r:embed="rId4"/>
              </a:buBlip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2pPr>
            <a:lvl3pPr marL="762000" indent="-374650">
              <a:buFontTx/>
              <a:buBlip>
                <a:blip r:embed="rId4"/>
              </a:buBlip>
              <a:tabLst/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3pPr>
          </a:lstStyle>
          <a:p>
            <a:pPr lvl="0"/>
            <a:r>
              <a:rPr lang="en-GB" dirty="0"/>
              <a:t>Click to edit Master text styles</a:t>
            </a:r>
          </a:p>
          <a:p>
            <a:pPr marL="358775" lvl="1" indent="-358775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5"/>
              </a:buBlip>
              <a:tabLst/>
            </a:pPr>
            <a:r>
              <a:rPr lang="en-GB" dirty="0"/>
              <a:t>Second level</a:t>
            </a:r>
          </a:p>
          <a:p>
            <a:pPr marL="714375" lvl="2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5"/>
              </a:buBlip>
              <a:tabLst/>
            </a:pPr>
            <a:r>
              <a:rPr lang="en-GB" dirty="0"/>
              <a:t>Third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6C42C692-4841-FFF1-E1C0-1752D1F56676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636151" y="1660178"/>
            <a:ext cx="4367260" cy="4507259"/>
          </a:xfrm>
        </p:spPr>
        <p:txBody>
          <a:bodyPr/>
          <a:lstStyle>
            <a:lvl2pPr marL="358775" indent="-358775">
              <a:spcBef>
                <a:spcPts val="1000"/>
              </a:spcBef>
              <a:buFontTx/>
              <a:buBlip>
                <a:blip r:embed="rId4"/>
              </a:buBlip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2pPr>
            <a:lvl3pPr marL="762000" indent="-374650">
              <a:buFontTx/>
              <a:buBlip>
                <a:blip r:embed="rId4"/>
              </a:buBlip>
              <a:tabLst/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3pPr>
          </a:lstStyle>
          <a:p>
            <a:pPr lvl="0"/>
            <a:r>
              <a:rPr lang="en-GB" dirty="0"/>
              <a:t>Click to edit Master text styles</a:t>
            </a:r>
          </a:p>
          <a:p>
            <a:pPr marL="358775" lvl="1" indent="-358775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5"/>
              </a:buBlip>
              <a:tabLst/>
            </a:pPr>
            <a:r>
              <a:rPr lang="en-GB" dirty="0"/>
              <a:t>Second level</a:t>
            </a:r>
          </a:p>
          <a:p>
            <a:pPr marL="714375" lvl="2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5"/>
              </a:buBlip>
              <a:tabLst/>
            </a:pPr>
            <a:r>
              <a:rPr lang="en-GB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46092644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d section key 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C9935361-3835-30E7-CA0B-A30C6AA2908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577556" y="6362267"/>
            <a:ext cx="474844" cy="356133"/>
          </a:xfrm>
          <a:prstGeom prst="rect">
            <a:avLst/>
          </a:prstGeom>
        </p:spPr>
      </p:pic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DF1A6571-E23B-5A9D-0558-093D4921C6CA}"/>
              </a:ext>
            </a:extLst>
          </p:cNvPr>
          <p:cNvSpPr/>
          <p:nvPr userDrawn="1"/>
        </p:nvSpPr>
        <p:spPr>
          <a:xfrm>
            <a:off x="1182370" y="1425643"/>
            <a:ext cx="9827260" cy="4765199"/>
          </a:xfrm>
          <a:prstGeom prst="roundRect">
            <a:avLst>
              <a:gd name="adj" fmla="val 5444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accent2"/>
              </a:solidFill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1B6083AA-D0FC-9F66-C26A-720F1CB281E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02295" y="201600"/>
            <a:ext cx="514292" cy="506729"/>
          </a:xfrm>
          <a:prstGeom prst="rect">
            <a:avLst/>
          </a:prstGeom>
        </p:spPr>
      </p:pic>
      <p:sp>
        <p:nvSpPr>
          <p:cNvPr id="12" name="Espace réservé du texte 11">
            <a:extLst>
              <a:ext uri="{FF2B5EF4-FFF2-40B4-BE49-F238E27FC236}">
                <a16:creationId xmlns:a16="http://schemas.microsoft.com/office/drawing/2014/main" id="{5FDEB2E9-2DE2-3933-9A0B-238CB6D2E10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428118" y="2308068"/>
            <a:ext cx="7203188" cy="3224213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800" b="0" i="0">
                <a:solidFill>
                  <a:schemeClr val="bg1"/>
                </a:solidFill>
                <a:latin typeface="+mn-lt"/>
                <a:cs typeface="Gill Sans Light" panose="020B0302020104020203" pitchFamily="34" charset="-79"/>
              </a:defRPr>
            </a:lvl1pPr>
            <a:lvl2pPr algn="ctr">
              <a:defRPr sz="2800">
                <a:solidFill>
                  <a:schemeClr val="bg1"/>
                </a:solidFill>
              </a:defRPr>
            </a:lvl2pPr>
            <a:lvl3pPr algn="ctr">
              <a:defRPr sz="2800">
                <a:solidFill>
                  <a:schemeClr val="bg1"/>
                </a:solidFill>
              </a:defRPr>
            </a:lvl3pPr>
            <a:lvl4pPr algn="ctr">
              <a:defRPr sz="2800">
                <a:solidFill>
                  <a:schemeClr val="bg1"/>
                </a:solidFill>
              </a:defRPr>
            </a:lvl4pPr>
            <a:lvl5pPr algn="ctr">
              <a:defRPr sz="2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Text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9E6EDCA-745B-8829-5AD1-A11B03FE14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18252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nk section key 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C9935361-3835-30E7-CA0B-A30C6AA2908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577556" y="6362267"/>
            <a:ext cx="474844" cy="356133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97CB0CE7-DE33-88EE-3423-A4C2C76902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pic>
        <p:nvPicPr>
          <p:cNvPr id="2" name="Image 5">
            <a:extLst>
              <a:ext uri="{FF2B5EF4-FFF2-40B4-BE49-F238E27FC236}">
                <a16:creationId xmlns:a16="http://schemas.microsoft.com/office/drawing/2014/main" id="{C39D1BED-4DD7-EE8D-19B6-DD064B0A9D2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206076" y="201600"/>
            <a:ext cx="506729" cy="506729"/>
          </a:xfrm>
          <a:prstGeom prst="rect">
            <a:avLst/>
          </a:prstGeom>
        </p:spPr>
      </p:pic>
      <p:sp>
        <p:nvSpPr>
          <p:cNvPr id="3" name="Rectangle : coins arrondis 7">
            <a:extLst>
              <a:ext uri="{FF2B5EF4-FFF2-40B4-BE49-F238E27FC236}">
                <a16:creationId xmlns:a16="http://schemas.microsoft.com/office/drawing/2014/main" id="{C024A53D-C380-52AE-2506-8FECF914876A}"/>
              </a:ext>
            </a:extLst>
          </p:cNvPr>
          <p:cNvSpPr/>
          <p:nvPr userDrawn="1"/>
        </p:nvSpPr>
        <p:spPr>
          <a:xfrm>
            <a:off x="1182370" y="1425643"/>
            <a:ext cx="9827260" cy="4765199"/>
          </a:xfrm>
          <a:prstGeom prst="roundRect">
            <a:avLst>
              <a:gd name="adj" fmla="val 5444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accent2"/>
              </a:solidFill>
            </a:endParaRPr>
          </a:p>
        </p:txBody>
      </p:sp>
      <p:sp>
        <p:nvSpPr>
          <p:cNvPr id="6" name="Espace réservé du texte 11">
            <a:extLst>
              <a:ext uri="{FF2B5EF4-FFF2-40B4-BE49-F238E27FC236}">
                <a16:creationId xmlns:a16="http://schemas.microsoft.com/office/drawing/2014/main" id="{F1FC30D3-09BA-9EBC-E24F-AA6E2EAB362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494406" y="2196136"/>
            <a:ext cx="7203188" cy="3224213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800" b="0" i="0">
                <a:solidFill>
                  <a:sysClr val="windowText" lastClr="000000"/>
                </a:solidFill>
                <a:latin typeface="+mn-lt"/>
                <a:cs typeface="Gill Sans Light" panose="020B0302020104020203" pitchFamily="34" charset="-79"/>
              </a:defRPr>
            </a:lvl1pPr>
            <a:lvl2pPr algn="ctr">
              <a:defRPr sz="2800">
                <a:solidFill>
                  <a:schemeClr val="bg1"/>
                </a:solidFill>
              </a:defRPr>
            </a:lvl2pPr>
            <a:lvl3pPr algn="ctr">
              <a:defRPr sz="2800">
                <a:solidFill>
                  <a:schemeClr val="bg1"/>
                </a:solidFill>
              </a:defRPr>
            </a:lvl3pPr>
            <a:lvl4pPr algn="ctr">
              <a:defRPr sz="2800">
                <a:solidFill>
                  <a:schemeClr val="bg1"/>
                </a:solidFill>
              </a:defRPr>
            </a:lvl4pPr>
            <a:lvl5pPr algn="ctr">
              <a:defRPr sz="2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90029168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section key 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C9935361-3835-30E7-CA0B-A30C6AA2908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577556" y="6362267"/>
            <a:ext cx="474844" cy="356133"/>
          </a:xfrm>
          <a:prstGeom prst="rect">
            <a:avLst/>
          </a:prstGeom>
        </p:spPr>
      </p:pic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DF1A6571-E23B-5A9D-0558-093D4921C6CA}"/>
              </a:ext>
            </a:extLst>
          </p:cNvPr>
          <p:cNvSpPr/>
          <p:nvPr userDrawn="1"/>
        </p:nvSpPr>
        <p:spPr>
          <a:xfrm>
            <a:off x="1182370" y="1425643"/>
            <a:ext cx="9827260" cy="4765199"/>
          </a:xfrm>
          <a:prstGeom prst="roundRect">
            <a:avLst>
              <a:gd name="adj" fmla="val 5444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accent2"/>
              </a:solidFill>
            </a:endParaRPr>
          </a:p>
        </p:txBody>
      </p:sp>
      <p:sp>
        <p:nvSpPr>
          <p:cNvPr id="12" name="Espace réservé du texte 11">
            <a:extLst>
              <a:ext uri="{FF2B5EF4-FFF2-40B4-BE49-F238E27FC236}">
                <a16:creationId xmlns:a16="http://schemas.microsoft.com/office/drawing/2014/main" id="{5FDEB2E9-2DE2-3933-9A0B-238CB6D2E10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428118" y="2308068"/>
            <a:ext cx="7203188" cy="3224213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800" b="0" i="0">
                <a:solidFill>
                  <a:schemeClr val="bg1"/>
                </a:solidFill>
                <a:latin typeface="+mn-lt"/>
                <a:cs typeface="Gill Sans Light" panose="020B0302020104020203" pitchFamily="34" charset="-79"/>
              </a:defRPr>
            </a:lvl1pPr>
            <a:lvl2pPr algn="ctr">
              <a:defRPr sz="2800">
                <a:solidFill>
                  <a:schemeClr val="bg1"/>
                </a:solidFill>
              </a:defRPr>
            </a:lvl2pPr>
            <a:lvl3pPr algn="ctr">
              <a:defRPr sz="2800">
                <a:solidFill>
                  <a:schemeClr val="bg1"/>
                </a:solidFill>
              </a:defRPr>
            </a:lvl3pPr>
            <a:lvl4pPr algn="ctr">
              <a:defRPr sz="2800">
                <a:solidFill>
                  <a:schemeClr val="bg1"/>
                </a:solidFill>
              </a:defRPr>
            </a:lvl4pPr>
            <a:lvl5pPr algn="ctr">
              <a:defRPr sz="2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Text</a:t>
            </a:r>
          </a:p>
        </p:txBody>
      </p:sp>
      <p:pic>
        <p:nvPicPr>
          <p:cNvPr id="5" name="Image 6">
            <a:extLst>
              <a:ext uri="{FF2B5EF4-FFF2-40B4-BE49-F238E27FC236}">
                <a16:creationId xmlns:a16="http://schemas.microsoft.com/office/drawing/2014/main" id="{E52BFDE3-65C6-2516-9801-08DE82B1FA6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02295" y="201600"/>
            <a:ext cx="514292" cy="5067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E85C4DD-5280-6381-0242-CE01F22BA2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7954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en section key 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C9935361-3835-30E7-CA0B-A30C6AA2908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577556" y="6362267"/>
            <a:ext cx="474844" cy="356133"/>
          </a:xfrm>
          <a:prstGeom prst="rect">
            <a:avLst/>
          </a:prstGeom>
        </p:spPr>
      </p:pic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DF1A6571-E23B-5A9D-0558-093D4921C6CA}"/>
              </a:ext>
            </a:extLst>
          </p:cNvPr>
          <p:cNvSpPr/>
          <p:nvPr userDrawn="1"/>
        </p:nvSpPr>
        <p:spPr>
          <a:xfrm>
            <a:off x="1182370" y="1425643"/>
            <a:ext cx="9827260" cy="4765199"/>
          </a:xfrm>
          <a:prstGeom prst="roundRect">
            <a:avLst>
              <a:gd name="adj" fmla="val 5444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accent2"/>
              </a:solidFill>
            </a:endParaRPr>
          </a:p>
        </p:txBody>
      </p:sp>
      <p:sp>
        <p:nvSpPr>
          <p:cNvPr id="12" name="Espace réservé du texte 11">
            <a:extLst>
              <a:ext uri="{FF2B5EF4-FFF2-40B4-BE49-F238E27FC236}">
                <a16:creationId xmlns:a16="http://schemas.microsoft.com/office/drawing/2014/main" id="{5FDEB2E9-2DE2-3933-9A0B-238CB6D2E10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428118" y="2308068"/>
            <a:ext cx="7203188" cy="3224213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800" b="0" i="0">
                <a:solidFill>
                  <a:schemeClr val="bg1"/>
                </a:solidFill>
                <a:latin typeface="+mn-lt"/>
                <a:cs typeface="Gill Sans Light" panose="020B0302020104020203" pitchFamily="34" charset="-79"/>
              </a:defRPr>
            </a:lvl1pPr>
            <a:lvl2pPr algn="ctr">
              <a:defRPr sz="2800">
                <a:solidFill>
                  <a:schemeClr val="bg1"/>
                </a:solidFill>
              </a:defRPr>
            </a:lvl2pPr>
            <a:lvl3pPr algn="ctr">
              <a:defRPr sz="2800">
                <a:solidFill>
                  <a:schemeClr val="bg1"/>
                </a:solidFill>
              </a:defRPr>
            </a:lvl3pPr>
            <a:lvl4pPr algn="ctr">
              <a:defRPr sz="2800">
                <a:solidFill>
                  <a:schemeClr val="bg1"/>
                </a:solidFill>
              </a:defRPr>
            </a:lvl4pPr>
            <a:lvl5pPr algn="ctr">
              <a:defRPr sz="2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Text</a:t>
            </a:r>
          </a:p>
        </p:txBody>
      </p:sp>
      <p:pic>
        <p:nvPicPr>
          <p:cNvPr id="3" name="Image 4">
            <a:extLst>
              <a:ext uri="{FF2B5EF4-FFF2-40B4-BE49-F238E27FC236}">
                <a16:creationId xmlns:a16="http://schemas.microsoft.com/office/drawing/2014/main" id="{7C1E8E5C-3149-CFAB-E714-FEC68CD2CD7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02295" y="201600"/>
            <a:ext cx="514292" cy="5067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D558C21-10BC-317A-A65D-2A6A57ACBF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601609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section key 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C9935361-3835-30E7-CA0B-A30C6AA2908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577556" y="6362267"/>
            <a:ext cx="474844" cy="356133"/>
          </a:xfrm>
          <a:prstGeom prst="rect">
            <a:avLst/>
          </a:prstGeom>
        </p:spPr>
      </p:pic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DF1A6571-E23B-5A9D-0558-093D4921C6CA}"/>
              </a:ext>
            </a:extLst>
          </p:cNvPr>
          <p:cNvSpPr/>
          <p:nvPr userDrawn="1"/>
        </p:nvSpPr>
        <p:spPr>
          <a:xfrm>
            <a:off x="1182370" y="1425643"/>
            <a:ext cx="9827260" cy="4765199"/>
          </a:xfrm>
          <a:prstGeom prst="roundRect">
            <a:avLst>
              <a:gd name="adj" fmla="val 5444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accent2"/>
              </a:solidFill>
            </a:endParaRPr>
          </a:p>
        </p:txBody>
      </p:sp>
      <p:sp>
        <p:nvSpPr>
          <p:cNvPr id="12" name="Espace réservé du texte 11">
            <a:extLst>
              <a:ext uri="{FF2B5EF4-FFF2-40B4-BE49-F238E27FC236}">
                <a16:creationId xmlns:a16="http://schemas.microsoft.com/office/drawing/2014/main" id="{5FDEB2E9-2DE2-3933-9A0B-238CB6D2E10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428118" y="2308068"/>
            <a:ext cx="7203188" cy="3224213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800" b="0" i="0">
                <a:solidFill>
                  <a:schemeClr val="bg1"/>
                </a:solidFill>
                <a:latin typeface="+mn-lt"/>
                <a:cs typeface="Gill Sans Light" panose="020B0302020104020203" pitchFamily="34" charset="-79"/>
              </a:defRPr>
            </a:lvl1pPr>
            <a:lvl2pPr algn="ctr">
              <a:defRPr sz="2800">
                <a:solidFill>
                  <a:schemeClr val="bg1"/>
                </a:solidFill>
              </a:defRPr>
            </a:lvl2pPr>
            <a:lvl3pPr algn="ctr">
              <a:defRPr sz="2800">
                <a:solidFill>
                  <a:schemeClr val="bg1"/>
                </a:solidFill>
              </a:defRPr>
            </a:lvl3pPr>
            <a:lvl4pPr algn="ctr">
              <a:defRPr sz="2800">
                <a:solidFill>
                  <a:schemeClr val="bg1"/>
                </a:solidFill>
              </a:defRPr>
            </a:lvl4pPr>
            <a:lvl5pPr algn="ctr">
              <a:defRPr sz="28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Text</a:t>
            </a:r>
          </a:p>
        </p:txBody>
      </p:sp>
      <p:pic>
        <p:nvPicPr>
          <p:cNvPr id="5" name="Image 5">
            <a:extLst>
              <a:ext uri="{FF2B5EF4-FFF2-40B4-BE49-F238E27FC236}">
                <a16:creationId xmlns:a16="http://schemas.microsoft.com/office/drawing/2014/main" id="{91C01C6B-AFA9-4E83-E39B-4B28EDC8DB4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02295" y="201600"/>
            <a:ext cx="514292" cy="5067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21329B1-5601-90DB-DAC1-279A701A2E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2882855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29439646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9">
            <a:extLst>
              <a:ext uri="{FF2B5EF4-FFF2-40B4-BE49-F238E27FC236}">
                <a16:creationId xmlns:a16="http://schemas.microsoft.com/office/drawing/2014/main" id="{6471EAE6-704C-C3B2-B0BC-CFA343DD333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48768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384EE32-F3B8-6076-4095-E8334D9BA78C}"/>
              </a:ext>
            </a:extLst>
          </p:cNvPr>
          <p:cNvSpPr/>
          <p:nvPr userDrawn="1"/>
        </p:nvSpPr>
        <p:spPr>
          <a:xfrm>
            <a:off x="0" y="5284640"/>
            <a:ext cx="12192000" cy="162384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accent5"/>
              </a:solidFill>
            </a:endParaRP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D6062E67-AA0B-A006-FEB6-F218A58AAE9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2912"/>
          <a:stretch/>
        </p:blipFill>
        <p:spPr>
          <a:xfrm>
            <a:off x="11137315" y="6034572"/>
            <a:ext cx="927686" cy="7112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58B5F9D4-7747-ADCB-E6C1-49ADA04EA204}"/>
              </a:ext>
            </a:extLst>
          </p:cNvPr>
          <p:cNvSpPr/>
          <p:nvPr userDrawn="1"/>
        </p:nvSpPr>
        <p:spPr>
          <a:xfrm>
            <a:off x="2690526" y="4878538"/>
            <a:ext cx="430924" cy="35561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5DDB00A-3875-C6F7-B196-88BE08F200D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5537693"/>
            <a:ext cx="9144000" cy="558871"/>
          </a:xfrm>
        </p:spPr>
        <p:txBody>
          <a:bodyPr anchor="ctr">
            <a:noAutofit/>
          </a:bodyPr>
          <a:lstStyle>
            <a:lvl1pPr algn="ctr">
              <a:defRPr sz="3200" b="1" i="0">
                <a:latin typeface="+mj-lt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GB" noProof="0" dirty="0"/>
              <a:t>Text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1115183-FACE-268A-57F0-F265985C2F2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6098544"/>
            <a:ext cx="9144000" cy="29181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 sz="1400" b="0" i="0" spc="300">
                <a:latin typeface="+mn-lt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noProof="0" dirty="0"/>
              <a:t>Sub-title</a:t>
            </a:r>
          </a:p>
        </p:txBody>
      </p:sp>
      <p:pic>
        <p:nvPicPr>
          <p:cNvPr id="13" name="Picture 12" descr="A logo with orange and grey letters&#10;&#10;Description automatically generated">
            <a:extLst>
              <a:ext uri="{FF2B5EF4-FFF2-40B4-BE49-F238E27FC236}">
                <a16:creationId xmlns:a16="http://schemas.microsoft.com/office/drawing/2014/main" id="{7929F3CA-82E7-6DD2-D615-F777D5A06B78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52399" y="6099221"/>
            <a:ext cx="1291994" cy="621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35830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097653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theme" Target="../theme/theme1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itre 1">
            <a:extLst>
              <a:ext uri="{FF2B5EF4-FFF2-40B4-BE49-F238E27FC236}">
                <a16:creationId xmlns:a16="http://schemas.microsoft.com/office/drawing/2014/main" id="{D52C7C54-A67B-7C6C-795D-7EEC864AB2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0594"/>
            <a:ext cx="10515600" cy="447735"/>
          </a:xfrm>
          <a:prstGeom prst="rect">
            <a:avLst/>
          </a:prstGeom>
        </p:spPr>
        <p:txBody>
          <a:bodyPr vert="horz" lIns="91440" tIns="0" rIns="91440" bIns="0" rtlCol="0" anchor="t">
            <a:noAutofit/>
          </a:bodyPr>
          <a:lstStyle/>
          <a:p>
            <a:r>
              <a:rPr lang="en-GB" noProof="0" dirty="0"/>
              <a:t>Title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DE1AC6A1-85F6-E8C4-97DE-B8C5FC3D59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marL="358775" lvl="1" indent="-358775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40"/>
              </a:buBlip>
              <a:tabLst/>
            </a:pPr>
            <a:r>
              <a:rPr lang="en-GB" dirty="0"/>
              <a:t>Second level</a:t>
            </a:r>
          </a:p>
          <a:p>
            <a:pPr marL="714375" lvl="2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40"/>
              </a:buBlip>
              <a:tabLst/>
            </a:pPr>
            <a:r>
              <a:rPr lang="en-GB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7168982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51" r:id="rId2"/>
    <p:sldLayoutId id="2147483704" r:id="rId3"/>
    <p:sldLayoutId id="2147483752" r:id="rId4"/>
    <p:sldLayoutId id="2147483705" r:id="rId5"/>
    <p:sldLayoutId id="2147483703" r:id="rId6"/>
    <p:sldLayoutId id="2147483685" r:id="rId7"/>
    <p:sldLayoutId id="2147483751" r:id="rId8"/>
    <p:sldLayoutId id="2147483652" r:id="rId9"/>
    <p:sldLayoutId id="2147483715" r:id="rId10"/>
    <p:sldLayoutId id="2147483717" r:id="rId11"/>
    <p:sldLayoutId id="2147483753" r:id="rId12"/>
    <p:sldLayoutId id="2147483722" r:id="rId13"/>
    <p:sldLayoutId id="2147483734" r:id="rId14"/>
    <p:sldLayoutId id="2147483739" r:id="rId15"/>
    <p:sldLayoutId id="2147483755" r:id="rId16"/>
    <p:sldLayoutId id="2147483754" r:id="rId17"/>
    <p:sldLayoutId id="2147483756" r:id="rId18"/>
    <p:sldLayoutId id="2147483757" r:id="rId19"/>
    <p:sldLayoutId id="2147483758" r:id="rId20"/>
    <p:sldLayoutId id="2147483728" r:id="rId21"/>
    <p:sldLayoutId id="2147483759" r:id="rId22"/>
    <p:sldLayoutId id="2147483729" r:id="rId23"/>
    <p:sldLayoutId id="2147483736" r:id="rId24"/>
    <p:sldLayoutId id="2147483741" r:id="rId25"/>
    <p:sldLayoutId id="2147483761" r:id="rId26"/>
    <p:sldLayoutId id="2147483760" r:id="rId27"/>
    <p:sldLayoutId id="2147483762" r:id="rId28"/>
    <p:sldLayoutId id="2147483763" r:id="rId29"/>
    <p:sldLayoutId id="2147483764" r:id="rId30"/>
    <p:sldLayoutId id="2147483732" r:id="rId31"/>
    <p:sldLayoutId id="2147483765" r:id="rId32"/>
    <p:sldLayoutId id="2147483733" r:id="rId33"/>
    <p:sldLayoutId id="2147483738" r:id="rId34"/>
    <p:sldLayoutId id="2147483743" r:id="rId35"/>
    <p:sldLayoutId id="2147483655" r:id="rId36"/>
    <p:sldLayoutId id="2147483766" r:id="rId37"/>
    <p:sldLayoutId id="2147483767" r:id="rId38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600" b="0" i="0" kern="1200">
          <a:solidFill>
            <a:schemeClr val="tx1"/>
          </a:solidFill>
          <a:latin typeface="+mj-lt"/>
          <a:ea typeface="Verdana" panose="020B0604030504040204" pitchFamily="34" charset="0"/>
          <a:cs typeface="Gill Sans" panose="020B0502020104020203" pitchFamily="34" charset="-79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SzPct val="70000"/>
        <a:buFont typeface="Arial" panose="020B0604020202020204" pitchFamily="34" charset="0"/>
        <a:buNone/>
        <a:tabLst/>
        <a:defRPr sz="2400" b="0" i="0" kern="1200">
          <a:solidFill>
            <a:schemeClr val="tx1"/>
          </a:solidFill>
          <a:latin typeface="+mn-lt"/>
          <a:ea typeface="Tahoma" panose="020B0604030504040204" pitchFamily="34" charset="0"/>
          <a:cs typeface="Gill Sans Light" panose="020B0302020104020203" pitchFamily="34" charset="-79"/>
        </a:defRPr>
      </a:lvl1pPr>
      <a:lvl2pPr marL="358775" indent="-358775" algn="l" defTabSz="914400" rtl="0" eaLnBrk="1" latinLnBrk="0" hangingPunct="1">
        <a:lnSpc>
          <a:spcPct val="90000"/>
        </a:lnSpc>
        <a:spcBef>
          <a:spcPts val="500"/>
        </a:spcBef>
        <a:buSzPct val="70000"/>
        <a:buFontTx/>
        <a:buBlip>
          <a:blip r:embed="rId41"/>
        </a:buBlip>
        <a:tabLst/>
        <a:defRPr sz="2400" b="0" i="0" kern="1200">
          <a:solidFill>
            <a:schemeClr val="tx1"/>
          </a:solidFill>
          <a:latin typeface="+mn-lt"/>
          <a:ea typeface="Tahoma" panose="020B0604030504040204" pitchFamily="34" charset="0"/>
          <a:cs typeface="Gill Sans Light" panose="020B0302020104020203" pitchFamily="34" charset="-79"/>
        </a:defRPr>
      </a:lvl2pPr>
      <a:lvl3pPr marL="358775" indent="-358775" algn="l" defTabSz="914400" rtl="0" eaLnBrk="1" latinLnBrk="0" hangingPunct="1">
        <a:lnSpc>
          <a:spcPct val="90000"/>
        </a:lnSpc>
        <a:spcBef>
          <a:spcPts val="500"/>
        </a:spcBef>
        <a:buSzPct val="70000"/>
        <a:buFontTx/>
        <a:buBlip>
          <a:blip r:embed="rId41"/>
        </a:buBlip>
        <a:defRPr sz="2400" b="0" i="0" kern="1200">
          <a:solidFill>
            <a:schemeClr val="tx1"/>
          </a:solidFill>
          <a:latin typeface="+mn-lt"/>
          <a:ea typeface="Tahoma" panose="020B0604030504040204" pitchFamily="34" charset="0"/>
          <a:cs typeface="Gill Sans Light" panose="020B0302020104020203" pitchFamily="34" charset="-79"/>
        </a:defRPr>
      </a:lvl3pPr>
      <a:lvl4pPr marL="358775" indent="0" algn="l" defTabSz="914400" rtl="0" eaLnBrk="1" latinLnBrk="0" hangingPunct="1">
        <a:lnSpc>
          <a:spcPct val="90000"/>
        </a:lnSpc>
        <a:spcBef>
          <a:spcPts val="500"/>
        </a:spcBef>
        <a:buSzPct val="70000"/>
        <a:buFont typeface="Arial" panose="020B0604020202020204" pitchFamily="34" charset="0"/>
        <a:buNone/>
        <a:defRPr sz="1400" b="0" i="0" kern="1200">
          <a:solidFill>
            <a:schemeClr val="tx1"/>
          </a:solidFill>
          <a:latin typeface="+mn-lt"/>
          <a:ea typeface="Tahoma" panose="020B0604030504040204" pitchFamily="34" charset="0"/>
          <a:cs typeface="Gill Sans Light" panose="020B0302020104020203" pitchFamily="34" charset="-79"/>
        </a:defRPr>
      </a:lvl4pPr>
      <a:lvl5pPr marL="358775" indent="0" algn="l" defTabSz="914400" rtl="0" eaLnBrk="1" latinLnBrk="0" hangingPunct="1">
        <a:lnSpc>
          <a:spcPct val="90000"/>
        </a:lnSpc>
        <a:spcBef>
          <a:spcPts val="500"/>
        </a:spcBef>
        <a:buSzPct val="70000"/>
        <a:buFont typeface="Arial" panose="020B0604020202020204" pitchFamily="34" charset="0"/>
        <a:buNone/>
        <a:defRPr sz="1000" b="0" i="0" kern="1200">
          <a:solidFill>
            <a:schemeClr val="tx1"/>
          </a:solidFill>
          <a:latin typeface="+mn-lt"/>
          <a:ea typeface="Tahoma" panose="020B0604030504040204" pitchFamily="34" charset="0"/>
          <a:cs typeface="Gill Sans Light" panose="020B0302020104020203" pitchFamily="34" charset="-79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3.emf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8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library.virginia.edu/data/articles/diagnostic-plots" TargetMode="External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library.virginia.edu/data/articles/diagnostic-plots" TargetMode="External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8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8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8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glittr.org&#8203;" TargetMode="External"/><Relationship Id="rId2" Type="http://schemas.openxmlformats.org/officeDocument/2006/relationships/hyperlink" Target="http://cran.r-project.org/manuals.html" TargetMode="External"/><Relationship Id="rId1" Type="http://schemas.openxmlformats.org/officeDocument/2006/relationships/slideLayout" Target="../slideLayouts/slideLayout8.xml"/><Relationship Id="rId6" Type="http://schemas.openxmlformats.org/officeDocument/2006/relationships/hyperlink" Target="http://www.rseek.org/" TargetMode="External"/><Relationship Id="rId5" Type="http://schemas.openxmlformats.org/officeDocument/2006/relationships/hyperlink" Target="http://stackoverflow.com/tags/r/info" TargetMode="External"/><Relationship Id="rId4" Type="http://schemas.openxmlformats.org/officeDocument/2006/relationships/hyperlink" Target="http://www.sthda.com/english/" TargetMode="Externa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mailto:training@sib.swiss" TargetMode="External"/><Relationship Id="rId2" Type="http://schemas.openxmlformats.org/officeDocument/2006/relationships/hyperlink" Target="http://www.sib.swiss/training" TargetMode="External"/><Relationship Id="rId1" Type="http://schemas.openxmlformats.org/officeDocument/2006/relationships/slideLayout" Target="../slideLayouts/slideLayout8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C1575-BA47-27AF-7812-F767C893F5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a typeface="Verdana"/>
                <a:cs typeface="Gill Sans"/>
              </a:rPr>
              <a:t>First Steps with R in Life Sciences: Statistics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D0A2170-98B9-D0B4-6CB7-41B92028DEB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10812" y="5066270"/>
            <a:ext cx="5010149" cy="568785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GB" dirty="0">
                <a:ea typeface="Tahoma"/>
                <a:cs typeface="Gill Sans Light"/>
              </a:rPr>
              <a:t>With slides from: </a:t>
            </a:r>
            <a:r>
              <a:rPr lang="en-GB" b="0" dirty="0">
                <a:ea typeface="+mn-lt"/>
                <a:cs typeface="+mn-lt"/>
              </a:rPr>
              <a:t>Diana Marek, Geoffrey Fucile, Alex Smith, Linda Dib, Leonore Wigger, Wandrille Duchemin</a:t>
            </a:r>
            <a:r>
              <a:rPr lang="en-GB" dirty="0">
                <a:ea typeface="Tahoma"/>
                <a:cs typeface="Gill Sans Light"/>
              </a:rPr>
              <a:t> </a:t>
            </a:r>
            <a:endParaRPr lang="en-GB" dirty="0"/>
          </a:p>
        </p:txBody>
      </p:sp>
      <p:pic>
        <p:nvPicPr>
          <p:cNvPr id="8" name="Picture 7" descr="A red line drawing of a person&#10;&#10;Description automatically generated">
            <a:extLst>
              <a:ext uri="{FF2B5EF4-FFF2-40B4-BE49-F238E27FC236}">
                <a16:creationId xmlns:a16="http://schemas.microsoft.com/office/drawing/2014/main" id="{22F25DA9-24E9-A4F5-6179-91D46B8FDBB5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0767" y="4037439"/>
            <a:ext cx="994837" cy="927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27973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8F607-D6D3-C699-E432-6F5BE28D7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a typeface="Verdana"/>
                <a:cs typeface="Gill Sans"/>
              </a:rPr>
              <a:t>Statistical hypothesis testing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7F8576-A966-0DD6-A4D6-DBF783FB2B1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2540">
              <a:lnSpc>
                <a:spcPct val="100000"/>
              </a:lnSpc>
              <a:spcBef>
                <a:spcPts val="479"/>
              </a:spcBef>
            </a:pPr>
            <a:r>
              <a:rPr lang="en-US" sz="2200" dirty="0">
                <a:latin typeface="Corbel"/>
                <a:ea typeface="Tahoma"/>
                <a:cs typeface="Arial"/>
              </a:rPr>
              <a:t>Two </a:t>
            </a:r>
            <a:r>
              <a:rPr lang="en-US" sz="2200" b="1" dirty="0">
                <a:latin typeface="Corbel"/>
                <a:ea typeface="Tahoma"/>
                <a:cs typeface="Arial"/>
              </a:rPr>
              <a:t>hypotheses in competition</a:t>
            </a:r>
            <a:r>
              <a:rPr lang="en-US" sz="2200" dirty="0">
                <a:latin typeface="Corbel"/>
                <a:ea typeface="Tahoma"/>
                <a:cs typeface="Arial"/>
              </a:rPr>
              <a:t>:</a:t>
            </a:r>
            <a:endParaRPr lang="en-US" dirty="0"/>
          </a:p>
          <a:p>
            <a:pPr marL="448945" lvl="1" indent="-180340">
              <a:lnSpc>
                <a:spcPct val="100000"/>
              </a:lnSpc>
              <a:spcBef>
                <a:spcPts val="400"/>
              </a:spcBef>
              <a:buFont typeface="Arial,Sans-Serif"/>
              <a:buChar char="•"/>
            </a:pPr>
            <a:r>
              <a:rPr lang="en-US" sz="1800" dirty="0">
                <a:latin typeface="Corbel"/>
                <a:ea typeface="Tahoma"/>
                <a:cs typeface="Arial"/>
              </a:rPr>
              <a:t>H0: the </a:t>
            </a:r>
            <a:r>
              <a:rPr lang="en-US" sz="1800" b="1" dirty="0">
                <a:latin typeface="Corbel"/>
                <a:ea typeface="Tahoma"/>
                <a:cs typeface="Arial"/>
              </a:rPr>
              <a:t>NULL hypothesis</a:t>
            </a:r>
            <a:r>
              <a:rPr lang="en-US" sz="1800" dirty="0">
                <a:latin typeface="Corbel"/>
                <a:ea typeface="Tahoma"/>
                <a:cs typeface="Arial"/>
              </a:rPr>
              <a:t> (usually the most conservative – e.g., “no difference”)</a:t>
            </a:r>
          </a:p>
          <a:p>
            <a:pPr marL="448945" lvl="1" indent="-180340">
              <a:lnSpc>
                <a:spcPct val="100000"/>
              </a:lnSpc>
              <a:spcBef>
                <a:spcPts val="400"/>
              </a:spcBef>
              <a:buFont typeface="Arial,Sans-Serif"/>
              <a:buChar char="•"/>
            </a:pPr>
            <a:r>
              <a:rPr lang="en-US" sz="1800" dirty="0">
                <a:latin typeface="Corbel"/>
                <a:ea typeface="Tahoma"/>
                <a:cs typeface="Arial"/>
              </a:rPr>
              <a:t>H1: the </a:t>
            </a:r>
            <a:r>
              <a:rPr lang="en-US" sz="1800" b="1" dirty="0">
                <a:latin typeface="Corbel"/>
                <a:ea typeface="Tahoma"/>
                <a:cs typeface="Arial"/>
              </a:rPr>
              <a:t>alternative hypothesis</a:t>
            </a:r>
            <a:r>
              <a:rPr lang="en-US" sz="1800" dirty="0">
                <a:latin typeface="Corbel"/>
                <a:ea typeface="Tahoma"/>
                <a:cs typeface="Arial"/>
              </a:rPr>
              <a:t> (usually the one we are actually interested in) </a:t>
            </a:r>
          </a:p>
          <a:p>
            <a:pPr>
              <a:lnSpc>
                <a:spcPct val="100000"/>
              </a:lnSpc>
              <a:spcBef>
                <a:spcPts val="479"/>
              </a:spcBef>
            </a:pPr>
            <a:endParaRPr lang="en-US" sz="1800" dirty="0">
              <a:latin typeface="Corbel"/>
              <a:cs typeface="Arial"/>
            </a:endParaRPr>
          </a:p>
          <a:p>
            <a:pPr>
              <a:lnSpc>
                <a:spcPct val="100000"/>
              </a:lnSpc>
              <a:spcBef>
                <a:spcPts val="479"/>
              </a:spcBef>
            </a:pPr>
            <a:r>
              <a:rPr lang="en-US" sz="2200" u="sng" dirty="0">
                <a:ea typeface="+mn-lt"/>
                <a:cs typeface="+mn-lt"/>
              </a:rPr>
              <a:t>Example:</a:t>
            </a:r>
            <a:endParaRPr lang="en-US" sz="2200" dirty="0">
              <a:ea typeface="+mn-lt"/>
              <a:cs typeface="+mn-lt"/>
            </a:endParaRPr>
          </a:p>
          <a:p>
            <a:pPr marL="182245">
              <a:lnSpc>
                <a:spcPct val="100000"/>
              </a:lnSpc>
              <a:spcBef>
                <a:spcPts val="400"/>
              </a:spcBef>
            </a:pPr>
            <a:r>
              <a:rPr lang="en-US" sz="1800" dirty="0">
                <a:ea typeface="+mn-lt"/>
                <a:cs typeface="+mn-lt"/>
              </a:rPr>
              <a:t>H0: « There is no difference in weight between two given strains of mice »</a:t>
            </a:r>
          </a:p>
          <a:p>
            <a:pPr marL="182245">
              <a:lnSpc>
                <a:spcPct val="100000"/>
              </a:lnSpc>
              <a:spcBef>
                <a:spcPts val="400"/>
              </a:spcBef>
            </a:pPr>
            <a:r>
              <a:rPr lang="en-US" sz="1800" dirty="0">
                <a:ea typeface="+mn-lt"/>
                <a:cs typeface="+mn-lt"/>
              </a:rPr>
              <a:t>H1: « The average weight in KO mice is different from that in WT mice »</a:t>
            </a:r>
          </a:p>
          <a:p>
            <a:pPr marL="182245">
              <a:lnSpc>
                <a:spcPct val="100000"/>
              </a:lnSpc>
              <a:spcBef>
                <a:spcPts val="400"/>
              </a:spcBef>
            </a:pPr>
            <a:endParaRPr lang="en-US" sz="1800" dirty="0">
              <a:ea typeface="+mn-lt"/>
              <a:cs typeface="+mn-lt"/>
            </a:endParaRPr>
          </a:p>
          <a:p>
            <a:pPr marL="182245">
              <a:lnSpc>
                <a:spcPct val="100000"/>
              </a:lnSpc>
              <a:spcBef>
                <a:spcPts val="400"/>
              </a:spcBef>
            </a:pPr>
            <a:r>
              <a:rPr lang="en-US" sz="1800" dirty="0">
                <a:ea typeface="+mn-lt"/>
                <a:cs typeface="+mn-lt"/>
              </a:rPr>
              <a:t>Statistical test:</a:t>
            </a:r>
            <a:endParaRPr lang="en-US" sz="1800" dirty="0">
              <a:cs typeface="Arial"/>
            </a:endParaRPr>
          </a:p>
          <a:p>
            <a:pPr marL="525145" lvl="1" indent="-340360">
              <a:spcBef>
                <a:spcPts val="400"/>
              </a:spcBef>
              <a:buFont typeface="Arial,Sans-Serif"/>
              <a:buChar char="•"/>
            </a:pPr>
            <a:r>
              <a:rPr lang="en-US" sz="1800" dirty="0">
                <a:latin typeface="Corbel"/>
                <a:ea typeface="Tahoma"/>
                <a:cs typeface="Arial"/>
              </a:rPr>
              <a:t>Calculate test statistic (</a:t>
            </a:r>
            <a:r>
              <a:rPr lang="fr-CH" sz="1800" dirty="0"/>
              <a:t>how far </a:t>
            </a:r>
            <a:r>
              <a:rPr lang="fr-CH" sz="1800" dirty="0" err="1"/>
              <a:t>your</a:t>
            </a:r>
            <a:r>
              <a:rPr lang="fr-CH" sz="1800" dirty="0"/>
              <a:t> data are </a:t>
            </a:r>
            <a:r>
              <a:rPr lang="fr-CH" sz="1800" dirty="0" err="1"/>
              <a:t>from</a:t>
            </a:r>
            <a:r>
              <a:rPr lang="fr-CH" sz="1800" dirty="0"/>
              <a:t> </a:t>
            </a:r>
            <a:r>
              <a:rPr lang="fr-CH" sz="1800" dirty="0" err="1"/>
              <a:t>what</a:t>
            </a:r>
            <a:r>
              <a:rPr lang="fr-CH" sz="1800" dirty="0"/>
              <a:t> H₀ </a:t>
            </a:r>
            <a:r>
              <a:rPr lang="fr-CH" sz="1800" dirty="0" err="1"/>
              <a:t>expects</a:t>
            </a:r>
            <a:r>
              <a:rPr lang="fr-CH" sz="1800" dirty="0"/>
              <a:t>, in </a:t>
            </a:r>
            <a:r>
              <a:rPr lang="fr-CH" sz="1800" dirty="0" err="1"/>
              <a:t>standardised</a:t>
            </a:r>
            <a:r>
              <a:rPr lang="fr-CH" sz="1800" dirty="0"/>
              <a:t> </a:t>
            </a:r>
            <a:r>
              <a:rPr lang="fr-CH" sz="1800" dirty="0" err="1"/>
              <a:t>units</a:t>
            </a:r>
            <a:r>
              <a:rPr lang="fr-CH" sz="1800" dirty="0"/>
              <a:t>),</a:t>
            </a:r>
            <a:r>
              <a:rPr lang="en-US" sz="1800" dirty="0">
                <a:latin typeface="Corbel"/>
                <a:ea typeface="Tahoma"/>
                <a:cs typeface="Arial"/>
              </a:rPr>
              <a:t> </a:t>
            </a:r>
          </a:p>
          <a:p>
            <a:pPr marL="525145" lvl="1" indent="-340360">
              <a:spcBef>
                <a:spcPts val="400"/>
              </a:spcBef>
              <a:buFont typeface="Arial,Sans-Serif"/>
              <a:buChar char="•"/>
            </a:pPr>
            <a:r>
              <a:rPr lang="en-US" sz="1800" dirty="0">
                <a:latin typeface="Corbel"/>
                <a:ea typeface="Tahoma"/>
                <a:cs typeface="Arial"/>
              </a:rPr>
              <a:t>Calculate associated p-value (</a:t>
            </a:r>
            <a:r>
              <a:rPr lang="fr-CH" sz="1800" dirty="0" err="1"/>
              <a:t>probability</a:t>
            </a:r>
            <a:r>
              <a:rPr lang="fr-CH" sz="1800" dirty="0"/>
              <a:t> of </a:t>
            </a:r>
            <a:r>
              <a:rPr lang="fr-CH" sz="1800" dirty="0" err="1"/>
              <a:t>observing</a:t>
            </a:r>
            <a:r>
              <a:rPr lang="fr-CH" sz="1800" dirty="0"/>
              <a:t> data </a:t>
            </a:r>
            <a:r>
              <a:rPr lang="fr-CH" sz="1800" dirty="0" err="1"/>
              <a:t>this</a:t>
            </a:r>
            <a:r>
              <a:rPr lang="fr-CH" sz="1800" dirty="0"/>
              <a:t> </a:t>
            </a:r>
            <a:r>
              <a:rPr lang="fr-CH" sz="1800" dirty="0" err="1"/>
              <a:t>extreme</a:t>
            </a:r>
            <a:r>
              <a:rPr lang="fr-CH" sz="1800" dirty="0"/>
              <a:t> or more, if H0 </a:t>
            </a:r>
            <a:r>
              <a:rPr lang="fr-CH" sz="1800" dirty="0" err="1"/>
              <a:t>was</a:t>
            </a:r>
            <a:r>
              <a:rPr lang="fr-CH" sz="1800" dirty="0"/>
              <a:t> </a:t>
            </a:r>
            <a:r>
              <a:rPr lang="fr-CH" sz="1800" dirty="0" err="1"/>
              <a:t>true</a:t>
            </a:r>
            <a:r>
              <a:rPr lang="fr-CH" sz="1800" dirty="0"/>
              <a:t>)</a:t>
            </a:r>
            <a:r>
              <a:rPr lang="en-US" sz="1800" dirty="0">
                <a:latin typeface="Corbel"/>
                <a:ea typeface="Tahoma"/>
                <a:cs typeface="Arial"/>
              </a:rPr>
              <a:t>, </a:t>
            </a:r>
          </a:p>
          <a:p>
            <a:pPr marL="525145" lvl="1" indent="-340360">
              <a:lnSpc>
                <a:spcPct val="100000"/>
              </a:lnSpc>
              <a:spcBef>
                <a:spcPts val="400"/>
              </a:spcBef>
              <a:buFont typeface="Arial,Sans-Serif"/>
              <a:buChar char="•"/>
            </a:pPr>
            <a:r>
              <a:rPr lang="en-US" sz="1800" dirty="0">
                <a:latin typeface="Corbel"/>
                <a:ea typeface="Tahoma"/>
                <a:cs typeface="Arial"/>
              </a:rPr>
              <a:t>Check if p-value is small enough to reject H0,  according to pre-defined significance level.</a:t>
            </a:r>
          </a:p>
          <a:p>
            <a:pPr marL="182245">
              <a:lnSpc>
                <a:spcPct val="100000"/>
              </a:lnSpc>
              <a:spcBef>
                <a:spcPts val="400"/>
              </a:spcBef>
            </a:pPr>
            <a:endParaRPr lang="en-US" sz="1800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42822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5BF36-7ABA-201E-E73F-B6C6D9736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C39FF-E5AA-784E-0C4E-A77FFC400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a typeface="Verdana"/>
                <a:cs typeface="Gill Sans"/>
              </a:rPr>
              <a:t>t-test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864DAC-AE15-1E28-5819-EFCE37DD4DB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ts val="561"/>
              </a:spcBef>
            </a:pPr>
            <a:r>
              <a:rPr lang="en-US" sz="2800" b="1" dirty="0">
                <a:solidFill>
                  <a:srgbClr val="262626"/>
                </a:solidFill>
                <a:ea typeface="+mn-lt"/>
                <a:cs typeface="+mn-lt"/>
              </a:rPr>
              <a:t>Goal:</a:t>
            </a:r>
            <a:endParaRPr lang="en-US" sz="2800" dirty="0">
              <a:solidFill>
                <a:srgbClr val="262626"/>
              </a:solidFill>
              <a:ea typeface="+mn-lt"/>
              <a:cs typeface="+mn-lt"/>
            </a:endParaRPr>
          </a:p>
          <a:p>
            <a:pPr marL="342900" indent="-340360">
              <a:lnSpc>
                <a:spcPct val="100000"/>
              </a:lnSpc>
              <a:spcBef>
                <a:spcPts val="479"/>
              </a:spcBef>
              <a:buFont typeface="Arial,Sans-Serif"/>
              <a:buChar char="•"/>
            </a:pPr>
            <a:r>
              <a:rPr lang="en-US" dirty="0">
                <a:solidFill>
                  <a:srgbClr val="262626"/>
                </a:solidFill>
                <a:latin typeface="Corbel"/>
                <a:ea typeface="Tahoma"/>
                <a:cs typeface="Arial"/>
              </a:rPr>
              <a:t>Compare a continuous measure between two groups</a:t>
            </a:r>
          </a:p>
          <a:p>
            <a:pPr marL="342900" indent="-340360">
              <a:lnSpc>
                <a:spcPct val="100000"/>
              </a:lnSpc>
              <a:spcBef>
                <a:spcPts val="479"/>
              </a:spcBef>
              <a:buFont typeface="Arial,Sans-Serif"/>
              <a:buChar char="•"/>
            </a:pPr>
            <a:r>
              <a:rPr lang="en-US" dirty="0">
                <a:solidFill>
                  <a:srgbClr val="262626"/>
                </a:solidFill>
                <a:latin typeface="Corbel"/>
                <a:ea typeface="Tahoma"/>
                <a:cs typeface="Arial"/>
              </a:rPr>
              <a:t>Is the difference between the two group means statistically significant?</a:t>
            </a:r>
            <a:endParaRPr lang="en-US" dirty="0"/>
          </a:p>
          <a:p>
            <a:pPr>
              <a:lnSpc>
                <a:spcPct val="100000"/>
              </a:lnSpc>
              <a:spcBef>
                <a:spcPts val="479"/>
              </a:spcBef>
            </a:pPr>
            <a:endParaRPr lang="en-US" dirty="0">
              <a:solidFill>
                <a:srgbClr val="000000"/>
              </a:solidFill>
              <a:latin typeface="Corbel"/>
              <a:cs typeface="Arial"/>
            </a:endParaRPr>
          </a:p>
          <a:p>
            <a:pPr>
              <a:lnSpc>
                <a:spcPct val="100000"/>
              </a:lnSpc>
              <a:spcBef>
                <a:spcPts val="561"/>
              </a:spcBef>
            </a:pPr>
            <a:r>
              <a:rPr lang="en-US" sz="2800" b="1" dirty="0">
                <a:solidFill>
                  <a:srgbClr val="262626"/>
                </a:solidFill>
                <a:ea typeface="+mn-lt"/>
                <a:cs typeface="+mn-lt"/>
              </a:rPr>
              <a:t>Assumptions:</a:t>
            </a:r>
            <a:endParaRPr lang="en-US" sz="2800" dirty="0">
              <a:solidFill>
                <a:srgbClr val="262626"/>
              </a:solidFill>
              <a:ea typeface="+mn-lt"/>
              <a:cs typeface="+mn-lt"/>
            </a:endParaRPr>
          </a:p>
          <a:p>
            <a:pPr marL="342900" indent="-340360">
              <a:lnSpc>
                <a:spcPct val="100000"/>
              </a:lnSpc>
              <a:spcBef>
                <a:spcPts val="400"/>
              </a:spcBef>
              <a:buFont typeface="Arial,Sans-Serif"/>
              <a:buChar char="•"/>
            </a:pPr>
            <a:r>
              <a:rPr lang="en-US" sz="2000" dirty="0">
                <a:solidFill>
                  <a:srgbClr val="262626"/>
                </a:solidFill>
                <a:latin typeface="Corbel"/>
                <a:ea typeface="Tahoma"/>
                <a:cs typeface="Arial"/>
              </a:rPr>
              <a:t>Observations are independent</a:t>
            </a:r>
          </a:p>
          <a:p>
            <a:pPr marL="342900" indent="-340360">
              <a:lnSpc>
                <a:spcPct val="100000"/>
              </a:lnSpc>
              <a:spcBef>
                <a:spcPts val="400"/>
              </a:spcBef>
              <a:buFont typeface="Arial,Sans-Serif"/>
              <a:buChar char="•"/>
            </a:pPr>
            <a:r>
              <a:rPr lang="en-US" sz="2000" dirty="0">
                <a:solidFill>
                  <a:srgbClr val="262626"/>
                </a:solidFill>
                <a:latin typeface="Corbel"/>
                <a:ea typeface="Tahoma"/>
                <a:cs typeface="Arial"/>
              </a:rPr>
              <a:t>The two groups follow a normal distribution</a:t>
            </a:r>
          </a:p>
          <a:p>
            <a:pPr marL="342900" indent="-340360">
              <a:lnSpc>
                <a:spcPct val="100000"/>
              </a:lnSpc>
              <a:spcBef>
                <a:spcPts val="400"/>
              </a:spcBef>
              <a:buFont typeface="Arial,Sans-Serif"/>
              <a:buChar char="•"/>
            </a:pPr>
            <a:r>
              <a:rPr lang="en-US" sz="2000" strike="sngStrike" dirty="0">
                <a:solidFill>
                  <a:srgbClr val="808080"/>
                </a:solidFill>
                <a:latin typeface="Corbel"/>
                <a:ea typeface="Tahoma"/>
                <a:cs typeface="Arial"/>
              </a:rPr>
              <a:t>(Same variance in each group)</a:t>
            </a:r>
            <a:endParaRPr lang="en-US" sz="2000" dirty="0">
              <a:solidFill>
                <a:srgbClr val="808080"/>
              </a:solidFill>
              <a:latin typeface="Corbel"/>
              <a:ea typeface="Tahoma"/>
              <a:cs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en-US" sz="2000" i="1" dirty="0">
                <a:solidFill>
                  <a:srgbClr val="262626"/>
                </a:solidFill>
                <a:ea typeface="+mn-lt"/>
                <a:cs typeface="+mn-lt"/>
              </a:rPr>
              <a:t>    R uses Welch's t-test, which does not assume equal variance</a:t>
            </a:r>
            <a:endParaRPr lang="en-US" sz="2000" dirty="0">
              <a:solidFill>
                <a:srgbClr val="262626"/>
              </a:solidFill>
              <a:ea typeface="+mn-lt"/>
              <a:cs typeface="+mn-lt"/>
            </a:endParaRPr>
          </a:p>
          <a:p>
            <a:pPr marL="2540">
              <a:lnSpc>
                <a:spcPct val="100000"/>
              </a:lnSpc>
              <a:spcBef>
                <a:spcPts val="479"/>
              </a:spcBef>
            </a:pPr>
            <a:endParaRPr lang="en-US" sz="2200" dirty="0">
              <a:latin typeface="Corbe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463133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E0312-6763-B271-CF70-69A2EFFFB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a typeface="Verdana"/>
                <a:cs typeface="Gill Sans"/>
              </a:rPr>
              <a:t>Example data set: iris 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2284E8-58CA-947E-5277-CAE3AE9687E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8200" y="934654"/>
            <a:ext cx="10515600" cy="4351338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en-US" sz="1800" dirty="0">
                <a:latin typeface="Corbel"/>
                <a:ea typeface="Tahoma"/>
                <a:cs typeface="Arial"/>
              </a:rPr>
              <a:t>Let's compare </a:t>
            </a:r>
            <a:r>
              <a:rPr lang="en-US" sz="1800" i="1" dirty="0">
                <a:latin typeface="Corbel"/>
                <a:ea typeface="Tahoma"/>
                <a:cs typeface="Arial"/>
              </a:rPr>
              <a:t>Iris virginica </a:t>
            </a:r>
            <a:r>
              <a:rPr lang="en-US" sz="1800" dirty="0">
                <a:latin typeface="Corbel"/>
                <a:ea typeface="Tahoma"/>
                <a:cs typeface="Arial"/>
              </a:rPr>
              <a:t>and </a:t>
            </a:r>
            <a:r>
              <a:rPr lang="en-US" sz="1800" i="1" dirty="0">
                <a:latin typeface="Corbel"/>
                <a:ea typeface="Tahoma"/>
                <a:cs typeface="Arial"/>
              </a:rPr>
              <a:t>Iris versicolor </a:t>
            </a:r>
            <a:r>
              <a:rPr lang="en-US" sz="1800" dirty="0">
                <a:latin typeface="Corbel"/>
                <a:ea typeface="Tahoma"/>
                <a:cs typeface="Arial"/>
              </a:rPr>
              <a:t>petal lengths.</a:t>
            </a:r>
          </a:p>
          <a:p>
            <a:pPr>
              <a:lnSpc>
                <a:spcPct val="100000"/>
              </a:lnSpc>
              <a:spcBef>
                <a:spcPct val="20000"/>
              </a:spcBef>
            </a:pPr>
            <a:endParaRPr lang="fr-FR" sz="1800" dirty="0">
              <a:latin typeface="Courier New"/>
              <a:ea typeface="+mn-lt"/>
              <a:cs typeface="+mn-lt"/>
            </a:endParaRPr>
          </a:p>
          <a:p>
            <a:r>
              <a:rPr lang="es-ES" sz="1800" dirty="0">
                <a:latin typeface="Courier New"/>
                <a:ea typeface="+mn-lt"/>
                <a:cs typeface="+mn-lt"/>
              </a:rPr>
              <a:t>data(iris)</a:t>
            </a:r>
            <a:endParaRPr lang="en-GB" sz="1800" dirty="0">
              <a:latin typeface="Courier New"/>
              <a:ea typeface="+mn-lt"/>
              <a:cs typeface="+mn-lt"/>
            </a:endParaRPr>
          </a:p>
          <a:p>
            <a:r>
              <a:rPr lang="es-ES" sz="1800" b="1" dirty="0">
                <a:solidFill>
                  <a:schemeClr val="accent4"/>
                </a:solidFill>
                <a:latin typeface="Courier New"/>
                <a:ea typeface="+mn-lt"/>
                <a:cs typeface="+mn-lt"/>
              </a:rPr>
              <a:t># </a:t>
            </a:r>
            <a:r>
              <a:rPr lang="es-ES" sz="1800" b="1" err="1">
                <a:solidFill>
                  <a:schemeClr val="accent4"/>
                </a:solidFill>
                <a:latin typeface="Courier New"/>
                <a:ea typeface="+mn-lt"/>
                <a:cs typeface="+mn-lt"/>
              </a:rPr>
              <a:t>we</a:t>
            </a:r>
            <a:r>
              <a:rPr lang="es-ES" sz="1800" b="1" dirty="0">
                <a:solidFill>
                  <a:schemeClr val="accent4"/>
                </a:solidFill>
                <a:latin typeface="Courier New"/>
                <a:ea typeface="+mn-lt"/>
                <a:cs typeface="+mn-lt"/>
              </a:rPr>
              <a:t> </a:t>
            </a:r>
            <a:r>
              <a:rPr lang="es-ES" sz="1800" b="1" err="1">
                <a:solidFill>
                  <a:schemeClr val="accent4"/>
                </a:solidFill>
                <a:latin typeface="Courier New"/>
                <a:ea typeface="+mn-lt"/>
                <a:cs typeface="+mn-lt"/>
              </a:rPr>
              <a:t>limit</a:t>
            </a:r>
            <a:r>
              <a:rPr lang="es-ES" sz="1800" b="1" dirty="0">
                <a:solidFill>
                  <a:schemeClr val="accent4"/>
                </a:solidFill>
                <a:latin typeface="Courier New"/>
                <a:ea typeface="+mn-lt"/>
                <a:cs typeface="+mn-lt"/>
              </a:rPr>
              <a:t> </a:t>
            </a:r>
            <a:r>
              <a:rPr lang="es-ES" sz="1800" b="1" err="1">
                <a:solidFill>
                  <a:schemeClr val="accent4"/>
                </a:solidFill>
                <a:latin typeface="Courier New"/>
                <a:ea typeface="+mn-lt"/>
                <a:cs typeface="+mn-lt"/>
              </a:rPr>
              <a:t>the</a:t>
            </a:r>
            <a:r>
              <a:rPr lang="es-ES" sz="1800" b="1" dirty="0">
                <a:solidFill>
                  <a:schemeClr val="accent4"/>
                </a:solidFill>
                <a:latin typeface="Courier New"/>
                <a:ea typeface="+mn-lt"/>
                <a:cs typeface="+mn-lt"/>
              </a:rPr>
              <a:t> data </a:t>
            </a:r>
            <a:r>
              <a:rPr lang="es-ES" sz="1800" b="1" err="1">
                <a:solidFill>
                  <a:schemeClr val="accent4"/>
                </a:solidFill>
                <a:latin typeface="Courier New"/>
                <a:ea typeface="+mn-lt"/>
                <a:cs typeface="+mn-lt"/>
              </a:rPr>
              <a:t>to</a:t>
            </a:r>
            <a:r>
              <a:rPr lang="es-ES" sz="1800" b="1" dirty="0">
                <a:solidFill>
                  <a:schemeClr val="accent4"/>
                </a:solidFill>
                <a:latin typeface="Courier New"/>
                <a:ea typeface="+mn-lt"/>
                <a:cs typeface="+mn-lt"/>
              </a:rPr>
              <a:t> 2 </a:t>
            </a:r>
            <a:r>
              <a:rPr lang="es-ES" sz="1800" b="1" err="1">
                <a:solidFill>
                  <a:schemeClr val="accent4"/>
                </a:solidFill>
                <a:latin typeface="Courier New"/>
                <a:ea typeface="+mn-lt"/>
                <a:cs typeface="+mn-lt"/>
              </a:rPr>
              <a:t>species</a:t>
            </a:r>
            <a:endParaRPr lang="en-GB" sz="1800" b="1">
              <a:solidFill>
                <a:schemeClr val="accent4"/>
              </a:solidFill>
              <a:latin typeface="Courier New"/>
              <a:ea typeface="+mn-lt"/>
              <a:cs typeface="+mn-lt"/>
            </a:endParaRPr>
          </a:p>
          <a:p>
            <a:r>
              <a:rPr lang="es-ES" sz="1800" err="1">
                <a:latin typeface="Courier New"/>
                <a:ea typeface="+mn-lt"/>
                <a:cs typeface="+mn-lt"/>
              </a:rPr>
              <a:t>iris_f</a:t>
            </a:r>
            <a:r>
              <a:rPr lang="es-ES" sz="1800" dirty="0">
                <a:latin typeface="Courier New"/>
                <a:ea typeface="+mn-lt"/>
                <a:cs typeface="+mn-lt"/>
              </a:rPr>
              <a:t> = iris[ </a:t>
            </a:r>
            <a:r>
              <a:rPr lang="es-ES" sz="1800" err="1">
                <a:latin typeface="Courier New"/>
                <a:ea typeface="+mn-lt"/>
                <a:cs typeface="+mn-lt"/>
              </a:rPr>
              <a:t>iris$Species</a:t>
            </a:r>
            <a:r>
              <a:rPr lang="es-ES" sz="1800" dirty="0">
                <a:latin typeface="Courier New"/>
                <a:ea typeface="+mn-lt"/>
                <a:cs typeface="+mn-lt"/>
              </a:rPr>
              <a:t> %in% c('</a:t>
            </a:r>
            <a:r>
              <a:rPr lang="es-ES" sz="1800" err="1">
                <a:latin typeface="Courier New"/>
                <a:ea typeface="+mn-lt"/>
                <a:cs typeface="+mn-lt"/>
              </a:rPr>
              <a:t>versicolor</a:t>
            </a:r>
            <a:r>
              <a:rPr lang="es-ES" sz="1800" dirty="0">
                <a:latin typeface="Courier New"/>
                <a:ea typeface="+mn-lt"/>
                <a:cs typeface="+mn-lt"/>
              </a:rPr>
              <a:t>','</a:t>
            </a:r>
            <a:r>
              <a:rPr lang="es-ES" sz="1800" err="1">
                <a:latin typeface="Courier New"/>
                <a:ea typeface="+mn-lt"/>
                <a:cs typeface="+mn-lt"/>
              </a:rPr>
              <a:t>virginica</a:t>
            </a:r>
            <a:r>
              <a:rPr lang="es-ES" sz="1800" dirty="0">
                <a:latin typeface="Courier New"/>
                <a:ea typeface="+mn-lt"/>
                <a:cs typeface="+mn-lt"/>
              </a:rPr>
              <a:t>') , ]</a:t>
            </a:r>
            <a:endParaRPr lang="en-GB" sz="1800">
              <a:latin typeface="Courier New"/>
              <a:ea typeface="+mn-lt"/>
              <a:cs typeface="+mn-lt"/>
            </a:endParaRPr>
          </a:p>
          <a:p>
            <a:r>
              <a:rPr lang="es-ES" sz="1800" err="1">
                <a:latin typeface="Courier New"/>
                <a:ea typeface="+mn-lt"/>
                <a:cs typeface="+mn-lt"/>
              </a:rPr>
              <a:t>iris_f$Species</a:t>
            </a:r>
            <a:r>
              <a:rPr lang="es-ES" sz="1800" dirty="0">
                <a:latin typeface="Courier New"/>
                <a:ea typeface="+mn-lt"/>
                <a:cs typeface="+mn-lt"/>
              </a:rPr>
              <a:t> = factor(</a:t>
            </a:r>
            <a:r>
              <a:rPr lang="es-ES" sz="1800" err="1">
                <a:latin typeface="Courier New"/>
                <a:ea typeface="+mn-lt"/>
                <a:cs typeface="+mn-lt"/>
              </a:rPr>
              <a:t>iris_f$Species</a:t>
            </a:r>
            <a:r>
              <a:rPr lang="es-ES" sz="1800" dirty="0">
                <a:latin typeface="Courier New"/>
                <a:ea typeface="+mn-lt"/>
                <a:cs typeface="+mn-lt"/>
              </a:rPr>
              <a:t>)</a:t>
            </a:r>
            <a:endParaRPr lang="en-GB" sz="1800">
              <a:latin typeface="Courier New"/>
              <a:ea typeface="+mn-lt"/>
              <a:cs typeface="+mn-lt"/>
            </a:endParaRPr>
          </a:p>
          <a:p>
            <a:endParaRPr lang="en-GB" sz="1800" dirty="0">
              <a:latin typeface="Courier New"/>
            </a:endParaRPr>
          </a:p>
          <a:p>
            <a:r>
              <a:rPr lang="es-ES" sz="1800" dirty="0" err="1">
                <a:latin typeface="Courier New"/>
                <a:ea typeface="+mn-lt"/>
                <a:cs typeface="+mn-lt"/>
              </a:rPr>
              <a:t>tapply</a:t>
            </a:r>
            <a:r>
              <a:rPr lang="es-ES" sz="1800" dirty="0">
                <a:latin typeface="Courier New"/>
                <a:ea typeface="+mn-lt"/>
                <a:cs typeface="+mn-lt"/>
              </a:rPr>
              <a:t>( </a:t>
            </a:r>
            <a:r>
              <a:rPr lang="es-ES" sz="1800" dirty="0" err="1">
                <a:latin typeface="Courier New"/>
                <a:ea typeface="+mn-lt"/>
                <a:cs typeface="+mn-lt"/>
              </a:rPr>
              <a:t>iris_f$Petal.Length</a:t>
            </a:r>
            <a:r>
              <a:rPr lang="es-ES" sz="1800" dirty="0">
                <a:latin typeface="Courier New"/>
                <a:ea typeface="+mn-lt"/>
                <a:cs typeface="+mn-lt"/>
              </a:rPr>
              <a:t>, </a:t>
            </a:r>
            <a:r>
              <a:rPr lang="es-ES" sz="1800" dirty="0" err="1">
                <a:latin typeface="Courier New"/>
                <a:ea typeface="+mn-lt"/>
                <a:cs typeface="+mn-lt"/>
              </a:rPr>
              <a:t>iris_f$Species</a:t>
            </a:r>
            <a:r>
              <a:rPr lang="es-ES" sz="1800" dirty="0">
                <a:latin typeface="Courier New"/>
                <a:ea typeface="+mn-lt"/>
                <a:cs typeface="+mn-lt"/>
              </a:rPr>
              <a:t>, mean )</a:t>
            </a:r>
            <a:endParaRPr lang="en-GB" sz="1800" dirty="0">
              <a:latin typeface="Courier New"/>
              <a:ea typeface="+mn-lt"/>
              <a:cs typeface="+mn-lt"/>
            </a:endParaRPr>
          </a:p>
          <a:p>
            <a:r>
              <a:rPr lang="en-GB" sz="1800" dirty="0">
                <a:latin typeface="Courier New"/>
                <a:ea typeface="+mn-lt"/>
                <a:cs typeface="+mn-lt"/>
              </a:rPr>
              <a:t>versicolor  virginica </a:t>
            </a:r>
            <a:endParaRPr lang="en-GB" sz="1800">
              <a:latin typeface="Courier New"/>
              <a:ea typeface="Tahoma"/>
              <a:cs typeface="Gill Sans Light"/>
            </a:endParaRPr>
          </a:p>
          <a:p>
            <a:r>
              <a:rPr lang="en-GB" sz="1800" dirty="0">
                <a:latin typeface="Courier New"/>
                <a:ea typeface="+mn-lt"/>
                <a:cs typeface="+mn-lt"/>
              </a:rPr>
              <a:t>     4.260      5.552 </a:t>
            </a:r>
            <a:endParaRPr lang="en-GB" sz="1800"/>
          </a:p>
          <a:p>
            <a:endParaRPr lang="en-GB" sz="1800" dirty="0">
              <a:latin typeface="Courier New"/>
              <a:ea typeface="Tahoma"/>
              <a:cs typeface="Gill Sans Light"/>
            </a:endParaRPr>
          </a:p>
          <a:p>
            <a:r>
              <a:rPr lang="es-ES" sz="1800" err="1">
                <a:latin typeface="Courier New"/>
                <a:ea typeface="+mn-lt"/>
                <a:cs typeface="+mn-lt"/>
              </a:rPr>
              <a:t>plen_versicolor</a:t>
            </a:r>
            <a:r>
              <a:rPr lang="es-ES" sz="1800" dirty="0">
                <a:latin typeface="Courier New"/>
                <a:ea typeface="+mn-lt"/>
                <a:cs typeface="+mn-lt"/>
              </a:rPr>
              <a:t> = </a:t>
            </a:r>
            <a:r>
              <a:rPr lang="es-ES" sz="1800" err="1">
                <a:latin typeface="Courier New"/>
                <a:ea typeface="+mn-lt"/>
                <a:cs typeface="+mn-lt"/>
              </a:rPr>
              <a:t>iris_f$Petal.Length</a:t>
            </a:r>
            <a:r>
              <a:rPr lang="es-ES" sz="1800" dirty="0">
                <a:latin typeface="Courier New"/>
                <a:ea typeface="+mn-lt"/>
                <a:cs typeface="+mn-lt"/>
              </a:rPr>
              <a:t>[</a:t>
            </a:r>
            <a:r>
              <a:rPr lang="es-ES" sz="1800" err="1">
                <a:latin typeface="Courier New"/>
                <a:ea typeface="+mn-lt"/>
                <a:cs typeface="+mn-lt"/>
              </a:rPr>
              <a:t>iris_f$Species</a:t>
            </a:r>
            <a:r>
              <a:rPr lang="es-ES" sz="1800" dirty="0">
                <a:latin typeface="Courier New"/>
                <a:ea typeface="+mn-lt"/>
                <a:cs typeface="+mn-lt"/>
              </a:rPr>
              <a:t>=='</a:t>
            </a:r>
            <a:r>
              <a:rPr lang="es-ES" sz="1800" err="1">
                <a:latin typeface="Courier New"/>
                <a:ea typeface="+mn-lt"/>
                <a:cs typeface="+mn-lt"/>
              </a:rPr>
              <a:t>versicolor</a:t>
            </a:r>
            <a:r>
              <a:rPr lang="es-ES" sz="1800" dirty="0">
                <a:latin typeface="Courier New"/>
                <a:ea typeface="+mn-lt"/>
                <a:cs typeface="+mn-lt"/>
              </a:rPr>
              <a:t>']</a:t>
            </a:r>
            <a:endParaRPr lang="en-GB" sz="1800">
              <a:latin typeface="Courier New"/>
              <a:ea typeface="+mn-lt"/>
              <a:cs typeface="+mn-lt"/>
            </a:endParaRPr>
          </a:p>
          <a:p>
            <a:r>
              <a:rPr lang="es-ES" sz="1800" err="1">
                <a:latin typeface="Courier New"/>
                <a:ea typeface="+mn-lt"/>
                <a:cs typeface="+mn-lt"/>
              </a:rPr>
              <a:t>plen_virginica</a:t>
            </a:r>
            <a:r>
              <a:rPr lang="es-ES" sz="1800" dirty="0">
                <a:latin typeface="Courier New"/>
                <a:ea typeface="+mn-lt"/>
                <a:cs typeface="+mn-lt"/>
              </a:rPr>
              <a:t>  = </a:t>
            </a:r>
            <a:r>
              <a:rPr lang="es-ES" sz="1800" err="1">
                <a:latin typeface="Courier New"/>
                <a:ea typeface="+mn-lt"/>
                <a:cs typeface="+mn-lt"/>
              </a:rPr>
              <a:t>iris_f$Petal.Length</a:t>
            </a:r>
            <a:r>
              <a:rPr lang="es-ES" sz="1800" dirty="0">
                <a:latin typeface="Courier New"/>
                <a:ea typeface="+mn-lt"/>
                <a:cs typeface="+mn-lt"/>
              </a:rPr>
              <a:t>[</a:t>
            </a:r>
            <a:r>
              <a:rPr lang="es-ES" sz="1800" err="1">
                <a:latin typeface="Courier New"/>
                <a:ea typeface="+mn-lt"/>
                <a:cs typeface="+mn-lt"/>
              </a:rPr>
              <a:t>iris_f$Species</a:t>
            </a:r>
            <a:r>
              <a:rPr lang="es-ES" sz="1800" dirty="0">
                <a:latin typeface="Courier New"/>
                <a:ea typeface="+mn-lt"/>
                <a:cs typeface="+mn-lt"/>
              </a:rPr>
              <a:t>=='</a:t>
            </a:r>
            <a:r>
              <a:rPr lang="es-ES" sz="1800" err="1">
                <a:latin typeface="Courier New"/>
                <a:ea typeface="+mn-lt"/>
                <a:cs typeface="+mn-lt"/>
              </a:rPr>
              <a:t>virginica</a:t>
            </a:r>
            <a:r>
              <a:rPr lang="es-ES" sz="1800" dirty="0">
                <a:latin typeface="Courier New"/>
                <a:ea typeface="+mn-lt"/>
                <a:cs typeface="+mn-lt"/>
              </a:rPr>
              <a:t>']</a:t>
            </a:r>
            <a:endParaRPr lang="en-GB" sz="1800">
              <a:latin typeface="Courier New"/>
              <a:ea typeface="+mn-lt"/>
              <a:cs typeface="+mn-lt"/>
            </a:endParaRPr>
          </a:p>
          <a:p>
            <a:pPr>
              <a:lnSpc>
                <a:spcPct val="100000"/>
              </a:lnSpc>
              <a:spcBef>
                <a:spcPct val="20000"/>
              </a:spcBef>
            </a:pPr>
            <a:endParaRPr lang="es-ES" sz="1800" b="1" dirty="0">
              <a:solidFill>
                <a:schemeClr val="accent4"/>
              </a:solidFill>
              <a:latin typeface="Courier New"/>
            </a:endParaRPr>
          </a:p>
          <a:p>
            <a:endParaRPr lang="en-GB" sz="1800" dirty="0"/>
          </a:p>
        </p:txBody>
      </p:sp>
    </p:spTree>
    <p:extLst>
      <p:ext uri="{BB962C8B-B14F-4D97-AF65-F5344CB8AC3E}">
        <p14:creationId xmlns:p14="http://schemas.microsoft.com/office/powerpoint/2010/main" val="19919042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A9C64E-E348-BEB9-A328-70D9C74F2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2B68D0-D03D-9DC4-56CB-AE078C54B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a typeface="Verdana"/>
                <a:cs typeface="Gill Sans"/>
              </a:rPr>
              <a:t>Check normality of the data with plots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A3D3CB-2849-D829-AB7D-9A7067FD313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8200" y="934654"/>
            <a:ext cx="10515600" cy="4351338"/>
          </a:xfrm>
        </p:spPr>
        <p:txBody>
          <a:bodyPr vert="horz" lIns="91440" tIns="45720" rIns="91440" bIns="45720" rtlCol="0" anchor="t">
            <a:normAutofit fontScale="85000" lnSpcReduction="20000"/>
          </a:bodyPr>
          <a:lstStyle/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en-US" sz="1800" dirty="0">
                <a:latin typeface="Corbel"/>
                <a:ea typeface="Tahoma"/>
                <a:cs typeface="Arial"/>
              </a:rPr>
              <a:t>We use histograms and </a:t>
            </a:r>
            <a:r>
              <a:rPr lang="en-US" sz="1800" dirty="0" err="1">
                <a:latin typeface="Corbel"/>
                <a:ea typeface="Tahoma"/>
                <a:cs typeface="Arial"/>
              </a:rPr>
              <a:t>QQplot</a:t>
            </a:r>
            <a:r>
              <a:rPr lang="en-US" sz="1800" dirty="0">
                <a:latin typeface="Corbel"/>
                <a:ea typeface="Tahoma"/>
                <a:cs typeface="Arial"/>
              </a:rPr>
              <a:t> to visually assess normality</a:t>
            </a:r>
          </a:p>
          <a:p>
            <a:pPr>
              <a:lnSpc>
                <a:spcPct val="100000"/>
              </a:lnSpc>
              <a:spcBef>
                <a:spcPct val="20000"/>
              </a:spcBef>
            </a:pPr>
            <a:endParaRPr lang="en-US" sz="1800" dirty="0">
              <a:latin typeface="Corbel"/>
              <a:ea typeface="Tahoma"/>
              <a:cs typeface="Arial"/>
            </a:endParaRPr>
          </a:p>
          <a:p>
            <a:r>
              <a:rPr lang="en-GB" sz="1800" dirty="0">
                <a:latin typeface="Courier New"/>
                <a:ea typeface="+mn-lt"/>
                <a:cs typeface="+mn-lt"/>
              </a:rPr>
              <a:t>par(</a:t>
            </a:r>
            <a:r>
              <a:rPr lang="en-GB" sz="1800" err="1">
                <a:latin typeface="Courier New"/>
                <a:ea typeface="+mn-lt"/>
                <a:cs typeface="+mn-lt"/>
              </a:rPr>
              <a:t>mfrow</a:t>
            </a:r>
            <a:r>
              <a:rPr lang="en-GB" sz="1800" dirty="0">
                <a:latin typeface="Courier New"/>
                <a:ea typeface="+mn-lt"/>
                <a:cs typeface="+mn-lt"/>
              </a:rPr>
              <a:t>=c(2,2))</a:t>
            </a:r>
            <a:endParaRPr lang="en-GB" dirty="0">
              <a:latin typeface="Courier New"/>
            </a:endParaRPr>
          </a:p>
          <a:p>
            <a:r>
              <a:rPr lang="en-GB" sz="1800" dirty="0">
                <a:latin typeface="Courier New"/>
                <a:ea typeface="+mn-lt"/>
                <a:cs typeface="+mn-lt"/>
              </a:rPr>
              <a:t>hist(</a:t>
            </a:r>
            <a:r>
              <a:rPr lang="en-GB" sz="1800" err="1">
                <a:latin typeface="Courier New"/>
                <a:ea typeface="+mn-lt"/>
                <a:cs typeface="+mn-lt"/>
              </a:rPr>
              <a:t>plen_versicolor</a:t>
            </a:r>
            <a:r>
              <a:rPr lang="en-GB" sz="1800" dirty="0">
                <a:latin typeface="Courier New"/>
                <a:ea typeface="+mn-lt"/>
                <a:cs typeface="+mn-lt"/>
              </a:rPr>
              <a:t>,</a:t>
            </a:r>
            <a:endParaRPr lang="en-GB" dirty="0">
              <a:latin typeface="Courier New"/>
            </a:endParaRPr>
          </a:p>
          <a:p>
            <a:r>
              <a:rPr lang="en-GB" sz="1800" dirty="0">
                <a:latin typeface="Courier New"/>
                <a:ea typeface="+mn-lt"/>
                <a:cs typeface="+mn-lt"/>
              </a:rPr>
              <a:t>     </a:t>
            </a:r>
            <a:r>
              <a:rPr lang="en-GB" sz="1800" err="1">
                <a:latin typeface="Courier New"/>
                <a:ea typeface="+mn-lt"/>
                <a:cs typeface="+mn-lt"/>
              </a:rPr>
              <a:t>xlab</a:t>
            </a:r>
            <a:r>
              <a:rPr lang="en-GB" sz="1800" dirty="0">
                <a:latin typeface="Courier New"/>
                <a:ea typeface="+mn-lt"/>
                <a:cs typeface="+mn-lt"/>
              </a:rPr>
              <a:t>="versicolor",</a:t>
            </a:r>
            <a:endParaRPr lang="en-GB" dirty="0">
              <a:latin typeface="Courier New"/>
            </a:endParaRPr>
          </a:p>
          <a:p>
            <a:r>
              <a:rPr lang="en-GB" sz="1800" dirty="0">
                <a:latin typeface="Courier New"/>
                <a:ea typeface="+mn-lt"/>
                <a:cs typeface="+mn-lt"/>
              </a:rPr>
              <a:t>     main="petal length - versicolor")</a:t>
            </a:r>
            <a:endParaRPr lang="en-GB" dirty="0">
              <a:latin typeface="Courier New"/>
            </a:endParaRPr>
          </a:p>
          <a:p>
            <a:r>
              <a:rPr lang="en-GB" sz="1800" err="1">
                <a:latin typeface="Courier New"/>
                <a:ea typeface="+mn-lt"/>
                <a:cs typeface="+mn-lt"/>
              </a:rPr>
              <a:t>qqnorm</a:t>
            </a:r>
            <a:r>
              <a:rPr lang="en-GB" sz="1800" dirty="0">
                <a:latin typeface="Courier New"/>
                <a:ea typeface="+mn-lt"/>
                <a:cs typeface="+mn-lt"/>
              </a:rPr>
              <a:t>(</a:t>
            </a:r>
            <a:r>
              <a:rPr lang="en-GB" sz="1800" err="1">
                <a:latin typeface="Courier New"/>
                <a:ea typeface="+mn-lt"/>
                <a:cs typeface="+mn-lt"/>
              </a:rPr>
              <a:t>plen_versicolor</a:t>
            </a:r>
            <a:r>
              <a:rPr lang="en-GB" sz="1800" dirty="0">
                <a:latin typeface="Courier New"/>
                <a:ea typeface="+mn-lt"/>
                <a:cs typeface="+mn-lt"/>
              </a:rPr>
              <a:t>)</a:t>
            </a:r>
            <a:endParaRPr lang="en-GB" dirty="0">
              <a:latin typeface="Courier New"/>
            </a:endParaRPr>
          </a:p>
          <a:p>
            <a:r>
              <a:rPr lang="en-GB" sz="1800" err="1">
                <a:latin typeface="Courier New"/>
                <a:ea typeface="+mn-lt"/>
                <a:cs typeface="+mn-lt"/>
              </a:rPr>
              <a:t>qqline</a:t>
            </a:r>
            <a:r>
              <a:rPr lang="en-GB" sz="1800" dirty="0">
                <a:latin typeface="Courier New"/>
                <a:ea typeface="+mn-lt"/>
                <a:cs typeface="+mn-lt"/>
              </a:rPr>
              <a:t>(</a:t>
            </a:r>
            <a:r>
              <a:rPr lang="en-GB" sz="1800" err="1">
                <a:latin typeface="Courier New"/>
                <a:ea typeface="+mn-lt"/>
                <a:cs typeface="+mn-lt"/>
              </a:rPr>
              <a:t>plen_versicolor</a:t>
            </a:r>
            <a:r>
              <a:rPr lang="en-GB" sz="1800" dirty="0">
                <a:latin typeface="Courier New"/>
                <a:ea typeface="+mn-lt"/>
                <a:cs typeface="+mn-lt"/>
              </a:rPr>
              <a:t>)</a:t>
            </a:r>
            <a:endParaRPr lang="en-GB" dirty="0">
              <a:latin typeface="Courier New"/>
            </a:endParaRPr>
          </a:p>
          <a:p>
            <a:endParaRPr lang="en-GB" dirty="0">
              <a:latin typeface="Courier New"/>
            </a:endParaRPr>
          </a:p>
          <a:p>
            <a:r>
              <a:rPr lang="en-GB" sz="1800" dirty="0">
                <a:latin typeface="Courier New"/>
                <a:ea typeface="+mn-lt"/>
                <a:cs typeface="+mn-lt"/>
              </a:rPr>
              <a:t>hist(</a:t>
            </a:r>
            <a:r>
              <a:rPr lang="en-GB" sz="1800" err="1">
                <a:latin typeface="Courier New"/>
                <a:ea typeface="+mn-lt"/>
                <a:cs typeface="+mn-lt"/>
              </a:rPr>
              <a:t>plen_virginica</a:t>
            </a:r>
            <a:r>
              <a:rPr lang="en-GB" sz="1800" dirty="0">
                <a:latin typeface="Courier New"/>
                <a:ea typeface="+mn-lt"/>
                <a:cs typeface="+mn-lt"/>
              </a:rPr>
              <a:t>,</a:t>
            </a:r>
            <a:endParaRPr lang="en-GB" dirty="0">
              <a:latin typeface="Courier New"/>
            </a:endParaRPr>
          </a:p>
          <a:p>
            <a:r>
              <a:rPr lang="en-GB" sz="1800" dirty="0">
                <a:latin typeface="Courier New"/>
                <a:ea typeface="+mn-lt"/>
                <a:cs typeface="+mn-lt"/>
              </a:rPr>
              <a:t>     </a:t>
            </a:r>
            <a:r>
              <a:rPr lang="en-GB" sz="1800" err="1">
                <a:latin typeface="Courier New"/>
                <a:ea typeface="+mn-lt"/>
                <a:cs typeface="+mn-lt"/>
              </a:rPr>
              <a:t>xlab</a:t>
            </a:r>
            <a:r>
              <a:rPr lang="en-GB" sz="1800" dirty="0">
                <a:latin typeface="Courier New"/>
                <a:ea typeface="+mn-lt"/>
                <a:cs typeface="+mn-lt"/>
              </a:rPr>
              <a:t>="virginica",</a:t>
            </a:r>
            <a:endParaRPr lang="en-GB" dirty="0">
              <a:latin typeface="Courier New"/>
            </a:endParaRPr>
          </a:p>
          <a:p>
            <a:r>
              <a:rPr lang="en-GB" sz="1800" dirty="0">
                <a:latin typeface="Courier New"/>
                <a:ea typeface="+mn-lt"/>
                <a:cs typeface="+mn-lt"/>
              </a:rPr>
              <a:t>     main="petal length - virginica")</a:t>
            </a:r>
            <a:endParaRPr lang="en-GB" dirty="0">
              <a:latin typeface="Courier New"/>
            </a:endParaRPr>
          </a:p>
          <a:p>
            <a:r>
              <a:rPr lang="en-GB" sz="1800" err="1">
                <a:latin typeface="Courier New"/>
                <a:ea typeface="+mn-lt"/>
                <a:cs typeface="+mn-lt"/>
              </a:rPr>
              <a:t>qqnorm</a:t>
            </a:r>
            <a:r>
              <a:rPr lang="en-GB" sz="1800" dirty="0">
                <a:latin typeface="Courier New"/>
                <a:ea typeface="+mn-lt"/>
                <a:cs typeface="+mn-lt"/>
              </a:rPr>
              <a:t>(</a:t>
            </a:r>
            <a:r>
              <a:rPr lang="en-GB" sz="1800" err="1">
                <a:latin typeface="Courier New"/>
                <a:ea typeface="+mn-lt"/>
                <a:cs typeface="+mn-lt"/>
              </a:rPr>
              <a:t>plen_virginica</a:t>
            </a:r>
            <a:r>
              <a:rPr lang="en-GB" sz="1800" dirty="0">
                <a:latin typeface="Courier New"/>
                <a:ea typeface="+mn-lt"/>
                <a:cs typeface="+mn-lt"/>
              </a:rPr>
              <a:t>)</a:t>
            </a:r>
            <a:endParaRPr lang="en-GB" dirty="0">
              <a:latin typeface="Courier New"/>
            </a:endParaRPr>
          </a:p>
          <a:p>
            <a:r>
              <a:rPr lang="en-GB" sz="1800" err="1">
                <a:latin typeface="Courier New"/>
                <a:ea typeface="+mn-lt"/>
                <a:cs typeface="+mn-lt"/>
              </a:rPr>
              <a:t>qqline</a:t>
            </a:r>
            <a:r>
              <a:rPr lang="en-GB" sz="1800" dirty="0">
                <a:latin typeface="Courier New"/>
                <a:ea typeface="+mn-lt"/>
                <a:cs typeface="+mn-lt"/>
              </a:rPr>
              <a:t>(</a:t>
            </a:r>
            <a:r>
              <a:rPr lang="en-GB" sz="1800" err="1">
                <a:latin typeface="Courier New"/>
                <a:ea typeface="+mn-lt"/>
                <a:cs typeface="+mn-lt"/>
              </a:rPr>
              <a:t>plen_virginica</a:t>
            </a:r>
            <a:r>
              <a:rPr lang="en-GB" sz="1800" dirty="0">
                <a:latin typeface="Courier New"/>
                <a:ea typeface="+mn-lt"/>
                <a:cs typeface="+mn-lt"/>
              </a:rPr>
              <a:t>)</a:t>
            </a:r>
            <a:endParaRPr lang="en-GB" dirty="0">
              <a:latin typeface="Courier New"/>
            </a:endParaRPr>
          </a:p>
          <a:p>
            <a:r>
              <a:rPr lang="en-GB" sz="1800" err="1">
                <a:latin typeface="Courier New"/>
                <a:ea typeface="+mn-lt"/>
                <a:cs typeface="+mn-lt"/>
              </a:rPr>
              <a:t>dev.off</a:t>
            </a:r>
            <a:r>
              <a:rPr lang="en-GB" sz="1800" dirty="0">
                <a:latin typeface="Courier New"/>
                <a:ea typeface="+mn-lt"/>
                <a:cs typeface="+mn-lt"/>
              </a:rPr>
              <a:t>()</a:t>
            </a:r>
            <a:endParaRPr lang="en-GB" dirty="0">
              <a:latin typeface="Courier New"/>
            </a:endParaRPr>
          </a:p>
        </p:txBody>
      </p:sp>
      <p:pic>
        <p:nvPicPr>
          <p:cNvPr id="4" name="Picture 3" descr="A collage of graphs&#10;&#10;Description automatically generated">
            <a:extLst>
              <a:ext uri="{FF2B5EF4-FFF2-40B4-BE49-F238E27FC236}">
                <a16:creationId xmlns:a16="http://schemas.microsoft.com/office/drawing/2014/main" id="{9FBA4945-52DF-3CCC-F19D-06EF63FB739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-2230" t="584" r="2107" b="-584"/>
          <a:stretch/>
        </p:blipFill>
        <p:spPr>
          <a:xfrm>
            <a:off x="5054000" y="1261241"/>
            <a:ext cx="7085187" cy="4501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1777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2606B-BA94-841F-93EC-24BC1E3AE6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B4E9F-A9E2-4DF0-1131-C129E7FECC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a typeface="Verdana"/>
                <a:cs typeface="Gill Sans"/>
              </a:rPr>
              <a:t>Check normality of the data with tests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2AE93D-95CA-0F01-E543-C3B5C16BEA1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8200" y="934654"/>
            <a:ext cx="10515600" cy="4351338"/>
          </a:xfrm>
        </p:spPr>
        <p:txBody>
          <a:bodyPr vert="horz" lIns="91440" tIns="45720" rIns="91440" bIns="45720" rtlCol="0" anchor="t">
            <a:normAutofit fontScale="85000" lnSpcReduction="20000"/>
          </a:bodyPr>
          <a:lstStyle/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en-US" sz="1800" dirty="0">
                <a:latin typeface="Corbel"/>
                <a:ea typeface="Tahoma"/>
                <a:cs typeface="Arial"/>
              </a:rPr>
              <a:t>We use the Shapiro-Wilks test, it is not ideal as the null hypothesis is normality (what we would like).</a:t>
            </a:r>
          </a:p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en-US" sz="1800" dirty="0">
                <a:latin typeface="Corbel"/>
                <a:ea typeface="Tahoma"/>
                <a:cs typeface="Arial"/>
              </a:rPr>
              <a:t>So, accepting normality has no type II error </a:t>
            </a:r>
          </a:p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en-US" sz="1800" dirty="0">
                <a:latin typeface="Corbel"/>
                <a:ea typeface="Tahoma"/>
                <a:cs typeface="Arial"/>
              </a:rPr>
              <a:t>control...</a:t>
            </a:r>
            <a:endParaRPr lang="en-US" dirty="0"/>
          </a:p>
          <a:p>
            <a:pPr>
              <a:lnSpc>
                <a:spcPct val="100000"/>
              </a:lnSpc>
              <a:spcBef>
                <a:spcPct val="20000"/>
              </a:spcBef>
            </a:pPr>
            <a:endParaRPr lang="en-US" sz="1800" dirty="0">
              <a:latin typeface="Corbel"/>
              <a:ea typeface="Tahoma"/>
              <a:cs typeface="Arial"/>
            </a:endParaRPr>
          </a:p>
          <a:p>
            <a:r>
              <a:rPr lang="en-GB" sz="1800" err="1">
                <a:latin typeface="Courier New"/>
                <a:ea typeface="+mn-lt"/>
                <a:cs typeface="+mn-lt"/>
              </a:rPr>
              <a:t>shapiro.test</a:t>
            </a:r>
            <a:r>
              <a:rPr lang="en-GB" sz="1800" dirty="0">
                <a:latin typeface="Courier New"/>
                <a:ea typeface="+mn-lt"/>
                <a:cs typeface="+mn-lt"/>
              </a:rPr>
              <a:t>(</a:t>
            </a:r>
            <a:r>
              <a:rPr lang="en-GB" sz="1800" err="1">
                <a:latin typeface="Courier New"/>
                <a:ea typeface="+mn-lt"/>
                <a:cs typeface="+mn-lt"/>
              </a:rPr>
              <a:t>plen_versicolor</a:t>
            </a:r>
            <a:r>
              <a:rPr lang="en-GB" sz="1800" dirty="0">
                <a:latin typeface="Courier New"/>
                <a:ea typeface="+mn-lt"/>
                <a:cs typeface="+mn-lt"/>
              </a:rPr>
              <a:t>)</a:t>
            </a:r>
            <a:endParaRPr lang="en-GB" sz="1800">
              <a:latin typeface="Courier New"/>
            </a:endParaRPr>
          </a:p>
          <a:p>
            <a:r>
              <a:rPr lang="en-GB" sz="1800" dirty="0">
                <a:latin typeface="Courier New"/>
                <a:ea typeface="+mn-lt"/>
                <a:cs typeface="+mn-lt"/>
              </a:rPr>
              <a:t>   Shapiro-Wilk normality test</a:t>
            </a:r>
            <a:endParaRPr lang="en-GB" sz="1800" dirty="0">
              <a:latin typeface="Courier New"/>
            </a:endParaRPr>
          </a:p>
          <a:p>
            <a:endParaRPr lang="en-GB" sz="1800" dirty="0">
              <a:latin typeface="Courier New"/>
            </a:endParaRPr>
          </a:p>
          <a:p>
            <a:r>
              <a:rPr lang="en-GB" sz="1800" dirty="0">
                <a:latin typeface="Courier New"/>
                <a:ea typeface="+mn-lt"/>
                <a:cs typeface="+mn-lt"/>
              </a:rPr>
              <a:t>data:  </a:t>
            </a:r>
            <a:r>
              <a:rPr lang="en-GB" sz="1800" err="1">
                <a:latin typeface="Courier New"/>
                <a:ea typeface="+mn-lt"/>
                <a:cs typeface="+mn-lt"/>
              </a:rPr>
              <a:t>plen_versicolor</a:t>
            </a:r>
            <a:endParaRPr lang="en-GB" sz="1800">
              <a:latin typeface="Courier New"/>
            </a:endParaRPr>
          </a:p>
          <a:p>
            <a:r>
              <a:rPr lang="en-GB" sz="1800" dirty="0">
                <a:latin typeface="Courier New"/>
                <a:ea typeface="+mn-lt"/>
                <a:cs typeface="+mn-lt"/>
              </a:rPr>
              <a:t>W = 0.966, p-value = 0.1585</a:t>
            </a:r>
            <a:endParaRPr lang="en-GB" sz="1800" dirty="0">
              <a:latin typeface="Courier New"/>
            </a:endParaRPr>
          </a:p>
          <a:p>
            <a:endParaRPr lang="en-GB" sz="1800" dirty="0">
              <a:latin typeface="Courier New"/>
              <a:ea typeface="+mn-lt"/>
              <a:cs typeface="Courier New"/>
            </a:endParaRPr>
          </a:p>
          <a:p>
            <a:r>
              <a:rPr lang="en-GB" sz="1800" err="1">
                <a:latin typeface="Courier New"/>
                <a:ea typeface="+mn-lt"/>
                <a:cs typeface="Courier New"/>
              </a:rPr>
              <a:t>shapiro.test</a:t>
            </a:r>
            <a:r>
              <a:rPr lang="en-GB" sz="1800" dirty="0">
                <a:latin typeface="Courier New"/>
                <a:ea typeface="+mn-lt"/>
                <a:cs typeface="Courier New"/>
              </a:rPr>
              <a:t>(</a:t>
            </a:r>
            <a:r>
              <a:rPr lang="en-GB" sz="1800" err="1">
                <a:latin typeface="Courier New"/>
                <a:ea typeface="+mn-lt"/>
                <a:cs typeface="Courier New"/>
              </a:rPr>
              <a:t>plen_virginica</a:t>
            </a:r>
            <a:r>
              <a:rPr lang="en-GB" sz="1800" dirty="0">
                <a:latin typeface="Courier New"/>
                <a:ea typeface="+mn-lt"/>
                <a:cs typeface="Courier New"/>
              </a:rPr>
              <a:t>)</a:t>
            </a:r>
            <a:endParaRPr lang="en-GB" sz="1800" dirty="0">
              <a:latin typeface="Courier New"/>
            </a:endParaRPr>
          </a:p>
          <a:p>
            <a:r>
              <a:rPr lang="en-GB" sz="1800" dirty="0">
                <a:latin typeface="Courier New"/>
                <a:ea typeface="+mn-lt"/>
                <a:cs typeface="+mn-lt"/>
              </a:rPr>
              <a:t>   Shapiro-Wilk normality test</a:t>
            </a:r>
            <a:endParaRPr lang="en-GB" sz="1800" dirty="0">
              <a:latin typeface="Courier New"/>
            </a:endParaRPr>
          </a:p>
          <a:p>
            <a:endParaRPr lang="en-GB" sz="1800" dirty="0">
              <a:latin typeface="Courier New"/>
            </a:endParaRPr>
          </a:p>
          <a:p>
            <a:r>
              <a:rPr lang="en-GB" sz="1800" dirty="0">
                <a:latin typeface="Courier New"/>
                <a:ea typeface="+mn-lt"/>
                <a:cs typeface="+mn-lt"/>
              </a:rPr>
              <a:t>data:  </a:t>
            </a:r>
            <a:r>
              <a:rPr lang="en-GB" sz="1800" err="1">
                <a:latin typeface="Courier New"/>
                <a:ea typeface="+mn-lt"/>
                <a:cs typeface="+mn-lt"/>
              </a:rPr>
              <a:t>plen_virginica</a:t>
            </a:r>
            <a:endParaRPr lang="en-GB" sz="1800">
              <a:latin typeface="Courier New"/>
            </a:endParaRPr>
          </a:p>
          <a:p>
            <a:r>
              <a:rPr lang="en-GB" sz="1800" dirty="0">
                <a:latin typeface="Courier New"/>
                <a:ea typeface="+mn-lt"/>
                <a:cs typeface="+mn-lt"/>
              </a:rPr>
              <a:t>W = 0.96219, p-value = 0.1098</a:t>
            </a:r>
            <a:endParaRPr lang="en-GB" sz="1800" dirty="0">
              <a:latin typeface="Courier New"/>
            </a:endParaRPr>
          </a:p>
        </p:txBody>
      </p:sp>
      <p:pic>
        <p:nvPicPr>
          <p:cNvPr id="4" name="Picture 3" descr="A collage of graphs&#10;&#10;Description automatically generated">
            <a:extLst>
              <a:ext uri="{FF2B5EF4-FFF2-40B4-BE49-F238E27FC236}">
                <a16:creationId xmlns:a16="http://schemas.microsoft.com/office/drawing/2014/main" id="{F354D6CE-041D-C279-29C3-509EE0C49F0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-2230" t="584" r="2107" b="-584"/>
          <a:stretch/>
        </p:blipFill>
        <p:spPr>
          <a:xfrm>
            <a:off x="5054000" y="1278758"/>
            <a:ext cx="7085187" cy="4501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91018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7CEF98-A6DC-39E1-7EE9-76E1B4C45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019F5-512C-71D5-0860-B0BC0168AF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a typeface="Verdana"/>
                <a:cs typeface="Gill Sans"/>
              </a:rPr>
              <a:t>Check normality of the data with tests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AE7ED5-FC32-EF3A-64DC-0A194B792C0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8200" y="934654"/>
            <a:ext cx="10515600" cy="4351338"/>
          </a:xfrm>
        </p:spPr>
        <p:txBody>
          <a:bodyPr vert="horz" lIns="91440" tIns="45720" rIns="91440" bIns="45720" rtlCol="0" anchor="t">
            <a:normAutofit fontScale="85000" lnSpcReduction="20000"/>
          </a:bodyPr>
          <a:lstStyle/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en-US" sz="1800" dirty="0">
                <a:latin typeface="Corbel"/>
                <a:ea typeface="Tahoma"/>
                <a:cs typeface="Arial"/>
              </a:rPr>
              <a:t>We use the Shapiro-Wilks test, it is not ideal as the null hypothesis is normality (what we would like).</a:t>
            </a:r>
          </a:p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en-US" sz="1800" dirty="0">
                <a:latin typeface="Corbel"/>
                <a:ea typeface="Tahoma"/>
                <a:cs typeface="Arial"/>
              </a:rPr>
              <a:t>So, accepting normality has no type II error </a:t>
            </a:r>
          </a:p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en-US" sz="1800" dirty="0">
                <a:latin typeface="Corbel"/>
                <a:ea typeface="Tahoma"/>
                <a:cs typeface="Arial"/>
              </a:rPr>
              <a:t>control...</a:t>
            </a:r>
            <a:endParaRPr lang="en-US" dirty="0"/>
          </a:p>
          <a:p>
            <a:pPr>
              <a:lnSpc>
                <a:spcPct val="100000"/>
              </a:lnSpc>
              <a:spcBef>
                <a:spcPct val="20000"/>
              </a:spcBef>
            </a:pPr>
            <a:endParaRPr lang="en-US" sz="1800" dirty="0">
              <a:latin typeface="Corbel"/>
              <a:ea typeface="Tahoma"/>
              <a:cs typeface="Arial"/>
            </a:endParaRPr>
          </a:p>
          <a:p>
            <a:r>
              <a:rPr lang="en-GB" sz="1800" dirty="0" err="1">
                <a:latin typeface="Courier New"/>
                <a:ea typeface="+mn-lt"/>
                <a:cs typeface="+mn-lt"/>
              </a:rPr>
              <a:t>shapiro.test</a:t>
            </a:r>
            <a:r>
              <a:rPr lang="en-GB" sz="1800" dirty="0">
                <a:latin typeface="Courier New"/>
                <a:ea typeface="+mn-lt"/>
                <a:cs typeface="+mn-lt"/>
              </a:rPr>
              <a:t>(</a:t>
            </a:r>
            <a:r>
              <a:rPr lang="en-GB" sz="1800" dirty="0" err="1">
                <a:latin typeface="Courier New"/>
                <a:ea typeface="+mn-lt"/>
                <a:cs typeface="+mn-lt"/>
              </a:rPr>
              <a:t>plen_versicolor</a:t>
            </a:r>
            <a:r>
              <a:rPr lang="en-GB" sz="1800" dirty="0">
                <a:latin typeface="Courier New"/>
                <a:ea typeface="+mn-lt"/>
                <a:cs typeface="+mn-lt"/>
              </a:rPr>
              <a:t>)</a:t>
            </a:r>
            <a:endParaRPr lang="en-GB" sz="1800" dirty="0">
              <a:latin typeface="Courier New"/>
            </a:endParaRPr>
          </a:p>
          <a:p>
            <a:r>
              <a:rPr lang="en-GB" sz="1800" dirty="0">
                <a:latin typeface="Courier New"/>
                <a:ea typeface="+mn-lt"/>
                <a:cs typeface="+mn-lt"/>
              </a:rPr>
              <a:t>   Shapiro-Wilk normality test</a:t>
            </a:r>
            <a:endParaRPr lang="en-GB" sz="1800" dirty="0">
              <a:latin typeface="Courier New"/>
            </a:endParaRPr>
          </a:p>
          <a:p>
            <a:endParaRPr lang="en-GB" sz="1800" dirty="0">
              <a:latin typeface="Courier New"/>
            </a:endParaRPr>
          </a:p>
          <a:p>
            <a:r>
              <a:rPr lang="en-GB" sz="1800" dirty="0">
                <a:latin typeface="Courier New"/>
                <a:ea typeface="+mn-lt"/>
                <a:cs typeface="+mn-lt"/>
              </a:rPr>
              <a:t>data:  </a:t>
            </a:r>
            <a:r>
              <a:rPr lang="en-GB" sz="1800" dirty="0" err="1">
                <a:latin typeface="Courier New"/>
                <a:ea typeface="+mn-lt"/>
                <a:cs typeface="+mn-lt"/>
              </a:rPr>
              <a:t>plen_versicolor</a:t>
            </a:r>
            <a:endParaRPr lang="en-GB" sz="1800" dirty="0">
              <a:latin typeface="Courier New"/>
            </a:endParaRPr>
          </a:p>
          <a:p>
            <a:r>
              <a:rPr lang="en-GB" sz="1800" dirty="0">
                <a:latin typeface="Courier New"/>
                <a:ea typeface="+mn-lt"/>
                <a:cs typeface="+mn-lt"/>
              </a:rPr>
              <a:t>W = 0.966, p-value = 0.1585</a:t>
            </a:r>
            <a:endParaRPr lang="en-GB" sz="1800" dirty="0">
              <a:latin typeface="Courier New"/>
            </a:endParaRPr>
          </a:p>
          <a:p>
            <a:endParaRPr lang="en-GB" sz="1800" dirty="0">
              <a:latin typeface="Courier New"/>
              <a:ea typeface="+mn-lt"/>
              <a:cs typeface="Courier New"/>
            </a:endParaRPr>
          </a:p>
          <a:p>
            <a:r>
              <a:rPr lang="en-GB" sz="1800" dirty="0" err="1">
                <a:latin typeface="Courier New"/>
                <a:ea typeface="+mn-lt"/>
                <a:cs typeface="Courier New"/>
              </a:rPr>
              <a:t>shapiro.test</a:t>
            </a:r>
            <a:r>
              <a:rPr lang="en-GB" sz="1800" dirty="0">
                <a:latin typeface="Courier New"/>
                <a:ea typeface="+mn-lt"/>
                <a:cs typeface="Courier New"/>
              </a:rPr>
              <a:t>(</a:t>
            </a:r>
            <a:r>
              <a:rPr lang="en-GB" sz="1800" dirty="0" err="1">
                <a:latin typeface="Courier New"/>
                <a:ea typeface="+mn-lt"/>
                <a:cs typeface="Courier New"/>
              </a:rPr>
              <a:t>plen_virginica</a:t>
            </a:r>
            <a:r>
              <a:rPr lang="en-GB" sz="1800" dirty="0">
                <a:latin typeface="Courier New"/>
                <a:ea typeface="+mn-lt"/>
                <a:cs typeface="Courier New"/>
              </a:rPr>
              <a:t>)</a:t>
            </a:r>
            <a:endParaRPr lang="en-GB" sz="1800" dirty="0">
              <a:latin typeface="Courier New"/>
            </a:endParaRPr>
          </a:p>
          <a:p>
            <a:r>
              <a:rPr lang="en-GB" sz="1800" dirty="0">
                <a:latin typeface="Courier New"/>
                <a:ea typeface="+mn-lt"/>
                <a:cs typeface="+mn-lt"/>
              </a:rPr>
              <a:t>   Shapiro-Wilk normality test</a:t>
            </a:r>
            <a:endParaRPr lang="en-GB" sz="1800" dirty="0">
              <a:latin typeface="Courier New"/>
            </a:endParaRPr>
          </a:p>
          <a:p>
            <a:endParaRPr lang="en-GB" sz="1800" dirty="0">
              <a:latin typeface="Courier New"/>
            </a:endParaRPr>
          </a:p>
          <a:p>
            <a:r>
              <a:rPr lang="en-GB" sz="1800" dirty="0">
                <a:latin typeface="Courier New"/>
                <a:ea typeface="+mn-lt"/>
                <a:cs typeface="+mn-lt"/>
              </a:rPr>
              <a:t>data:  </a:t>
            </a:r>
            <a:r>
              <a:rPr lang="en-GB" sz="1800" dirty="0" err="1">
                <a:latin typeface="Courier New"/>
                <a:ea typeface="+mn-lt"/>
                <a:cs typeface="+mn-lt"/>
              </a:rPr>
              <a:t>plen_virginica</a:t>
            </a:r>
            <a:endParaRPr lang="en-GB" sz="1800" dirty="0">
              <a:latin typeface="Courier New"/>
            </a:endParaRPr>
          </a:p>
          <a:p>
            <a:r>
              <a:rPr lang="en-GB" sz="1800" dirty="0">
                <a:latin typeface="Courier New"/>
                <a:ea typeface="+mn-lt"/>
                <a:cs typeface="+mn-lt"/>
              </a:rPr>
              <a:t>W = 0.96219, p-value = 0.1098</a:t>
            </a:r>
            <a:endParaRPr lang="en-GB" sz="1800" dirty="0">
              <a:latin typeface="Courier New"/>
            </a:endParaRPr>
          </a:p>
        </p:txBody>
      </p:sp>
      <p:pic>
        <p:nvPicPr>
          <p:cNvPr id="4" name="Picture 3" descr="A collage of graphs&#10;&#10;Description automatically generated">
            <a:extLst>
              <a:ext uri="{FF2B5EF4-FFF2-40B4-BE49-F238E27FC236}">
                <a16:creationId xmlns:a16="http://schemas.microsoft.com/office/drawing/2014/main" id="{DA1D72B6-8836-4DF6-D3F4-F45FEF3278E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-2230" t="584" r="2107" b="-584"/>
          <a:stretch/>
        </p:blipFill>
        <p:spPr>
          <a:xfrm>
            <a:off x="5054000" y="1278758"/>
            <a:ext cx="7085187" cy="4501936"/>
          </a:xfrm>
          <a:prstGeom prst="rect">
            <a:avLst/>
          </a:prstGeom>
        </p:spPr>
      </p:pic>
      <p:pic>
        <p:nvPicPr>
          <p:cNvPr id="5" name="Image 20" descr="A red and black logo&#10;&#10;Description automatically generated">
            <a:extLst>
              <a:ext uri="{FF2B5EF4-FFF2-40B4-BE49-F238E27FC236}">
                <a16:creationId xmlns:a16="http://schemas.microsoft.com/office/drawing/2014/main" id="{EDEB9949-CC74-1468-6097-1A206B6907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903" y="5660603"/>
            <a:ext cx="1067033" cy="823140"/>
          </a:xfrm>
          <a:prstGeom prst="rect">
            <a:avLst/>
          </a:prstGeom>
        </p:spPr>
      </p:pic>
      <p:sp>
        <p:nvSpPr>
          <p:cNvPr id="6" name="TextBox 2">
            <a:extLst>
              <a:ext uri="{FF2B5EF4-FFF2-40B4-BE49-F238E27FC236}">
                <a16:creationId xmlns:a16="http://schemas.microsoft.com/office/drawing/2014/main" id="{442EA145-C75A-1C57-E90B-960687C3B04C}"/>
              </a:ext>
            </a:extLst>
          </p:cNvPr>
          <p:cNvSpPr txBox="1"/>
          <p:nvPr/>
        </p:nvSpPr>
        <p:spPr>
          <a:xfrm>
            <a:off x="1704975" y="5848350"/>
            <a:ext cx="8763000" cy="707886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>
                <a:solidFill>
                  <a:srgbClr val="000000"/>
                </a:solidFill>
                <a:ea typeface="+mn-lt"/>
                <a:cs typeface="+mn-lt"/>
              </a:rPr>
              <a:t>t-test is somewhat robust to non-normal data. No need to be too strict about normality requirement.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87475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03FB9-B598-18B5-CC33-7E03DAF78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EAF1148-3DFD-905C-6E05-D8B6813C8C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9337" y="0"/>
            <a:ext cx="535008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9EC3BBB-4968-13F2-F202-F7CD9260C8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a typeface="Verdana"/>
                <a:cs typeface="Gill Sans"/>
              </a:rPr>
              <a:t>Visualize group differences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051A7B-46F9-8E4D-4417-CB5AED42334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8200" y="934654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 sz="1800" dirty="0">
                <a:latin typeface="Courier New"/>
                <a:ea typeface="+mn-lt"/>
                <a:cs typeface="+mn-lt"/>
              </a:rPr>
              <a:t>boxplot(</a:t>
            </a:r>
            <a:r>
              <a:rPr lang="en-GB" sz="1800" err="1">
                <a:latin typeface="Courier New"/>
                <a:ea typeface="+mn-lt"/>
                <a:cs typeface="+mn-lt"/>
              </a:rPr>
              <a:t>Petal.Length</a:t>
            </a:r>
            <a:r>
              <a:rPr lang="en-GB" sz="1800" dirty="0">
                <a:latin typeface="Courier New"/>
                <a:ea typeface="+mn-lt"/>
                <a:cs typeface="+mn-lt"/>
              </a:rPr>
              <a:t> ~ Species, </a:t>
            </a:r>
            <a:endParaRPr lang="en-US">
              <a:latin typeface="Courier New"/>
            </a:endParaRPr>
          </a:p>
          <a:p>
            <a:r>
              <a:rPr lang="en-GB" sz="1800" dirty="0">
                <a:latin typeface="Courier New"/>
                <a:ea typeface="+mn-lt"/>
                <a:cs typeface="+mn-lt"/>
              </a:rPr>
              <a:t>        data=</a:t>
            </a:r>
            <a:r>
              <a:rPr lang="en-GB" sz="1800" dirty="0" err="1">
                <a:latin typeface="Courier New"/>
                <a:ea typeface="+mn-lt"/>
                <a:cs typeface="+mn-lt"/>
              </a:rPr>
              <a:t>iris_f</a:t>
            </a:r>
            <a:r>
              <a:rPr lang="en-GB" sz="1800" dirty="0">
                <a:latin typeface="Courier New"/>
                <a:ea typeface="+mn-lt"/>
                <a:cs typeface="+mn-lt"/>
              </a:rPr>
              <a:t>, </a:t>
            </a:r>
            <a:endParaRPr lang="en-US">
              <a:latin typeface="Courier New"/>
            </a:endParaRPr>
          </a:p>
          <a:p>
            <a:r>
              <a:rPr lang="en-GB" sz="1800" dirty="0">
                <a:latin typeface="Courier New"/>
                <a:ea typeface="+mn-lt"/>
                <a:cs typeface="+mn-lt"/>
              </a:rPr>
              <a:t>        col=c("</a:t>
            </a:r>
            <a:r>
              <a:rPr lang="en-GB" sz="1800" dirty="0" err="1">
                <a:latin typeface="Courier New"/>
                <a:ea typeface="+mn-lt"/>
                <a:cs typeface="+mn-lt"/>
              </a:rPr>
              <a:t>cornflowerblue</a:t>
            </a:r>
            <a:r>
              <a:rPr lang="en-GB" sz="1800" dirty="0">
                <a:latin typeface="Courier New"/>
                <a:ea typeface="+mn-lt"/>
                <a:cs typeface="+mn-lt"/>
              </a:rPr>
              <a:t>", "pink"), </a:t>
            </a:r>
            <a:endParaRPr lang="en-US" dirty="0">
              <a:latin typeface="Courier New"/>
            </a:endParaRPr>
          </a:p>
          <a:p>
            <a:r>
              <a:rPr lang="en-GB" sz="1800" dirty="0">
                <a:latin typeface="Courier New"/>
                <a:ea typeface="+mn-lt"/>
                <a:cs typeface="+mn-lt"/>
              </a:rPr>
              <a:t>        </a:t>
            </a:r>
            <a:r>
              <a:rPr lang="en-GB" sz="1800" err="1">
                <a:latin typeface="Courier New"/>
                <a:ea typeface="+mn-lt"/>
                <a:cs typeface="+mn-lt"/>
              </a:rPr>
              <a:t>ylab</a:t>
            </a:r>
            <a:r>
              <a:rPr lang="en-GB" sz="1800" dirty="0">
                <a:latin typeface="Courier New"/>
                <a:ea typeface="+mn-lt"/>
                <a:cs typeface="+mn-lt"/>
              </a:rPr>
              <a:t>="petal length", </a:t>
            </a:r>
            <a:endParaRPr lang="en-GB">
              <a:latin typeface="Courier New"/>
            </a:endParaRPr>
          </a:p>
          <a:p>
            <a:r>
              <a:rPr lang="en-GB" sz="1800" dirty="0">
                <a:latin typeface="Courier New"/>
                <a:ea typeface="+mn-lt"/>
                <a:cs typeface="+mn-lt"/>
              </a:rPr>
              <a:t>        </a:t>
            </a:r>
            <a:r>
              <a:rPr lang="en-GB" sz="1800" dirty="0" err="1">
                <a:latin typeface="Courier New"/>
                <a:ea typeface="+mn-lt"/>
                <a:cs typeface="+mn-lt"/>
              </a:rPr>
              <a:t>xlab</a:t>
            </a:r>
            <a:r>
              <a:rPr lang="en-GB" sz="1800" dirty="0">
                <a:latin typeface="Courier New"/>
                <a:ea typeface="+mn-lt"/>
                <a:cs typeface="+mn-lt"/>
              </a:rPr>
              <a:t>="species") </a:t>
            </a:r>
            <a:endParaRPr lang="en-GB" dirty="0">
              <a:latin typeface="Courier New"/>
            </a:endParaRPr>
          </a:p>
          <a:p>
            <a:r>
              <a:rPr lang="en-GB" sz="1800" dirty="0">
                <a:latin typeface="Courier New"/>
                <a:ea typeface="+mn-lt"/>
                <a:cs typeface="+mn-lt"/>
              </a:rPr>
              <a:t>points( </a:t>
            </a:r>
            <a:r>
              <a:rPr lang="en-GB" sz="1800" err="1">
                <a:latin typeface="Courier New"/>
                <a:ea typeface="+mn-lt"/>
                <a:cs typeface="+mn-lt"/>
              </a:rPr>
              <a:t>Petal.Length</a:t>
            </a:r>
            <a:r>
              <a:rPr lang="en-GB" sz="1800" dirty="0">
                <a:latin typeface="Courier New"/>
                <a:ea typeface="+mn-lt"/>
                <a:cs typeface="+mn-lt"/>
              </a:rPr>
              <a:t> ~ Species, </a:t>
            </a:r>
            <a:endParaRPr lang="en-GB">
              <a:latin typeface="Courier New"/>
            </a:endParaRPr>
          </a:p>
          <a:p>
            <a:r>
              <a:rPr lang="en-GB" sz="1800" dirty="0">
                <a:latin typeface="Courier New"/>
                <a:ea typeface="+mn-lt"/>
                <a:cs typeface="+mn-lt"/>
              </a:rPr>
              <a:t>        data=</a:t>
            </a:r>
            <a:r>
              <a:rPr lang="en-GB" sz="1800" dirty="0" err="1">
                <a:latin typeface="Courier New"/>
                <a:ea typeface="+mn-lt"/>
                <a:cs typeface="+mn-lt"/>
              </a:rPr>
              <a:t>iris_f</a:t>
            </a:r>
            <a:r>
              <a:rPr lang="en-GB" sz="1800" dirty="0">
                <a:latin typeface="Courier New"/>
                <a:ea typeface="+mn-lt"/>
                <a:cs typeface="+mn-lt"/>
              </a:rPr>
              <a:t>, </a:t>
            </a:r>
            <a:endParaRPr lang="en-GB">
              <a:latin typeface="Courier New"/>
            </a:endParaRPr>
          </a:p>
          <a:p>
            <a:r>
              <a:rPr lang="en-GB" sz="1800">
                <a:latin typeface="Courier New"/>
                <a:ea typeface="+mn-lt"/>
                <a:cs typeface="+mn-lt"/>
              </a:rPr>
              <a:t>        col="black",</a:t>
            </a:r>
            <a:endParaRPr lang="en-GB">
              <a:latin typeface="Courier New"/>
            </a:endParaRPr>
          </a:p>
          <a:p>
            <a:r>
              <a:rPr lang="en-GB" sz="1800" dirty="0">
                <a:latin typeface="Courier New"/>
                <a:ea typeface="+mn-lt"/>
                <a:cs typeface="+mn-lt"/>
              </a:rPr>
              <a:t>        </a:t>
            </a:r>
            <a:r>
              <a:rPr lang="en-GB" sz="1800" dirty="0" err="1">
                <a:latin typeface="Courier New"/>
                <a:ea typeface="+mn-lt"/>
                <a:cs typeface="+mn-lt"/>
              </a:rPr>
              <a:t>pch</a:t>
            </a:r>
            <a:r>
              <a:rPr lang="en-GB" sz="1800" dirty="0">
                <a:latin typeface="Courier New"/>
                <a:ea typeface="+mn-lt"/>
                <a:cs typeface="+mn-lt"/>
              </a:rPr>
              <a:t> = 19)</a:t>
            </a:r>
            <a:endParaRPr lang="en-GB">
              <a:latin typeface="Courier New"/>
            </a:endParaRPr>
          </a:p>
          <a:p>
            <a:pPr>
              <a:lnSpc>
                <a:spcPct val="100000"/>
              </a:lnSpc>
              <a:spcBef>
                <a:spcPct val="20000"/>
              </a:spcBef>
            </a:pPr>
            <a:endParaRPr lang="en-GB" sz="1800" dirty="0">
              <a:latin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42331126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CB317-FC8A-685A-351D-8A4F74942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CD31D-91C8-547A-94EC-ED0E80E7FD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a typeface="Verdana"/>
                <a:cs typeface="Gill Sans"/>
              </a:rPr>
              <a:t>Function </a:t>
            </a:r>
            <a:r>
              <a:rPr lang="en-GB" dirty="0" err="1">
                <a:ea typeface="Verdana"/>
                <a:cs typeface="Gill Sans"/>
              </a:rPr>
              <a:t>t.test</a:t>
            </a:r>
            <a:r>
              <a:rPr lang="en-GB" dirty="0">
                <a:ea typeface="Verdana"/>
                <a:cs typeface="Gill Sans"/>
              </a:rPr>
              <a:t>()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3E43C3-9E7B-5D97-740F-4C651A1E4C0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8200" y="934654"/>
            <a:ext cx="10515600" cy="4351338"/>
          </a:xfrm>
        </p:spPr>
        <p:txBody>
          <a:bodyPr vert="horz" lIns="91440" tIns="45720" rIns="91440" bIns="45720" rtlCol="0" anchor="t">
            <a:normAutofit fontScale="85000" lnSpcReduction="20000"/>
          </a:bodyPr>
          <a:lstStyle/>
          <a:p>
            <a:r>
              <a:rPr lang="en-GB" sz="1800" dirty="0" err="1">
                <a:latin typeface="Courier New"/>
                <a:ea typeface="+mn-lt"/>
                <a:cs typeface="+mn-lt"/>
              </a:rPr>
              <a:t>t.test</a:t>
            </a:r>
            <a:r>
              <a:rPr lang="en-GB" sz="1800" dirty="0">
                <a:latin typeface="Courier New"/>
                <a:ea typeface="+mn-lt"/>
                <a:cs typeface="+mn-lt"/>
              </a:rPr>
              <a:t>(</a:t>
            </a:r>
            <a:r>
              <a:rPr lang="en-GB" sz="1800" dirty="0" err="1">
                <a:latin typeface="Courier New"/>
                <a:ea typeface="+mn-lt"/>
                <a:cs typeface="+mn-lt"/>
              </a:rPr>
              <a:t>plen_versicolor</a:t>
            </a:r>
            <a:r>
              <a:rPr lang="en-GB" sz="1800" dirty="0">
                <a:latin typeface="Courier New"/>
                <a:ea typeface="+mn-lt"/>
                <a:cs typeface="+mn-lt"/>
              </a:rPr>
              <a:t>, </a:t>
            </a:r>
            <a:r>
              <a:rPr lang="en-GB" sz="1800" dirty="0" err="1">
                <a:latin typeface="Courier New"/>
                <a:ea typeface="+mn-lt"/>
                <a:cs typeface="+mn-lt"/>
              </a:rPr>
              <a:t>plen_virginica</a:t>
            </a:r>
            <a:r>
              <a:rPr lang="en-GB" sz="1800" dirty="0">
                <a:latin typeface="Courier New"/>
                <a:ea typeface="+mn-lt"/>
                <a:cs typeface="+mn-lt"/>
              </a:rPr>
              <a:t>)</a:t>
            </a:r>
            <a:endParaRPr lang="en-GB" dirty="0">
              <a:latin typeface="Courier New"/>
            </a:endParaRPr>
          </a:p>
          <a:p>
            <a:endParaRPr lang="en-GB" dirty="0">
              <a:latin typeface="Courier New"/>
            </a:endParaRPr>
          </a:p>
          <a:p>
            <a:r>
              <a:rPr lang="en-GB" sz="1800" err="1">
                <a:latin typeface="Courier New"/>
                <a:ea typeface="+mn-lt"/>
                <a:cs typeface="+mn-lt"/>
              </a:rPr>
              <a:t>t.test</a:t>
            </a:r>
            <a:r>
              <a:rPr lang="en-GB" sz="1800" dirty="0">
                <a:latin typeface="Courier New"/>
                <a:ea typeface="+mn-lt"/>
                <a:cs typeface="+mn-lt"/>
              </a:rPr>
              <a:t>(</a:t>
            </a:r>
            <a:r>
              <a:rPr lang="en-GB" sz="1800" err="1">
                <a:latin typeface="Courier New"/>
                <a:ea typeface="+mn-lt"/>
                <a:cs typeface="+mn-lt"/>
              </a:rPr>
              <a:t>Petal.Length</a:t>
            </a:r>
            <a:r>
              <a:rPr lang="en-GB" sz="1800" dirty="0">
                <a:latin typeface="Courier New"/>
                <a:ea typeface="+mn-lt"/>
                <a:cs typeface="+mn-lt"/>
              </a:rPr>
              <a:t> ~ Species, data=</a:t>
            </a:r>
            <a:r>
              <a:rPr lang="en-GB" sz="1800" err="1">
                <a:latin typeface="Courier New"/>
                <a:ea typeface="+mn-lt"/>
                <a:cs typeface="+mn-lt"/>
              </a:rPr>
              <a:t>iris_f</a:t>
            </a:r>
            <a:r>
              <a:rPr lang="en-GB" sz="1800" dirty="0">
                <a:latin typeface="Courier New"/>
                <a:ea typeface="+mn-lt"/>
                <a:cs typeface="+mn-lt"/>
              </a:rPr>
              <a:t>) </a:t>
            </a:r>
            <a:r>
              <a:rPr lang="en-GB" sz="1800" b="1" dirty="0">
                <a:solidFill>
                  <a:schemeClr val="accent4"/>
                </a:solidFill>
                <a:latin typeface="Courier New"/>
                <a:ea typeface="+mn-lt"/>
                <a:cs typeface="+mn-lt"/>
              </a:rPr>
              <a:t>#equivalent to the above </a:t>
            </a:r>
            <a:endParaRPr lang="en-GB" b="1">
              <a:solidFill>
                <a:schemeClr val="accent4"/>
              </a:solidFill>
              <a:latin typeface="Courier New"/>
              <a:ea typeface="Tahoma"/>
              <a:cs typeface="Gill Sans Light"/>
            </a:endParaRPr>
          </a:p>
          <a:p>
            <a:endParaRPr lang="en-GB" sz="1800" b="1" dirty="0">
              <a:solidFill>
                <a:schemeClr val="accent4"/>
              </a:solidFill>
              <a:latin typeface="Courier New"/>
              <a:ea typeface="+mn-lt"/>
              <a:cs typeface="+mn-lt"/>
            </a:endParaRPr>
          </a:p>
          <a:p>
            <a:r>
              <a:rPr lang="en-GB" sz="1800" dirty="0">
                <a:latin typeface="Courier New"/>
                <a:ea typeface="+mn-lt"/>
                <a:cs typeface="+mn-lt"/>
              </a:rPr>
              <a:t>Welch Two Sample t-test</a:t>
            </a:r>
            <a:endParaRPr lang="en-GB" dirty="0">
              <a:latin typeface="Courier New"/>
            </a:endParaRPr>
          </a:p>
          <a:p>
            <a:endParaRPr lang="en-GB" dirty="0">
              <a:latin typeface="Courier New"/>
            </a:endParaRPr>
          </a:p>
          <a:p>
            <a:r>
              <a:rPr lang="en-GB" sz="1800" dirty="0">
                <a:latin typeface="Courier New"/>
                <a:ea typeface="+mn-lt"/>
                <a:cs typeface="+mn-lt"/>
              </a:rPr>
              <a:t>data:  </a:t>
            </a:r>
            <a:r>
              <a:rPr lang="en-GB" sz="1800" err="1">
                <a:latin typeface="Courier New"/>
                <a:ea typeface="+mn-lt"/>
                <a:cs typeface="+mn-lt"/>
              </a:rPr>
              <a:t>Petal.Length</a:t>
            </a:r>
            <a:r>
              <a:rPr lang="en-GB" sz="1800" dirty="0">
                <a:latin typeface="Courier New"/>
                <a:ea typeface="+mn-lt"/>
                <a:cs typeface="+mn-lt"/>
              </a:rPr>
              <a:t> by Species</a:t>
            </a:r>
            <a:endParaRPr lang="en-GB" dirty="0">
              <a:latin typeface="Courier New"/>
            </a:endParaRPr>
          </a:p>
          <a:p>
            <a:r>
              <a:rPr lang="en-GB" sz="1800" dirty="0">
                <a:latin typeface="Courier New"/>
                <a:ea typeface="+mn-lt"/>
                <a:cs typeface="+mn-lt"/>
              </a:rPr>
              <a:t>t = -12.604, </a:t>
            </a:r>
            <a:r>
              <a:rPr lang="en-GB" sz="1800" err="1">
                <a:latin typeface="Courier New"/>
                <a:ea typeface="+mn-lt"/>
                <a:cs typeface="+mn-lt"/>
              </a:rPr>
              <a:t>df</a:t>
            </a:r>
            <a:r>
              <a:rPr lang="en-GB" sz="1800" dirty="0">
                <a:latin typeface="Courier New"/>
                <a:ea typeface="+mn-lt"/>
                <a:cs typeface="+mn-lt"/>
              </a:rPr>
              <a:t> = 95.57, p-value &lt; 2.2e-16</a:t>
            </a:r>
            <a:endParaRPr lang="en-GB" dirty="0">
              <a:latin typeface="Courier New"/>
            </a:endParaRPr>
          </a:p>
          <a:p>
            <a:r>
              <a:rPr lang="en-GB" sz="1800">
                <a:latin typeface="Courier New"/>
                <a:ea typeface="+mn-lt"/>
                <a:cs typeface="+mn-lt"/>
              </a:rPr>
              <a:t>alternative hypothesis: true difference in means between group versicolor and group virginica is not equal to 0</a:t>
            </a:r>
            <a:endParaRPr lang="en-GB">
              <a:latin typeface="Courier New"/>
            </a:endParaRPr>
          </a:p>
          <a:p>
            <a:r>
              <a:rPr lang="en-GB" sz="1800" dirty="0">
                <a:latin typeface="Courier New"/>
                <a:ea typeface="+mn-lt"/>
                <a:cs typeface="+mn-lt"/>
              </a:rPr>
              <a:t>95 percent confidence interval:</a:t>
            </a:r>
            <a:endParaRPr lang="en-GB" dirty="0">
              <a:latin typeface="Courier New"/>
            </a:endParaRPr>
          </a:p>
          <a:p>
            <a:r>
              <a:rPr lang="en-GB" sz="1800" dirty="0">
                <a:latin typeface="Courier New"/>
                <a:ea typeface="+mn-lt"/>
                <a:cs typeface="+mn-lt"/>
              </a:rPr>
              <a:t>-1.49549 -1.08851</a:t>
            </a:r>
            <a:endParaRPr lang="en-GB" dirty="0">
              <a:latin typeface="Courier New"/>
            </a:endParaRPr>
          </a:p>
          <a:p>
            <a:r>
              <a:rPr lang="en-GB" sz="1800" dirty="0">
                <a:latin typeface="Courier New"/>
                <a:ea typeface="+mn-lt"/>
                <a:cs typeface="+mn-lt"/>
              </a:rPr>
              <a:t>sample estimates:</a:t>
            </a:r>
            <a:endParaRPr lang="en-GB" dirty="0">
              <a:latin typeface="Courier New"/>
            </a:endParaRPr>
          </a:p>
          <a:p>
            <a:r>
              <a:rPr lang="en-GB" sz="1800" dirty="0">
                <a:latin typeface="Courier New"/>
                <a:ea typeface="+mn-lt"/>
                <a:cs typeface="+mn-lt"/>
              </a:rPr>
              <a:t>mean in group versicolor  mean in group virginica </a:t>
            </a:r>
            <a:endParaRPr lang="en-GB">
              <a:latin typeface="Courier New"/>
            </a:endParaRPr>
          </a:p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en-GB" sz="1800" dirty="0">
                <a:latin typeface="Courier New"/>
                <a:ea typeface="+mn-lt"/>
                <a:cs typeface="+mn-lt"/>
              </a:rPr>
              <a:t>                   4.260                    5.552 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7804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53E238-C457-5C69-4935-41001180C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479C98-CC49-C3FF-6F33-D0C00A31A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>
                <a:ea typeface="Verdana"/>
                <a:cs typeface="Gill Sans"/>
              </a:rPr>
              <a:t>t.test</a:t>
            </a:r>
            <a:r>
              <a:rPr lang="en-GB" dirty="0">
                <a:ea typeface="Verdana"/>
                <a:cs typeface="Gill Sans"/>
              </a:rPr>
              <a:t> object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0FB6B6-AF13-142A-258E-F44D8606C3E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8200" y="934654"/>
            <a:ext cx="10515600" cy="4351338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pPr marL="342900" indent="-340360">
              <a:lnSpc>
                <a:spcPct val="100000"/>
              </a:lnSpc>
              <a:spcBef>
                <a:spcPts val="0"/>
              </a:spcBef>
              <a:buFont typeface="Arial,Sans-Serif"/>
              <a:buChar char="•"/>
            </a:pPr>
            <a:r>
              <a:rPr lang="en-US" sz="2800" err="1">
                <a:solidFill>
                  <a:srgbClr val="000000"/>
                </a:solidFill>
                <a:latin typeface="Corbel"/>
                <a:ea typeface="+mn-lt"/>
                <a:cs typeface="Arial"/>
              </a:rPr>
              <a:t>t.test</a:t>
            </a:r>
            <a:r>
              <a:rPr lang="en-US" sz="2800" dirty="0">
                <a:solidFill>
                  <a:srgbClr val="000000"/>
                </a:solidFill>
                <a:latin typeface="Corbel"/>
                <a:ea typeface="+mn-lt"/>
                <a:cs typeface="Arial"/>
              </a:rPr>
              <a:t>() and other tests return a </a:t>
            </a:r>
            <a:r>
              <a:rPr lang="en-US" sz="2800" b="1" dirty="0">
                <a:solidFill>
                  <a:srgbClr val="000000"/>
                </a:solidFill>
                <a:latin typeface="Corbel"/>
                <a:ea typeface="+mn-lt"/>
                <a:cs typeface="Arial"/>
              </a:rPr>
              <a:t>list</a:t>
            </a:r>
            <a:r>
              <a:rPr lang="en-US" sz="2800" dirty="0">
                <a:solidFill>
                  <a:srgbClr val="000000"/>
                </a:solidFill>
                <a:latin typeface="Corbel"/>
                <a:ea typeface="+mn-lt"/>
                <a:cs typeface="Arial"/>
              </a:rPr>
              <a:t> that can be assigned to a variable. </a:t>
            </a:r>
            <a:endParaRPr lang="en-US">
              <a:latin typeface="Corbel"/>
            </a:endParaRPr>
          </a:p>
          <a:p>
            <a:pPr marL="342900" indent="-340360">
              <a:lnSpc>
                <a:spcPct val="100000"/>
              </a:lnSpc>
              <a:spcBef>
                <a:spcPts val="0"/>
              </a:spcBef>
              <a:buFont typeface="Arial,Sans-Serif"/>
              <a:buChar char="•"/>
            </a:pPr>
            <a:r>
              <a:rPr lang="en-US" sz="2800" dirty="0">
                <a:latin typeface="Corbel"/>
                <a:ea typeface="+mn-lt"/>
                <a:cs typeface="Arial"/>
              </a:rPr>
              <a:t>View the names of the list’s slots using </a:t>
            </a:r>
            <a:r>
              <a:rPr lang="en-US" sz="2800" b="1" dirty="0">
                <a:latin typeface="Corbel"/>
                <a:ea typeface="+mn-lt"/>
                <a:cs typeface="Arial"/>
              </a:rPr>
              <a:t>names()</a:t>
            </a:r>
            <a:r>
              <a:rPr lang="en-US" sz="2800" dirty="0">
                <a:latin typeface="Corbel"/>
                <a:ea typeface="+mn-lt"/>
                <a:cs typeface="Arial"/>
              </a:rPr>
              <a:t>.</a:t>
            </a:r>
            <a:endParaRPr lang="en-US"/>
          </a:p>
          <a:p>
            <a:pPr marL="342900" indent="-340360">
              <a:lnSpc>
                <a:spcPct val="100000"/>
              </a:lnSpc>
              <a:spcBef>
                <a:spcPts val="0"/>
              </a:spcBef>
              <a:buFont typeface="Arial,Sans-Serif"/>
              <a:buChar char="•"/>
            </a:pPr>
            <a:r>
              <a:rPr lang="en-US" sz="2800" dirty="0">
                <a:latin typeface="Corbel"/>
                <a:ea typeface="+mn-lt"/>
                <a:cs typeface="Arial"/>
              </a:rPr>
              <a:t>Access the elements of a list using the </a:t>
            </a:r>
            <a:r>
              <a:rPr lang="en-US" sz="2800" b="1" dirty="0">
                <a:latin typeface="Corbel"/>
                <a:ea typeface="+mn-lt"/>
                <a:cs typeface="Arial"/>
              </a:rPr>
              <a:t>$</a:t>
            </a:r>
            <a:r>
              <a:rPr lang="en-US" sz="2800" dirty="0">
                <a:latin typeface="Corbel"/>
                <a:ea typeface="+mn-lt"/>
                <a:cs typeface="Arial"/>
              </a:rPr>
              <a:t> or the </a:t>
            </a:r>
            <a:r>
              <a:rPr lang="en-US" sz="2800" b="1" dirty="0">
                <a:latin typeface="Corbel"/>
                <a:ea typeface="+mn-lt"/>
                <a:cs typeface="Arial"/>
              </a:rPr>
              <a:t>[[ ]]</a:t>
            </a:r>
            <a:r>
              <a:rPr lang="en-US" sz="2800" dirty="0">
                <a:latin typeface="Corbel"/>
                <a:ea typeface="+mn-lt"/>
                <a:cs typeface="Arial"/>
              </a:rPr>
              <a:t> operators.</a:t>
            </a:r>
          </a:p>
          <a:p>
            <a:pPr marL="342900" indent="-340360">
              <a:lnSpc>
                <a:spcPct val="100000"/>
              </a:lnSpc>
              <a:spcBef>
                <a:spcPts val="0"/>
              </a:spcBef>
              <a:buFont typeface="Arial,Sans-Serif"/>
              <a:buChar char="•"/>
            </a:pPr>
            <a:endParaRPr lang="en-US" sz="1800" dirty="0">
              <a:solidFill>
                <a:srgbClr val="000000"/>
              </a:solidFill>
              <a:latin typeface="Arial"/>
              <a:ea typeface="+mn-lt"/>
              <a:cs typeface="Arial"/>
            </a:endParaRPr>
          </a:p>
          <a:p>
            <a:r>
              <a:rPr lang="en-GB" sz="1800" err="1">
                <a:latin typeface="Courier New"/>
                <a:ea typeface="+mn-lt"/>
                <a:cs typeface="+mn-lt"/>
              </a:rPr>
              <a:t>test_res</a:t>
            </a:r>
            <a:r>
              <a:rPr lang="en-GB" sz="1800" dirty="0">
                <a:latin typeface="Courier New"/>
                <a:ea typeface="+mn-lt"/>
                <a:cs typeface="+mn-lt"/>
              </a:rPr>
              <a:t> = </a:t>
            </a:r>
            <a:r>
              <a:rPr lang="en-GB" sz="1800" err="1">
                <a:latin typeface="Courier New"/>
                <a:ea typeface="+mn-lt"/>
                <a:cs typeface="+mn-lt"/>
              </a:rPr>
              <a:t>t.test</a:t>
            </a:r>
            <a:r>
              <a:rPr lang="en-GB" sz="1800" dirty="0">
                <a:latin typeface="Courier New"/>
                <a:ea typeface="+mn-lt"/>
                <a:cs typeface="+mn-lt"/>
              </a:rPr>
              <a:t>(</a:t>
            </a:r>
            <a:r>
              <a:rPr lang="en-GB" sz="1800" err="1">
                <a:latin typeface="Courier New"/>
                <a:ea typeface="+mn-lt"/>
                <a:cs typeface="+mn-lt"/>
              </a:rPr>
              <a:t>Petal.Length</a:t>
            </a:r>
            <a:r>
              <a:rPr lang="en-GB" sz="1800" dirty="0">
                <a:latin typeface="Courier New"/>
                <a:ea typeface="+mn-lt"/>
                <a:cs typeface="+mn-lt"/>
              </a:rPr>
              <a:t> ~ Species, data=</a:t>
            </a:r>
            <a:r>
              <a:rPr lang="en-GB" sz="1800" err="1">
                <a:latin typeface="Courier New"/>
                <a:ea typeface="+mn-lt"/>
                <a:cs typeface="+mn-lt"/>
              </a:rPr>
              <a:t>iris_f</a:t>
            </a:r>
            <a:r>
              <a:rPr lang="en-GB" sz="1800" dirty="0">
                <a:latin typeface="Courier New"/>
                <a:ea typeface="+mn-lt"/>
                <a:cs typeface="+mn-lt"/>
              </a:rPr>
              <a:t>)</a:t>
            </a:r>
            <a:endParaRPr lang="en-GB" sz="1800">
              <a:latin typeface="Courier New"/>
            </a:endParaRPr>
          </a:p>
          <a:p>
            <a:endParaRPr lang="en-GB" sz="1800" dirty="0">
              <a:latin typeface="Courier New"/>
              <a:ea typeface="+mn-lt"/>
              <a:cs typeface="+mn-lt"/>
            </a:endParaRPr>
          </a:p>
          <a:p>
            <a:r>
              <a:rPr lang="en-GB" sz="1800" dirty="0">
                <a:latin typeface="Courier New"/>
                <a:ea typeface="+mn-lt"/>
                <a:cs typeface="+mn-lt"/>
              </a:rPr>
              <a:t>names(</a:t>
            </a:r>
            <a:r>
              <a:rPr lang="en-GB" sz="1800" err="1">
                <a:latin typeface="Courier New"/>
                <a:ea typeface="+mn-lt"/>
                <a:cs typeface="+mn-lt"/>
              </a:rPr>
              <a:t>test_res</a:t>
            </a:r>
            <a:r>
              <a:rPr lang="en-GB" sz="1800" dirty="0">
                <a:latin typeface="Courier New"/>
                <a:ea typeface="+mn-lt"/>
                <a:cs typeface="+mn-lt"/>
              </a:rPr>
              <a:t>)</a:t>
            </a:r>
            <a:endParaRPr lang="en-GB" sz="1800">
              <a:latin typeface="Courier New"/>
            </a:endParaRPr>
          </a:p>
          <a:p>
            <a:r>
              <a:rPr lang="en-GB" sz="1800" dirty="0">
                <a:latin typeface="Courier New"/>
                <a:ea typeface="+mn-lt"/>
                <a:cs typeface="+mn-lt"/>
              </a:rPr>
              <a:t>[1] "statistic"   "parameter"   "</a:t>
            </a:r>
            <a:r>
              <a:rPr lang="en-GB" sz="1800" err="1">
                <a:latin typeface="Courier New"/>
                <a:ea typeface="+mn-lt"/>
                <a:cs typeface="+mn-lt"/>
              </a:rPr>
              <a:t>p.value</a:t>
            </a:r>
            <a:r>
              <a:rPr lang="en-GB" sz="1800" dirty="0">
                <a:latin typeface="Courier New"/>
                <a:ea typeface="+mn-lt"/>
                <a:cs typeface="+mn-lt"/>
              </a:rPr>
              <a:t>"     "conf.int"    "estimate"   </a:t>
            </a:r>
            <a:endParaRPr lang="en-GB" sz="1800">
              <a:latin typeface="Courier New"/>
            </a:endParaRPr>
          </a:p>
          <a:p>
            <a:r>
              <a:rPr lang="en-GB" sz="1800" dirty="0">
                <a:latin typeface="Courier New"/>
                <a:ea typeface="+mn-lt"/>
                <a:cs typeface="+mn-lt"/>
              </a:rPr>
              <a:t>[6] "</a:t>
            </a:r>
            <a:r>
              <a:rPr lang="en-GB" sz="1800" err="1">
                <a:latin typeface="Courier New"/>
                <a:ea typeface="+mn-lt"/>
                <a:cs typeface="+mn-lt"/>
              </a:rPr>
              <a:t>null.value</a:t>
            </a:r>
            <a:r>
              <a:rPr lang="en-GB" sz="1800" dirty="0">
                <a:latin typeface="Courier New"/>
                <a:ea typeface="+mn-lt"/>
                <a:cs typeface="+mn-lt"/>
              </a:rPr>
              <a:t>"  "stderr"      "alternative" "method"      "data.name" </a:t>
            </a:r>
            <a:endParaRPr lang="en-GB" sz="1800">
              <a:latin typeface="Courier New"/>
            </a:endParaRPr>
          </a:p>
          <a:p>
            <a:endParaRPr lang="en-GB" sz="1800" dirty="0">
              <a:latin typeface="Courier New"/>
              <a:ea typeface="+mn-lt"/>
              <a:cs typeface="+mn-lt"/>
            </a:endParaRPr>
          </a:p>
          <a:p>
            <a:r>
              <a:rPr lang="en-GB" sz="1800" err="1">
                <a:latin typeface="Courier New"/>
                <a:ea typeface="+mn-lt"/>
                <a:cs typeface="+mn-lt"/>
              </a:rPr>
              <a:t>test_res</a:t>
            </a:r>
            <a:r>
              <a:rPr lang="en-GB" sz="1800" dirty="0">
                <a:latin typeface="Courier New"/>
                <a:ea typeface="+mn-lt"/>
                <a:cs typeface="+mn-lt"/>
              </a:rPr>
              <a:t>[['</a:t>
            </a:r>
            <a:r>
              <a:rPr lang="en-GB" sz="1800" err="1">
                <a:latin typeface="Courier New"/>
                <a:ea typeface="+mn-lt"/>
                <a:cs typeface="+mn-lt"/>
              </a:rPr>
              <a:t>p.value</a:t>
            </a:r>
            <a:r>
              <a:rPr lang="en-GB" sz="1800" dirty="0">
                <a:latin typeface="Courier New"/>
                <a:ea typeface="+mn-lt"/>
                <a:cs typeface="+mn-lt"/>
              </a:rPr>
              <a:t>']]</a:t>
            </a:r>
            <a:endParaRPr lang="en-GB" sz="1800">
              <a:latin typeface="Courier New"/>
            </a:endParaRPr>
          </a:p>
          <a:p>
            <a:r>
              <a:rPr lang="en-GB" sz="1800" dirty="0">
                <a:latin typeface="Courier New"/>
                <a:ea typeface="+mn-lt"/>
                <a:cs typeface="+mn-lt"/>
              </a:rPr>
              <a:t>[1] 4.900288e-22</a:t>
            </a:r>
            <a:endParaRPr lang="en-GB" sz="1800" dirty="0">
              <a:latin typeface="Courier New"/>
            </a:endParaRP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904442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CB91CF-3639-05C5-173C-B349D1BF4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6DED93-68FA-C6DB-405F-F4144ACC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a typeface="Verdana"/>
                <a:cs typeface="Gill Sans"/>
              </a:rPr>
              <a:t>Paired data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65BF65-6851-FC4F-86C8-22EA6D211C6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8200" y="934654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2540">
              <a:lnSpc>
                <a:spcPct val="100000"/>
              </a:lnSpc>
              <a:spcBef>
                <a:spcPts val="0"/>
              </a:spcBef>
            </a:pPr>
            <a:r>
              <a:rPr lang="en-US" sz="2800" dirty="0">
                <a:solidFill>
                  <a:srgbClr val="000000"/>
                </a:solidFill>
                <a:ea typeface="Tahoma"/>
                <a:cs typeface="Arial"/>
              </a:rPr>
              <a:t>When the measurements correspond to 2 observations on the same individuals, we need to use the </a:t>
            </a:r>
            <a:r>
              <a:rPr lang="en-US" sz="2800" b="1" dirty="0">
                <a:solidFill>
                  <a:srgbClr val="000000"/>
                </a:solidFill>
                <a:ea typeface="Tahoma"/>
                <a:cs typeface="Arial"/>
              </a:rPr>
              <a:t>paired t-test</a:t>
            </a:r>
            <a:r>
              <a:rPr lang="en-US" sz="2800" dirty="0">
                <a:solidFill>
                  <a:srgbClr val="000000"/>
                </a:solidFill>
                <a:ea typeface="Tahoma"/>
                <a:cs typeface="Arial"/>
              </a:rPr>
              <a:t>.</a:t>
            </a:r>
            <a:endParaRPr lang="en-US" sz="2800" dirty="0">
              <a:solidFill>
                <a:srgbClr val="000000"/>
              </a:solidFill>
              <a:cs typeface="Arial"/>
            </a:endParaRPr>
          </a:p>
          <a:p>
            <a:pPr marL="2540">
              <a:lnSpc>
                <a:spcPct val="100000"/>
              </a:lnSpc>
              <a:spcBef>
                <a:spcPts val="0"/>
              </a:spcBef>
            </a:pPr>
            <a:endParaRPr lang="en-US" sz="2800" dirty="0">
              <a:solidFill>
                <a:srgbClr val="000000"/>
              </a:solidFill>
              <a:ea typeface="Tahoma"/>
              <a:cs typeface="Arial"/>
            </a:endParaRPr>
          </a:p>
          <a:p>
            <a:pPr marL="2540">
              <a:lnSpc>
                <a:spcPct val="100000"/>
              </a:lnSpc>
              <a:spcBef>
                <a:spcPts val="0"/>
              </a:spcBef>
            </a:pPr>
            <a:r>
              <a:rPr lang="en-US" sz="2800" dirty="0">
                <a:solidFill>
                  <a:srgbClr val="000000"/>
                </a:solidFill>
                <a:ea typeface="Tahoma"/>
                <a:cs typeface="Arial"/>
              </a:rPr>
              <a:t>This tests focuses on the difference between the two observations and asks if </a:t>
            </a:r>
            <a:r>
              <a:rPr lang="en-US" sz="2800">
                <a:solidFill>
                  <a:srgbClr val="000000"/>
                </a:solidFill>
                <a:ea typeface="Tahoma"/>
                <a:cs typeface="Arial"/>
              </a:rPr>
              <a:t>the mean of this difference is different from 0.</a:t>
            </a:r>
            <a:endParaRPr lang="en-US" sz="2800" dirty="0">
              <a:solidFill>
                <a:srgbClr val="000000"/>
              </a:solidFill>
              <a:ea typeface="Tahoma"/>
              <a:cs typeface="Arial"/>
            </a:endParaRPr>
          </a:p>
          <a:p>
            <a:pPr marL="2540">
              <a:lnSpc>
                <a:spcPct val="100000"/>
              </a:lnSpc>
              <a:spcBef>
                <a:spcPts val="0"/>
              </a:spcBef>
            </a:pPr>
            <a:endParaRPr lang="en-US" sz="2800" dirty="0">
              <a:solidFill>
                <a:srgbClr val="000000"/>
              </a:solidFill>
              <a:ea typeface="Tahoma"/>
              <a:cs typeface="Arial"/>
            </a:endParaRPr>
          </a:p>
          <a:p>
            <a:pPr marL="2540">
              <a:lnSpc>
                <a:spcPct val="100000"/>
              </a:lnSpc>
              <a:spcBef>
                <a:spcPts val="0"/>
              </a:spcBef>
            </a:pPr>
            <a:r>
              <a:rPr lang="en-US" sz="2800" b="1" dirty="0">
                <a:solidFill>
                  <a:srgbClr val="000000"/>
                </a:solidFill>
                <a:ea typeface="Tahoma"/>
                <a:cs typeface="Arial"/>
              </a:rPr>
              <a:t>Assumption:</a:t>
            </a:r>
            <a:r>
              <a:rPr lang="en-US" sz="2800" dirty="0">
                <a:solidFill>
                  <a:srgbClr val="000000"/>
                </a:solidFill>
                <a:ea typeface="Tahoma"/>
                <a:cs typeface="Arial"/>
              </a:rPr>
              <a:t> the sample mean of the differences are normally distributed</a:t>
            </a:r>
          </a:p>
          <a:p>
            <a:pPr marL="2540">
              <a:lnSpc>
                <a:spcPct val="100000"/>
              </a:lnSpc>
              <a:spcBef>
                <a:spcPts val="0"/>
              </a:spcBef>
            </a:pPr>
            <a:endParaRPr lang="en-US" sz="2800" dirty="0">
              <a:solidFill>
                <a:srgbClr val="000000"/>
              </a:solidFill>
              <a:ea typeface="Tahoma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069725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864507-D5FC-8EB3-F9B5-9C8EA71EC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542B2A-6EB3-A2AC-0E25-1CA9BA7D80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a typeface="Verdana"/>
                <a:cs typeface="Gill Sans"/>
              </a:rPr>
              <a:t>Paired data representation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3A0CCD-36ED-B42E-A3B6-295B330E8C2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8200" y="934654"/>
            <a:ext cx="10515600" cy="5104579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latin typeface="Courier New"/>
                <a:ea typeface="+mn-lt"/>
                <a:cs typeface="+mn-lt"/>
              </a:rPr>
              <a:t>data(sleep)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latin typeface="Courier New"/>
                <a:ea typeface="+mn-lt"/>
                <a:cs typeface="+mn-lt"/>
              </a:rPr>
              <a:t>head(sleep, n=3)</a:t>
            </a:r>
          </a:p>
          <a:p>
            <a:r>
              <a:rPr lang="en-US" sz="1800" dirty="0">
                <a:latin typeface="Courier New"/>
                <a:ea typeface="+mn-lt"/>
                <a:cs typeface="+mn-lt"/>
              </a:rPr>
              <a:t>extra group ID</a:t>
            </a:r>
            <a:endParaRPr lang="en-US" dirty="0">
              <a:latin typeface="Courier New"/>
            </a:endParaRPr>
          </a:p>
          <a:p>
            <a:r>
              <a:rPr lang="en-US" sz="1800" dirty="0">
                <a:latin typeface="Courier New"/>
                <a:ea typeface="+mn-lt"/>
                <a:cs typeface="+mn-lt"/>
              </a:rPr>
              <a:t>1   0.7     1  1</a:t>
            </a:r>
            <a:endParaRPr lang="en-US" dirty="0">
              <a:latin typeface="Courier New"/>
            </a:endParaRPr>
          </a:p>
          <a:p>
            <a:r>
              <a:rPr lang="en-US" sz="1800" dirty="0">
                <a:latin typeface="Courier New"/>
                <a:ea typeface="+mn-lt"/>
                <a:cs typeface="+mn-lt"/>
              </a:rPr>
              <a:t>2  -1.6     1  2</a:t>
            </a:r>
            <a:endParaRPr lang="en-US" dirty="0">
              <a:latin typeface="Courier New"/>
            </a:endParaRPr>
          </a:p>
          <a:p>
            <a:r>
              <a:rPr lang="en-US" sz="1800" dirty="0">
                <a:latin typeface="Courier New"/>
                <a:ea typeface="+mn-lt"/>
                <a:cs typeface="+mn-lt"/>
              </a:rPr>
              <a:t>3  -0.2     1  3</a:t>
            </a:r>
            <a:endParaRPr lang="en-US" dirty="0">
              <a:latin typeface="Courier New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sz="1800" dirty="0">
              <a:latin typeface="Courier New"/>
              <a:ea typeface="+mn-lt"/>
              <a:cs typeface="+mn-lt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sz="1800" dirty="0">
              <a:latin typeface="Courier New"/>
              <a:ea typeface="+mn-lt"/>
              <a:cs typeface="+mn-lt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err="1">
                <a:latin typeface="Courier New"/>
                <a:ea typeface="+mn-lt"/>
                <a:cs typeface="+mn-lt"/>
              </a:rPr>
              <a:t>interaction.plot</a:t>
            </a:r>
            <a:r>
              <a:rPr lang="en-US" sz="1800" dirty="0">
                <a:latin typeface="Courier New"/>
                <a:ea typeface="+mn-lt"/>
                <a:cs typeface="+mn-lt"/>
              </a:rPr>
              <a:t>(response=</a:t>
            </a:r>
            <a:r>
              <a:rPr lang="en-US" sz="1800" err="1">
                <a:latin typeface="Courier New"/>
                <a:ea typeface="+mn-lt"/>
                <a:cs typeface="+mn-lt"/>
              </a:rPr>
              <a:t>sleep$extra</a:t>
            </a:r>
            <a:r>
              <a:rPr lang="en-US" sz="1800" dirty="0">
                <a:latin typeface="Courier New"/>
                <a:ea typeface="+mn-lt"/>
                <a:cs typeface="+mn-lt"/>
              </a:rPr>
              <a:t>, </a:t>
            </a:r>
            <a:endParaRPr lang="en-US">
              <a:latin typeface="Courier New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latin typeface="Courier New"/>
                <a:ea typeface="+mn-lt"/>
                <a:cs typeface="+mn-lt"/>
              </a:rPr>
              <a:t>             </a:t>
            </a:r>
            <a:r>
              <a:rPr lang="en-US" sz="1800" dirty="0" err="1">
                <a:latin typeface="Courier New"/>
                <a:ea typeface="+mn-lt"/>
                <a:cs typeface="+mn-lt"/>
              </a:rPr>
              <a:t>x.factor</a:t>
            </a:r>
            <a:r>
              <a:rPr lang="en-US" sz="1800" dirty="0">
                <a:latin typeface="Courier New"/>
                <a:ea typeface="+mn-lt"/>
                <a:cs typeface="+mn-lt"/>
              </a:rPr>
              <a:t>=</a:t>
            </a:r>
            <a:r>
              <a:rPr lang="en-US" sz="1800" dirty="0" err="1">
                <a:latin typeface="Courier New"/>
                <a:ea typeface="+mn-lt"/>
                <a:cs typeface="+mn-lt"/>
              </a:rPr>
              <a:t>sleep$group</a:t>
            </a:r>
            <a:r>
              <a:rPr lang="en-US" sz="1800" dirty="0">
                <a:latin typeface="Courier New"/>
                <a:ea typeface="+mn-lt"/>
                <a:cs typeface="+mn-lt"/>
              </a:rPr>
              <a:t>, </a:t>
            </a:r>
            <a:endParaRPr lang="en-US" dirty="0">
              <a:latin typeface="Courier New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latin typeface="Courier New"/>
                <a:ea typeface="+mn-lt"/>
                <a:cs typeface="+mn-lt"/>
              </a:rPr>
              <a:t>             </a:t>
            </a:r>
            <a:r>
              <a:rPr lang="en-US" sz="1800" err="1">
                <a:latin typeface="Courier New"/>
                <a:ea typeface="+mn-lt"/>
                <a:cs typeface="+mn-lt"/>
              </a:rPr>
              <a:t>trace.factor</a:t>
            </a:r>
            <a:r>
              <a:rPr lang="en-US" sz="1800" dirty="0">
                <a:latin typeface="Courier New"/>
                <a:ea typeface="+mn-lt"/>
                <a:cs typeface="+mn-lt"/>
              </a:rPr>
              <a:t>=</a:t>
            </a:r>
            <a:r>
              <a:rPr lang="en-US" sz="1800" err="1">
                <a:latin typeface="Courier New"/>
                <a:ea typeface="+mn-lt"/>
                <a:cs typeface="+mn-lt"/>
              </a:rPr>
              <a:t>sleep$ID</a:t>
            </a:r>
            <a:r>
              <a:rPr lang="en-US" sz="1800" dirty="0">
                <a:latin typeface="Courier New"/>
                <a:ea typeface="+mn-lt"/>
                <a:cs typeface="+mn-lt"/>
              </a:rPr>
              <a:t>, </a:t>
            </a:r>
            <a:endParaRPr lang="en-US">
              <a:latin typeface="Corbel" panose="020B0503020204020204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latin typeface="Courier New"/>
                <a:ea typeface="+mn-lt"/>
                <a:cs typeface="+mn-lt"/>
              </a:rPr>
              <a:t>             legend=FALSE, </a:t>
            </a:r>
            <a:r>
              <a:rPr lang="en-US" sz="1800" dirty="0">
                <a:latin typeface="Courier New"/>
                <a:ea typeface="+mn-lt"/>
                <a:cs typeface="Courier New"/>
              </a:rPr>
              <a:t>type="b", </a:t>
            </a:r>
            <a:endParaRPr lang="en-US">
              <a:latin typeface="Corbel" panose="020B0503020204020204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latin typeface="Courier New"/>
                <a:ea typeface="+mn-lt"/>
                <a:cs typeface="+mn-lt"/>
              </a:rPr>
              <a:t>             </a:t>
            </a:r>
            <a:r>
              <a:rPr lang="en-US" sz="1800" dirty="0" err="1">
                <a:latin typeface="Courier New"/>
                <a:ea typeface="+mn-lt"/>
                <a:cs typeface="Courier New"/>
              </a:rPr>
              <a:t>lty</a:t>
            </a:r>
            <a:r>
              <a:rPr lang="en-US" sz="1800" dirty="0">
                <a:latin typeface="Courier New"/>
                <a:ea typeface="+mn-lt"/>
                <a:cs typeface="Courier New"/>
              </a:rPr>
              <a:t>=1, </a:t>
            </a:r>
            <a:r>
              <a:rPr lang="en-US" sz="1800" dirty="0" err="1">
                <a:latin typeface="Courier New"/>
                <a:ea typeface="+mn-lt"/>
                <a:cs typeface="Courier New"/>
              </a:rPr>
              <a:t>pch</a:t>
            </a:r>
            <a:r>
              <a:rPr lang="en-US" sz="1800" dirty="0">
                <a:latin typeface="Courier New"/>
                <a:ea typeface="+mn-lt"/>
                <a:cs typeface="Courier New"/>
              </a:rPr>
              <a:t>=16, </a:t>
            </a:r>
            <a:endParaRPr lang="en-US" dirty="0">
              <a:latin typeface="Corbel" panose="020B0503020204020204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latin typeface="Courier New"/>
                <a:ea typeface="+mn-lt"/>
                <a:cs typeface="+mn-lt"/>
              </a:rPr>
              <a:t>             </a:t>
            </a:r>
            <a:r>
              <a:rPr lang="en-US" sz="1800" dirty="0" err="1">
                <a:latin typeface="Courier New"/>
                <a:ea typeface="+mn-lt"/>
                <a:cs typeface="+mn-lt"/>
              </a:rPr>
              <a:t>xlab</a:t>
            </a:r>
            <a:r>
              <a:rPr lang="en-US" sz="1800" dirty="0">
                <a:latin typeface="Courier New"/>
                <a:ea typeface="+mn-lt"/>
                <a:cs typeface="+mn-lt"/>
              </a:rPr>
              <a:t>="Drug received", </a:t>
            </a:r>
            <a:endParaRPr lang="en-US">
              <a:latin typeface="Corbel" panose="020B0503020204020204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latin typeface="Courier New"/>
                <a:ea typeface="+mn-lt"/>
                <a:cs typeface="+mn-lt"/>
              </a:rPr>
              <a:t>             </a:t>
            </a:r>
            <a:r>
              <a:rPr lang="en-US" sz="1800" dirty="0" err="1">
                <a:latin typeface="Courier New"/>
                <a:ea typeface="+mn-lt"/>
                <a:cs typeface="+mn-lt"/>
              </a:rPr>
              <a:t>ylab</a:t>
            </a:r>
            <a:r>
              <a:rPr lang="en-US" sz="1800" dirty="0">
                <a:latin typeface="Courier New"/>
                <a:ea typeface="+mn-lt"/>
                <a:cs typeface="+mn-lt"/>
              </a:rPr>
              <a:t>="Extra sleep")</a:t>
            </a:r>
            <a:endParaRPr lang="en-US" dirty="0"/>
          </a:p>
          <a:p>
            <a:pPr marL="2540">
              <a:lnSpc>
                <a:spcPct val="100000"/>
              </a:lnSpc>
              <a:spcBef>
                <a:spcPts val="0"/>
              </a:spcBef>
            </a:pPr>
            <a:endParaRPr lang="en-US" sz="2800" dirty="0">
              <a:latin typeface="Courier New"/>
              <a:ea typeface="Tahoma"/>
              <a:cs typeface="Arial"/>
            </a:endParaRPr>
          </a:p>
        </p:txBody>
      </p:sp>
      <p:pic>
        <p:nvPicPr>
          <p:cNvPr id="6" name="Picture 5" descr="A graph with lines and dots&#10;&#10;Description automatically generated">
            <a:extLst>
              <a:ext uri="{FF2B5EF4-FFF2-40B4-BE49-F238E27FC236}">
                <a16:creationId xmlns:a16="http://schemas.microsoft.com/office/drawing/2014/main" id="{E48249B1-52BB-8A61-54B3-184FF09C7F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8735" y="0"/>
            <a:ext cx="543494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30520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88E3AC-5B59-DDA0-3E94-5A5C8B7C6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B0ACF-6B69-06B2-F01F-FD04F7970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a typeface="Verdana"/>
                <a:cs typeface="Gill Sans"/>
              </a:rPr>
              <a:t>Check normality of the differences between pairs</a:t>
            </a:r>
            <a:endParaRPr lang="en-GB" dirty="0" err="1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ABF0CD-634C-9C6E-47EB-67E72088898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8200" y="934654"/>
            <a:ext cx="10515600" cy="5104579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600" dirty="0">
                <a:latin typeface="Courier New"/>
                <a:ea typeface="+mn-lt"/>
                <a:cs typeface="+mn-lt"/>
              </a:rPr>
              <a:t>difference = </a:t>
            </a:r>
            <a:r>
              <a:rPr lang="en-US" sz="1600" err="1">
                <a:latin typeface="Courier New"/>
                <a:ea typeface="+mn-lt"/>
                <a:cs typeface="+mn-lt"/>
              </a:rPr>
              <a:t>sleep$extra</a:t>
            </a:r>
            <a:r>
              <a:rPr lang="en-US" sz="1600" dirty="0">
                <a:latin typeface="Courier New"/>
                <a:ea typeface="+mn-lt"/>
                <a:cs typeface="+mn-lt"/>
              </a:rPr>
              <a:t>[</a:t>
            </a:r>
            <a:r>
              <a:rPr lang="en-US" sz="1600" err="1">
                <a:latin typeface="Courier New"/>
                <a:ea typeface="+mn-lt"/>
                <a:cs typeface="+mn-lt"/>
              </a:rPr>
              <a:t>sleep$group</a:t>
            </a:r>
            <a:r>
              <a:rPr lang="en-US" sz="1600" dirty="0">
                <a:latin typeface="Courier New"/>
                <a:ea typeface="+mn-lt"/>
                <a:cs typeface="+mn-lt"/>
              </a:rPr>
              <a:t>==2]-</a:t>
            </a:r>
            <a:r>
              <a:rPr lang="en-US" sz="1600" err="1">
                <a:latin typeface="Courier New"/>
                <a:ea typeface="+mn-lt"/>
                <a:cs typeface="+mn-lt"/>
              </a:rPr>
              <a:t>sleep$extra</a:t>
            </a:r>
            <a:r>
              <a:rPr lang="en-US" sz="1600" dirty="0">
                <a:latin typeface="Courier New"/>
                <a:ea typeface="+mn-lt"/>
                <a:cs typeface="+mn-lt"/>
              </a:rPr>
              <a:t>[</a:t>
            </a:r>
            <a:r>
              <a:rPr lang="en-US" sz="1600" err="1">
                <a:latin typeface="Courier New"/>
                <a:ea typeface="+mn-lt"/>
                <a:cs typeface="+mn-lt"/>
              </a:rPr>
              <a:t>sleep$group</a:t>
            </a:r>
            <a:r>
              <a:rPr lang="en-US" sz="1600" dirty="0">
                <a:latin typeface="Courier New"/>
                <a:ea typeface="+mn-lt"/>
                <a:cs typeface="+mn-lt"/>
              </a:rPr>
              <a:t>==1]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sz="1600" dirty="0">
              <a:latin typeface="Courier New"/>
              <a:ea typeface="+mn-lt"/>
              <a:cs typeface="Arial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600">
                <a:latin typeface="Courier New"/>
                <a:ea typeface="+mn-lt"/>
                <a:cs typeface="+mn-lt"/>
              </a:rPr>
              <a:t>hist(difference, </a:t>
            </a:r>
            <a:r>
              <a:rPr lang="en-US" sz="1600" err="1">
                <a:latin typeface="Courier New"/>
                <a:ea typeface="+mn-lt"/>
                <a:cs typeface="+mn-lt"/>
              </a:rPr>
              <a:t>freq</a:t>
            </a:r>
            <a:r>
              <a:rPr lang="en-US" sz="1600" dirty="0">
                <a:latin typeface="Courier New"/>
                <a:ea typeface="+mn-lt"/>
                <a:cs typeface="+mn-lt"/>
              </a:rPr>
              <a:t>=FALSE, </a:t>
            </a:r>
            <a:r>
              <a:rPr lang="en-US" sz="1600" err="1">
                <a:latin typeface="Courier New"/>
                <a:ea typeface="+mn-lt"/>
                <a:cs typeface="+mn-lt"/>
              </a:rPr>
              <a:t>xlab</a:t>
            </a:r>
            <a:r>
              <a:rPr lang="en-US" sz="1600" dirty="0">
                <a:latin typeface="Courier New"/>
                <a:ea typeface="+mn-lt"/>
                <a:cs typeface="+mn-lt"/>
              </a:rPr>
              <a:t>="Difference Drug 2 - Drug 1", 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600" dirty="0">
                <a:latin typeface="Courier New"/>
                <a:ea typeface="+mn-lt"/>
                <a:cs typeface="+mn-lt"/>
              </a:rPr>
              <a:t>                 main="Difference in extra sleep", col="white")</a:t>
            </a:r>
            <a:endParaRPr lang="en-US"/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sz="1600" dirty="0">
              <a:latin typeface="Courier New"/>
              <a:ea typeface="+mn-lt"/>
              <a:cs typeface="Arial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600" dirty="0" err="1">
                <a:latin typeface="Courier New"/>
                <a:ea typeface="+mn-lt"/>
                <a:cs typeface="+mn-lt"/>
              </a:rPr>
              <a:t>qqnorm</a:t>
            </a:r>
            <a:r>
              <a:rPr lang="en-US" sz="1600" dirty="0">
                <a:latin typeface="Courier New"/>
                <a:ea typeface="+mn-lt"/>
                <a:cs typeface="+mn-lt"/>
              </a:rPr>
              <a:t>(difference)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600" dirty="0" err="1">
                <a:latin typeface="Courier New"/>
                <a:ea typeface="+mn-lt"/>
                <a:cs typeface="+mn-lt"/>
              </a:rPr>
              <a:t>qqline</a:t>
            </a:r>
            <a:r>
              <a:rPr lang="en-US" sz="1600" dirty="0">
                <a:latin typeface="Courier New"/>
                <a:ea typeface="+mn-lt"/>
                <a:cs typeface="+mn-lt"/>
              </a:rPr>
              <a:t>(difference)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sz="1800" dirty="0">
              <a:latin typeface="Courier New"/>
              <a:ea typeface="+mn-lt"/>
              <a:cs typeface="+mn-lt"/>
            </a:endParaRPr>
          </a:p>
          <a:p>
            <a:pPr marL="2540">
              <a:lnSpc>
                <a:spcPct val="100000"/>
              </a:lnSpc>
              <a:spcBef>
                <a:spcPts val="0"/>
              </a:spcBef>
            </a:pPr>
            <a:endParaRPr lang="en-US" sz="2800" dirty="0">
              <a:latin typeface="Courier New"/>
              <a:ea typeface="Tahoma"/>
              <a:cs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291F774-757A-EF12-FD51-D45EFEE0BC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8810" y="2062466"/>
            <a:ext cx="7983373" cy="4608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67101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4F7F3-6423-CB50-7ABA-5729667C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C2218F-7863-7639-3DA0-4B7813AF87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a typeface="Verdana"/>
                <a:cs typeface="Gill Sans"/>
              </a:rPr>
              <a:t>Paired t-test</a:t>
            </a:r>
            <a:endParaRPr lang="en-GB" dirty="0" err="1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13A888-D2B8-2EF1-5123-87576ECF0F6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8200" y="934654"/>
            <a:ext cx="10515600" cy="5104579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b="1" dirty="0">
                <a:solidFill>
                  <a:schemeClr val="accent4"/>
                </a:solidFill>
                <a:latin typeface="Courier New"/>
                <a:ea typeface="+mn-lt"/>
                <a:cs typeface="+mn-lt"/>
              </a:rPr>
              <a:t># using a paired t-test:</a:t>
            </a:r>
          </a:p>
          <a:p>
            <a:pPr>
              <a:lnSpc>
                <a:spcPct val="100000"/>
              </a:lnSpc>
              <a:spcBef>
                <a:spcPts val="360"/>
              </a:spcBef>
            </a:pPr>
            <a:r>
              <a:rPr lang="en-US" sz="1800" err="1">
                <a:latin typeface="Courier New"/>
                <a:ea typeface="+mn-lt"/>
                <a:cs typeface="+mn-lt"/>
              </a:rPr>
              <a:t>t.test</a:t>
            </a:r>
            <a:r>
              <a:rPr lang="en-US" sz="1800" dirty="0">
                <a:latin typeface="Courier New"/>
                <a:ea typeface="+mn-lt"/>
                <a:cs typeface="+mn-lt"/>
              </a:rPr>
              <a:t>(</a:t>
            </a:r>
            <a:r>
              <a:rPr lang="en-US" sz="1800" err="1">
                <a:latin typeface="Courier New"/>
                <a:ea typeface="+mn-lt"/>
                <a:cs typeface="+mn-lt"/>
              </a:rPr>
              <a:t>sleep$extra</a:t>
            </a:r>
            <a:r>
              <a:rPr lang="en-US" sz="1800" dirty="0">
                <a:latin typeface="Courier New"/>
                <a:ea typeface="+mn-lt"/>
                <a:cs typeface="+mn-lt"/>
              </a:rPr>
              <a:t>[</a:t>
            </a:r>
            <a:r>
              <a:rPr lang="en-US" sz="1800" err="1">
                <a:latin typeface="Courier New"/>
                <a:ea typeface="+mn-lt"/>
                <a:cs typeface="+mn-lt"/>
              </a:rPr>
              <a:t>sleep$group</a:t>
            </a:r>
            <a:r>
              <a:rPr lang="en-US" sz="1800" dirty="0">
                <a:latin typeface="Courier New"/>
                <a:ea typeface="+mn-lt"/>
                <a:cs typeface="+mn-lt"/>
              </a:rPr>
              <a:t>==1],</a:t>
            </a:r>
          </a:p>
          <a:p>
            <a:pPr>
              <a:lnSpc>
                <a:spcPct val="100000"/>
              </a:lnSpc>
              <a:spcBef>
                <a:spcPts val="360"/>
              </a:spcBef>
            </a:pPr>
            <a:r>
              <a:rPr lang="en-US" sz="1800" dirty="0">
                <a:latin typeface="Courier New"/>
                <a:ea typeface="+mn-lt"/>
                <a:cs typeface="+mn-lt"/>
              </a:rPr>
              <a:t>       </a:t>
            </a:r>
            <a:r>
              <a:rPr lang="en-US" sz="1800" err="1">
                <a:latin typeface="Courier New"/>
                <a:ea typeface="+mn-lt"/>
                <a:cs typeface="+mn-lt"/>
              </a:rPr>
              <a:t>sleep$extra</a:t>
            </a:r>
            <a:r>
              <a:rPr lang="en-US" sz="1800" dirty="0">
                <a:latin typeface="Courier New"/>
                <a:ea typeface="+mn-lt"/>
                <a:cs typeface="+mn-lt"/>
              </a:rPr>
              <a:t>[</a:t>
            </a:r>
            <a:r>
              <a:rPr lang="en-US" sz="1800" err="1">
                <a:latin typeface="Courier New"/>
                <a:ea typeface="+mn-lt"/>
                <a:cs typeface="+mn-lt"/>
              </a:rPr>
              <a:t>sleep$group</a:t>
            </a:r>
            <a:r>
              <a:rPr lang="en-US" sz="1800" dirty="0">
                <a:latin typeface="Courier New"/>
                <a:ea typeface="+mn-lt"/>
                <a:cs typeface="+mn-lt"/>
              </a:rPr>
              <a:t>==2], </a:t>
            </a:r>
            <a:r>
              <a:rPr lang="en-US" sz="1800" b="1" dirty="0">
                <a:latin typeface="Courier New"/>
                <a:ea typeface="+mn-lt"/>
                <a:cs typeface="+mn-lt"/>
              </a:rPr>
              <a:t>paired=TRUE</a:t>
            </a:r>
            <a:r>
              <a:rPr lang="en-US" sz="1800" dirty="0">
                <a:latin typeface="Courier New"/>
                <a:ea typeface="+mn-lt"/>
                <a:cs typeface="+mn-lt"/>
              </a:rPr>
              <a:t>)</a:t>
            </a:r>
          </a:p>
          <a:p>
            <a:pPr>
              <a:lnSpc>
                <a:spcPct val="100000"/>
              </a:lnSpc>
              <a:spcBef>
                <a:spcPts val="360"/>
              </a:spcBef>
            </a:pPr>
            <a:r>
              <a:rPr lang="en-US" sz="1800" b="1" dirty="0">
                <a:solidFill>
                  <a:schemeClr val="accent4"/>
                </a:solidFill>
                <a:latin typeface="Courier New"/>
                <a:ea typeface="+mn-lt"/>
                <a:cs typeface="+mn-lt"/>
              </a:rPr>
              <a:t># paired values must be at the same position in the two vectors</a:t>
            </a:r>
          </a:p>
          <a:p>
            <a:pPr>
              <a:lnSpc>
                <a:spcPct val="100000"/>
              </a:lnSpc>
              <a:spcBef>
                <a:spcPts val="360"/>
              </a:spcBef>
            </a:pPr>
            <a:r>
              <a:rPr lang="en-US" sz="1800" b="1" dirty="0">
                <a:solidFill>
                  <a:schemeClr val="accent4"/>
                </a:solidFill>
                <a:latin typeface="Courier New"/>
                <a:ea typeface="+mn-lt"/>
                <a:cs typeface="+mn-lt"/>
              </a:rPr>
              <a:t># do not use formula notation (</a:t>
            </a:r>
            <a:r>
              <a:rPr lang="en-US" sz="1800" b="1" err="1">
                <a:solidFill>
                  <a:schemeClr val="accent4"/>
                </a:solidFill>
                <a:latin typeface="Courier New"/>
                <a:ea typeface="+mn-lt"/>
                <a:cs typeface="+mn-lt"/>
              </a:rPr>
              <a:t>extra~sleep</a:t>
            </a:r>
            <a:r>
              <a:rPr lang="en-US" sz="1800" b="1" dirty="0">
                <a:solidFill>
                  <a:schemeClr val="accent4"/>
                </a:solidFill>
                <a:latin typeface="Courier New"/>
                <a:ea typeface="+mn-lt"/>
                <a:cs typeface="+mn-lt"/>
              </a:rPr>
              <a:t>) for paired t-test</a:t>
            </a: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US" sz="1800" dirty="0">
              <a:latin typeface="Courier New"/>
              <a:ea typeface="+mn-lt"/>
              <a:cs typeface="+mn-lt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latin typeface="Courier New"/>
                <a:ea typeface="+mn-lt"/>
                <a:cs typeface="+mn-lt"/>
              </a:rPr>
              <a:t>Paired t-test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sz="1800" dirty="0">
              <a:latin typeface="Courier New"/>
              <a:ea typeface="Tahoma"/>
              <a:cs typeface="Arial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latin typeface="Courier New"/>
                <a:ea typeface="+mn-lt"/>
                <a:cs typeface="+mn-lt"/>
              </a:rPr>
              <a:t>data:  </a:t>
            </a:r>
            <a:r>
              <a:rPr lang="en-US" sz="1800" err="1">
                <a:latin typeface="Courier New"/>
                <a:ea typeface="+mn-lt"/>
                <a:cs typeface="+mn-lt"/>
              </a:rPr>
              <a:t>sleep$extra</a:t>
            </a:r>
            <a:r>
              <a:rPr lang="en-US" sz="1800" dirty="0">
                <a:latin typeface="Courier New"/>
                <a:ea typeface="+mn-lt"/>
                <a:cs typeface="+mn-lt"/>
              </a:rPr>
              <a:t>[</a:t>
            </a:r>
            <a:r>
              <a:rPr lang="en-US" sz="1800" err="1">
                <a:latin typeface="Courier New"/>
                <a:ea typeface="+mn-lt"/>
                <a:cs typeface="+mn-lt"/>
              </a:rPr>
              <a:t>sleep$group</a:t>
            </a:r>
            <a:r>
              <a:rPr lang="en-US" sz="1800" dirty="0">
                <a:latin typeface="Courier New"/>
                <a:ea typeface="+mn-lt"/>
                <a:cs typeface="+mn-lt"/>
              </a:rPr>
              <a:t> == 1] and </a:t>
            </a:r>
            <a:r>
              <a:rPr lang="en-US" sz="1800" err="1">
                <a:latin typeface="Courier New"/>
                <a:ea typeface="+mn-lt"/>
                <a:cs typeface="+mn-lt"/>
              </a:rPr>
              <a:t>sleep$extra</a:t>
            </a:r>
            <a:r>
              <a:rPr lang="en-US" sz="1800" dirty="0">
                <a:latin typeface="Courier New"/>
                <a:ea typeface="+mn-lt"/>
                <a:cs typeface="+mn-lt"/>
              </a:rPr>
              <a:t>[</a:t>
            </a:r>
            <a:r>
              <a:rPr lang="en-US" sz="1800" err="1">
                <a:latin typeface="Courier New"/>
                <a:ea typeface="+mn-lt"/>
                <a:cs typeface="+mn-lt"/>
              </a:rPr>
              <a:t>sleep$group</a:t>
            </a:r>
            <a:r>
              <a:rPr lang="en-US" sz="1800" dirty="0">
                <a:latin typeface="Courier New"/>
                <a:ea typeface="+mn-lt"/>
                <a:cs typeface="+mn-lt"/>
              </a:rPr>
              <a:t> == 2]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latin typeface="Courier New"/>
                <a:ea typeface="+mn-lt"/>
                <a:cs typeface="+mn-lt"/>
              </a:rPr>
              <a:t>t = -4.0621, </a:t>
            </a:r>
            <a:r>
              <a:rPr lang="en-US" sz="1800" err="1">
                <a:latin typeface="Courier New"/>
                <a:ea typeface="+mn-lt"/>
                <a:cs typeface="+mn-lt"/>
              </a:rPr>
              <a:t>df</a:t>
            </a:r>
            <a:r>
              <a:rPr lang="en-US" sz="1800" dirty="0">
                <a:latin typeface="Courier New"/>
                <a:ea typeface="+mn-lt"/>
                <a:cs typeface="+mn-lt"/>
              </a:rPr>
              <a:t> = 9, p-value = 0.002833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latin typeface="Courier New"/>
                <a:ea typeface="+mn-lt"/>
                <a:cs typeface="+mn-lt"/>
              </a:rPr>
              <a:t>alternative hypothesis: true difference in means is not equal to 0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latin typeface="Courier New"/>
                <a:ea typeface="+mn-lt"/>
                <a:cs typeface="+mn-lt"/>
              </a:rPr>
              <a:t>95 percent confidence interval: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latin typeface="Courier New"/>
                <a:ea typeface="+mn-lt"/>
                <a:cs typeface="+mn-lt"/>
              </a:rPr>
              <a:t> -2.4598858 -0.7001142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latin typeface="Courier New"/>
                <a:ea typeface="+mn-lt"/>
                <a:cs typeface="+mn-lt"/>
              </a:rPr>
              <a:t>sample estimates: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latin typeface="Courier New"/>
                <a:ea typeface="+mn-lt"/>
                <a:cs typeface="+mn-lt"/>
              </a:rPr>
              <a:t>mean of the differences 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latin typeface="Courier New"/>
                <a:ea typeface="+mn-lt"/>
                <a:cs typeface="+mn-lt"/>
              </a:rPr>
              <a:t>                  -1.58 </a:t>
            </a:r>
          </a:p>
          <a:p>
            <a:pPr marL="2540">
              <a:lnSpc>
                <a:spcPct val="100000"/>
              </a:lnSpc>
              <a:spcBef>
                <a:spcPts val="0"/>
              </a:spcBef>
            </a:pPr>
            <a:endParaRPr lang="en-US" sz="1800" dirty="0">
              <a:latin typeface="Courier New"/>
              <a:ea typeface="Tahoma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951166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E7122-791B-7807-B4E0-5A52A862FC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B57F74-2D0B-2F33-838D-E484144FD6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a typeface="Verdana"/>
                <a:cs typeface="Gill Sans"/>
              </a:rPr>
              <a:t>Non-parametric alternatives to the t-test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37560-D7D1-AA1D-24F6-190688A8D84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8200" y="934654"/>
            <a:ext cx="10515600" cy="5104579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2540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262626"/>
                </a:solidFill>
                <a:latin typeface="Corbel"/>
                <a:ea typeface="Tahoma"/>
                <a:cs typeface="Arial"/>
              </a:rPr>
              <a:t>When the data deviates strongly from normality, a </a:t>
            </a:r>
            <a:r>
              <a:rPr lang="en-US" sz="2000" b="1" dirty="0">
                <a:solidFill>
                  <a:srgbClr val="262626"/>
                </a:solidFill>
                <a:ea typeface="Tahoma"/>
                <a:cs typeface="Arial"/>
              </a:rPr>
              <a:t>non-parametric test</a:t>
            </a:r>
            <a:r>
              <a:rPr lang="en-US" sz="2000" dirty="0">
                <a:solidFill>
                  <a:srgbClr val="262626"/>
                </a:solidFill>
                <a:ea typeface="Tahoma"/>
                <a:cs typeface="Arial"/>
              </a:rPr>
              <a:t> </a:t>
            </a:r>
            <a:r>
              <a:rPr lang="en-US" sz="2000" dirty="0">
                <a:solidFill>
                  <a:srgbClr val="262626"/>
                </a:solidFill>
                <a:latin typeface="Corbel"/>
                <a:ea typeface="Tahoma"/>
                <a:cs typeface="Arial"/>
              </a:rPr>
              <a:t>can be used in place of a t-test. </a:t>
            </a:r>
            <a:endParaRPr lang="en-US"/>
          </a:p>
          <a:p>
            <a:pPr marL="2540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262626"/>
                </a:solidFill>
                <a:latin typeface="Corbel"/>
                <a:ea typeface="Tahoma"/>
                <a:cs typeface="Arial"/>
              </a:rPr>
              <a:t>Non-parametric tests </a:t>
            </a:r>
            <a:r>
              <a:rPr lang="en-US" sz="2000" b="1" dirty="0">
                <a:latin typeface="Corbel"/>
                <a:ea typeface="Tahoma"/>
                <a:cs typeface="Arial"/>
              </a:rPr>
              <a:t>do not assume any particular distribution of the data</a:t>
            </a:r>
            <a:r>
              <a:rPr lang="en-US" sz="2000" dirty="0">
                <a:latin typeface="Corbel"/>
                <a:ea typeface="Tahoma"/>
                <a:cs typeface="Arial"/>
              </a:rPr>
              <a:t>.</a:t>
            </a:r>
          </a:p>
          <a:p>
            <a:pPr marL="2540">
              <a:lnSpc>
                <a:spcPct val="100000"/>
              </a:lnSpc>
              <a:spcBef>
                <a:spcPts val="400"/>
              </a:spcBef>
            </a:pPr>
            <a:endParaRPr lang="en-US" sz="2000" dirty="0">
              <a:ea typeface="Tahoma"/>
              <a:cs typeface="Arial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000" b="1" dirty="0">
                <a:ea typeface="+mn-lt"/>
                <a:cs typeface="+mn-lt"/>
              </a:rPr>
              <a:t>Instead of t-test (without pairing), use Mann-Whitney U test.</a:t>
            </a:r>
            <a:endParaRPr lang="en-US" sz="2000" dirty="0">
              <a:ea typeface="+mn-lt"/>
              <a:cs typeface="+mn-lt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sz="2000" b="1" dirty="0">
              <a:ea typeface="+mn-lt"/>
              <a:cs typeface="+mn-lt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000" err="1">
                <a:latin typeface="Courier New"/>
                <a:ea typeface="+mn-lt"/>
                <a:cs typeface="+mn-lt"/>
              </a:rPr>
              <a:t>wilcox.test</a:t>
            </a:r>
            <a:r>
              <a:rPr lang="en-US" sz="2000" dirty="0">
                <a:latin typeface="Courier New"/>
                <a:ea typeface="+mn-lt"/>
                <a:cs typeface="+mn-lt"/>
              </a:rPr>
              <a:t>(</a:t>
            </a:r>
            <a:r>
              <a:rPr lang="en-US" sz="2000" err="1">
                <a:latin typeface="Courier New"/>
                <a:ea typeface="+mn-lt"/>
                <a:cs typeface="+mn-lt"/>
              </a:rPr>
              <a:t>sleep$extra</a:t>
            </a:r>
            <a:r>
              <a:rPr lang="en-US" sz="2000" dirty="0">
                <a:latin typeface="Courier New"/>
                <a:ea typeface="+mn-lt"/>
                <a:cs typeface="+mn-lt"/>
              </a:rPr>
              <a:t>[</a:t>
            </a:r>
            <a:r>
              <a:rPr lang="en-US" sz="2000" err="1">
                <a:latin typeface="Courier New"/>
                <a:ea typeface="+mn-lt"/>
                <a:cs typeface="+mn-lt"/>
              </a:rPr>
              <a:t>sleep$group</a:t>
            </a:r>
            <a:r>
              <a:rPr lang="en-US" sz="2000" dirty="0">
                <a:latin typeface="Courier New"/>
                <a:ea typeface="+mn-lt"/>
                <a:cs typeface="+mn-lt"/>
              </a:rPr>
              <a:t>==1],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000" dirty="0">
                <a:latin typeface="Courier New"/>
                <a:ea typeface="+mn-lt"/>
                <a:cs typeface="+mn-lt"/>
              </a:rPr>
              <a:t>            </a:t>
            </a:r>
            <a:r>
              <a:rPr lang="en-US" sz="2000" dirty="0" err="1">
                <a:latin typeface="Courier New"/>
                <a:ea typeface="+mn-lt"/>
                <a:cs typeface="+mn-lt"/>
              </a:rPr>
              <a:t>sleep$extra</a:t>
            </a:r>
            <a:r>
              <a:rPr lang="en-US" sz="2000" dirty="0">
                <a:latin typeface="Courier New"/>
                <a:ea typeface="+mn-lt"/>
                <a:cs typeface="+mn-lt"/>
              </a:rPr>
              <a:t>[</a:t>
            </a:r>
            <a:r>
              <a:rPr lang="en-US" sz="2000" dirty="0" err="1">
                <a:latin typeface="Courier New"/>
                <a:ea typeface="+mn-lt"/>
                <a:cs typeface="+mn-lt"/>
              </a:rPr>
              <a:t>sleep$group</a:t>
            </a:r>
            <a:r>
              <a:rPr lang="en-US" sz="2000" dirty="0">
                <a:latin typeface="Courier New"/>
                <a:ea typeface="+mn-lt"/>
                <a:cs typeface="+mn-lt"/>
              </a:rPr>
              <a:t>==2]) 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000" err="1">
                <a:latin typeface="Courier New"/>
                <a:ea typeface="+mn-lt"/>
                <a:cs typeface="+mn-lt"/>
              </a:rPr>
              <a:t>wilcox.test</a:t>
            </a:r>
            <a:r>
              <a:rPr lang="en-US" sz="2000" dirty="0">
                <a:latin typeface="Courier New"/>
                <a:ea typeface="+mn-lt"/>
                <a:cs typeface="+mn-lt"/>
              </a:rPr>
              <a:t>(</a:t>
            </a:r>
            <a:r>
              <a:rPr lang="en-US" sz="2000" err="1">
                <a:latin typeface="Courier New"/>
                <a:ea typeface="+mn-lt"/>
                <a:cs typeface="+mn-lt"/>
              </a:rPr>
              <a:t>extra~group</a:t>
            </a:r>
            <a:r>
              <a:rPr lang="en-US" sz="2000" dirty="0">
                <a:latin typeface="Courier New"/>
                <a:ea typeface="+mn-lt"/>
                <a:cs typeface="+mn-lt"/>
              </a:rPr>
              <a:t>, data=sleep) </a:t>
            </a:r>
            <a:r>
              <a:rPr lang="en-US" sz="2000" b="1" dirty="0">
                <a:solidFill>
                  <a:schemeClr val="accent4"/>
                </a:solidFill>
                <a:latin typeface="Courier New"/>
                <a:ea typeface="+mn-lt"/>
                <a:cs typeface="+mn-lt"/>
              </a:rPr>
              <a:t># equivalent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sz="2000" b="1" dirty="0">
              <a:ea typeface="+mn-lt"/>
              <a:cs typeface="+mn-lt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000" b="1" dirty="0">
                <a:ea typeface="+mn-lt"/>
                <a:cs typeface="+mn-lt"/>
              </a:rPr>
              <a:t>Instead of paired t-test, use Wilcoxon Signed Rank test.</a:t>
            </a:r>
            <a:endParaRPr lang="en-US" sz="2000" dirty="0">
              <a:ea typeface="+mn-lt"/>
              <a:cs typeface="+mn-lt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sz="2000" dirty="0">
              <a:ea typeface="+mn-lt"/>
              <a:cs typeface="+mn-lt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000" err="1">
                <a:latin typeface="Courier New"/>
                <a:ea typeface="+mn-lt"/>
                <a:cs typeface="+mn-lt"/>
              </a:rPr>
              <a:t>wilcox.test</a:t>
            </a:r>
            <a:r>
              <a:rPr lang="en-US" sz="2000" dirty="0">
                <a:latin typeface="Courier New"/>
                <a:ea typeface="+mn-lt"/>
                <a:cs typeface="+mn-lt"/>
              </a:rPr>
              <a:t>(</a:t>
            </a:r>
            <a:r>
              <a:rPr lang="en-US" sz="2000" err="1">
                <a:latin typeface="Courier New"/>
                <a:ea typeface="+mn-lt"/>
                <a:cs typeface="+mn-lt"/>
              </a:rPr>
              <a:t>sleep$extra</a:t>
            </a:r>
            <a:r>
              <a:rPr lang="en-US" sz="2000" dirty="0">
                <a:latin typeface="Courier New"/>
                <a:ea typeface="+mn-lt"/>
                <a:cs typeface="+mn-lt"/>
              </a:rPr>
              <a:t>[</a:t>
            </a:r>
            <a:r>
              <a:rPr lang="en-US" sz="2000" err="1">
                <a:latin typeface="Courier New"/>
                <a:ea typeface="+mn-lt"/>
                <a:cs typeface="+mn-lt"/>
              </a:rPr>
              <a:t>sleep$group</a:t>
            </a:r>
            <a:r>
              <a:rPr lang="en-US" sz="2000" dirty="0">
                <a:latin typeface="Courier New"/>
                <a:ea typeface="+mn-lt"/>
                <a:cs typeface="+mn-lt"/>
              </a:rPr>
              <a:t>==1],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000" dirty="0">
                <a:latin typeface="Courier New"/>
                <a:ea typeface="+mn-lt"/>
                <a:cs typeface="+mn-lt"/>
              </a:rPr>
              <a:t>            </a:t>
            </a:r>
            <a:r>
              <a:rPr lang="en-US" sz="2000" dirty="0" err="1">
                <a:latin typeface="Courier New"/>
                <a:ea typeface="+mn-lt"/>
                <a:cs typeface="+mn-lt"/>
              </a:rPr>
              <a:t>sleep$extra</a:t>
            </a:r>
            <a:r>
              <a:rPr lang="en-US" sz="2000" dirty="0">
                <a:latin typeface="Courier New"/>
                <a:ea typeface="+mn-lt"/>
                <a:cs typeface="+mn-lt"/>
              </a:rPr>
              <a:t>[</a:t>
            </a:r>
            <a:r>
              <a:rPr lang="en-US" sz="2000" dirty="0" err="1">
                <a:latin typeface="Courier New"/>
                <a:ea typeface="+mn-lt"/>
                <a:cs typeface="+mn-lt"/>
              </a:rPr>
              <a:t>sleep$group</a:t>
            </a:r>
            <a:r>
              <a:rPr lang="en-US" sz="2000" dirty="0">
                <a:latin typeface="Courier New"/>
                <a:ea typeface="+mn-lt"/>
                <a:cs typeface="+mn-lt"/>
              </a:rPr>
              <a:t>==2], paired=TRUE)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sz="2000" dirty="0">
              <a:ea typeface="+mn-lt"/>
              <a:cs typeface="+mn-lt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000" dirty="0">
                <a:ea typeface="+mn-lt"/>
                <a:cs typeface="+mn-lt"/>
              </a:rPr>
              <a:t>These two tests have different names but are </a:t>
            </a:r>
            <a:r>
              <a:rPr lang="en-US" sz="2000" b="1" dirty="0">
                <a:ea typeface="+mn-lt"/>
                <a:cs typeface="+mn-lt"/>
              </a:rPr>
              <a:t>both implemented in the R function </a:t>
            </a:r>
            <a:r>
              <a:rPr lang="en-US" sz="2000" b="1" dirty="0" err="1">
                <a:ea typeface="+mn-lt"/>
                <a:cs typeface="+mn-lt"/>
              </a:rPr>
              <a:t>wilcox.test</a:t>
            </a:r>
            <a:r>
              <a:rPr lang="en-US" sz="2000" dirty="0">
                <a:ea typeface="+mn-lt"/>
                <a:cs typeface="+mn-lt"/>
              </a:rPr>
              <a:t>.</a:t>
            </a:r>
            <a:endParaRPr lang="en-US"/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sz="1800" b="1" dirty="0">
              <a:latin typeface="Corbel"/>
              <a:ea typeface="Tahoma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21534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9E7A5-5C16-902D-16E5-7DDB263FE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D374B6-DE54-1508-B4B7-193D7BC4B7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>
                <a:ea typeface="Verdana"/>
                <a:cs typeface="Gill Sans"/>
              </a:rPr>
              <a:t>wilcox.test</a:t>
            </a:r>
            <a:r>
              <a:rPr lang="en-GB" dirty="0">
                <a:ea typeface="Verdana"/>
                <a:cs typeface="Gill Sans"/>
              </a:rPr>
              <a:t>()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AFFD47-706A-E656-3FF2-04F1F42672E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8200" y="934654"/>
            <a:ext cx="10515600" cy="5104579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ea typeface="+mn-lt"/>
                <a:cs typeface="+mn-lt"/>
              </a:rPr>
              <a:t>For the sleep data, a paired test is appropriate.</a:t>
            </a:r>
            <a:endParaRPr lang="en-US" sz="2000">
              <a:ea typeface="+mn-lt"/>
              <a:cs typeface="+mn-lt"/>
            </a:endParaRPr>
          </a:p>
          <a:p>
            <a:pPr marL="2540">
              <a:lnSpc>
                <a:spcPct val="100000"/>
              </a:lnSpc>
              <a:spcBef>
                <a:spcPts val="400"/>
              </a:spcBef>
            </a:pPr>
            <a:endParaRPr lang="en-US" sz="2000" dirty="0">
              <a:latin typeface="Corbel"/>
              <a:ea typeface="Tahoma"/>
              <a:cs typeface="Arial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000" err="1">
                <a:latin typeface="Courier New"/>
                <a:ea typeface="+mn-lt"/>
                <a:cs typeface="+mn-lt"/>
              </a:rPr>
              <a:t>wilcox.test</a:t>
            </a:r>
            <a:r>
              <a:rPr lang="en-US" sz="2000" dirty="0">
                <a:latin typeface="Courier New"/>
                <a:ea typeface="+mn-lt"/>
                <a:cs typeface="+mn-lt"/>
              </a:rPr>
              <a:t>(</a:t>
            </a:r>
            <a:r>
              <a:rPr lang="en-US" sz="2000" err="1">
                <a:latin typeface="Courier New"/>
                <a:ea typeface="+mn-lt"/>
                <a:cs typeface="+mn-lt"/>
              </a:rPr>
              <a:t>sleep$extra</a:t>
            </a:r>
            <a:r>
              <a:rPr lang="en-US" sz="2000" dirty="0">
                <a:latin typeface="Courier New"/>
                <a:ea typeface="+mn-lt"/>
                <a:cs typeface="+mn-lt"/>
              </a:rPr>
              <a:t>[</a:t>
            </a:r>
            <a:r>
              <a:rPr lang="en-US" sz="2000" err="1">
                <a:latin typeface="Courier New"/>
                <a:ea typeface="+mn-lt"/>
                <a:cs typeface="+mn-lt"/>
              </a:rPr>
              <a:t>sleep$group</a:t>
            </a:r>
            <a:r>
              <a:rPr lang="en-US" sz="2000" dirty="0">
                <a:latin typeface="Courier New"/>
                <a:ea typeface="+mn-lt"/>
                <a:cs typeface="+mn-lt"/>
              </a:rPr>
              <a:t>==1],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000" dirty="0">
                <a:latin typeface="Courier New"/>
                <a:ea typeface="+mn-lt"/>
                <a:cs typeface="+mn-lt"/>
              </a:rPr>
              <a:t>             </a:t>
            </a:r>
            <a:r>
              <a:rPr lang="en-US" sz="2000" err="1">
                <a:latin typeface="Courier New"/>
                <a:ea typeface="+mn-lt"/>
                <a:cs typeface="+mn-lt"/>
              </a:rPr>
              <a:t>sleep$extra</a:t>
            </a:r>
            <a:r>
              <a:rPr lang="en-US" sz="2000" dirty="0">
                <a:latin typeface="Courier New"/>
                <a:ea typeface="+mn-lt"/>
                <a:cs typeface="+mn-lt"/>
              </a:rPr>
              <a:t>[</a:t>
            </a:r>
            <a:r>
              <a:rPr lang="en-US" sz="2000" err="1">
                <a:latin typeface="Courier New"/>
                <a:ea typeface="+mn-lt"/>
                <a:cs typeface="+mn-lt"/>
              </a:rPr>
              <a:t>sleep$group</a:t>
            </a:r>
            <a:r>
              <a:rPr lang="en-US" sz="2000" dirty="0">
                <a:latin typeface="Courier New"/>
                <a:ea typeface="+mn-lt"/>
                <a:cs typeface="+mn-lt"/>
              </a:rPr>
              <a:t>==2], </a:t>
            </a:r>
            <a:r>
              <a:rPr lang="en-US" sz="2000" b="1" dirty="0">
                <a:latin typeface="Courier New"/>
                <a:ea typeface="+mn-lt"/>
                <a:cs typeface="+mn-lt"/>
              </a:rPr>
              <a:t>paired=TRUE</a:t>
            </a:r>
            <a:r>
              <a:rPr lang="en-US" sz="2000" dirty="0">
                <a:latin typeface="Courier New"/>
                <a:ea typeface="+mn-lt"/>
                <a:cs typeface="+mn-lt"/>
              </a:rPr>
              <a:t>)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000">
                <a:latin typeface="Courier New"/>
                <a:ea typeface="+mn-lt"/>
                <a:cs typeface="+mn-lt"/>
              </a:rPr>
              <a:t>Wilcoxon signed rank test with continuity correction</a:t>
            </a:r>
            <a:endParaRPr lang="en-US" sz="2000" dirty="0">
              <a:latin typeface="Courier New"/>
              <a:ea typeface="+mn-lt"/>
              <a:cs typeface="+mn-lt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sz="2000" dirty="0">
              <a:latin typeface="Courier New"/>
              <a:ea typeface="Tahoma"/>
              <a:cs typeface="Arial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000" dirty="0">
                <a:latin typeface="Courier New"/>
                <a:ea typeface="+mn-lt"/>
                <a:cs typeface="+mn-lt"/>
              </a:rPr>
              <a:t>data: </a:t>
            </a:r>
            <a:r>
              <a:rPr lang="en-US" sz="2000" dirty="0" err="1">
                <a:latin typeface="Courier New"/>
                <a:ea typeface="+mn-lt"/>
                <a:cs typeface="+mn-lt"/>
              </a:rPr>
              <a:t>sleep$extra</a:t>
            </a:r>
            <a:r>
              <a:rPr lang="en-US" sz="2000" dirty="0">
                <a:latin typeface="Courier New"/>
                <a:ea typeface="+mn-lt"/>
                <a:cs typeface="+mn-lt"/>
              </a:rPr>
              <a:t>[</a:t>
            </a:r>
            <a:r>
              <a:rPr lang="en-US" sz="2000" dirty="0" err="1">
                <a:latin typeface="Courier New"/>
                <a:ea typeface="+mn-lt"/>
                <a:cs typeface="+mn-lt"/>
              </a:rPr>
              <a:t>sleep$group</a:t>
            </a:r>
            <a:r>
              <a:rPr lang="en-US" sz="2000" dirty="0">
                <a:latin typeface="Courier New"/>
                <a:ea typeface="+mn-lt"/>
                <a:cs typeface="+mn-lt"/>
              </a:rPr>
              <a:t>==1] and </a:t>
            </a:r>
            <a:r>
              <a:rPr lang="en-US" sz="2000" dirty="0" err="1">
                <a:latin typeface="Courier New"/>
                <a:ea typeface="+mn-lt"/>
                <a:cs typeface="+mn-lt"/>
              </a:rPr>
              <a:t>sleep$extra</a:t>
            </a:r>
            <a:r>
              <a:rPr lang="en-US" sz="2000" dirty="0">
                <a:latin typeface="Courier New"/>
                <a:ea typeface="+mn-lt"/>
                <a:cs typeface="+mn-lt"/>
              </a:rPr>
              <a:t>[</a:t>
            </a:r>
            <a:r>
              <a:rPr lang="en-US" sz="2000" dirty="0" err="1">
                <a:latin typeface="Courier New"/>
                <a:ea typeface="+mn-lt"/>
                <a:cs typeface="+mn-lt"/>
              </a:rPr>
              <a:t>sleep$group</a:t>
            </a:r>
            <a:r>
              <a:rPr lang="en-US" sz="2000" dirty="0">
                <a:latin typeface="Courier New"/>
                <a:ea typeface="+mn-lt"/>
                <a:cs typeface="+mn-lt"/>
              </a:rPr>
              <a:t>==2]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000" dirty="0">
                <a:latin typeface="Courier New"/>
                <a:ea typeface="+mn-lt"/>
                <a:cs typeface="+mn-lt"/>
              </a:rPr>
              <a:t>V = 0, p-value = </a:t>
            </a:r>
            <a:r>
              <a:rPr lang="en-US" sz="2000" b="1" dirty="0">
                <a:latin typeface="Courier New"/>
                <a:ea typeface="+mn-lt"/>
                <a:cs typeface="+mn-lt"/>
              </a:rPr>
              <a:t>0.009091</a:t>
            </a:r>
            <a:endParaRPr lang="en-US" sz="2000" dirty="0">
              <a:latin typeface="Courier New"/>
              <a:ea typeface="+mn-lt"/>
              <a:cs typeface="+mn-lt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000" dirty="0">
                <a:latin typeface="Courier New"/>
                <a:ea typeface="+mn-lt"/>
                <a:cs typeface="+mn-lt"/>
              </a:rPr>
              <a:t>alternative hypothesis: true location shift is not equal to 0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sz="2000" dirty="0">
              <a:latin typeface="Corbel"/>
              <a:ea typeface="Tahoma"/>
              <a:cs typeface="Arial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sz="2000" dirty="0">
              <a:latin typeface="Corbel"/>
              <a:ea typeface="Tahoma"/>
              <a:cs typeface="Arial"/>
            </a:endParaRPr>
          </a:p>
          <a:p>
            <a:pPr marL="2540">
              <a:lnSpc>
                <a:spcPct val="100000"/>
              </a:lnSpc>
              <a:spcBef>
                <a:spcPts val="0"/>
              </a:spcBef>
            </a:pPr>
            <a:r>
              <a:rPr lang="en-US" sz="2000" dirty="0">
                <a:latin typeface="Corbel"/>
                <a:ea typeface="Tahoma"/>
                <a:cs typeface="Arial"/>
              </a:rPr>
              <a:t>The conclusion is the same as it was for the paired t-test.</a:t>
            </a:r>
          </a:p>
          <a:p>
            <a:pPr marL="285750" indent="-283210">
              <a:lnSpc>
                <a:spcPct val="100000"/>
              </a:lnSpc>
              <a:spcBef>
                <a:spcPts val="0"/>
              </a:spcBef>
              <a:buFont typeface="Arial,Sans-Serif"/>
              <a:buChar char="•"/>
            </a:pPr>
            <a:r>
              <a:rPr lang="en-US" sz="2000" dirty="0">
                <a:latin typeface="Corbel"/>
                <a:ea typeface="Tahoma"/>
                <a:cs typeface="Arial"/>
              </a:rPr>
              <a:t>The p-value is a little higher </a:t>
            </a:r>
            <a:r>
              <a:rPr lang="en-US" sz="2000" dirty="0" err="1">
                <a:latin typeface="Corbel"/>
                <a:ea typeface="Tahoma"/>
                <a:cs typeface="Arial"/>
              </a:rPr>
              <a:t>wilcox.test</a:t>
            </a:r>
            <a:r>
              <a:rPr lang="en-US" sz="2000" dirty="0">
                <a:latin typeface="Corbel"/>
                <a:ea typeface="Tahoma"/>
                <a:cs typeface="Arial"/>
              </a:rPr>
              <a:t>: 0.009091 (</a:t>
            </a:r>
            <a:r>
              <a:rPr lang="en-US" sz="2000" dirty="0" err="1">
                <a:latin typeface="Corbel"/>
                <a:ea typeface="Tahoma"/>
                <a:cs typeface="Arial"/>
              </a:rPr>
              <a:t>t.test</a:t>
            </a:r>
            <a:r>
              <a:rPr lang="en-US" sz="2000" dirty="0">
                <a:latin typeface="Corbel"/>
                <a:ea typeface="Tahoma"/>
                <a:cs typeface="Arial"/>
              </a:rPr>
              <a:t>: 0.002833)</a:t>
            </a:r>
          </a:p>
          <a:p>
            <a:pPr marL="2540">
              <a:lnSpc>
                <a:spcPct val="100000"/>
              </a:lnSpc>
              <a:spcBef>
                <a:spcPts val="400"/>
              </a:spcBef>
            </a:pPr>
            <a:endParaRPr lang="en-US" sz="2000" dirty="0">
              <a:latin typeface="Corbel"/>
              <a:ea typeface="Tahoma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485610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5AB7D0-3ACB-F18C-2156-1E3C8A151E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D41E47-5D5C-A6CF-93E5-6D40DB06A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>
                <a:ea typeface="Verdana"/>
                <a:cs typeface="Gill Sans"/>
              </a:rPr>
              <a:t>wilcox.test</a:t>
            </a:r>
            <a:r>
              <a:rPr lang="en-GB" dirty="0">
                <a:ea typeface="Verdana"/>
                <a:cs typeface="Gill Sans"/>
              </a:rPr>
              <a:t>() - warning messages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11A984-295F-1D04-09CA-5E875E0906E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8200" y="934654"/>
            <a:ext cx="10515600" cy="5104579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2540">
              <a:lnSpc>
                <a:spcPct val="100000"/>
              </a:lnSpc>
              <a:spcBef>
                <a:spcPts val="0"/>
              </a:spcBef>
            </a:pPr>
            <a:r>
              <a:rPr lang="en-US" sz="2000" dirty="0" err="1">
                <a:solidFill>
                  <a:srgbClr val="000000"/>
                </a:solidFill>
                <a:latin typeface="Corbel"/>
                <a:ea typeface="Tahoma"/>
                <a:cs typeface="Arial"/>
              </a:rPr>
              <a:t>wilcox.test</a:t>
            </a:r>
            <a:r>
              <a:rPr lang="en-US" sz="2000" dirty="0">
                <a:solidFill>
                  <a:srgbClr val="000000"/>
                </a:solidFill>
                <a:latin typeface="Corbel"/>
                <a:ea typeface="Tahoma"/>
                <a:cs typeface="Arial"/>
              </a:rPr>
              <a:t>() implements two ways to compute p-values: exact and by approximation</a:t>
            </a:r>
            <a:endParaRPr lang="en-US" dirty="0"/>
          </a:p>
          <a:p>
            <a:pPr marL="285750" indent="-283210">
              <a:lnSpc>
                <a:spcPct val="100000"/>
              </a:lnSpc>
              <a:spcBef>
                <a:spcPts val="0"/>
              </a:spcBef>
              <a:buFont typeface="Arial,Sans-Serif"/>
              <a:buChar char="•"/>
            </a:pPr>
            <a:r>
              <a:rPr lang="en-US" sz="2000" dirty="0">
                <a:solidFill>
                  <a:srgbClr val="000000"/>
                </a:solidFill>
                <a:latin typeface="Corbel"/>
                <a:ea typeface="Tahoma"/>
                <a:cs typeface="Arial"/>
              </a:rPr>
              <a:t>The method can be selected with parameter </a:t>
            </a:r>
            <a:r>
              <a:rPr lang="en-US" sz="2000" b="1" dirty="0">
                <a:solidFill>
                  <a:srgbClr val="000000"/>
                </a:solidFill>
                <a:latin typeface="Corbel"/>
                <a:ea typeface="Tahoma"/>
                <a:cs typeface="Arial"/>
              </a:rPr>
              <a:t>exact=TRUE </a:t>
            </a:r>
            <a:r>
              <a:rPr lang="en-US" sz="2000" dirty="0">
                <a:solidFill>
                  <a:srgbClr val="000000"/>
                </a:solidFill>
                <a:latin typeface="Corbel"/>
                <a:ea typeface="Tahoma"/>
                <a:cs typeface="Arial"/>
              </a:rPr>
              <a:t>or</a:t>
            </a:r>
            <a:r>
              <a:rPr lang="en-US" sz="2000" b="1" dirty="0">
                <a:solidFill>
                  <a:srgbClr val="000000"/>
                </a:solidFill>
                <a:latin typeface="Corbel"/>
                <a:ea typeface="Tahoma"/>
                <a:cs typeface="Arial"/>
              </a:rPr>
              <a:t> exact=FALSE</a:t>
            </a:r>
            <a:endParaRPr lang="en-US" sz="2000" dirty="0">
              <a:solidFill>
                <a:srgbClr val="000000"/>
              </a:solidFill>
              <a:latin typeface="Corbel"/>
              <a:ea typeface="Tahoma"/>
              <a:cs typeface="Arial"/>
            </a:endParaRPr>
          </a:p>
          <a:p>
            <a:pPr marL="285750" indent="-283210">
              <a:lnSpc>
                <a:spcPct val="100000"/>
              </a:lnSpc>
              <a:spcBef>
                <a:spcPts val="0"/>
              </a:spcBef>
              <a:buFont typeface="Arial,Sans-Serif"/>
              <a:buChar char="•"/>
            </a:pPr>
            <a:r>
              <a:rPr lang="en-US" sz="2000" dirty="0">
                <a:solidFill>
                  <a:srgbClr val="000000"/>
                </a:solidFill>
                <a:latin typeface="Corbel"/>
                <a:ea typeface="Tahoma"/>
                <a:cs typeface="Arial"/>
              </a:rPr>
              <a:t>The default is "exact" if sample size &lt; 50 </a:t>
            </a:r>
            <a:r>
              <a:rPr lang="en-US" sz="2000" i="1" dirty="0">
                <a:solidFill>
                  <a:srgbClr val="000000"/>
                </a:solidFill>
                <a:latin typeface="Corbel"/>
                <a:ea typeface="Tahoma"/>
                <a:cs typeface="Arial"/>
              </a:rPr>
              <a:t>and</a:t>
            </a:r>
            <a:r>
              <a:rPr lang="en-US" sz="2000" dirty="0">
                <a:solidFill>
                  <a:srgbClr val="000000"/>
                </a:solidFill>
                <a:latin typeface="Corbel"/>
                <a:ea typeface="Tahoma"/>
                <a:cs typeface="Arial"/>
              </a:rPr>
              <a:t> there are no ties in the data. </a:t>
            </a:r>
          </a:p>
          <a:p>
            <a:pPr marL="285750" indent="-283210">
              <a:lnSpc>
                <a:spcPct val="100000"/>
              </a:lnSpc>
              <a:spcBef>
                <a:spcPts val="0"/>
              </a:spcBef>
              <a:buFont typeface="Arial,Sans-Serif"/>
              <a:buChar char="•"/>
            </a:pPr>
            <a:r>
              <a:rPr lang="en-US" sz="2000" dirty="0">
                <a:solidFill>
                  <a:srgbClr val="000000"/>
                </a:solidFill>
                <a:latin typeface="Corbel"/>
                <a:ea typeface="Tahoma"/>
                <a:cs typeface="Arial"/>
              </a:rPr>
              <a:t>Otherwise, it is by normal approximation. </a:t>
            </a:r>
            <a:endParaRPr lang="en-US"/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2000" dirty="0">
              <a:latin typeface="Corbel"/>
              <a:ea typeface="Tahoma"/>
              <a:cs typeface="Arial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500" dirty="0">
                <a:solidFill>
                  <a:srgbClr val="C00000"/>
                </a:solidFill>
                <a:latin typeface="Courier New"/>
                <a:ea typeface="+mn-lt"/>
                <a:cs typeface="+mn-lt"/>
              </a:rPr>
              <a:t>Warning messages</a:t>
            </a:r>
            <a:r>
              <a:rPr lang="en-US" sz="1600" dirty="0">
                <a:solidFill>
                  <a:srgbClr val="C00000"/>
                </a:solidFill>
                <a:latin typeface="Courier New"/>
                <a:ea typeface="+mn-lt"/>
                <a:cs typeface="+mn-lt"/>
              </a:rPr>
              <a:t>: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500" dirty="0">
                <a:solidFill>
                  <a:srgbClr val="C00000"/>
                </a:solidFill>
                <a:latin typeface="Courier New"/>
                <a:ea typeface="+mn-lt"/>
                <a:cs typeface="+mn-lt"/>
              </a:rPr>
              <a:t>1: In </a:t>
            </a:r>
            <a:r>
              <a:rPr lang="en-US" sz="1500" err="1">
                <a:solidFill>
                  <a:srgbClr val="C00000"/>
                </a:solidFill>
                <a:latin typeface="Courier New"/>
                <a:ea typeface="+mn-lt"/>
                <a:cs typeface="+mn-lt"/>
              </a:rPr>
              <a:t>wilcox.test.default</a:t>
            </a:r>
            <a:r>
              <a:rPr lang="en-US" sz="1500" dirty="0">
                <a:solidFill>
                  <a:srgbClr val="C00000"/>
                </a:solidFill>
                <a:latin typeface="Courier New"/>
                <a:ea typeface="+mn-lt"/>
                <a:cs typeface="+mn-lt"/>
              </a:rPr>
              <a:t>(</a:t>
            </a:r>
            <a:r>
              <a:rPr lang="en-US" sz="1500" err="1">
                <a:solidFill>
                  <a:srgbClr val="C00000"/>
                </a:solidFill>
                <a:latin typeface="Courier New"/>
                <a:ea typeface="+mn-lt"/>
                <a:cs typeface="+mn-lt"/>
              </a:rPr>
              <a:t>sleep$extra</a:t>
            </a:r>
            <a:r>
              <a:rPr lang="en-US" sz="1500" dirty="0">
                <a:solidFill>
                  <a:srgbClr val="C00000"/>
                </a:solidFill>
                <a:latin typeface="Courier New"/>
                <a:ea typeface="+mn-lt"/>
                <a:cs typeface="+mn-lt"/>
              </a:rPr>
              <a:t>[</a:t>
            </a:r>
            <a:r>
              <a:rPr lang="en-US" sz="1500" err="1">
                <a:solidFill>
                  <a:srgbClr val="C00000"/>
                </a:solidFill>
                <a:latin typeface="Courier New"/>
                <a:ea typeface="+mn-lt"/>
                <a:cs typeface="+mn-lt"/>
              </a:rPr>
              <a:t>sleep$group</a:t>
            </a:r>
            <a:r>
              <a:rPr lang="en-US" sz="1500" dirty="0">
                <a:solidFill>
                  <a:srgbClr val="C00000"/>
                </a:solidFill>
                <a:latin typeface="Courier New"/>
                <a:ea typeface="+mn-lt"/>
                <a:cs typeface="+mn-lt"/>
              </a:rPr>
              <a:t> == 1], </a:t>
            </a:r>
            <a:r>
              <a:rPr lang="en-US" sz="1500" err="1">
                <a:solidFill>
                  <a:srgbClr val="C00000"/>
                </a:solidFill>
                <a:latin typeface="Courier New"/>
                <a:ea typeface="+mn-lt"/>
                <a:cs typeface="+mn-lt"/>
              </a:rPr>
              <a:t>sleep$extra</a:t>
            </a:r>
            <a:r>
              <a:rPr lang="en-US" sz="1500" dirty="0">
                <a:solidFill>
                  <a:srgbClr val="C00000"/>
                </a:solidFill>
                <a:latin typeface="Courier New"/>
                <a:ea typeface="+mn-lt"/>
                <a:cs typeface="+mn-lt"/>
              </a:rPr>
              <a:t>[</a:t>
            </a:r>
            <a:r>
              <a:rPr lang="en-US" sz="1500" err="1">
                <a:solidFill>
                  <a:srgbClr val="C00000"/>
                </a:solidFill>
                <a:latin typeface="Courier New"/>
                <a:ea typeface="+mn-lt"/>
                <a:cs typeface="+mn-lt"/>
              </a:rPr>
              <a:t>sleep$group</a:t>
            </a:r>
            <a:r>
              <a:rPr lang="en-US" sz="1500" dirty="0">
                <a:solidFill>
                  <a:srgbClr val="C00000"/>
                </a:solidFill>
                <a:latin typeface="Courier New"/>
                <a:ea typeface="+mn-lt"/>
                <a:cs typeface="+mn-lt"/>
              </a:rPr>
              <a:t> ==  :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500" dirty="0">
                <a:solidFill>
                  <a:srgbClr val="C00000"/>
                </a:solidFill>
                <a:latin typeface="Courier New"/>
                <a:ea typeface="+mn-lt"/>
                <a:cs typeface="+mn-lt"/>
              </a:rPr>
              <a:t>  </a:t>
            </a:r>
            <a:r>
              <a:rPr lang="en-US" sz="1500" b="1" dirty="0">
                <a:solidFill>
                  <a:srgbClr val="C00000"/>
                </a:solidFill>
                <a:latin typeface="Courier New"/>
                <a:ea typeface="+mn-lt"/>
                <a:cs typeface="+mn-lt"/>
              </a:rPr>
              <a:t>cannot compute exact p-value </a:t>
            </a:r>
            <a:r>
              <a:rPr lang="en-US" sz="1500" dirty="0">
                <a:solidFill>
                  <a:srgbClr val="C00000"/>
                </a:solidFill>
                <a:latin typeface="Courier New"/>
                <a:ea typeface="+mn-lt"/>
                <a:cs typeface="+mn-lt"/>
              </a:rPr>
              <a:t>with ties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500" dirty="0">
                <a:solidFill>
                  <a:srgbClr val="C00000"/>
                </a:solidFill>
                <a:latin typeface="Courier New"/>
                <a:ea typeface="+mn-lt"/>
                <a:cs typeface="+mn-lt"/>
              </a:rPr>
              <a:t>2: In </a:t>
            </a:r>
            <a:r>
              <a:rPr lang="en-US" sz="1500" err="1">
                <a:solidFill>
                  <a:srgbClr val="C00000"/>
                </a:solidFill>
                <a:latin typeface="Courier New"/>
                <a:ea typeface="+mn-lt"/>
                <a:cs typeface="+mn-lt"/>
              </a:rPr>
              <a:t>wilcox.test.default</a:t>
            </a:r>
            <a:r>
              <a:rPr lang="en-US" sz="1500" dirty="0">
                <a:solidFill>
                  <a:srgbClr val="C00000"/>
                </a:solidFill>
                <a:latin typeface="Courier New"/>
                <a:ea typeface="+mn-lt"/>
                <a:cs typeface="+mn-lt"/>
              </a:rPr>
              <a:t>(</a:t>
            </a:r>
            <a:r>
              <a:rPr lang="en-US" sz="1500" err="1">
                <a:solidFill>
                  <a:srgbClr val="C00000"/>
                </a:solidFill>
                <a:latin typeface="Courier New"/>
                <a:ea typeface="+mn-lt"/>
                <a:cs typeface="+mn-lt"/>
              </a:rPr>
              <a:t>sleep$extra</a:t>
            </a:r>
            <a:r>
              <a:rPr lang="en-US" sz="1500" dirty="0">
                <a:solidFill>
                  <a:srgbClr val="C00000"/>
                </a:solidFill>
                <a:latin typeface="Courier New"/>
                <a:ea typeface="+mn-lt"/>
                <a:cs typeface="+mn-lt"/>
              </a:rPr>
              <a:t>[</a:t>
            </a:r>
            <a:r>
              <a:rPr lang="en-US" sz="1500" err="1">
                <a:solidFill>
                  <a:srgbClr val="C00000"/>
                </a:solidFill>
                <a:latin typeface="Courier New"/>
                <a:ea typeface="+mn-lt"/>
                <a:cs typeface="+mn-lt"/>
              </a:rPr>
              <a:t>sleep$group</a:t>
            </a:r>
            <a:r>
              <a:rPr lang="en-US" sz="1500" dirty="0">
                <a:solidFill>
                  <a:srgbClr val="C00000"/>
                </a:solidFill>
                <a:latin typeface="Courier New"/>
                <a:ea typeface="+mn-lt"/>
                <a:cs typeface="+mn-lt"/>
              </a:rPr>
              <a:t> == 1], </a:t>
            </a:r>
            <a:r>
              <a:rPr lang="en-US" sz="1500" err="1">
                <a:solidFill>
                  <a:srgbClr val="C00000"/>
                </a:solidFill>
                <a:latin typeface="Courier New"/>
                <a:ea typeface="+mn-lt"/>
                <a:cs typeface="+mn-lt"/>
              </a:rPr>
              <a:t>sleep$extra</a:t>
            </a:r>
            <a:r>
              <a:rPr lang="en-US" sz="1500" dirty="0">
                <a:solidFill>
                  <a:srgbClr val="C00000"/>
                </a:solidFill>
                <a:latin typeface="Courier New"/>
                <a:ea typeface="+mn-lt"/>
                <a:cs typeface="+mn-lt"/>
              </a:rPr>
              <a:t>[</a:t>
            </a:r>
            <a:r>
              <a:rPr lang="en-US" sz="1500" err="1">
                <a:solidFill>
                  <a:srgbClr val="C00000"/>
                </a:solidFill>
                <a:latin typeface="Courier New"/>
                <a:ea typeface="+mn-lt"/>
                <a:cs typeface="+mn-lt"/>
              </a:rPr>
              <a:t>sleep$group</a:t>
            </a:r>
            <a:r>
              <a:rPr lang="en-US" sz="1500" dirty="0">
                <a:solidFill>
                  <a:srgbClr val="C00000"/>
                </a:solidFill>
                <a:latin typeface="Courier New"/>
                <a:ea typeface="+mn-lt"/>
                <a:cs typeface="+mn-lt"/>
              </a:rPr>
              <a:t> ==  :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500" dirty="0">
                <a:solidFill>
                  <a:srgbClr val="C00000"/>
                </a:solidFill>
                <a:latin typeface="Courier New"/>
                <a:ea typeface="+mn-lt"/>
                <a:cs typeface="+mn-lt"/>
              </a:rPr>
              <a:t>  </a:t>
            </a:r>
            <a:r>
              <a:rPr lang="en-US" sz="1500" b="1" dirty="0">
                <a:solidFill>
                  <a:srgbClr val="C00000"/>
                </a:solidFill>
                <a:latin typeface="Courier New"/>
                <a:ea typeface="+mn-lt"/>
                <a:cs typeface="+mn-lt"/>
              </a:rPr>
              <a:t>cannot compute exact p-value </a:t>
            </a:r>
            <a:r>
              <a:rPr lang="en-US" sz="1500" dirty="0">
                <a:solidFill>
                  <a:srgbClr val="C00000"/>
                </a:solidFill>
                <a:latin typeface="Courier New"/>
                <a:ea typeface="+mn-lt"/>
                <a:cs typeface="+mn-lt"/>
              </a:rPr>
              <a:t>with zeroes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2000" dirty="0">
              <a:latin typeface="Corbel"/>
              <a:ea typeface="Tahoma"/>
              <a:cs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en-US" sz="1800" dirty="0">
                <a:solidFill>
                  <a:srgbClr val="000000"/>
                </a:solidFill>
                <a:ea typeface="+mn-lt"/>
                <a:cs typeface="+mn-lt"/>
              </a:rPr>
              <a:t>These </a:t>
            </a:r>
            <a:r>
              <a:rPr lang="en-US" sz="1800" b="1" dirty="0">
                <a:solidFill>
                  <a:srgbClr val="000000"/>
                </a:solidFill>
                <a:ea typeface="+mn-lt"/>
                <a:cs typeface="+mn-lt"/>
              </a:rPr>
              <a:t>warnings don't mean that there is an error in the result</a:t>
            </a:r>
            <a:r>
              <a:rPr lang="en-US" sz="1800" dirty="0">
                <a:solidFill>
                  <a:srgbClr val="000000"/>
                </a:solidFill>
                <a:ea typeface="+mn-lt"/>
                <a:cs typeface="+mn-lt"/>
              </a:rPr>
              <a:t>. An (approximated) p-value is still provided and can be reported.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67832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4E1287-91AC-0AF0-E55F-D3F2B8B338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991" y="318882"/>
            <a:ext cx="5719843" cy="1168976"/>
          </a:xfrm>
        </p:spPr>
        <p:txBody>
          <a:bodyPr/>
          <a:lstStyle/>
          <a:p>
            <a:r>
              <a:rPr lang="en-GB" dirty="0">
                <a:ea typeface="Verdana"/>
              </a:rPr>
              <a:t>Let's practice - 10</a:t>
            </a:r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F94947-E283-3A3D-F6D8-50119A1D2BA2}"/>
              </a:ext>
            </a:extLst>
          </p:cNvPr>
          <p:cNvSpPr txBox="1"/>
          <p:nvPr/>
        </p:nvSpPr>
        <p:spPr>
          <a:xfrm>
            <a:off x="674413" y="1182414"/>
            <a:ext cx="10098689" cy="594265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90000"/>
              </a:lnSpc>
              <a:spcBef>
                <a:spcPts val="1349"/>
              </a:spcBef>
              <a:spcAft>
                <a:spcPts val="850"/>
              </a:spcAft>
            </a:pPr>
            <a:r>
              <a:rPr lang="en-US" sz="2000" dirty="0">
                <a:solidFill>
                  <a:srgbClr val="262626"/>
                </a:solidFill>
                <a:ea typeface="+mn-lt"/>
                <a:cs typeface="+mn-lt"/>
              </a:rPr>
              <a:t>Come back to the mice data-set stored in the "</a:t>
            </a:r>
            <a:r>
              <a:rPr lang="en-US" sz="2000" err="1">
                <a:solidFill>
                  <a:srgbClr val="262626"/>
                </a:solidFill>
                <a:ea typeface="+mn-lt"/>
                <a:cs typeface="+mn-lt"/>
              </a:rPr>
              <a:t>mice_data</a:t>
            </a:r>
            <a:r>
              <a:rPr lang="en-US" sz="2000" dirty="0">
                <a:solidFill>
                  <a:srgbClr val="262626"/>
                </a:solidFill>
                <a:ea typeface="+mn-lt"/>
                <a:cs typeface="+mn-lt"/>
              </a:rPr>
              <a:t>" data frame.</a:t>
            </a:r>
          </a:p>
          <a:p>
            <a:pPr marL="215900" indent="-212725">
              <a:spcBef>
                <a:spcPts val="1417"/>
              </a:spcBef>
              <a:spcAft>
                <a:spcPts val="850"/>
              </a:spcAft>
              <a:buAutoNum type="arabicPeriod"/>
            </a:pPr>
            <a:r>
              <a:rPr lang="en-US" sz="2000" dirty="0">
                <a:solidFill>
                  <a:srgbClr val="262626"/>
                </a:solidFill>
                <a:latin typeface="Corbel"/>
                <a:cs typeface="Arial"/>
              </a:rPr>
              <a:t> Considering WT mice weight and KO mice weight separately, check the assumption of normality graphically. </a:t>
            </a:r>
          </a:p>
          <a:p>
            <a:pPr marL="215900" indent="-212725">
              <a:spcBef>
                <a:spcPts val="1417"/>
              </a:spcBef>
              <a:spcAft>
                <a:spcPts val="850"/>
              </a:spcAft>
              <a:buAutoNum type="arabicPeriod"/>
            </a:pPr>
            <a:r>
              <a:rPr lang="en-US" sz="2000" dirty="0">
                <a:solidFill>
                  <a:srgbClr val="262626"/>
                </a:solidFill>
                <a:latin typeface="Corbel"/>
                <a:cs typeface="Arial"/>
              </a:rPr>
              <a:t> Make an appropriate plot to visualize the mouse weights grouped by genotype.</a:t>
            </a:r>
          </a:p>
          <a:p>
            <a:pPr marL="215900" indent="-212725">
              <a:spcBef>
                <a:spcPts val="1417"/>
              </a:spcBef>
              <a:spcAft>
                <a:spcPts val="850"/>
              </a:spcAft>
              <a:buAutoNum type="arabicPeriod"/>
            </a:pPr>
            <a:r>
              <a:rPr lang="en-US" sz="2000" dirty="0">
                <a:solidFill>
                  <a:srgbClr val="262626"/>
                </a:solidFill>
                <a:latin typeface="Corbel"/>
                <a:cs typeface="Arial"/>
              </a:rPr>
              <a:t> Perform a test to see whether the mouse weight is different between the two genotypes.</a:t>
            </a:r>
          </a:p>
          <a:p>
            <a:pPr marL="215900" indent="-212725">
              <a:spcBef>
                <a:spcPts val="1417"/>
              </a:spcBef>
              <a:spcAft>
                <a:spcPts val="850"/>
              </a:spcAft>
              <a:buAutoNum type="arabicPeriod"/>
            </a:pPr>
            <a:r>
              <a:rPr lang="en-US" sz="2000" i="1" dirty="0">
                <a:solidFill>
                  <a:srgbClr val="262626"/>
                </a:solidFill>
                <a:latin typeface="Corbel"/>
                <a:cs typeface="Arial"/>
              </a:rPr>
              <a:t> Repeat steps </a:t>
            </a:r>
            <a:r>
              <a:rPr lang="en-US" sz="2000" b="1" i="1" dirty="0">
                <a:solidFill>
                  <a:srgbClr val="262626"/>
                </a:solidFill>
                <a:latin typeface="Corbel"/>
                <a:cs typeface="Arial"/>
              </a:rPr>
              <a:t>1</a:t>
            </a:r>
            <a:r>
              <a:rPr lang="en-US" sz="2000" i="1" dirty="0">
                <a:solidFill>
                  <a:srgbClr val="262626"/>
                </a:solidFill>
                <a:latin typeface="Corbel"/>
                <a:cs typeface="Arial"/>
              </a:rPr>
              <a:t> to </a:t>
            </a:r>
            <a:r>
              <a:rPr lang="en-US" sz="2000" b="1" i="1" dirty="0">
                <a:solidFill>
                  <a:srgbClr val="262626"/>
                </a:solidFill>
                <a:latin typeface="Corbel"/>
                <a:cs typeface="Arial"/>
              </a:rPr>
              <a:t>3</a:t>
            </a:r>
            <a:r>
              <a:rPr lang="en-US" sz="2000" i="1" dirty="0">
                <a:solidFill>
                  <a:srgbClr val="262626"/>
                </a:solidFill>
                <a:latin typeface="Corbel"/>
                <a:cs typeface="Arial"/>
              </a:rPr>
              <a:t> for the diet variable.</a:t>
            </a:r>
            <a:endParaRPr lang="en-US" sz="2000" dirty="0">
              <a:solidFill>
                <a:srgbClr val="262626"/>
              </a:solidFill>
              <a:latin typeface="Corbel"/>
              <a:cs typeface="Arial"/>
            </a:endParaRPr>
          </a:p>
          <a:p>
            <a:pPr>
              <a:spcBef>
                <a:spcPts val="850"/>
              </a:spcBef>
              <a:spcAft>
                <a:spcPts val="850"/>
              </a:spcAft>
            </a:pPr>
            <a:endParaRPr lang="en-US" sz="2000" dirty="0">
              <a:solidFill>
                <a:srgbClr val="000000"/>
              </a:solidFill>
              <a:latin typeface="Corbel"/>
              <a:cs typeface="Arial"/>
            </a:endParaRPr>
          </a:p>
          <a:p>
            <a:pPr>
              <a:spcBef>
                <a:spcPts val="850"/>
              </a:spcBef>
              <a:spcAft>
                <a:spcPts val="850"/>
              </a:spcAft>
            </a:pPr>
            <a:r>
              <a:rPr lang="en-US" sz="2000" b="1" dirty="0">
                <a:solidFill>
                  <a:srgbClr val="000000"/>
                </a:solidFill>
                <a:latin typeface="Corbel"/>
                <a:cs typeface="Arial"/>
              </a:rPr>
              <a:t>EXTRA TASKS:</a:t>
            </a:r>
          </a:p>
          <a:p>
            <a:pPr marL="457200" indent="-457200">
              <a:spcBef>
                <a:spcPts val="850"/>
              </a:spcBef>
              <a:spcAft>
                <a:spcPts val="850"/>
              </a:spcAft>
              <a:buAutoNum type="arabicPeriod"/>
            </a:pPr>
            <a:r>
              <a:rPr lang="en-US" sz="2000" dirty="0">
                <a:solidFill>
                  <a:srgbClr val="000000"/>
                </a:solidFill>
                <a:latin typeface="Corbel"/>
                <a:cs typeface="Arial"/>
              </a:rPr>
              <a:t>Use the non-parametric alternative of the test on the same problem.</a:t>
            </a:r>
          </a:p>
          <a:p>
            <a:pPr marL="457200" indent="-457200">
              <a:spcBef>
                <a:spcPts val="850"/>
              </a:spcBef>
              <a:spcAft>
                <a:spcPts val="850"/>
              </a:spcAft>
              <a:buAutoNum type="arabicPeriod"/>
            </a:pPr>
            <a:r>
              <a:rPr lang="en-US" sz="2000" dirty="0">
                <a:solidFill>
                  <a:srgbClr val="000000"/>
                </a:solidFill>
                <a:latin typeface="Corbel"/>
                <a:cs typeface="Arial"/>
              </a:rPr>
              <a:t>Test if the subgroups have equal variance using function </a:t>
            </a:r>
            <a:r>
              <a:rPr lang="en-US" sz="2000" dirty="0" err="1">
                <a:solidFill>
                  <a:srgbClr val="000000"/>
                </a:solidFill>
                <a:latin typeface="Corbel"/>
                <a:cs typeface="Arial"/>
              </a:rPr>
              <a:t>var.test</a:t>
            </a:r>
            <a:r>
              <a:rPr lang="en-US" sz="2000" dirty="0">
                <a:solidFill>
                  <a:srgbClr val="000000"/>
                </a:solidFill>
                <a:latin typeface="Corbel"/>
                <a:cs typeface="Arial"/>
              </a:rPr>
              <a:t>(). If it looks like they do, look up the </a:t>
            </a:r>
            <a:r>
              <a:rPr lang="en-US" sz="2000" dirty="0" err="1">
                <a:solidFill>
                  <a:srgbClr val="000000"/>
                </a:solidFill>
                <a:latin typeface="Corbel"/>
                <a:cs typeface="Arial"/>
              </a:rPr>
              <a:t>t.test</a:t>
            </a:r>
            <a:r>
              <a:rPr lang="en-US" sz="2000" dirty="0">
                <a:solidFill>
                  <a:srgbClr val="000000"/>
                </a:solidFill>
                <a:latin typeface="Corbel"/>
                <a:cs typeface="Arial"/>
              </a:rPr>
              <a:t>() documentation, see which option you can change, and try it out.</a:t>
            </a:r>
          </a:p>
          <a:p>
            <a:endParaRPr lang="en-US" dirty="0">
              <a:solidFill>
                <a:srgbClr val="1E2232"/>
              </a:solidFill>
              <a:latin typeface="Corbe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820421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A304F5-B21E-21AA-FF79-4E38A2E6D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546C49-2842-1FFE-F4B4-E11423DE6C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a typeface="Verdana"/>
                <a:cs typeface="Gill Sans"/>
              </a:rPr>
              <a:t>Bivariate linear correlation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96C782-B470-1A44-BD66-5E98F27E859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8200" y="934654"/>
            <a:ext cx="10515600" cy="5104579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2540">
              <a:lnSpc>
                <a:spcPct val="100000"/>
              </a:lnSpc>
              <a:spcBef>
                <a:spcPts val="479"/>
              </a:spcBef>
            </a:pPr>
            <a:r>
              <a:rPr lang="en-US" b="1" dirty="0">
                <a:latin typeface="Corbel"/>
                <a:ea typeface="Tahoma"/>
                <a:cs typeface="Arial"/>
              </a:rPr>
              <a:t>Goal: Quantify the strength of a linear correlation between two continuous variables</a:t>
            </a:r>
            <a:endParaRPr lang="en-US" dirty="0">
              <a:latin typeface="Corbel"/>
              <a:ea typeface="Tahoma"/>
              <a:cs typeface="Arial"/>
            </a:endParaRPr>
          </a:p>
          <a:p>
            <a:pPr>
              <a:lnSpc>
                <a:spcPct val="100000"/>
              </a:lnSpc>
              <a:spcBef>
                <a:spcPts val="479"/>
              </a:spcBef>
            </a:pPr>
            <a:endParaRPr lang="en-US" dirty="0">
              <a:latin typeface="Corbel"/>
              <a:cs typeface="Arial"/>
            </a:endParaRPr>
          </a:p>
          <a:p>
            <a:pPr marL="2540">
              <a:lnSpc>
                <a:spcPct val="100000"/>
              </a:lnSpc>
              <a:spcBef>
                <a:spcPts val="479"/>
              </a:spcBef>
            </a:pPr>
            <a:r>
              <a:rPr lang="en-US" dirty="0" err="1">
                <a:latin typeface="Corbel"/>
                <a:ea typeface="Tahoma"/>
                <a:cs typeface="Arial"/>
              </a:rPr>
              <a:t>cor</a:t>
            </a:r>
            <a:r>
              <a:rPr lang="en-US" dirty="0">
                <a:latin typeface="Corbel"/>
                <a:ea typeface="Tahoma"/>
                <a:cs typeface="Arial"/>
              </a:rPr>
              <a:t>() computes a correlation between two variables. </a:t>
            </a:r>
            <a:endParaRPr lang="en-US">
              <a:ea typeface="Tahoma"/>
              <a:cs typeface="Arial"/>
            </a:endParaRPr>
          </a:p>
          <a:p>
            <a:pPr marL="345440" indent="-342900">
              <a:lnSpc>
                <a:spcPct val="100000"/>
              </a:lnSpc>
              <a:spcBef>
                <a:spcPts val="479"/>
              </a:spcBef>
              <a:buChar char="•"/>
            </a:pPr>
            <a:r>
              <a:rPr lang="en-US" b="1" dirty="0">
                <a:ea typeface="+mn-lt"/>
                <a:cs typeface="+mn-lt"/>
              </a:rPr>
              <a:t>Default: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b="1" dirty="0">
                <a:ea typeface="+mn-lt"/>
                <a:cs typeface="+mn-lt"/>
              </a:rPr>
              <a:t>method="</a:t>
            </a:r>
            <a:r>
              <a:rPr lang="en-US" b="1" dirty="0" err="1">
                <a:ea typeface="+mn-lt"/>
                <a:cs typeface="+mn-lt"/>
              </a:rPr>
              <a:t>pearson</a:t>
            </a:r>
            <a:r>
              <a:rPr lang="en-US" b="1" dirty="0">
                <a:ea typeface="+mn-lt"/>
                <a:cs typeface="+mn-lt"/>
              </a:rPr>
              <a:t>" </a:t>
            </a:r>
            <a:r>
              <a:rPr lang="en-US" dirty="0">
                <a:ea typeface="+mn-lt"/>
                <a:cs typeface="+mn-lt"/>
              </a:rPr>
              <a:t>(linear correlation)</a:t>
            </a:r>
            <a:endParaRPr lang="en-US" dirty="0"/>
          </a:p>
          <a:p>
            <a:pPr marL="345440" indent="-342900">
              <a:lnSpc>
                <a:spcPct val="100000"/>
              </a:lnSpc>
              <a:spcBef>
                <a:spcPts val="479"/>
              </a:spcBef>
              <a:buChar char="•"/>
            </a:pPr>
            <a:r>
              <a:rPr lang="en-US" b="1" dirty="0">
                <a:ea typeface="+mn-lt"/>
                <a:cs typeface="+mn-lt"/>
              </a:rPr>
              <a:t>Other options: method="spearman",  method="</a:t>
            </a:r>
            <a:r>
              <a:rPr lang="en-US" b="1" dirty="0" err="1">
                <a:ea typeface="+mn-lt"/>
                <a:cs typeface="+mn-lt"/>
              </a:rPr>
              <a:t>kendall</a:t>
            </a:r>
            <a:r>
              <a:rPr lang="en-US" b="1" dirty="0">
                <a:ea typeface="+mn-lt"/>
                <a:cs typeface="+mn-lt"/>
              </a:rPr>
              <a:t>" </a:t>
            </a:r>
            <a:r>
              <a:rPr lang="en-US" dirty="0">
                <a:ea typeface="+mn-lt"/>
                <a:cs typeface="+mn-lt"/>
              </a:rPr>
              <a:t>(rank-based correlations) </a:t>
            </a:r>
            <a:endParaRPr lang="en-US"/>
          </a:p>
          <a:p>
            <a:pPr marL="266700">
              <a:lnSpc>
                <a:spcPct val="100000"/>
              </a:lnSpc>
              <a:spcBef>
                <a:spcPts val="479"/>
              </a:spcBef>
            </a:pPr>
            <a:endParaRPr lang="en-US" dirty="0">
              <a:latin typeface="Corbel"/>
              <a:cs typeface="Arial"/>
            </a:endParaRPr>
          </a:p>
          <a:p>
            <a:pPr marL="2540">
              <a:lnSpc>
                <a:spcPct val="100000"/>
              </a:lnSpc>
              <a:spcBef>
                <a:spcPts val="479"/>
              </a:spcBef>
            </a:pPr>
            <a:r>
              <a:rPr lang="en-US" err="1">
                <a:latin typeface="Corbel"/>
                <a:ea typeface="Tahoma"/>
                <a:cs typeface="Arial"/>
              </a:rPr>
              <a:t>cor.test</a:t>
            </a:r>
            <a:r>
              <a:rPr lang="en-US" dirty="0">
                <a:latin typeface="Corbel"/>
                <a:ea typeface="Tahoma"/>
                <a:cs typeface="Arial"/>
              </a:rPr>
              <a:t>() </a:t>
            </a:r>
          </a:p>
          <a:p>
            <a:pPr marL="345440" indent="-342900">
              <a:lnSpc>
                <a:spcPct val="100000"/>
              </a:lnSpc>
              <a:spcBef>
                <a:spcPts val="479"/>
              </a:spcBef>
              <a:buChar char="•"/>
            </a:pPr>
            <a:r>
              <a:rPr lang="en-US" dirty="0">
                <a:latin typeface="Corbel"/>
                <a:ea typeface="Tahoma"/>
                <a:cs typeface="Arial"/>
              </a:rPr>
              <a:t>computes a correlation and performs a corresponding statistical test </a:t>
            </a:r>
            <a:endParaRPr lang="en-US">
              <a:latin typeface="Corbel"/>
            </a:endParaRPr>
          </a:p>
          <a:p>
            <a:pPr marL="345440" indent="-342900">
              <a:lnSpc>
                <a:spcPct val="100000"/>
              </a:lnSpc>
              <a:spcBef>
                <a:spcPts val="479"/>
              </a:spcBef>
              <a:buChar char="•"/>
            </a:pPr>
            <a:r>
              <a:rPr lang="en-US" dirty="0">
                <a:latin typeface="Corbel"/>
                <a:ea typeface="Tahoma"/>
                <a:cs typeface="Arial"/>
              </a:rPr>
              <a:t>for Pearson correlation: p-value from linear regression, same as </a:t>
            </a:r>
            <a:r>
              <a:rPr lang="en-US" err="1">
                <a:latin typeface="Corbel"/>
                <a:ea typeface="Tahoma"/>
                <a:cs typeface="Arial"/>
              </a:rPr>
              <a:t>lm</a:t>
            </a:r>
            <a:r>
              <a:rPr lang="en-US" dirty="0">
                <a:latin typeface="Corbel"/>
                <a:ea typeface="Tahoma"/>
                <a:cs typeface="Arial"/>
              </a:rPr>
              <a:t>() </a:t>
            </a:r>
            <a:endParaRPr lang="en-US"/>
          </a:p>
          <a:p>
            <a:pPr marL="2540">
              <a:lnSpc>
                <a:spcPct val="100000"/>
              </a:lnSpc>
              <a:spcBef>
                <a:spcPts val="0"/>
              </a:spcBef>
            </a:pPr>
            <a:endParaRPr lang="en-US" sz="2000" dirty="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842159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332AD0-ECD2-73AE-81A5-1339B2AE3B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E7D01D-B301-6B3B-6C97-C396B8010E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a typeface="Verdana"/>
                <a:cs typeface="Gill Sans"/>
              </a:rPr>
              <a:t>Visualization of linear correlation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F1B734-48C9-05DD-8B5B-0A6868D18E5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85648" y="4788447"/>
            <a:ext cx="3324774" cy="125078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2540">
              <a:lnSpc>
                <a:spcPct val="100000"/>
              </a:lnSpc>
              <a:spcBef>
                <a:spcPts val="479"/>
              </a:spcBef>
            </a:pPr>
            <a:r>
              <a:rPr lang="en-US" dirty="0">
                <a:ea typeface="Tahoma"/>
                <a:cs typeface="Arial"/>
              </a:rPr>
              <a:t>Strong linear correlation</a:t>
            </a:r>
          </a:p>
          <a:p>
            <a:pPr marL="2540">
              <a:lnSpc>
                <a:spcPct val="100000"/>
              </a:lnSpc>
              <a:spcBef>
                <a:spcPts val="479"/>
              </a:spcBef>
            </a:pPr>
            <a:endParaRPr lang="en-US" b="1" dirty="0">
              <a:cs typeface="Arial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FFB8301-CFDD-576C-A757-3D593383327E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42924" y="1102625"/>
            <a:ext cx="10255984" cy="3692416"/>
          </a:xfrm>
          <a:prstGeom prst="rect">
            <a:avLst/>
          </a:prstGeom>
          <a:ln>
            <a:noFill/>
          </a:ln>
        </p:spPr>
      </p:pic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B6DE83EE-C002-A908-3D78-A70DA33B4B0E}"/>
              </a:ext>
            </a:extLst>
          </p:cNvPr>
          <p:cNvSpPr txBox="1">
            <a:spLocks/>
          </p:cNvSpPr>
          <p:nvPr/>
        </p:nvSpPr>
        <p:spPr>
          <a:xfrm>
            <a:off x="4432738" y="4791950"/>
            <a:ext cx="3324774" cy="125078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 typeface="Arial" panose="020B0604020202020204" pitchFamily="34" charset="0"/>
              <a:buNone/>
              <a:tabLst/>
              <a:defRPr sz="2400" b="0" i="0" kern="120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1pPr>
            <a:lvl2pPr marL="358775" indent="-358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SzPct val="70000"/>
              <a:buFontTx/>
              <a:buBlip>
                <a:blip r:embed="rId3"/>
              </a:buBlip>
              <a:tabLst/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2pPr>
            <a:lvl3pPr marL="669925" indent="-3048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SzPct val="70000"/>
              <a:buFontTx/>
              <a:buBlip>
                <a:blip r:embed="rId3"/>
              </a:buBlip>
              <a:tabLst/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3pPr>
            <a:lvl4pPr marL="358775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SzPct val="70000"/>
              <a:buFont typeface="Arial" panose="020B0604020202020204" pitchFamily="34" charset="0"/>
              <a:buNone/>
              <a:defRPr sz="1400" b="0" i="0" kern="120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4pPr>
            <a:lvl5pPr marL="358775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SzPct val="70000"/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540" algn="ctr">
              <a:lnSpc>
                <a:spcPct val="100000"/>
              </a:lnSpc>
              <a:spcBef>
                <a:spcPts val="479"/>
              </a:spcBef>
            </a:pPr>
            <a:r>
              <a:rPr lang="en-US" dirty="0">
                <a:ea typeface="Tahoma"/>
                <a:cs typeface="Arial"/>
              </a:rPr>
              <a:t>Medium-strong linear correlation</a:t>
            </a:r>
            <a:endParaRPr lang="en-US"/>
          </a:p>
          <a:p>
            <a:pPr marL="2540">
              <a:lnSpc>
                <a:spcPct val="100000"/>
              </a:lnSpc>
              <a:spcBef>
                <a:spcPts val="479"/>
              </a:spcBef>
            </a:pPr>
            <a:endParaRPr lang="en-US" b="1" dirty="0">
              <a:cs typeface="Arial"/>
            </a:endParaRP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586E1819-661D-48F0-11A0-B4E6B0F3AB24}"/>
              </a:ext>
            </a:extLst>
          </p:cNvPr>
          <p:cNvSpPr txBox="1">
            <a:spLocks/>
          </p:cNvSpPr>
          <p:nvPr/>
        </p:nvSpPr>
        <p:spPr>
          <a:xfrm>
            <a:off x="8452945" y="4791950"/>
            <a:ext cx="3324774" cy="125078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 typeface="Arial" panose="020B0604020202020204" pitchFamily="34" charset="0"/>
              <a:buNone/>
              <a:tabLst/>
              <a:defRPr sz="2400" b="0" i="0" kern="120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1pPr>
            <a:lvl2pPr marL="358775" indent="-358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SzPct val="70000"/>
              <a:buFontTx/>
              <a:buBlip>
                <a:blip r:embed="rId3"/>
              </a:buBlip>
              <a:tabLst/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2pPr>
            <a:lvl3pPr marL="669925" indent="-3048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SzPct val="70000"/>
              <a:buFontTx/>
              <a:buBlip>
                <a:blip r:embed="rId3"/>
              </a:buBlip>
              <a:tabLst/>
              <a:defRPr lang="en-GB" sz="2400" b="0" i="0" kern="1200" dirty="0" smtClean="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3pPr>
            <a:lvl4pPr marL="358775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SzPct val="70000"/>
              <a:buFont typeface="Arial" panose="020B0604020202020204" pitchFamily="34" charset="0"/>
              <a:buNone/>
              <a:defRPr sz="1400" b="0" i="0" kern="120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4pPr>
            <a:lvl5pPr marL="358775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SzPct val="70000"/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540">
              <a:lnSpc>
                <a:spcPct val="100000"/>
              </a:lnSpc>
              <a:spcBef>
                <a:spcPts val="479"/>
              </a:spcBef>
            </a:pPr>
            <a:r>
              <a:rPr lang="en-US" dirty="0">
                <a:ea typeface="Tahoma"/>
                <a:cs typeface="Arial"/>
              </a:rPr>
              <a:t>No correlation</a:t>
            </a:r>
          </a:p>
          <a:p>
            <a:pPr marL="2540">
              <a:lnSpc>
                <a:spcPct val="100000"/>
              </a:lnSpc>
              <a:spcBef>
                <a:spcPts val="479"/>
              </a:spcBef>
            </a:pPr>
            <a:endParaRPr lang="en-US" b="1" dirty="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481904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C535BA6-806A-9ECC-263D-7F5B7F47D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FD7A75-8B8C-6B3F-E9D7-954F0DE69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a typeface="Verdana"/>
                <a:cs typeface="Gill Sans"/>
              </a:rPr>
              <a:t>More </a:t>
            </a:r>
            <a:r>
              <a:rPr lang="en-GB" dirty="0" err="1">
                <a:ea typeface="Verdana"/>
                <a:cs typeface="Gill Sans"/>
              </a:rPr>
              <a:t>vosialization</a:t>
            </a:r>
            <a:r>
              <a:rPr lang="en-GB" dirty="0">
                <a:ea typeface="Verdana"/>
                <a:cs typeface="Gill Sans"/>
              </a:rPr>
              <a:t> of linear correlation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5C7D57-8D18-E1FE-02AA-0E28F9FFE08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76890" y="5506654"/>
            <a:ext cx="10515600" cy="1206993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ea typeface="+mn-lt"/>
                <a:cs typeface="+mn-lt"/>
              </a:rPr>
              <a:t>correlation reflects the noisiness and direction of a linear relationship (top row)</a:t>
            </a:r>
            <a:endParaRPr lang="en-US" dirty="0"/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ea typeface="+mn-lt"/>
                <a:cs typeface="+mn-lt"/>
              </a:rPr>
              <a:t>but not the slope of that relationship (middle)</a:t>
            </a:r>
            <a:endParaRPr lang="en-US" dirty="0">
              <a:solidFill>
                <a:srgbClr val="1E2232"/>
              </a:solidFill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ea typeface="+mn-lt"/>
                <a:cs typeface="+mn-lt"/>
              </a:rPr>
              <a:t>nor many aspects of nonlinear relationships (bottom). </a:t>
            </a:r>
            <a:endParaRPr lang="en-US" dirty="0"/>
          </a:p>
          <a:p>
            <a:pPr marL="2540">
              <a:lnSpc>
                <a:spcPct val="100000"/>
              </a:lnSpc>
              <a:spcBef>
                <a:spcPts val="479"/>
              </a:spcBef>
            </a:pPr>
            <a:endParaRPr lang="en-US">
              <a:solidFill>
                <a:srgbClr val="1E2232"/>
              </a:solidFill>
              <a:latin typeface="Corbel" panose="020B0503020204020204"/>
            </a:endParaRPr>
          </a:p>
        </p:txBody>
      </p:sp>
      <p:pic>
        <p:nvPicPr>
          <p:cNvPr id="4" name="Picture 3" descr="A collage of symbols&#10;&#10;Description automatically generated">
            <a:extLst>
              <a:ext uri="{FF2B5EF4-FFF2-40B4-BE49-F238E27FC236}">
                <a16:creationId xmlns:a16="http://schemas.microsoft.com/office/drawing/2014/main" id="{16B44871-B461-3489-6493-ADE1903E79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75" y="709777"/>
            <a:ext cx="10508263" cy="479608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FEFE3F8-C6D3-E3D7-9CC7-95344C7B1F40}"/>
              </a:ext>
            </a:extLst>
          </p:cNvPr>
          <p:cNvSpPr txBox="1"/>
          <p:nvPr/>
        </p:nvSpPr>
        <p:spPr>
          <a:xfrm>
            <a:off x="9492906" y="5507212"/>
            <a:ext cx="3277475" cy="10618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500" dirty="0">
                <a:solidFill>
                  <a:srgbClr val="000000"/>
                </a:solidFill>
                <a:latin typeface="Arial"/>
                <a:cs typeface="Arial"/>
              </a:rPr>
              <a:t>Image credit: </a:t>
            </a:r>
            <a:endParaRPr lang="en-US">
              <a:solidFill>
                <a:srgbClr val="1E2232"/>
              </a:solidFill>
              <a:latin typeface="Corbel" panose="020B0503020204020204"/>
              <a:cs typeface="Arial"/>
            </a:endParaRPr>
          </a:p>
          <a:p>
            <a:r>
              <a:rPr lang="en-US" sz="1500" dirty="0" err="1">
                <a:solidFill>
                  <a:srgbClr val="000000"/>
                </a:solidFill>
                <a:latin typeface="Arial"/>
                <a:cs typeface="Arial"/>
              </a:rPr>
              <a:t>wikipedia</a:t>
            </a:r>
            <a:r>
              <a:rPr lang="en-US" sz="1500" dirty="0">
                <a:solidFill>
                  <a:srgbClr val="000000"/>
                </a:solidFill>
                <a:latin typeface="Arial"/>
                <a:cs typeface="Arial"/>
              </a:rPr>
              <a:t> user </a:t>
            </a:r>
            <a:r>
              <a:rPr lang="en-US" sz="1500" dirty="0" err="1">
                <a:solidFill>
                  <a:srgbClr val="000000"/>
                </a:solidFill>
                <a:latin typeface="Arial"/>
                <a:cs typeface="Arial"/>
              </a:rPr>
              <a:t>DenisBoigelot</a:t>
            </a:r>
            <a:r>
              <a:rPr lang="en-US" sz="1500" dirty="0">
                <a:solidFill>
                  <a:srgbClr val="000000"/>
                </a:solidFill>
                <a:latin typeface="Arial"/>
                <a:cs typeface="Arial"/>
              </a:rPr>
              <a:t>, </a:t>
            </a:r>
            <a:endParaRPr lang="en-US"/>
          </a:p>
          <a:p>
            <a:r>
              <a:rPr lang="en-US" sz="1500" dirty="0">
                <a:solidFill>
                  <a:srgbClr val="000000"/>
                </a:solidFill>
                <a:latin typeface="Arial"/>
                <a:cs typeface="Arial"/>
              </a:rPr>
              <a:t>under the CC0 1.0 license</a:t>
            </a:r>
            <a:r>
              <a:rPr lang="en-US" sz="1500" dirty="0">
                <a:solidFill>
                  <a:srgbClr val="000000"/>
                </a:solidFill>
                <a:ea typeface="+mn-lt"/>
                <a:cs typeface="+mn-lt"/>
              </a:rPr>
              <a:t> </a:t>
            </a:r>
            <a:endParaRPr lang="en-US"/>
          </a:p>
          <a:p>
            <a:pPr algn="l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406943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48235B-781D-BA06-C397-5C024D4C3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51F4C-D37E-D2CF-4F5D-16D5A51658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a typeface="Verdana"/>
                <a:cs typeface="Gill Sans"/>
              </a:rPr>
              <a:t>Scatter plot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4C5AC0-BF6C-82A7-470C-5BA7412FFFB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8200" y="934654"/>
            <a:ext cx="10515600" cy="5104579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000" dirty="0">
                <a:latin typeface="Courier New"/>
                <a:ea typeface="Tahoma"/>
                <a:cs typeface="Courier New"/>
              </a:rPr>
              <a:t>plot(</a:t>
            </a:r>
            <a:r>
              <a:rPr lang="en-US" sz="2000" err="1">
                <a:latin typeface="Courier New"/>
                <a:ea typeface="Tahoma"/>
                <a:cs typeface="Courier New"/>
              </a:rPr>
              <a:t>iris$Petal.Length</a:t>
            </a:r>
            <a:r>
              <a:rPr lang="en-US" sz="2000" dirty="0">
                <a:latin typeface="Courier New"/>
                <a:ea typeface="Tahoma"/>
                <a:cs typeface="Courier New"/>
              </a:rPr>
              <a:t>, </a:t>
            </a:r>
            <a:r>
              <a:rPr lang="en-US" sz="2000" err="1">
                <a:latin typeface="Courier New"/>
                <a:ea typeface="Tahoma"/>
                <a:cs typeface="Courier New"/>
              </a:rPr>
              <a:t>iris$Petal.Width</a:t>
            </a:r>
            <a:r>
              <a:rPr lang="en-US" sz="2000" dirty="0">
                <a:latin typeface="Courier New"/>
                <a:ea typeface="Tahoma"/>
                <a:cs typeface="Courier New"/>
              </a:rPr>
              <a:t>, 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000" dirty="0">
                <a:latin typeface="Courier New"/>
                <a:ea typeface="Tahoma"/>
                <a:cs typeface="Courier New"/>
              </a:rPr>
              <a:t>       col="red", </a:t>
            </a:r>
            <a:r>
              <a:rPr lang="en-US" sz="2000" err="1">
                <a:latin typeface="Courier New"/>
                <a:ea typeface="Tahoma"/>
                <a:cs typeface="Courier New"/>
              </a:rPr>
              <a:t>pch</a:t>
            </a:r>
            <a:r>
              <a:rPr lang="en-US" sz="2000" dirty="0">
                <a:latin typeface="Courier New"/>
                <a:ea typeface="Tahoma"/>
                <a:cs typeface="Courier New"/>
              </a:rPr>
              <a:t>=20, 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000" dirty="0">
                <a:latin typeface="Courier New"/>
                <a:ea typeface="Tahoma"/>
                <a:cs typeface="Courier New"/>
              </a:rPr>
              <a:t>       </a:t>
            </a:r>
            <a:r>
              <a:rPr lang="en-US" sz="2000" err="1">
                <a:latin typeface="Courier New"/>
                <a:ea typeface="Tahoma"/>
                <a:cs typeface="Courier New"/>
              </a:rPr>
              <a:t>xlab</a:t>
            </a:r>
            <a:r>
              <a:rPr lang="en-US" sz="2000" dirty="0">
                <a:latin typeface="Courier New"/>
                <a:ea typeface="Tahoma"/>
                <a:cs typeface="Courier New"/>
              </a:rPr>
              <a:t>="Petal Length", </a:t>
            </a:r>
            <a:r>
              <a:rPr lang="en-US" sz="2000" err="1">
                <a:latin typeface="Courier New"/>
                <a:ea typeface="Tahoma"/>
                <a:cs typeface="Courier New"/>
              </a:rPr>
              <a:t>ylab</a:t>
            </a:r>
            <a:r>
              <a:rPr lang="en-US" sz="2000" dirty="0">
                <a:latin typeface="Courier New"/>
                <a:ea typeface="Tahoma"/>
                <a:cs typeface="Courier New"/>
              </a:rPr>
              <a:t>="Petal Width")</a:t>
            </a:r>
          </a:p>
          <a:p>
            <a:pPr marL="2540">
              <a:lnSpc>
                <a:spcPct val="100000"/>
              </a:lnSpc>
              <a:spcBef>
                <a:spcPts val="479"/>
              </a:spcBef>
            </a:pPr>
            <a:endParaRPr lang="en-US" b="1" dirty="0">
              <a:latin typeface="Courier New"/>
              <a:cs typeface="Arial"/>
            </a:endParaRPr>
          </a:p>
        </p:txBody>
      </p:sp>
      <p:pic>
        <p:nvPicPr>
          <p:cNvPr id="5" name="Picture 4" descr="A diagram of a petal length&#10;&#10;Description automatically generated">
            <a:extLst>
              <a:ext uri="{FF2B5EF4-FFF2-40B4-BE49-F238E27FC236}">
                <a16:creationId xmlns:a16="http://schemas.microsoft.com/office/drawing/2014/main" id="{D9D5E97D-27B7-583B-81FD-4A82C072B5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171" y="2555109"/>
            <a:ext cx="5676900" cy="4305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734632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688822-5073-5580-8B6C-94796A2C3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013D6-3671-84D5-2C7A-E6F1D6CF57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a typeface="Verdana"/>
                <a:cs typeface="Gill Sans"/>
              </a:rPr>
              <a:t>Scatter plot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B79E09-79EA-60E7-9A50-C80235680FA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8200" y="934654"/>
            <a:ext cx="10515600" cy="5104579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000" dirty="0">
                <a:latin typeface="Courier New"/>
                <a:ea typeface="Tahoma"/>
                <a:cs typeface="Courier New"/>
              </a:rPr>
              <a:t>plot(</a:t>
            </a:r>
            <a:r>
              <a:rPr lang="en-US" sz="2000" err="1">
                <a:latin typeface="Courier New"/>
                <a:ea typeface="Tahoma"/>
                <a:cs typeface="Courier New"/>
              </a:rPr>
              <a:t>iris$Petal.Length</a:t>
            </a:r>
            <a:r>
              <a:rPr lang="en-US" sz="2000" dirty="0">
                <a:latin typeface="Courier New"/>
                <a:ea typeface="Tahoma"/>
                <a:cs typeface="Courier New"/>
              </a:rPr>
              <a:t>, </a:t>
            </a:r>
            <a:r>
              <a:rPr lang="en-US" sz="2000" err="1">
                <a:latin typeface="Courier New"/>
                <a:ea typeface="Tahoma"/>
                <a:cs typeface="Courier New"/>
              </a:rPr>
              <a:t>iris$Petal.Width</a:t>
            </a:r>
            <a:r>
              <a:rPr lang="en-US" sz="2000" dirty="0">
                <a:latin typeface="Courier New"/>
                <a:ea typeface="Tahoma"/>
                <a:cs typeface="Courier New"/>
              </a:rPr>
              <a:t>, 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000" dirty="0">
                <a:latin typeface="Courier New"/>
                <a:ea typeface="Tahoma"/>
                <a:cs typeface="Courier New"/>
              </a:rPr>
              <a:t>       col="red", </a:t>
            </a:r>
            <a:r>
              <a:rPr lang="en-US" sz="2000" err="1">
                <a:latin typeface="Courier New"/>
                <a:ea typeface="Tahoma"/>
                <a:cs typeface="Courier New"/>
              </a:rPr>
              <a:t>pch</a:t>
            </a:r>
            <a:r>
              <a:rPr lang="en-US" sz="2000" dirty="0">
                <a:latin typeface="Courier New"/>
                <a:ea typeface="Tahoma"/>
                <a:cs typeface="Courier New"/>
              </a:rPr>
              <a:t>=20, 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000" dirty="0">
                <a:latin typeface="Courier New"/>
                <a:ea typeface="Tahoma"/>
                <a:cs typeface="Courier New"/>
              </a:rPr>
              <a:t>       </a:t>
            </a:r>
            <a:r>
              <a:rPr lang="en-US" sz="2000" err="1">
                <a:latin typeface="Courier New"/>
                <a:ea typeface="Tahoma"/>
                <a:cs typeface="Courier New"/>
              </a:rPr>
              <a:t>xlab</a:t>
            </a:r>
            <a:r>
              <a:rPr lang="en-US" sz="2000" dirty="0">
                <a:latin typeface="Courier New"/>
                <a:ea typeface="Tahoma"/>
                <a:cs typeface="Courier New"/>
              </a:rPr>
              <a:t>="Petal Length", </a:t>
            </a:r>
            <a:r>
              <a:rPr lang="en-US" sz="2000" err="1">
                <a:latin typeface="Courier New"/>
                <a:ea typeface="Tahoma"/>
                <a:cs typeface="Courier New"/>
              </a:rPr>
              <a:t>ylab</a:t>
            </a:r>
            <a:r>
              <a:rPr lang="en-US" sz="2000" dirty="0">
                <a:latin typeface="Courier New"/>
                <a:ea typeface="Tahoma"/>
                <a:cs typeface="Courier New"/>
              </a:rPr>
              <a:t>="Petal Width")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000" err="1">
                <a:latin typeface="Courier New"/>
                <a:ea typeface="Tahoma"/>
                <a:cs typeface="Courier New"/>
              </a:rPr>
              <a:t>abline</a:t>
            </a:r>
            <a:r>
              <a:rPr lang="en-US" sz="2000" dirty="0">
                <a:latin typeface="Courier New"/>
                <a:ea typeface="Tahoma"/>
                <a:cs typeface="Courier New"/>
              </a:rPr>
              <a:t>(</a:t>
            </a:r>
            <a:r>
              <a:rPr lang="en-US" sz="2000" b="1" err="1">
                <a:latin typeface="Courier New"/>
                <a:ea typeface="Tahoma"/>
                <a:cs typeface="Courier New"/>
              </a:rPr>
              <a:t>lm</a:t>
            </a:r>
            <a:r>
              <a:rPr lang="en-US" sz="2000" b="1" dirty="0">
                <a:latin typeface="Courier New"/>
                <a:ea typeface="Tahoma"/>
                <a:cs typeface="Courier New"/>
              </a:rPr>
              <a:t>(</a:t>
            </a:r>
            <a:r>
              <a:rPr lang="en-US" sz="2000" b="1" err="1">
                <a:latin typeface="Courier New"/>
                <a:ea typeface="Tahoma"/>
                <a:cs typeface="Courier New"/>
              </a:rPr>
              <a:t>iris$Petal.Width~iris$Petal.Length</a:t>
            </a:r>
            <a:r>
              <a:rPr lang="en-US" sz="2000" b="1" dirty="0">
                <a:latin typeface="Courier New"/>
                <a:ea typeface="Tahoma"/>
                <a:cs typeface="Courier New"/>
              </a:rPr>
              <a:t>)</a:t>
            </a:r>
            <a:r>
              <a:rPr lang="en-US" sz="2000" dirty="0">
                <a:latin typeface="Courier New"/>
                <a:ea typeface="Tahoma"/>
                <a:cs typeface="Courier New"/>
              </a:rPr>
              <a:t>,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000" dirty="0">
                <a:latin typeface="Courier New"/>
                <a:ea typeface="Tahoma"/>
                <a:cs typeface="Courier New"/>
              </a:rPr>
              <a:t>       col="black", </a:t>
            </a:r>
            <a:r>
              <a:rPr lang="en-US" sz="2000" err="1">
                <a:latin typeface="Courier New"/>
                <a:ea typeface="Tahoma"/>
                <a:cs typeface="Courier New"/>
              </a:rPr>
              <a:t>lwd</a:t>
            </a:r>
            <a:r>
              <a:rPr lang="en-US" sz="2000" dirty="0">
                <a:latin typeface="Courier New"/>
                <a:ea typeface="Tahoma"/>
                <a:cs typeface="Courier New"/>
              </a:rPr>
              <a:t>=2)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sz="2000" dirty="0">
              <a:latin typeface="Courier New"/>
              <a:cs typeface="Courier New"/>
            </a:endParaRPr>
          </a:p>
          <a:p>
            <a:pPr marL="2540">
              <a:lnSpc>
                <a:spcPct val="100000"/>
              </a:lnSpc>
              <a:spcBef>
                <a:spcPts val="479"/>
              </a:spcBef>
            </a:pPr>
            <a:endParaRPr lang="en-US" b="1" dirty="0">
              <a:latin typeface="Courier New"/>
              <a:cs typeface="Arial"/>
            </a:endParaRPr>
          </a:p>
        </p:txBody>
      </p:sp>
      <p:pic>
        <p:nvPicPr>
          <p:cNvPr id="5" name="Picture 4" descr="A graph with red dots&#10;&#10;Description automatically generated">
            <a:extLst>
              <a:ext uri="{FF2B5EF4-FFF2-40B4-BE49-F238E27FC236}">
                <a16:creationId xmlns:a16="http://schemas.microsoft.com/office/drawing/2014/main" id="{31849EC5-EBB6-565A-7D90-A548470954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968" y="2598137"/>
            <a:ext cx="5600700" cy="4257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85506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713758-081A-B435-1860-20E4C97040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B60EF0-C2B2-E5FC-8552-969D388C1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a typeface="Verdana"/>
                <a:cs typeface="Gill Sans"/>
              </a:rPr>
              <a:t>Linear correlation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6318A1-2C0E-B7C5-1803-4AC790C3D26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8200" y="934654"/>
            <a:ext cx="10515600" cy="5104579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ts val="360"/>
              </a:spcBef>
            </a:pPr>
            <a:r>
              <a:rPr lang="en-US" sz="1800" err="1">
                <a:latin typeface="Courier New"/>
                <a:ea typeface="+mn-lt"/>
                <a:cs typeface="+mn-lt"/>
              </a:rPr>
              <a:t>cor</a:t>
            </a:r>
            <a:r>
              <a:rPr lang="en-US" sz="1800" dirty="0">
                <a:latin typeface="Courier New"/>
                <a:ea typeface="+mn-lt"/>
                <a:cs typeface="+mn-lt"/>
              </a:rPr>
              <a:t>(</a:t>
            </a:r>
            <a:r>
              <a:rPr lang="en-US" sz="1800" err="1">
                <a:latin typeface="Courier New"/>
                <a:ea typeface="+mn-lt"/>
                <a:cs typeface="+mn-lt"/>
              </a:rPr>
              <a:t>iris$Petal.Length</a:t>
            </a:r>
            <a:r>
              <a:rPr lang="en-US" sz="1800" dirty="0">
                <a:latin typeface="Courier New"/>
                <a:ea typeface="+mn-lt"/>
                <a:cs typeface="+mn-lt"/>
              </a:rPr>
              <a:t>, </a:t>
            </a:r>
            <a:r>
              <a:rPr lang="en-US" sz="1800" err="1">
                <a:latin typeface="Courier New"/>
                <a:ea typeface="+mn-lt"/>
                <a:cs typeface="+mn-lt"/>
              </a:rPr>
              <a:t>iris$Petal.Width</a:t>
            </a:r>
            <a:r>
              <a:rPr lang="en-US" sz="1800" dirty="0">
                <a:latin typeface="Courier New"/>
                <a:ea typeface="+mn-lt"/>
                <a:cs typeface="+mn-lt"/>
              </a:rPr>
              <a:t>, method="</a:t>
            </a:r>
            <a:r>
              <a:rPr lang="en-US" sz="1800" err="1">
                <a:latin typeface="Courier New"/>
                <a:ea typeface="+mn-lt"/>
                <a:cs typeface="+mn-lt"/>
              </a:rPr>
              <a:t>pearson</a:t>
            </a:r>
            <a:r>
              <a:rPr lang="en-US" sz="1800" dirty="0">
                <a:latin typeface="Courier New"/>
                <a:ea typeface="+mn-lt"/>
                <a:cs typeface="+mn-lt"/>
              </a:rPr>
              <a:t>") </a:t>
            </a:r>
          </a:p>
          <a:p>
            <a:pPr>
              <a:lnSpc>
                <a:spcPct val="100000"/>
              </a:lnSpc>
              <a:spcBef>
                <a:spcPts val="360"/>
              </a:spcBef>
            </a:pPr>
            <a:r>
              <a:rPr lang="en-US" sz="1800" dirty="0">
                <a:latin typeface="Courier New"/>
                <a:ea typeface="+mn-lt"/>
                <a:cs typeface="+mn-lt"/>
              </a:rPr>
              <a:t>[1] 0.9628654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800" dirty="0">
              <a:latin typeface="Courier New"/>
              <a:cs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r>
              <a:rPr lang="en-US" sz="1800" dirty="0" err="1">
                <a:latin typeface="Courier New"/>
                <a:ea typeface="+mn-lt"/>
                <a:cs typeface="+mn-lt"/>
              </a:rPr>
              <a:t>cor.test</a:t>
            </a:r>
            <a:r>
              <a:rPr lang="en-US" sz="1800" dirty="0">
                <a:latin typeface="Courier New"/>
                <a:ea typeface="+mn-lt"/>
                <a:cs typeface="+mn-lt"/>
              </a:rPr>
              <a:t>(</a:t>
            </a:r>
            <a:r>
              <a:rPr lang="en-US" sz="1800" dirty="0" err="1">
                <a:latin typeface="Courier New"/>
                <a:ea typeface="+mn-lt"/>
                <a:cs typeface="+mn-lt"/>
              </a:rPr>
              <a:t>iris$Petal.Length</a:t>
            </a:r>
            <a:r>
              <a:rPr lang="en-US" sz="1800" dirty="0">
                <a:latin typeface="Courier New"/>
                <a:ea typeface="+mn-lt"/>
                <a:cs typeface="+mn-lt"/>
              </a:rPr>
              <a:t>, </a:t>
            </a:r>
            <a:r>
              <a:rPr lang="en-US" sz="1800" dirty="0" err="1">
                <a:latin typeface="Courier New"/>
                <a:ea typeface="+mn-lt"/>
                <a:cs typeface="+mn-lt"/>
              </a:rPr>
              <a:t>iris$Petal.Width</a:t>
            </a:r>
            <a:r>
              <a:rPr lang="en-US" sz="1800" dirty="0">
                <a:latin typeface="Courier New"/>
                <a:ea typeface="+mn-lt"/>
                <a:cs typeface="+mn-lt"/>
              </a:rPr>
              <a:t>, method="</a:t>
            </a:r>
            <a:r>
              <a:rPr lang="en-US" sz="1800" dirty="0" err="1">
                <a:latin typeface="Courier New"/>
                <a:ea typeface="+mn-lt"/>
                <a:cs typeface="+mn-lt"/>
              </a:rPr>
              <a:t>pearson</a:t>
            </a:r>
            <a:r>
              <a:rPr lang="en-US" sz="1800" dirty="0">
                <a:latin typeface="Courier New"/>
                <a:ea typeface="+mn-lt"/>
                <a:cs typeface="+mn-lt"/>
              </a:rPr>
              <a:t>") 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800" dirty="0">
              <a:latin typeface="Courier New"/>
              <a:cs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r>
              <a:rPr lang="en-US" sz="1800" dirty="0">
                <a:latin typeface="Courier New"/>
                <a:ea typeface="+mn-lt"/>
                <a:cs typeface="+mn-lt"/>
              </a:rPr>
              <a:t>Pearson's product-moment correlation</a:t>
            </a: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US" sz="1800" dirty="0">
              <a:latin typeface="Courier New"/>
              <a:cs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r>
              <a:rPr lang="en-US" sz="1800" dirty="0">
                <a:latin typeface="Courier New"/>
                <a:ea typeface="+mn-lt"/>
                <a:cs typeface="+mn-lt"/>
              </a:rPr>
              <a:t>data:  </a:t>
            </a:r>
            <a:r>
              <a:rPr lang="en-US" sz="1800" err="1">
                <a:latin typeface="Courier New"/>
                <a:ea typeface="+mn-lt"/>
                <a:cs typeface="+mn-lt"/>
              </a:rPr>
              <a:t>iris$Petal.Length</a:t>
            </a:r>
            <a:r>
              <a:rPr lang="en-US" sz="1800" dirty="0">
                <a:latin typeface="Courier New"/>
                <a:ea typeface="+mn-lt"/>
                <a:cs typeface="+mn-lt"/>
              </a:rPr>
              <a:t> and </a:t>
            </a:r>
            <a:r>
              <a:rPr lang="en-US" sz="1800" err="1">
                <a:latin typeface="Courier New"/>
                <a:ea typeface="+mn-lt"/>
                <a:cs typeface="+mn-lt"/>
              </a:rPr>
              <a:t>iris$Petal.Width</a:t>
            </a:r>
            <a:endParaRPr lang="en-US" sz="1800">
              <a:latin typeface="Courier New"/>
              <a:ea typeface="+mn-lt"/>
              <a:cs typeface="+mn-lt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r>
              <a:rPr lang="en-US" sz="1800" dirty="0">
                <a:latin typeface="Courier New"/>
                <a:ea typeface="+mn-lt"/>
                <a:cs typeface="+mn-lt"/>
              </a:rPr>
              <a:t>t = </a:t>
            </a:r>
            <a:r>
              <a:rPr lang="en-US" sz="1800" b="1" dirty="0">
                <a:latin typeface="Courier New"/>
                <a:ea typeface="+mn-lt"/>
                <a:cs typeface="+mn-lt"/>
              </a:rPr>
              <a:t>43.387</a:t>
            </a:r>
            <a:r>
              <a:rPr lang="en-US" sz="1800" dirty="0">
                <a:latin typeface="Courier New"/>
                <a:ea typeface="+mn-lt"/>
                <a:cs typeface="+mn-lt"/>
              </a:rPr>
              <a:t>, </a:t>
            </a:r>
            <a:r>
              <a:rPr lang="en-US" sz="1800" err="1">
                <a:latin typeface="Courier New"/>
                <a:ea typeface="+mn-lt"/>
                <a:cs typeface="+mn-lt"/>
              </a:rPr>
              <a:t>df</a:t>
            </a:r>
            <a:r>
              <a:rPr lang="en-US" sz="1800" dirty="0">
                <a:latin typeface="Courier New"/>
                <a:ea typeface="+mn-lt"/>
                <a:cs typeface="+mn-lt"/>
              </a:rPr>
              <a:t> = 148, p-value &lt; </a:t>
            </a:r>
            <a:r>
              <a:rPr lang="en-US" sz="1800" b="1" dirty="0">
                <a:latin typeface="Courier New"/>
                <a:ea typeface="+mn-lt"/>
                <a:cs typeface="+mn-lt"/>
              </a:rPr>
              <a:t>2.2e-16</a:t>
            </a:r>
            <a:endParaRPr lang="en-US" sz="1800">
              <a:latin typeface="Courier New"/>
              <a:ea typeface="+mn-lt"/>
              <a:cs typeface="+mn-lt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r>
              <a:rPr lang="en-US" sz="1800" dirty="0">
                <a:latin typeface="Courier New"/>
                <a:ea typeface="+mn-lt"/>
                <a:cs typeface="+mn-lt"/>
              </a:rPr>
              <a:t>alternative hypothesis: true correlation is not equal to 0</a:t>
            </a:r>
          </a:p>
          <a:p>
            <a:pPr>
              <a:lnSpc>
                <a:spcPct val="100000"/>
              </a:lnSpc>
              <a:spcBef>
                <a:spcPts val="360"/>
              </a:spcBef>
            </a:pPr>
            <a:r>
              <a:rPr lang="en-US" sz="1800" dirty="0">
                <a:latin typeface="Courier New"/>
                <a:ea typeface="+mn-lt"/>
                <a:cs typeface="+mn-lt"/>
              </a:rPr>
              <a:t>95 percent confidence interval:</a:t>
            </a:r>
          </a:p>
          <a:p>
            <a:pPr>
              <a:lnSpc>
                <a:spcPct val="100000"/>
              </a:lnSpc>
              <a:spcBef>
                <a:spcPts val="360"/>
              </a:spcBef>
            </a:pPr>
            <a:r>
              <a:rPr lang="en-US" sz="1800" dirty="0">
                <a:latin typeface="Courier New"/>
                <a:ea typeface="+mn-lt"/>
                <a:cs typeface="+mn-lt"/>
              </a:rPr>
              <a:t> </a:t>
            </a:r>
            <a:r>
              <a:rPr lang="en-US" sz="1800" b="1">
                <a:latin typeface="Courier New"/>
                <a:ea typeface="+mn-lt"/>
                <a:cs typeface="+mn-lt"/>
              </a:rPr>
              <a:t>0.9490525 0.9729853</a:t>
            </a:r>
            <a:endParaRPr lang="en-US" sz="1800">
              <a:latin typeface="Courier New"/>
              <a:ea typeface="+mn-lt"/>
              <a:cs typeface="+mn-lt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r>
              <a:rPr lang="en-US" sz="1800" dirty="0">
                <a:latin typeface="Courier New"/>
                <a:ea typeface="+mn-lt"/>
                <a:cs typeface="+mn-lt"/>
              </a:rPr>
              <a:t>sample estimates:</a:t>
            </a:r>
          </a:p>
          <a:p>
            <a:pPr>
              <a:lnSpc>
                <a:spcPct val="100000"/>
              </a:lnSpc>
              <a:spcBef>
                <a:spcPts val="360"/>
              </a:spcBef>
            </a:pPr>
            <a:r>
              <a:rPr lang="en-US" sz="1800" dirty="0">
                <a:latin typeface="Courier New"/>
                <a:ea typeface="+mn-lt"/>
                <a:cs typeface="+mn-lt"/>
              </a:rPr>
              <a:t>      </a:t>
            </a:r>
            <a:r>
              <a:rPr lang="en-US" sz="1800" err="1">
                <a:latin typeface="Courier New"/>
                <a:ea typeface="+mn-lt"/>
                <a:cs typeface="+mn-lt"/>
              </a:rPr>
              <a:t>cor</a:t>
            </a:r>
            <a:r>
              <a:rPr lang="en-US" sz="1800" dirty="0">
                <a:latin typeface="Courier New"/>
                <a:ea typeface="+mn-lt"/>
                <a:cs typeface="+mn-lt"/>
              </a:rPr>
              <a:t> </a:t>
            </a:r>
          </a:p>
          <a:p>
            <a:pPr>
              <a:lnSpc>
                <a:spcPct val="100000"/>
              </a:lnSpc>
              <a:spcBef>
                <a:spcPts val="360"/>
              </a:spcBef>
            </a:pPr>
            <a:r>
              <a:rPr lang="en-US" sz="1800" b="1" dirty="0">
                <a:latin typeface="Courier New"/>
                <a:ea typeface="+mn-lt"/>
                <a:cs typeface="+mn-lt"/>
              </a:rPr>
              <a:t>0.9628654</a:t>
            </a:r>
            <a:r>
              <a:rPr lang="en-US" sz="1800" dirty="0">
                <a:latin typeface="Courier New"/>
                <a:ea typeface="+mn-lt"/>
                <a:cs typeface="+mn-lt"/>
              </a:rPr>
              <a:t> </a:t>
            </a:r>
          </a:p>
        </p:txBody>
      </p:sp>
    </p:spTree>
    <p:extLst>
      <p:ext uri="{BB962C8B-B14F-4D97-AF65-F5344CB8AC3E}">
        <p14:creationId xmlns:p14="http://schemas.microsoft.com/office/powerpoint/2010/main" val="24589712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027FAE-1A99-ED5D-63CF-BC364EC7D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38F9B-2982-05AD-FB6C-D57B5F4A4D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a typeface="Verdana"/>
                <a:cs typeface="Gill Sans"/>
              </a:rPr>
              <a:t>Linear regression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6B4E99-B983-1EA5-90D9-DD01E973CDE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8200" y="934654"/>
            <a:ext cx="10515600" cy="5104579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spcBef>
                <a:spcPts val="1001"/>
              </a:spcBef>
            </a:pPr>
            <a:r>
              <a:rPr lang="en-US" sz="2200" b="1" dirty="0">
                <a:ea typeface="+mn-lt"/>
                <a:cs typeface="+mn-lt"/>
              </a:rPr>
              <a:t>Goal: </a:t>
            </a:r>
            <a:r>
              <a:rPr lang="en-US" sz="2200" dirty="0">
                <a:ea typeface="+mn-lt"/>
                <a:cs typeface="+mn-lt"/>
              </a:rPr>
              <a:t>Determine the extent to which there is a linear relationship between an "outcome" variable (dependent variable) and one  more "explanatory" variables (independent variables, predictor variables).</a:t>
            </a:r>
          </a:p>
          <a:p>
            <a:pPr>
              <a:spcBef>
                <a:spcPts val="1001"/>
              </a:spcBef>
            </a:pPr>
            <a:r>
              <a:rPr lang="en-US" sz="2200" dirty="0">
                <a:ea typeface="+mn-lt"/>
                <a:cs typeface="+mn-lt"/>
              </a:rPr>
              <a:t>Can a significant part of the variability in the outcome be predicted/explained by the independent variables?</a:t>
            </a:r>
          </a:p>
          <a:p>
            <a:pPr>
              <a:spcBef>
                <a:spcPts val="1001"/>
              </a:spcBef>
            </a:pPr>
            <a:endParaRPr lang="en-US" sz="2200" dirty="0">
              <a:latin typeface="Corbel"/>
              <a:ea typeface="+mn-lt"/>
              <a:cs typeface="Arial"/>
            </a:endParaRPr>
          </a:p>
          <a:p>
            <a:pPr>
              <a:spcBef>
                <a:spcPts val="1001"/>
              </a:spcBef>
            </a:pPr>
            <a:r>
              <a:rPr lang="en-US" sz="1800" dirty="0">
                <a:ea typeface="+mn-lt"/>
                <a:cs typeface="+mn-lt"/>
              </a:rPr>
              <a:t>Outcome variable:  continuous (e.g. weight, heart rate, blood sugar)</a:t>
            </a:r>
          </a:p>
          <a:p>
            <a:pPr>
              <a:spcBef>
                <a:spcPts val="1001"/>
              </a:spcBef>
            </a:pPr>
            <a:r>
              <a:rPr lang="en-US" sz="1800" dirty="0">
                <a:ea typeface="+mn-lt"/>
                <a:cs typeface="+mn-lt"/>
              </a:rPr>
              <a:t>Explanatory variables: continuous or (with adaptations) categorical</a:t>
            </a:r>
          </a:p>
          <a:p>
            <a:pPr>
              <a:spcBef>
                <a:spcPts val="1001"/>
              </a:spcBef>
            </a:pPr>
            <a:r>
              <a:rPr lang="en-US" sz="2200" dirty="0">
                <a:ea typeface="+mn-lt"/>
                <a:cs typeface="+mn-lt"/>
              </a:rPr>
              <a:t>In R, the linear regression model is specified by a model formula of the form:</a:t>
            </a:r>
          </a:p>
          <a:p>
            <a:pPr algn="ctr">
              <a:spcBef>
                <a:spcPts val="1001"/>
              </a:spcBef>
            </a:pPr>
            <a:r>
              <a:rPr lang="en-US" sz="2200" i="1" dirty="0">
                <a:ea typeface="+mn-lt"/>
                <a:cs typeface="+mn-lt"/>
              </a:rPr>
              <a:t>outcome ~ explanatory variables</a:t>
            </a:r>
            <a:endParaRPr lang="en-US" sz="2200">
              <a:ea typeface="+mn-lt"/>
              <a:cs typeface="+mn-lt"/>
            </a:endParaRPr>
          </a:p>
          <a:p>
            <a:pPr>
              <a:spcBef>
                <a:spcPts val="1001"/>
              </a:spcBef>
            </a:pPr>
            <a:endParaRPr lang="en-US" sz="2200" dirty="0">
              <a:latin typeface="Corbel"/>
              <a:ea typeface="+mn-lt"/>
              <a:cs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US" sz="1800" dirty="0">
              <a:latin typeface="Corbel"/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3100589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EBC77E-2BE0-9B66-B7CC-A97275CFB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B5B4BD-79B5-4425-7E86-C7AC79C18B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a typeface="Verdana"/>
                <a:cs typeface="Gill Sans"/>
              </a:rPr>
              <a:t>Simple linear regression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EC3973-90D4-EF64-7802-37E90D7B9AF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8200" y="934654"/>
            <a:ext cx="10515600" cy="5104579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pPr marL="5080">
              <a:spcBef>
                <a:spcPts val="1001"/>
              </a:spcBef>
            </a:pPr>
            <a:r>
              <a:rPr lang="en-US" sz="2000" dirty="0">
                <a:latin typeface="Corbel"/>
                <a:ea typeface="+mn-lt"/>
                <a:cs typeface="Arial"/>
              </a:rPr>
              <a:t>A simple regression model (one explanatory variable) is specified by </a:t>
            </a:r>
            <a:endParaRPr lang="en-US" dirty="0"/>
          </a:p>
          <a:p>
            <a:pPr marL="1948180">
              <a:spcBef>
                <a:spcPts val="1001"/>
              </a:spcBef>
            </a:pPr>
            <a:r>
              <a:rPr lang="en-US" sz="2000" dirty="0">
                <a:latin typeface="Corbel"/>
                <a:ea typeface="+mn-lt"/>
                <a:cs typeface="Arial"/>
              </a:rPr>
              <a:t>y = a + b*x+ err</a:t>
            </a:r>
          </a:p>
          <a:p>
            <a:pPr>
              <a:spcBef>
                <a:spcPts val="1001"/>
              </a:spcBef>
            </a:pPr>
            <a:r>
              <a:rPr lang="en-US" sz="1500" dirty="0">
                <a:latin typeface="Corbel"/>
                <a:ea typeface="+mn-lt"/>
                <a:cs typeface="Arial"/>
              </a:rPr>
              <a:t>a: Intercept</a:t>
            </a:r>
          </a:p>
          <a:p>
            <a:pPr>
              <a:spcBef>
                <a:spcPts val="1001"/>
              </a:spcBef>
            </a:pPr>
            <a:r>
              <a:rPr lang="en-US" sz="1500" dirty="0">
                <a:latin typeface="Corbel"/>
                <a:ea typeface="+mn-lt"/>
                <a:cs typeface="Arial"/>
              </a:rPr>
              <a:t>b: coefficient of explanatory var.</a:t>
            </a:r>
          </a:p>
          <a:p>
            <a:pPr>
              <a:spcBef>
                <a:spcPts val="1001"/>
              </a:spcBef>
            </a:pPr>
            <a:r>
              <a:rPr lang="en-US" sz="1500" dirty="0">
                <a:latin typeface="Corbel"/>
                <a:ea typeface="+mn-lt"/>
                <a:cs typeface="Arial"/>
              </a:rPr>
              <a:t>x: explanatory var.</a:t>
            </a:r>
            <a:endParaRPr lang="en-US" dirty="0"/>
          </a:p>
          <a:p>
            <a:pPr>
              <a:spcBef>
                <a:spcPts val="1001"/>
              </a:spcBef>
            </a:pPr>
            <a:r>
              <a:rPr lang="en-US" sz="1500" dirty="0">
                <a:latin typeface="Corbel"/>
                <a:ea typeface="+mn-lt"/>
                <a:cs typeface="Arial"/>
              </a:rPr>
              <a:t>err: error term (=residuals)</a:t>
            </a:r>
          </a:p>
          <a:p>
            <a:pPr>
              <a:spcBef>
                <a:spcPts val="1001"/>
              </a:spcBef>
            </a:pPr>
            <a:r>
              <a:rPr lang="en-US" sz="2000" b="1" dirty="0">
                <a:ea typeface="+mn-lt"/>
                <a:cs typeface="+mn-lt"/>
              </a:rPr>
              <a:t>Assumptions :</a:t>
            </a:r>
            <a:endParaRPr lang="en-US" sz="2000">
              <a:ea typeface="+mn-lt"/>
              <a:cs typeface="+mn-lt"/>
            </a:endParaRPr>
          </a:p>
          <a:p>
            <a:pPr marL="563245" lvl="1" indent="-342900">
              <a:spcBef>
                <a:spcPts val="1001"/>
              </a:spcBef>
              <a:buFont typeface="Arial"/>
              <a:buChar char="•"/>
            </a:pPr>
            <a:r>
              <a:rPr lang="en-US" sz="2000" b="1">
                <a:latin typeface="Corbel"/>
                <a:ea typeface="+mn-lt"/>
                <a:cs typeface="Arial"/>
              </a:rPr>
              <a:t>Homoscedasticity </a:t>
            </a:r>
            <a:r>
              <a:rPr lang="en-US" sz="1800">
                <a:latin typeface="Corbel"/>
                <a:ea typeface="+mn-lt"/>
                <a:cs typeface="Arial"/>
              </a:rPr>
              <a:t>: independence between residual variance and variables</a:t>
            </a:r>
            <a:endParaRPr lang="en-US" sz="1800" dirty="0">
              <a:latin typeface="Corbel"/>
              <a:ea typeface="+mn-lt"/>
              <a:cs typeface="Arial"/>
            </a:endParaRPr>
          </a:p>
          <a:p>
            <a:pPr marL="563245" lvl="1" indent="-342900">
              <a:spcBef>
                <a:spcPts val="1001"/>
              </a:spcBef>
              <a:buFont typeface="Arial"/>
              <a:buChar char="•"/>
            </a:pPr>
            <a:r>
              <a:rPr lang="en-US" sz="2000">
                <a:latin typeface="Corbel"/>
                <a:ea typeface="+mn-lt"/>
                <a:cs typeface="Arial"/>
              </a:rPr>
              <a:t>Linearity + absence of linear relationship between predictor variables</a:t>
            </a:r>
          </a:p>
          <a:p>
            <a:pPr marL="563245" lvl="1" indent="-342900">
              <a:spcBef>
                <a:spcPts val="1001"/>
              </a:spcBef>
              <a:buFont typeface="Arial"/>
              <a:buChar char="•"/>
            </a:pPr>
            <a:r>
              <a:rPr lang="en-US" sz="2000">
                <a:latin typeface="Corbel"/>
                <a:ea typeface="+mn-lt"/>
                <a:cs typeface="Arial"/>
              </a:rPr>
              <a:t>independence of  the observations. </a:t>
            </a:r>
          </a:p>
          <a:p>
            <a:pPr marL="563245" lvl="1" indent="-342900">
              <a:spcBef>
                <a:spcPts val="1001"/>
              </a:spcBef>
              <a:buFont typeface="Arial"/>
              <a:buChar char="•"/>
            </a:pPr>
            <a:r>
              <a:rPr lang="en-US" sz="2000" b="1">
                <a:latin typeface="Corbel"/>
                <a:ea typeface="+mn-lt"/>
                <a:cs typeface="Arial"/>
              </a:rPr>
              <a:t>Residuals centered around predicted value</a:t>
            </a:r>
            <a:r>
              <a:rPr lang="en-US" sz="2000">
                <a:latin typeface="Corbel"/>
                <a:ea typeface="+mn-lt"/>
                <a:cs typeface="Arial"/>
              </a:rPr>
              <a:t> (mean=0)</a:t>
            </a:r>
          </a:p>
          <a:p>
            <a:pPr marL="563245" lvl="1" indent="-342900">
              <a:spcBef>
                <a:spcPts val="1001"/>
              </a:spcBef>
              <a:buFont typeface="Arial"/>
              <a:buChar char="•"/>
            </a:pPr>
            <a:r>
              <a:rPr lang="en-US" sz="2000">
                <a:latin typeface="Corbel"/>
                <a:ea typeface="+mn-lt"/>
                <a:cs typeface="Arial"/>
              </a:rPr>
              <a:t>+ normality of the </a:t>
            </a:r>
            <a:r>
              <a:rPr lang="en-US" sz="2000" b="1">
                <a:latin typeface="Corbel"/>
                <a:ea typeface="+mn-lt"/>
                <a:cs typeface="Arial"/>
              </a:rPr>
              <a:t>residual’s mean </a:t>
            </a:r>
            <a:endParaRPr lang="en-US" sz="2000">
              <a:latin typeface="Corbel"/>
              <a:ea typeface="+mn-lt"/>
              <a:cs typeface="Arial"/>
            </a:endParaRPr>
          </a:p>
          <a:p>
            <a:pPr marL="433705" lvl="2" indent="0">
              <a:spcBef>
                <a:spcPts val="1001"/>
              </a:spcBef>
              <a:buNone/>
            </a:pPr>
            <a:r>
              <a:rPr lang="en-US" sz="2000" b="1">
                <a:latin typeface="Corbel"/>
                <a:ea typeface="+mn-lt"/>
                <a:cs typeface="Arial"/>
              </a:rPr>
              <a:t> →</a:t>
            </a:r>
            <a:r>
              <a:rPr lang="en-US" sz="2000">
                <a:latin typeface="Corbel"/>
                <a:ea typeface="+mn-lt"/>
                <a:cs typeface="Arial"/>
              </a:rPr>
              <a:t> only used to assess parameters confidence interval</a:t>
            </a:r>
          </a:p>
          <a:p>
            <a:pPr marL="5080">
              <a:spcBef>
                <a:spcPts val="1001"/>
              </a:spcBef>
            </a:pPr>
            <a:endParaRPr lang="en-US" sz="1800" i="1" dirty="0">
              <a:latin typeface="Corbel"/>
              <a:ea typeface="+mn-lt"/>
              <a:cs typeface="Arial"/>
            </a:endParaRPr>
          </a:p>
          <a:p>
            <a:pPr marL="5080">
              <a:spcBef>
                <a:spcPts val="1001"/>
              </a:spcBef>
            </a:pPr>
            <a:r>
              <a:rPr lang="en-US" sz="1800" i="1" dirty="0">
                <a:latin typeface="Corbel"/>
                <a:ea typeface="+mn-lt"/>
                <a:cs typeface="Arial"/>
              </a:rPr>
              <a:t>Otherwise : try log-transform (for heteroskedasticity) or non-parametric methods if the assumptions are not met.</a:t>
            </a:r>
            <a:endParaRPr lang="en-US" sz="1800" dirty="0">
              <a:latin typeface="Corbel"/>
              <a:ea typeface="+mn-lt"/>
              <a:cs typeface="Arial"/>
            </a:endParaRPr>
          </a:p>
          <a:p>
            <a:pPr>
              <a:spcBef>
                <a:spcPts val="1001"/>
              </a:spcBef>
            </a:pPr>
            <a:endParaRPr lang="en-US" sz="2200" dirty="0">
              <a:latin typeface="Corbel"/>
              <a:ea typeface="+mn-lt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737777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0ED28C-90B0-7E12-C71C-BAED6078FE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B1F52D-CD0E-ACBF-E555-51342B00E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a typeface="Verdana"/>
                <a:cs typeface="Gill Sans"/>
              </a:rPr>
              <a:t>Summary of the data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9298BB-925D-A7BA-5FED-785931EFAEC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8200" y="934654"/>
            <a:ext cx="10515600" cy="5104579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000" dirty="0">
                <a:solidFill>
                  <a:srgbClr val="000000"/>
                </a:solidFill>
                <a:ea typeface="+mn-lt"/>
                <a:cs typeface="+mn-lt"/>
              </a:rPr>
              <a:t>CLASS dataset, from the program SAS </a:t>
            </a:r>
            <a:endParaRPr lang="en-US"/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000" dirty="0">
                <a:solidFill>
                  <a:srgbClr val="000000"/>
                </a:solidFill>
                <a:ea typeface="+mn-lt"/>
                <a:cs typeface="+mn-lt"/>
              </a:rPr>
              <a:t>(names removed and units have been modified from imperial to metric)</a:t>
            </a:r>
            <a:endParaRPr lang="en-US"/>
          </a:p>
          <a:p>
            <a:pPr>
              <a:lnSpc>
                <a:spcPct val="100000"/>
              </a:lnSpc>
              <a:spcBef>
                <a:spcPts val="479"/>
              </a:spcBef>
            </a:pPr>
            <a:endParaRPr lang="en-US" sz="2000" dirty="0">
              <a:solidFill>
                <a:srgbClr val="4F81BD"/>
              </a:solidFill>
              <a:latin typeface="Courier New"/>
              <a:ea typeface="+mn-lt"/>
              <a:cs typeface="Courier New"/>
            </a:endParaRPr>
          </a:p>
          <a:p>
            <a:pPr>
              <a:lnSpc>
                <a:spcPct val="100000"/>
              </a:lnSpc>
              <a:spcBef>
                <a:spcPts val="479"/>
              </a:spcBef>
            </a:pPr>
            <a:r>
              <a:rPr lang="en-US" sz="2000" err="1">
                <a:latin typeface="Courier New"/>
                <a:ea typeface="+mn-lt"/>
                <a:cs typeface="Courier New"/>
              </a:rPr>
              <a:t>class_data</a:t>
            </a:r>
            <a:r>
              <a:rPr lang="en-US" sz="2000" dirty="0">
                <a:latin typeface="Courier New"/>
                <a:ea typeface="+mn-lt"/>
                <a:cs typeface="Courier New"/>
              </a:rPr>
              <a:t> &lt;- read.csv("</a:t>
            </a:r>
            <a:r>
              <a:rPr lang="en-US" sz="2000" err="1">
                <a:latin typeface="Courier New"/>
                <a:ea typeface="+mn-lt"/>
                <a:cs typeface="Courier New"/>
              </a:rPr>
              <a:t>course_dataset</a:t>
            </a:r>
            <a:r>
              <a:rPr lang="en-US" sz="2000" dirty="0">
                <a:latin typeface="Courier New"/>
                <a:ea typeface="+mn-lt"/>
                <a:cs typeface="Courier New"/>
              </a:rPr>
              <a:t>/class.csv") </a:t>
            </a:r>
            <a:endParaRPr lang="en-US" sz="2000">
              <a:latin typeface="Courier New"/>
            </a:endParaRPr>
          </a:p>
          <a:p>
            <a:pPr>
              <a:lnSpc>
                <a:spcPct val="100000"/>
              </a:lnSpc>
              <a:spcBef>
                <a:spcPts val="479"/>
              </a:spcBef>
            </a:pPr>
            <a:r>
              <a:rPr lang="en-US" sz="2000" dirty="0" err="1">
                <a:latin typeface="Courier New"/>
                <a:ea typeface="+mn-lt"/>
                <a:cs typeface="Courier New"/>
              </a:rPr>
              <a:t>class_data$Gender</a:t>
            </a:r>
            <a:r>
              <a:rPr lang="en-US" sz="2000" dirty="0">
                <a:latin typeface="Courier New"/>
                <a:ea typeface="+mn-lt"/>
                <a:cs typeface="Courier New"/>
              </a:rPr>
              <a:t>=</a:t>
            </a:r>
            <a:r>
              <a:rPr lang="en-US" sz="2000" dirty="0" err="1">
                <a:latin typeface="Courier New"/>
                <a:ea typeface="+mn-lt"/>
                <a:cs typeface="Courier New"/>
              </a:rPr>
              <a:t>as.factor</a:t>
            </a:r>
            <a:r>
              <a:rPr lang="en-US" sz="2000" dirty="0">
                <a:latin typeface="Courier New"/>
                <a:ea typeface="+mn-lt"/>
                <a:cs typeface="Courier New"/>
              </a:rPr>
              <a:t>(</a:t>
            </a:r>
            <a:r>
              <a:rPr lang="en-US" sz="2000" dirty="0" err="1">
                <a:latin typeface="Courier New"/>
                <a:ea typeface="+mn-lt"/>
                <a:cs typeface="Courier New"/>
              </a:rPr>
              <a:t>class_data$Gender</a:t>
            </a:r>
            <a:r>
              <a:rPr lang="en-US" sz="2000" dirty="0">
                <a:latin typeface="Courier New"/>
                <a:ea typeface="+mn-lt"/>
                <a:cs typeface="Courier New"/>
              </a:rPr>
              <a:t>) </a:t>
            </a:r>
          </a:p>
          <a:p>
            <a:pPr>
              <a:lnSpc>
                <a:spcPct val="100000"/>
              </a:lnSpc>
              <a:spcBef>
                <a:spcPts val="479"/>
              </a:spcBef>
            </a:pPr>
            <a:r>
              <a:rPr lang="en-US" sz="2000" dirty="0">
                <a:latin typeface="Courier New"/>
                <a:ea typeface="+mn-lt"/>
                <a:cs typeface="Courier New"/>
              </a:rPr>
              <a:t>summary(</a:t>
            </a:r>
            <a:r>
              <a:rPr lang="en-US" sz="2000" err="1">
                <a:latin typeface="Courier New"/>
                <a:ea typeface="+mn-lt"/>
                <a:cs typeface="Courier New"/>
              </a:rPr>
              <a:t>class_data</a:t>
            </a:r>
            <a:r>
              <a:rPr lang="en-US" sz="2000" dirty="0">
                <a:latin typeface="Courier New"/>
                <a:ea typeface="+mn-lt"/>
                <a:cs typeface="Courier New"/>
              </a:rPr>
              <a:t>)</a:t>
            </a:r>
          </a:p>
          <a:p>
            <a:pPr>
              <a:lnSpc>
                <a:spcPct val="100000"/>
              </a:lnSpc>
              <a:spcBef>
                <a:spcPts val="479"/>
              </a:spcBef>
            </a:pPr>
            <a:endParaRPr lang="en-US" sz="2000" dirty="0">
              <a:solidFill>
                <a:srgbClr val="000000"/>
              </a:solidFill>
              <a:latin typeface="Arial"/>
              <a:ea typeface="+mn-lt"/>
              <a:cs typeface="Arial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000" dirty="0">
                <a:solidFill>
                  <a:srgbClr val="000000"/>
                </a:solidFill>
                <a:latin typeface="Courier New"/>
                <a:ea typeface="+mn-lt"/>
                <a:cs typeface="Courier New"/>
              </a:rPr>
              <a:t>Gender      Age            Height          Weight     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000" dirty="0">
                <a:solidFill>
                  <a:srgbClr val="000000"/>
                </a:solidFill>
                <a:latin typeface="Courier New"/>
                <a:ea typeface="+mn-lt"/>
                <a:cs typeface="Courier New"/>
              </a:rPr>
              <a:t> F: 9   Min.   :11.00   Min.   :130.3   Min.   :22.91  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000" dirty="0">
                <a:solidFill>
                  <a:srgbClr val="000000"/>
                </a:solidFill>
                <a:latin typeface="Courier New"/>
                <a:ea typeface="+mn-lt"/>
                <a:cs typeface="Courier New"/>
              </a:rPr>
              <a:t> M:10   1st Qu.:12.00   1st Qu.:148.0   1st Qu.:38.22  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000" dirty="0">
                <a:solidFill>
                  <a:srgbClr val="000000"/>
                </a:solidFill>
                <a:latin typeface="Courier New"/>
                <a:ea typeface="+mn-lt"/>
                <a:cs typeface="Courier New"/>
              </a:rPr>
              <a:t>        Median :13.00   Median :159.5   Median :45.13  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000" dirty="0">
                <a:solidFill>
                  <a:srgbClr val="000000"/>
                </a:solidFill>
                <a:latin typeface="Courier New"/>
                <a:ea typeface="+mn-lt"/>
                <a:cs typeface="Courier New"/>
              </a:rPr>
              <a:t>        Mean   :13.32   Mean   :158.3   Mean   :45.37  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000" dirty="0">
                <a:solidFill>
                  <a:srgbClr val="000000"/>
                </a:solidFill>
                <a:latin typeface="Courier New"/>
                <a:ea typeface="+mn-lt"/>
                <a:cs typeface="Courier New"/>
              </a:rPr>
              <a:t>        3rd Qu.:14.50   3rd Qu.:167.4   3rd Qu.:50.92  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000" dirty="0">
                <a:solidFill>
                  <a:srgbClr val="000000"/>
                </a:solidFill>
                <a:latin typeface="Courier New"/>
                <a:ea typeface="+mn-lt"/>
                <a:cs typeface="Courier New"/>
              </a:rPr>
              <a:t>        Max.   :16.00   Max.   :182.9   Max.   :68.04 </a:t>
            </a:r>
          </a:p>
          <a:p>
            <a:pPr marL="5080">
              <a:spcBef>
                <a:spcPts val="1001"/>
              </a:spcBef>
            </a:pPr>
            <a:endParaRPr lang="en-US" sz="2000" dirty="0">
              <a:latin typeface="Corbel"/>
              <a:ea typeface="+mn-lt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7929399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033F2E-73AD-9553-1A63-F3F22496B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37101B-DD46-0E7B-FED1-9F5625EB2C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a typeface="Verdana"/>
                <a:cs typeface="Gill Sans"/>
              </a:rPr>
              <a:t>Visual summary of the data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7365E7-E55C-C7F1-532D-13400768BF6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8200" y="934654"/>
            <a:ext cx="10515600" cy="5104579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800" dirty="0">
                <a:latin typeface="Courier New"/>
                <a:ea typeface="+mn-lt"/>
                <a:cs typeface="+mn-lt"/>
              </a:rPr>
              <a:t>pairs(</a:t>
            </a:r>
            <a:r>
              <a:rPr lang="en-US" sz="2800" dirty="0" err="1">
                <a:latin typeface="Courier New"/>
                <a:ea typeface="+mn-lt"/>
                <a:cs typeface="+mn-lt"/>
              </a:rPr>
              <a:t>class_data</a:t>
            </a:r>
            <a:r>
              <a:rPr lang="en-US" sz="2800" dirty="0">
                <a:latin typeface="Courier New"/>
                <a:ea typeface="+mn-lt"/>
                <a:cs typeface="+mn-lt"/>
              </a:rPr>
              <a:t>[2:4] , col = </a:t>
            </a:r>
            <a:r>
              <a:rPr lang="en-US" sz="2800" dirty="0" err="1">
                <a:latin typeface="Courier New"/>
                <a:ea typeface="+mn-lt"/>
                <a:cs typeface="+mn-lt"/>
              </a:rPr>
              <a:t>class_data$Gender</a:t>
            </a:r>
            <a:r>
              <a:rPr lang="en-US" sz="2800" dirty="0">
                <a:latin typeface="Courier New"/>
                <a:ea typeface="+mn-lt"/>
                <a:cs typeface="+mn-lt"/>
              </a:rPr>
              <a:t>,</a:t>
            </a:r>
            <a:endParaRPr lang="en-US" dirty="0">
              <a:latin typeface="Courier New"/>
              <a:ea typeface="+mn-lt"/>
              <a:cs typeface="+mn-lt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800" dirty="0">
                <a:latin typeface="Courier New"/>
                <a:ea typeface="+mn-lt"/>
                <a:cs typeface="+mn-lt"/>
              </a:rPr>
              <a:t>   </a:t>
            </a:r>
            <a:r>
              <a:rPr lang="en-US" sz="2800" dirty="0" err="1">
                <a:latin typeface="Courier New"/>
                <a:ea typeface="+mn-lt"/>
                <a:cs typeface="+mn-lt"/>
              </a:rPr>
              <a:t>pch</a:t>
            </a:r>
            <a:r>
              <a:rPr lang="en-US" sz="2800" dirty="0">
                <a:latin typeface="Courier New"/>
                <a:ea typeface="+mn-lt"/>
                <a:cs typeface="+mn-lt"/>
              </a:rPr>
              <a:t>=19 )</a:t>
            </a:r>
            <a:endParaRPr lang="en-US" dirty="0">
              <a:latin typeface="Courier New"/>
              <a:ea typeface="+mn-lt"/>
              <a:cs typeface="+mn-lt"/>
            </a:endParaRPr>
          </a:p>
        </p:txBody>
      </p:sp>
      <p:pic>
        <p:nvPicPr>
          <p:cNvPr id="4" name="Picture 3" descr="A screenshot of a graph&#10;&#10;Description automatically generated">
            <a:extLst>
              <a:ext uri="{FF2B5EF4-FFF2-40B4-BE49-F238E27FC236}">
                <a16:creationId xmlns:a16="http://schemas.microsoft.com/office/drawing/2014/main" id="{B3337BC4-5D8B-C01B-CE8D-C620577A4C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6618" y="1452232"/>
            <a:ext cx="8419289" cy="5379493"/>
          </a:xfrm>
          <a:prstGeom prst="rect">
            <a:avLst/>
          </a:prstGeom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FF7842CE-CFC8-DAD9-DD79-8F0DC155C854}"/>
              </a:ext>
            </a:extLst>
          </p:cNvPr>
          <p:cNvSpPr/>
          <p:nvPr/>
        </p:nvSpPr>
        <p:spPr>
          <a:xfrm>
            <a:off x="3055009" y="3111938"/>
            <a:ext cx="3629571" cy="2053019"/>
          </a:xfrm>
          <a:prstGeom prst="ellipse">
            <a:avLst/>
          </a:prstGeom>
          <a:noFill/>
          <a:ln w="571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336386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8FB5C8-051F-2AFA-CEE3-9027B9D92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10D4B-FEC6-EF89-7D5A-6FF5AA9FA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a typeface="Verdana"/>
                <a:cs typeface="Gill Sans"/>
              </a:rPr>
              <a:t>The  </a:t>
            </a:r>
            <a:r>
              <a:rPr lang="en-GB" dirty="0" err="1">
                <a:ea typeface="Verdana"/>
                <a:cs typeface="Gill Sans"/>
              </a:rPr>
              <a:t>lm</a:t>
            </a:r>
            <a:r>
              <a:rPr lang="en-GB" dirty="0">
                <a:ea typeface="Verdana"/>
                <a:cs typeface="Gill Sans"/>
              </a:rPr>
              <a:t>() function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15E439-3376-A947-0E33-6BD77D96FDE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8200" y="934654"/>
            <a:ext cx="10515600" cy="5104579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2540">
              <a:spcBef>
                <a:spcPts val="1001"/>
              </a:spcBef>
            </a:pPr>
            <a:r>
              <a:rPr lang="en-US" sz="2200" b="1" err="1">
                <a:latin typeface="Corbel"/>
                <a:ea typeface="+mn-lt"/>
                <a:cs typeface="Arial"/>
              </a:rPr>
              <a:t>lm</a:t>
            </a:r>
            <a:r>
              <a:rPr lang="en-US" sz="2200" b="1" dirty="0">
                <a:latin typeface="Corbel"/>
                <a:ea typeface="+mn-lt"/>
                <a:cs typeface="Arial"/>
              </a:rPr>
              <a:t>() </a:t>
            </a:r>
            <a:r>
              <a:rPr lang="en-US" sz="2200" dirty="0">
                <a:latin typeface="Corbel"/>
                <a:ea typeface="+mn-lt"/>
                <a:cs typeface="Arial"/>
              </a:rPr>
              <a:t>: fits a linear model.</a:t>
            </a:r>
            <a:endParaRPr lang="en-US"/>
          </a:p>
          <a:p>
            <a:pPr marL="266700" indent="-261620">
              <a:spcBef>
                <a:spcPts val="1001"/>
              </a:spcBef>
              <a:buFont typeface="Arial,Sans-Serif"/>
              <a:buChar char="•"/>
            </a:pPr>
            <a:r>
              <a:rPr lang="en-US" sz="2200" dirty="0">
                <a:latin typeface="Corbel"/>
                <a:ea typeface="+mn-lt"/>
                <a:cs typeface="Arial"/>
              </a:rPr>
              <a:t>Creates an R object which contains the regression result</a:t>
            </a:r>
          </a:p>
          <a:p>
            <a:pPr marL="266700" indent="-261620">
              <a:spcBef>
                <a:spcPts val="1001"/>
              </a:spcBef>
              <a:buFont typeface="Arial,Sans-Serif"/>
              <a:buChar char="•"/>
            </a:pPr>
            <a:r>
              <a:rPr lang="en-US" sz="2200" dirty="0">
                <a:latin typeface="Corbel"/>
                <a:ea typeface="+mn-lt"/>
                <a:cs typeface="Arial"/>
              </a:rPr>
              <a:t>Just printing the result provides only the regression coefficients.</a:t>
            </a:r>
            <a:endParaRPr lang="en-US"/>
          </a:p>
          <a:p>
            <a:pPr marL="266700" indent="-261620">
              <a:spcBef>
                <a:spcPts val="1001"/>
              </a:spcBef>
              <a:buFont typeface="Arial,Sans-Serif"/>
              <a:buChar char="•"/>
            </a:pPr>
            <a:r>
              <a:rPr lang="en-US" sz="2200" dirty="0">
                <a:latin typeface="Corbel"/>
                <a:ea typeface="+mn-lt"/>
                <a:cs typeface="Arial"/>
              </a:rPr>
              <a:t>The </a:t>
            </a:r>
            <a:r>
              <a:rPr lang="en-US" sz="2200" b="1" dirty="0">
                <a:latin typeface="Corbel"/>
                <a:ea typeface="+mn-lt"/>
                <a:cs typeface="Arial"/>
              </a:rPr>
              <a:t>summary() </a:t>
            </a:r>
            <a:r>
              <a:rPr lang="en-US" sz="2200" dirty="0">
                <a:latin typeface="Corbel"/>
                <a:ea typeface="+mn-lt"/>
                <a:cs typeface="Arial"/>
              </a:rPr>
              <a:t>and </a:t>
            </a:r>
            <a:r>
              <a:rPr lang="en-US" sz="2200" b="1" dirty="0">
                <a:latin typeface="Corbel"/>
                <a:ea typeface="+mn-lt"/>
                <a:cs typeface="Arial"/>
              </a:rPr>
              <a:t>plot() </a:t>
            </a:r>
            <a:r>
              <a:rPr lang="en-US" sz="2200" dirty="0">
                <a:latin typeface="Corbel"/>
                <a:ea typeface="+mn-lt"/>
                <a:cs typeface="Arial"/>
              </a:rPr>
              <a:t>functions can be used to provide more information, including diagnostic plots.</a:t>
            </a:r>
          </a:p>
          <a:p>
            <a:pPr>
              <a:spcBef>
                <a:spcPts val="1001"/>
              </a:spcBef>
            </a:pPr>
            <a:endParaRPr lang="en-US" sz="2200" dirty="0">
              <a:latin typeface="Corbel"/>
              <a:ea typeface="+mn-lt"/>
              <a:cs typeface="Arial"/>
            </a:endParaRPr>
          </a:p>
          <a:p>
            <a:pPr marL="2540">
              <a:spcBef>
                <a:spcPts val="1001"/>
              </a:spcBef>
            </a:pPr>
            <a:r>
              <a:rPr lang="en-US" sz="2200" dirty="0">
                <a:latin typeface="Corbel"/>
                <a:ea typeface="+mn-lt"/>
                <a:cs typeface="Arial"/>
              </a:rPr>
              <a:t>Many other functions can be applied to the regression objects:</a:t>
            </a:r>
          </a:p>
          <a:p>
            <a:pPr marL="448945" lvl="1" indent="-177800">
              <a:spcBef>
                <a:spcPts val="499"/>
              </a:spcBef>
              <a:buFont typeface="Arial,Sans-Serif"/>
              <a:buChar char="•"/>
            </a:pPr>
            <a:r>
              <a:rPr lang="en-US" sz="2200" b="1">
                <a:latin typeface="Corbel"/>
                <a:ea typeface="+mn-lt"/>
                <a:cs typeface="Arial"/>
              </a:rPr>
              <a:t>residuals() </a:t>
            </a:r>
            <a:r>
              <a:rPr lang="en-US" sz="2200">
                <a:latin typeface="Corbel"/>
                <a:ea typeface="+mn-lt"/>
                <a:cs typeface="Arial"/>
              </a:rPr>
              <a:t>extracts a vector containing the residuals (error)</a:t>
            </a:r>
          </a:p>
          <a:p>
            <a:pPr marL="448945" lvl="1" indent="-177800">
              <a:spcBef>
                <a:spcPts val="499"/>
              </a:spcBef>
              <a:buFont typeface="Arial,Sans-Serif"/>
              <a:buChar char="•"/>
            </a:pPr>
            <a:r>
              <a:rPr lang="en-US" sz="2200" b="1" err="1">
                <a:latin typeface="Corbel"/>
                <a:ea typeface="+mn-lt"/>
                <a:cs typeface="Arial"/>
              </a:rPr>
              <a:t>coef</a:t>
            </a:r>
            <a:r>
              <a:rPr lang="en-US" sz="2200" b="1">
                <a:latin typeface="Corbel"/>
                <a:ea typeface="+mn-lt"/>
                <a:cs typeface="Arial"/>
              </a:rPr>
              <a:t>() </a:t>
            </a:r>
            <a:r>
              <a:rPr lang="en-US" sz="2200">
                <a:latin typeface="Corbel"/>
                <a:ea typeface="+mn-lt"/>
                <a:cs typeface="Arial"/>
              </a:rPr>
              <a:t>extracts the regression coefficients</a:t>
            </a:r>
          </a:p>
          <a:p>
            <a:pPr marL="448945" lvl="1" indent="-177800">
              <a:spcBef>
                <a:spcPts val="499"/>
              </a:spcBef>
              <a:buFont typeface="Arial,Sans-Serif"/>
              <a:buChar char="•"/>
            </a:pPr>
            <a:r>
              <a:rPr lang="en-US" sz="2200" b="1" err="1">
                <a:latin typeface="Corbel"/>
                <a:ea typeface="+mn-lt"/>
                <a:cs typeface="Arial"/>
              </a:rPr>
              <a:t>anova</a:t>
            </a:r>
            <a:r>
              <a:rPr lang="en-US" sz="2200" b="1">
                <a:latin typeface="Corbel"/>
                <a:ea typeface="+mn-lt"/>
                <a:cs typeface="Arial"/>
              </a:rPr>
              <a:t>() </a:t>
            </a:r>
            <a:r>
              <a:rPr lang="en-US" sz="2200">
                <a:latin typeface="Corbel"/>
                <a:ea typeface="+mn-lt"/>
                <a:cs typeface="Arial"/>
              </a:rPr>
              <a:t>produces the corresponding ANOVA table (not covered</a:t>
            </a:r>
          </a:p>
          <a:p>
            <a:pPr>
              <a:lnSpc>
                <a:spcPct val="100000"/>
              </a:lnSpc>
              <a:spcBef>
                <a:spcPts val="561"/>
              </a:spcBef>
            </a:pPr>
            <a:endParaRPr lang="en-US" sz="2200" dirty="0">
              <a:latin typeface="Corbel"/>
              <a:ea typeface="+mn-lt"/>
              <a:cs typeface="Arial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sz="2800" dirty="0">
              <a:latin typeface="Corbel"/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80884676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1577B4-A576-22A2-FB1F-78709FD40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1D12B-696E-663B-1118-CDA17A95C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a typeface="Verdana"/>
                <a:cs typeface="Gill Sans"/>
              </a:rPr>
              <a:t>Simple linear regression code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F52E26-7471-607B-96E0-462FB65E5E2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8200" y="934654"/>
            <a:ext cx="10515600" cy="5104579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en-US" sz="2000" dirty="0" err="1">
                <a:latin typeface="Courier New"/>
                <a:ea typeface="+mn-lt"/>
                <a:cs typeface="+mn-lt"/>
              </a:rPr>
              <a:t>model_height_age</a:t>
            </a:r>
            <a:r>
              <a:rPr lang="en-US" sz="2000" dirty="0">
                <a:latin typeface="Courier New"/>
                <a:ea typeface="+mn-lt"/>
                <a:cs typeface="+mn-lt"/>
              </a:rPr>
              <a:t> &lt;- </a:t>
            </a:r>
            <a:r>
              <a:rPr lang="en-US" sz="2000" dirty="0" err="1">
                <a:latin typeface="Courier New"/>
                <a:ea typeface="+mn-lt"/>
                <a:cs typeface="+mn-lt"/>
              </a:rPr>
              <a:t>lm</a:t>
            </a:r>
            <a:r>
              <a:rPr lang="en-US" sz="2000" dirty="0">
                <a:latin typeface="Courier New"/>
                <a:ea typeface="+mn-lt"/>
                <a:cs typeface="+mn-lt"/>
              </a:rPr>
              <a:t>(</a:t>
            </a:r>
            <a:r>
              <a:rPr lang="en-US" sz="2000" dirty="0" err="1">
                <a:latin typeface="Courier New"/>
                <a:ea typeface="+mn-lt"/>
                <a:cs typeface="+mn-lt"/>
              </a:rPr>
              <a:t>Height~Age</a:t>
            </a:r>
            <a:r>
              <a:rPr lang="en-US" sz="2000" dirty="0">
                <a:latin typeface="Courier New"/>
                <a:ea typeface="+mn-lt"/>
                <a:cs typeface="+mn-lt"/>
              </a:rPr>
              <a:t>, data=</a:t>
            </a:r>
            <a:r>
              <a:rPr lang="en-US" sz="2000" dirty="0" err="1">
                <a:latin typeface="Courier New"/>
                <a:ea typeface="+mn-lt"/>
                <a:cs typeface="+mn-lt"/>
              </a:rPr>
              <a:t>class_data</a:t>
            </a:r>
            <a:r>
              <a:rPr lang="en-US" sz="2000" dirty="0">
                <a:latin typeface="Courier New"/>
                <a:ea typeface="+mn-lt"/>
                <a:cs typeface="+mn-lt"/>
              </a:rPr>
              <a:t>)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en-US" sz="2000" err="1">
                <a:latin typeface="Courier New"/>
                <a:ea typeface="+mn-lt"/>
                <a:cs typeface="+mn-lt"/>
              </a:rPr>
              <a:t>model_height_age</a:t>
            </a:r>
            <a:endParaRPr lang="en-US" sz="2000">
              <a:latin typeface="Courier New"/>
              <a:ea typeface="+mn-lt"/>
              <a:cs typeface="+mn-lt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2000" dirty="0">
              <a:latin typeface="Courier New"/>
              <a:ea typeface="+mn-lt"/>
              <a:cs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latin typeface="Courier New"/>
                <a:ea typeface="+mn-lt"/>
                <a:cs typeface="Courier New"/>
              </a:rPr>
              <a:t>Call: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en-US" sz="2000" err="1">
                <a:latin typeface="Courier New"/>
                <a:ea typeface="+mn-lt"/>
                <a:cs typeface="Courier New"/>
              </a:rPr>
              <a:t>lm</a:t>
            </a:r>
            <a:r>
              <a:rPr lang="en-US" sz="2000" dirty="0">
                <a:latin typeface="Courier New"/>
                <a:ea typeface="+mn-lt"/>
                <a:cs typeface="Courier New"/>
              </a:rPr>
              <a:t>(formula = Height ~ Age, data = </a:t>
            </a:r>
            <a:r>
              <a:rPr lang="en-US" sz="2000" err="1">
                <a:latin typeface="Courier New"/>
                <a:ea typeface="+mn-lt"/>
                <a:cs typeface="Courier New"/>
              </a:rPr>
              <a:t>class_data</a:t>
            </a:r>
            <a:r>
              <a:rPr lang="en-US" sz="2000" dirty="0">
                <a:latin typeface="Courier New"/>
                <a:ea typeface="+mn-lt"/>
                <a:cs typeface="Courier New"/>
              </a:rPr>
              <a:t>)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2000" dirty="0">
              <a:latin typeface="Courier New"/>
              <a:ea typeface="+mn-lt"/>
              <a:cs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latin typeface="Courier New"/>
                <a:ea typeface="+mn-lt"/>
                <a:cs typeface="Courier New"/>
              </a:rPr>
              <a:t>Coefficients: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latin typeface="Courier New"/>
                <a:ea typeface="+mn-lt"/>
                <a:cs typeface="Courier New"/>
              </a:rPr>
              <a:t>(Intercept)          Age  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latin typeface="Courier New"/>
                <a:ea typeface="+mn-lt"/>
                <a:cs typeface="Courier New"/>
              </a:rPr>
              <a:t>     64.069        7.079 </a:t>
            </a:r>
          </a:p>
          <a:p>
            <a:pPr>
              <a:lnSpc>
                <a:spcPct val="100000"/>
              </a:lnSpc>
              <a:spcBef>
                <a:spcPts val="561"/>
              </a:spcBef>
            </a:pPr>
            <a:endParaRPr lang="en-US" sz="2000" dirty="0">
              <a:latin typeface="Courier New"/>
              <a:ea typeface="+mn-lt"/>
              <a:cs typeface="Arial"/>
            </a:endParaRPr>
          </a:p>
          <a:p>
            <a:pPr marL="2540">
              <a:spcBef>
                <a:spcPts val="1001"/>
              </a:spcBef>
            </a:pPr>
            <a:endParaRPr lang="en-US" sz="2000" dirty="0">
              <a:latin typeface="Courier New"/>
              <a:ea typeface="+mn-lt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2838479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FD8C7-64A0-04EC-CA7F-EDA430DFAE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62915C-8031-3A41-620D-4687C552AA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a typeface="Verdana"/>
                <a:cs typeface="Gill Sans"/>
              </a:rPr>
              <a:t>Representation of the fit (I)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7CF214-8972-8133-A4BD-6FAE0A4097C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8200" y="934654"/>
            <a:ext cx="10515600" cy="5104579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latin typeface="Courier New"/>
                <a:ea typeface="+mn-lt"/>
                <a:cs typeface="+mn-lt"/>
              </a:rPr>
              <a:t>plot(</a:t>
            </a:r>
            <a:r>
              <a:rPr lang="en-US" sz="2000" err="1">
                <a:latin typeface="Courier New"/>
                <a:ea typeface="+mn-lt"/>
                <a:cs typeface="+mn-lt"/>
              </a:rPr>
              <a:t>Height~Age,data</a:t>
            </a:r>
            <a:r>
              <a:rPr lang="en-US" sz="2000" dirty="0">
                <a:latin typeface="Courier New"/>
                <a:ea typeface="+mn-lt"/>
                <a:cs typeface="+mn-lt"/>
              </a:rPr>
              <a:t>=</a:t>
            </a:r>
            <a:r>
              <a:rPr lang="en-US" sz="2000" err="1">
                <a:latin typeface="Courier New"/>
                <a:ea typeface="+mn-lt"/>
                <a:cs typeface="+mn-lt"/>
              </a:rPr>
              <a:t>class_data</a:t>
            </a:r>
            <a:r>
              <a:rPr lang="en-US" sz="2000" dirty="0">
                <a:latin typeface="Courier New"/>
                <a:ea typeface="+mn-lt"/>
                <a:cs typeface="+mn-lt"/>
              </a:rPr>
              <a:t>)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en-US" sz="2000" err="1">
                <a:latin typeface="Courier New"/>
                <a:ea typeface="+mn-lt"/>
                <a:cs typeface="+mn-lt"/>
              </a:rPr>
              <a:t>abline</a:t>
            </a:r>
            <a:r>
              <a:rPr lang="en-US" sz="2000" dirty="0">
                <a:latin typeface="Courier New"/>
                <a:ea typeface="+mn-lt"/>
                <a:cs typeface="+mn-lt"/>
              </a:rPr>
              <a:t>(</a:t>
            </a:r>
            <a:r>
              <a:rPr lang="en-US" sz="2000" err="1">
                <a:latin typeface="Courier New"/>
                <a:ea typeface="+mn-lt"/>
                <a:cs typeface="+mn-lt"/>
              </a:rPr>
              <a:t>model_height_age</a:t>
            </a:r>
            <a:r>
              <a:rPr lang="en-US" sz="2000" dirty="0">
                <a:latin typeface="Courier New"/>
                <a:ea typeface="+mn-lt"/>
                <a:cs typeface="+mn-lt"/>
              </a:rPr>
              <a:t>, col="red", </a:t>
            </a:r>
            <a:r>
              <a:rPr lang="en-US" sz="2000" err="1">
                <a:latin typeface="Courier New"/>
                <a:ea typeface="+mn-lt"/>
                <a:cs typeface="+mn-lt"/>
              </a:rPr>
              <a:t>lwd</a:t>
            </a:r>
            <a:r>
              <a:rPr lang="en-US" sz="2000" dirty="0">
                <a:latin typeface="Courier New"/>
                <a:ea typeface="+mn-lt"/>
                <a:cs typeface="+mn-lt"/>
              </a:rPr>
              <a:t>=2)</a:t>
            </a:r>
          </a:p>
          <a:p>
            <a:pPr>
              <a:spcBef>
                <a:spcPts val="400"/>
              </a:spcBef>
            </a:pPr>
            <a:endParaRPr lang="en-US" sz="1800" dirty="0">
              <a:latin typeface="Courier New"/>
              <a:ea typeface="+mn-lt"/>
              <a:cs typeface="+mn-lt"/>
            </a:endParaRPr>
          </a:p>
          <a:p>
            <a:pPr>
              <a:spcBef>
                <a:spcPts val="400"/>
              </a:spcBef>
            </a:pPr>
            <a:endParaRPr lang="en-US" sz="1800" dirty="0">
              <a:solidFill>
                <a:srgbClr val="000000"/>
              </a:solidFill>
              <a:latin typeface="Arial"/>
              <a:ea typeface="+mn-lt"/>
              <a:cs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2000" dirty="0">
              <a:latin typeface="Courier New"/>
              <a:ea typeface="+mn-lt"/>
              <a:cs typeface="Arial"/>
            </a:endParaRPr>
          </a:p>
        </p:txBody>
      </p:sp>
      <p:pic>
        <p:nvPicPr>
          <p:cNvPr id="10" name="Picture 9" descr="A red line with black dots&#10;&#10;Description automatically generated">
            <a:extLst>
              <a:ext uri="{FF2B5EF4-FFF2-40B4-BE49-F238E27FC236}">
                <a16:creationId xmlns:a16="http://schemas.microsoft.com/office/drawing/2014/main" id="{9FC4973A-93F2-FEB0-85B9-A95E4F42A1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503" y="1674871"/>
            <a:ext cx="4410501" cy="5224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36869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A88DD-76FB-CC14-ECEB-25B93F5D54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9AD4D-F0C9-D916-1C75-E362C495CD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a typeface="Verdana"/>
                <a:cs typeface="Gill Sans"/>
              </a:rPr>
              <a:t>Representation of the fit (II)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ADB03B-DA04-D8B9-3483-B60DED3D703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8200" y="934654"/>
            <a:ext cx="10515600" cy="5104579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latin typeface="Courier New"/>
                <a:ea typeface="+mn-lt"/>
                <a:cs typeface="+mn-lt"/>
              </a:rPr>
              <a:t>plot(</a:t>
            </a:r>
            <a:r>
              <a:rPr lang="en-US" sz="2000" err="1">
                <a:latin typeface="Courier New"/>
                <a:ea typeface="+mn-lt"/>
                <a:cs typeface="+mn-lt"/>
              </a:rPr>
              <a:t>Height~Age,data</a:t>
            </a:r>
            <a:r>
              <a:rPr lang="en-US" sz="2000" dirty="0">
                <a:latin typeface="Courier New"/>
                <a:ea typeface="+mn-lt"/>
                <a:cs typeface="+mn-lt"/>
              </a:rPr>
              <a:t>=</a:t>
            </a:r>
            <a:r>
              <a:rPr lang="en-US" sz="2000" err="1">
                <a:latin typeface="Courier New"/>
                <a:ea typeface="+mn-lt"/>
                <a:cs typeface="+mn-lt"/>
              </a:rPr>
              <a:t>class_data</a:t>
            </a:r>
            <a:r>
              <a:rPr lang="en-US" sz="2000" dirty="0">
                <a:latin typeface="Courier New"/>
                <a:ea typeface="+mn-lt"/>
                <a:cs typeface="+mn-lt"/>
              </a:rPr>
              <a:t>)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en-US" sz="2000" err="1">
                <a:latin typeface="Courier New"/>
                <a:ea typeface="+mn-lt"/>
                <a:cs typeface="+mn-lt"/>
              </a:rPr>
              <a:t>abline</a:t>
            </a:r>
            <a:r>
              <a:rPr lang="en-US" sz="2000" dirty="0">
                <a:latin typeface="Courier New"/>
                <a:ea typeface="+mn-lt"/>
                <a:cs typeface="+mn-lt"/>
              </a:rPr>
              <a:t>(</a:t>
            </a:r>
            <a:r>
              <a:rPr lang="en-US" sz="2000" err="1">
                <a:latin typeface="Courier New"/>
                <a:ea typeface="+mn-lt"/>
                <a:cs typeface="+mn-lt"/>
              </a:rPr>
              <a:t>model_height_age</a:t>
            </a:r>
            <a:r>
              <a:rPr lang="en-US" sz="2000" dirty="0">
                <a:latin typeface="Courier New"/>
                <a:ea typeface="+mn-lt"/>
                <a:cs typeface="+mn-lt"/>
              </a:rPr>
              <a:t>, col="red", </a:t>
            </a:r>
            <a:r>
              <a:rPr lang="en-US" sz="2000" err="1">
                <a:latin typeface="Courier New"/>
                <a:ea typeface="+mn-lt"/>
                <a:cs typeface="+mn-lt"/>
              </a:rPr>
              <a:t>lwd</a:t>
            </a:r>
            <a:r>
              <a:rPr lang="en-US" sz="2000" dirty="0">
                <a:latin typeface="Courier New"/>
                <a:ea typeface="+mn-lt"/>
                <a:cs typeface="+mn-lt"/>
              </a:rPr>
              <a:t>=2)</a:t>
            </a:r>
          </a:p>
          <a:p>
            <a:pPr>
              <a:spcBef>
                <a:spcPts val="400"/>
              </a:spcBef>
            </a:pPr>
            <a:endParaRPr lang="en-US" sz="1800" dirty="0">
              <a:latin typeface="Courier New"/>
              <a:ea typeface="+mn-lt"/>
              <a:cs typeface="+mn-lt"/>
            </a:endParaRPr>
          </a:p>
          <a:p>
            <a:pPr>
              <a:spcBef>
                <a:spcPts val="400"/>
              </a:spcBef>
            </a:pPr>
            <a:endParaRPr lang="en-US" sz="1800" dirty="0">
              <a:solidFill>
                <a:srgbClr val="000000"/>
              </a:solidFill>
              <a:latin typeface="Arial"/>
              <a:ea typeface="+mn-lt"/>
              <a:cs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2000" dirty="0">
              <a:latin typeface="Courier New"/>
              <a:ea typeface="+mn-lt"/>
              <a:cs typeface="Arial"/>
            </a:endParaRPr>
          </a:p>
        </p:txBody>
      </p:sp>
      <p:pic>
        <p:nvPicPr>
          <p:cNvPr id="10" name="Picture 9" descr="A red line with black dots&#10;&#10;Description automatically generated">
            <a:extLst>
              <a:ext uri="{FF2B5EF4-FFF2-40B4-BE49-F238E27FC236}">
                <a16:creationId xmlns:a16="http://schemas.microsoft.com/office/drawing/2014/main" id="{31660E71-E6E8-47C4-5182-2AA8C9CE59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503" y="1674871"/>
            <a:ext cx="4410501" cy="522481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357AC39-29F9-47B0-070C-B45D287511BC}"/>
              </a:ext>
            </a:extLst>
          </p:cNvPr>
          <p:cNvSpPr txBox="1"/>
          <p:nvPr/>
        </p:nvSpPr>
        <p:spPr>
          <a:xfrm>
            <a:off x="5701862" y="2067034"/>
            <a:ext cx="5922579" cy="14773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dirty="0"/>
              <a:t>Coefficients: y-intercept and slope of the regression line</a:t>
            </a:r>
          </a:p>
          <a:p>
            <a:endParaRPr lang="en-GB" dirty="0">
              <a:latin typeface="Courier New"/>
              <a:cs typeface="Courier New"/>
            </a:endParaRPr>
          </a:p>
          <a:p>
            <a:r>
              <a:rPr lang="en-GB" err="1">
                <a:latin typeface="Courier New"/>
                <a:cs typeface="Courier New"/>
              </a:rPr>
              <a:t>Coef</a:t>
            </a:r>
            <a:r>
              <a:rPr lang="en-GB" dirty="0">
                <a:latin typeface="Courier New"/>
                <a:cs typeface="Courier New"/>
              </a:rPr>
              <a:t>(</a:t>
            </a:r>
            <a:r>
              <a:rPr lang="en-GB" err="1">
                <a:latin typeface="Courier New"/>
                <a:cs typeface="Courier New"/>
              </a:rPr>
              <a:t>model_height_age</a:t>
            </a:r>
            <a:r>
              <a:rPr lang="en-GB" dirty="0">
                <a:latin typeface="Courier New"/>
                <a:cs typeface="Courier New"/>
              </a:rPr>
              <a:t>)</a:t>
            </a:r>
          </a:p>
          <a:p>
            <a:r>
              <a:rPr lang="en-GB" dirty="0">
                <a:latin typeface="Courier New"/>
                <a:cs typeface="Courier New"/>
              </a:rPr>
              <a:t>(Intercept)  Age</a:t>
            </a:r>
          </a:p>
          <a:p>
            <a:r>
              <a:rPr lang="en-GB" dirty="0">
                <a:latin typeface="Courier New"/>
                <a:cs typeface="Courier New"/>
              </a:rPr>
              <a:t>64.068667    7.079333</a:t>
            </a:r>
          </a:p>
        </p:txBody>
      </p:sp>
    </p:spTree>
    <p:extLst>
      <p:ext uri="{BB962C8B-B14F-4D97-AF65-F5344CB8AC3E}">
        <p14:creationId xmlns:p14="http://schemas.microsoft.com/office/powerpoint/2010/main" val="279704498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30B1D2-2D76-C049-55B7-C4BD3E920E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C0E0C-E575-B1A5-D53B-83014271E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a typeface="Verdana"/>
                <a:cs typeface="Gill Sans"/>
              </a:rPr>
              <a:t>Representation of the fit (III)</a:t>
            </a:r>
            <a:endParaRPr lang="en-US" dirty="0"/>
          </a:p>
        </p:txBody>
      </p:sp>
      <p:pic>
        <p:nvPicPr>
          <p:cNvPr id="10" name="Picture 9" descr="A red line with black dots&#10;&#10;Description automatically generated">
            <a:extLst>
              <a:ext uri="{FF2B5EF4-FFF2-40B4-BE49-F238E27FC236}">
                <a16:creationId xmlns:a16="http://schemas.microsoft.com/office/drawing/2014/main" id="{71E3A2F6-F0AD-725F-DD76-BCC1A802EF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503" y="1674871"/>
            <a:ext cx="4410501" cy="522481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40C9D52-DEDA-1109-30A6-C0117C46FBFC}"/>
              </a:ext>
            </a:extLst>
          </p:cNvPr>
          <p:cNvSpPr txBox="1"/>
          <p:nvPr/>
        </p:nvSpPr>
        <p:spPr>
          <a:xfrm>
            <a:off x="5701862" y="2067034"/>
            <a:ext cx="5922579" cy="33547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b="1" dirty="0"/>
              <a:t>Residuals</a:t>
            </a:r>
            <a:r>
              <a:rPr lang="en-GB" dirty="0"/>
              <a:t>: vertical distances of data points from the regression line</a:t>
            </a:r>
          </a:p>
          <a:p>
            <a:endParaRPr lang="en-GB" dirty="0">
              <a:latin typeface="Courier New"/>
              <a:cs typeface="Courier New"/>
            </a:endParaRPr>
          </a:p>
          <a:p>
            <a:r>
              <a:rPr lang="en-GB" dirty="0">
                <a:latin typeface="Courier New"/>
                <a:cs typeface="Courier New"/>
              </a:rPr>
              <a:t>residuals(</a:t>
            </a:r>
            <a:r>
              <a:rPr lang="en-GB" dirty="0" err="1">
                <a:latin typeface="Courier New"/>
                <a:cs typeface="Courier New"/>
              </a:rPr>
              <a:t>model_height_age</a:t>
            </a:r>
            <a:r>
              <a:rPr lang="en-GB" dirty="0">
                <a:latin typeface="Courier New"/>
                <a:cs typeface="Courier New"/>
              </a:rPr>
              <a:t>)</a:t>
            </a:r>
          </a:p>
          <a:p>
            <a:r>
              <a:rPr lang="en-GB" sz="1400" dirty="0">
                <a:latin typeface="Courier New"/>
                <a:ea typeface="+mn-lt"/>
                <a:cs typeface="+mn-lt"/>
              </a:rPr>
              <a:t>           1            2            3            4 </a:t>
            </a:r>
            <a:endParaRPr lang="en-GB" sz="1400" dirty="0">
              <a:latin typeface="Courier New"/>
              <a:ea typeface="+mn-lt"/>
              <a:cs typeface="Courier New"/>
            </a:endParaRPr>
          </a:p>
          <a:p>
            <a:r>
              <a:rPr lang="en-GB" sz="1400" dirty="0">
                <a:latin typeface="Courier New"/>
                <a:ea typeface="+mn-lt"/>
                <a:cs typeface="+mn-lt"/>
              </a:rPr>
              <a:t>-11.63933333   4.10866667  -3.47866667   2.87133333 </a:t>
            </a:r>
            <a:endParaRPr lang="en-GB" sz="1400" dirty="0">
              <a:latin typeface="Courier New"/>
              <a:cs typeface="Courier New"/>
            </a:endParaRPr>
          </a:p>
          <a:p>
            <a:r>
              <a:rPr lang="en-GB" sz="1400" dirty="0">
                <a:latin typeface="Courier New"/>
                <a:ea typeface="+mn-lt"/>
                <a:cs typeface="+mn-lt"/>
              </a:rPr>
              <a:t>           5            6            7            8 </a:t>
            </a:r>
            <a:endParaRPr lang="en-GB" sz="1400" dirty="0">
              <a:latin typeface="Courier New"/>
              <a:cs typeface="Courier New"/>
            </a:endParaRPr>
          </a:p>
          <a:p>
            <a:r>
              <a:rPr lang="en-GB" sz="1400" dirty="0">
                <a:latin typeface="Courier New"/>
                <a:ea typeface="+mn-lt"/>
                <a:cs typeface="+mn-lt"/>
              </a:rPr>
              <a:t>  0.83933333  -6.01866667  15.57133333 -12.59000000 </a:t>
            </a:r>
            <a:endParaRPr lang="en-GB" sz="1400" dirty="0">
              <a:latin typeface="Courier New"/>
              <a:cs typeface="Courier New"/>
            </a:endParaRPr>
          </a:p>
          <a:p>
            <a:r>
              <a:rPr lang="en-GB" sz="1400" dirty="0">
                <a:latin typeface="Courier New"/>
                <a:ea typeface="+mn-lt"/>
                <a:cs typeface="+mn-lt"/>
              </a:rPr>
              <a:t>           9           10           11           12 </a:t>
            </a:r>
            <a:endParaRPr lang="en-GB" sz="1400" dirty="0">
              <a:latin typeface="Courier New"/>
              <a:cs typeface="Courier New"/>
            </a:endParaRPr>
          </a:p>
          <a:p>
            <a:r>
              <a:rPr lang="en-GB" sz="1400" dirty="0">
                <a:latin typeface="Courier New"/>
                <a:ea typeface="+mn-lt"/>
                <a:cs typeface="+mn-lt"/>
              </a:rPr>
              <a:t>  9.76200000   2.65000000  -3.66733333  -1.88933333 </a:t>
            </a:r>
            <a:endParaRPr lang="en-GB" sz="1400" dirty="0">
              <a:latin typeface="Courier New"/>
              <a:cs typeface="Courier New"/>
            </a:endParaRPr>
          </a:p>
          <a:p>
            <a:r>
              <a:rPr lang="en-GB" sz="1400" dirty="0">
                <a:latin typeface="Courier New"/>
                <a:ea typeface="+mn-lt"/>
                <a:cs typeface="+mn-lt"/>
              </a:rPr>
              <a:t>          13           14           15           16 </a:t>
            </a:r>
            <a:endParaRPr lang="en-GB" sz="1400" dirty="0">
              <a:latin typeface="Courier New"/>
              <a:cs typeface="Courier New"/>
            </a:endParaRPr>
          </a:p>
          <a:p>
            <a:r>
              <a:rPr lang="en-GB" sz="1400" dirty="0">
                <a:latin typeface="Courier New"/>
                <a:ea typeface="+mn-lt"/>
                <a:cs typeface="+mn-lt"/>
              </a:rPr>
              <a:t>12.08066667   0.14266667 -11.50866667  -1.34866667 </a:t>
            </a:r>
            <a:endParaRPr lang="en-GB" sz="1400" dirty="0">
              <a:latin typeface="Courier New"/>
              <a:cs typeface="Courier New"/>
            </a:endParaRPr>
          </a:p>
          <a:p>
            <a:r>
              <a:rPr lang="en-GB" sz="1400" dirty="0">
                <a:latin typeface="Courier New"/>
                <a:ea typeface="+mn-lt"/>
                <a:cs typeface="+mn-lt"/>
              </a:rPr>
              <a:t>          17           18           19 </a:t>
            </a:r>
            <a:endParaRPr lang="en-GB" sz="1400" dirty="0">
              <a:latin typeface="Courier New"/>
              <a:cs typeface="Courier New"/>
            </a:endParaRPr>
          </a:p>
          <a:p>
            <a:r>
              <a:rPr lang="en-GB" sz="1400" dirty="0">
                <a:latin typeface="Courier New"/>
                <a:ea typeface="+mn-lt"/>
                <a:cs typeface="+mn-lt"/>
              </a:rPr>
              <a:t>-0.07866667  -1.34866667   5.54200000 </a:t>
            </a:r>
            <a:endParaRPr lang="en-GB" sz="140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4A042D5-935D-36BE-B61C-A15690FF8E0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618889" y="5725619"/>
            <a:ext cx="4734911" cy="444994"/>
          </a:xfrm>
        </p:spPr>
        <p:txBody>
          <a:bodyPr/>
          <a:lstStyle/>
          <a:p>
            <a:endParaRPr lang="en-GB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85E7CC9-E263-77BB-BA8D-128D9F5DED00}"/>
              </a:ext>
            </a:extLst>
          </p:cNvPr>
          <p:cNvCxnSpPr/>
          <p:nvPr/>
        </p:nvCxnSpPr>
        <p:spPr>
          <a:xfrm flipH="1">
            <a:off x="2751959" y="3917731"/>
            <a:ext cx="5254" cy="791780"/>
          </a:xfrm>
          <a:prstGeom prst="straightConnector1">
            <a:avLst/>
          </a:prstGeom>
          <a:ln w="12700">
            <a:solidFill>
              <a:schemeClr val="accent2"/>
            </a:solidFill>
            <a:headEnd type="triangl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A17CDA0-BEE6-B88B-7698-48FDA3508B2B}"/>
              </a:ext>
            </a:extLst>
          </p:cNvPr>
          <p:cNvCxnSpPr/>
          <p:nvPr/>
        </p:nvCxnSpPr>
        <p:spPr>
          <a:xfrm flipH="1">
            <a:off x="4620282" y="2066837"/>
            <a:ext cx="2889" cy="333136"/>
          </a:xfrm>
          <a:prstGeom prst="straightConnector1">
            <a:avLst/>
          </a:prstGeom>
          <a:ln w="12700">
            <a:solidFill>
              <a:schemeClr val="accent2"/>
            </a:solidFill>
            <a:headEnd type="triangl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2825164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2E5BDE-C409-84ED-7C30-A8764844D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D7677-5192-B70A-012A-C707D1DA44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a typeface="Verdana"/>
                <a:cs typeface="Gill Sans"/>
              </a:rPr>
              <a:t>Check model assumptions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7CEECA-EC85-674A-9999-933047B0A7D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8200" y="934654"/>
            <a:ext cx="10515600" cy="5104579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spcBef>
                <a:spcPts val="400"/>
              </a:spcBef>
            </a:pPr>
            <a:r>
              <a:rPr lang="en-US" sz="1800" dirty="0">
                <a:latin typeface="Courier New"/>
                <a:ea typeface="+mn-lt"/>
                <a:cs typeface="+mn-lt"/>
              </a:rPr>
              <a:t>par(</a:t>
            </a:r>
            <a:r>
              <a:rPr lang="en-US" sz="1800" dirty="0" err="1">
                <a:latin typeface="Courier New"/>
                <a:ea typeface="+mn-lt"/>
                <a:cs typeface="+mn-lt"/>
              </a:rPr>
              <a:t>mfrow</a:t>
            </a:r>
            <a:r>
              <a:rPr lang="en-US" sz="1800" dirty="0">
                <a:latin typeface="Courier New"/>
                <a:ea typeface="+mn-lt"/>
                <a:cs typeface="+mn-lt"/>
              </a:rPr>
              <a:t>=c(2,2))</a:t>
            </a:r>
            <a:endParaRPr lang="en-US" dirty="0">
              <a:latin typeface="Courier New"/>
            </a:endParaRPr>
          </a:p>
          <a:p>
            <a:pPr>
              <a:spcBef>
                <a:spcPts val="400"/>
              </a:spcBef>
            </a:pPr>
            <a:r>
              <a:rPr lang="en-US" sz="1800" dirty="0">
                <a:latin typeface="Courier New"/>
                <a:ea typeface="+mn-lt"/>
                <a:cs typeface="+mn-lt"/>
              </a:rPr>
              <a:t>plot(</a:t>
            </a:r>
            <a:r>
              <a:rPr lang="en-US" sz="1800" dirty="0" err="1">
                <a:latin typeface="Courier New"/>
                <a:ea typeface="+mn-lt"/>
                <a:cs typeface="+mn-lt"/>
              </a:rPr>
              <a:t>model_height_age</a:t>
            </a:r>
            <a:r>
              <a:rPr lang="en-US" sz="1800" dirty="0">
                <a:latin typeface="Courier New"/>
                <a:ea typeface="+mn-lt"/>
                <a:cs typeface="+mn-lt"/>
              </a:rPr>
              <a:t>) </a:t>
            </a:r>
          </a:p>
          <a:p>
            <a:pPr>
              <a:spcBef>
                <a:spcPts val="400"/>
              </a:spcBef>
            </a:pPr>
            <a:endParaRPr lang="en-US" sz="1800" dirty="0">
              <a:solidFill>
                <a:srgbClr val="000000"/>
              </a:solidFill>
              <a:latin typeface="Arial"/>
              <a:ea typeface="+mn-lt"/>
              <a:cs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2000" dirty="0">
              <a:latin typeface="Courier New"/>
              <a:ea typeface="+mn-lt"/>
              <a:cs typeface="Arial"/>
            </a:endParaRPr>
          </a:p>
        </p:txBody>
      </p:sp>
      <p:pic>
        <p:nvPicPr>
          <p:cNvPr id="5" name="Picture 4" descr="A group of graphs showing different values&#10;&#10;Description automatically generated">
            <a:extLst>
              <a:ext uri="{FF2B5EF4-FFF2-40B4-BE49-F238E27FC236}">
                <a16:creationId xmlns:a16="http://schemas.microsoft.com/office/drawing/2014/main" id="{ADCB6020-8CB2-A91A-9917-97798404AF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445" y="1602827"/>
            <a:ext cx="8133384" cy="525517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02A1CEC-A826-9838-004D-9163A0500990}"/>
              </a:ext>
            </a:extLst>
          </p:cNvPr>
          <p:cNvSpPr txBox="1"/>
          <p:nvPr/>
        </p:nvSpPr>
        <p:spPr>
          <a:xfrm>
            <a:off x="6143296" y="931917"/>
            <a:ext cx="5580992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Commentaries on these plots:</a:t>
            </a:r>
          </a:p>
          <a:p>
            <a:r>
              <a:rPr lang="en-US" dirty="0">
                <a:hlinkClick r:id="rId3"/>
              </a:rPr>
              <a:t>https://library.virginia.edu/data/articles/diagnostic-plots</a:t>
            </a:r>
          </a:p>
        </p:txBody>
      </p:sp>
    </p:spTree>
    <p:extLst>
      <p:ext uri="{BB962C8B-B14F-4D97-AF65-F5344CB8AC3E}">
        <p14:creationId xmlns:p14="http://schemas.microsoft.com/office/powerpoint/2010/main" val="85142162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6A224-426F-10EF-AC4A-86A7C0638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ABC80E-2096-EEAD-A89E-D742124D82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a typeface="Verdana"/>
                <a:cs typeface="Gill Sans"/>
              </a:rPr>
              <a:t>Check model assumptions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7DAE75-04CD-D99B-6938-7B032ADF3C6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8200" y="934654"/>
            <a:ext cx="10515600" cy="5104579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spcBef>
                <a:spcPts val="400"/>
              </a:spcBef>
            </a:pPr>
            <a:r>
              <a:rPr lang="en-US" sz="1800" dirty="0">
                <a:latin typeface="Courier New"/>
                <a:ea typeface="+mn-lt"/>
                <a:cs typeface="+mn-lt"/>
              </a:rPr>
              <a:t>par(</a:t>
            </a:r>
            <a:r>
              <a:rPr lang="en-US" sz="1800" dirty="0" err="1">
                <a:latin typeface="Courier New"/>
                <a:ea typeface="+mn-lt"/>
                <a:cs typeface="+mn-lt"/>
              </a:rPr>
              <a:t>mfrow</a:t>
            </a:r>
            <a:r>
              <a:rPr lang="en-US" sz="1800" dirty="0">
                <a:latin typeface="Courier New"/>
                <a:ea typeface="+mn-lt"/>
                <a:cs typeface="+mn-lt"/>
              </a:rPr>
              <a:t>=c(2,2))</a:t>
            </a:r>
            <a:endParaRPr lang="en-US" dirty="0">
              <a:latin typeface="Courier New"/>
            </a:endParaRPr>
          </a:p>
          <a:p>
            <a:pPr>
              <a:spcBef>
                <a:spcPts val="400"/>
              </a:spcBef>
            </a:pPr>
            <a:r>
              <a:rPr lang="en-US" sz="1800" dirty="0">
                <a:latin typeface="Courier New"/>
                <a:ea typeface="+mn-lt"/>
                <a:cs typeface="+mn-lt"/>
              </a:rPr>
              <a:t>plot(</a:t>
            </a:r>
            <a:r>
              <a:rPr lang="en-US" sz="1800" dirty="0" err="1">
                <a:latin typeface="Courier New"/>
                <a:ea typeface="+mn-lt"/>
                <a:cs typeface="+mn-lt"/>
              </a:rPr>
              <a:t>model_height_age</a:t>
            </a:r>
            <a:r>
              <a:rPr lang="en-US" sz="1800" dirty="0">
                <a:latin typeface="Courier New"/>
                <a:ea typeface="+mn-lt"/>
                <a:cs typeface="+mn-lt"/>
              </a:rPr>
              <a:t>) </a:t>
            </a:r>
          </a:p>
          <a:p>
            <a:pPr>
              <a:spcBef>
                <a:spcPts val="400"/>
              </a:spcBef>
            </a:pPr>
            <a:endParaRPr lang="en-US" sz="1800" dirty="0">
              <a:solidFill>
                <a:srgbClr val="000000"/>
              </a:solidFill>
              <a:latin typeface="Arial"/>
              <a:ea typeface="+mn-lt"/>
              <a:cs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2000" dirty="0">
              <a:latin typeface="Courier New"/>
              <a:ea typeface="+mn-lt"/>
              <a:cs typeface="Arial"/>
            </a:endParaRPr>
          </a:p>
        </p:txBody>
      </p:sp>
      <p:pic>
        <p:nvPicPr>
          <p:cNvPr id="5" name="Picture 4" descr="A group of graphs showing different values&#10;&#10;Description automatically generated">
            <a:extLst>
              <a:ext uri="{FF2B5EF4-FFF2-40B4-BE49-F238E27FC236}">
                <a16:creationId xmlns:a16="http://schemas.microsoft.com/office/drawing/2014/main" id="{1F7E99A4-D87B-8962-78EF-945A940E26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445" y="1602827"/>
            <a:ext cx="8133384" cy="525517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BD35243-07F4-1B44-670A-813CFF3ABC77}"/>
              </a:ext>
            </a:extLst>
          </p:cNvPr>
          <p:cNvSpPr txBox="1"/>
          <p:nvPr/>
        </p:nvSpPr>
        <p:spPr>
          <a:xfrm>
            <a:off x="6143296" y="931917"/>
            <a:ext cx="5580992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Commentaries on these plots:</a:t>
            </a:r>
          </a:p>
          <a:p>
            <a:r>
              <a:rPr lang="en-US" dirty="0">
                <a:hlinkClick r:id="rId3"/>
              </a:rPr>
              <a:t>https://library.virginia.edu/data/articles/diagnostic-plots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09B62B5-F52B-B738-E3BC-721CB5ECD793}"/>
              </a:ext>
            </a:extLst>
          </p:cNvPr>
          <p:cNvSpPr/>
          <p:nvPr/>
        </p:nvSpPr>
        <p:spPr>
          <a:xfrm>
            <a:off x="996731" y="1754352"/>
            <a:ext cx="4049985" cy="2394606"/>
          </a:xfrm>
          <a:prstGeom prst="round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CF9F15A-F3DE-B575-F2DA-7E204E5EE718}"/>
              </a:ext>
            </a:extLst>
          </p:cNvPr>
          <p:cNvSpPr/>
          <p:nvPr/>
        </p:nvSpPr>
        <p:spPr>
          <a:xfrm>
            <a:off x="5095765" y="1754351"/>
            <a:ext cx="4049985" cy="2394606"/>
          </a:xfrm>
          <a:prstGeom prst="roundRect">
            <a:avLst/>
          </a:prstGeom>
          <a:noFill/>
          <a:ln w="28575"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52032A7-BB70-1585-3B4E-09DE26932E07}"/>
              </a:ext>
            </a:extLst>
          </p:cNvPr>
          <p:cNvSpPr/>
          <p:nvPr/>
        </p:nvSpPr>
        <p:spPr>
          <a:xfrm>
            <a:off x="996730" y="4381937"/>
            <a:ext cx="4049985" cy="2394606"/>
          </a:xfrm>
          <a:prstGeom prst="round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90F166F-85E9-6279-3540-ACFC09A5EF67}"/>
              </a:ext>
            </a:extLst>
          </p:cNvPr>
          <p:cNvSpPr/>
          <p:nvPr/>
        </p:nvSpPr>
        <p:spPr>
          <a:xfrm>
            <a:off x="5095764" y="4381936"/>
            <a:ext cx="4049985" cy="2394606"/>
          </a:xfrm>
          <a:prstGeom prst="roundRect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0CE9EDC-4DE1-A198-270C-77347722A54F}"/>
              </a:ext>
            </a:extLst>
          </p:cNvPr>
          <p:cNvSpPr txBox="1"/>
          <p:nvPr/>
        </p:nvSpPr>
        <p:spPr>
          <a:xfrm rot="5400000">
            <a:off x="8237483" y="2702034"/>
            <a:ext cx="2261476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dirty="0"/>
              <a:t>Normality of residuals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C090B1E-9941-09E9-418F-C1724F96A182}"/>
              </a:ext>
            </a:extLst>
          </p:cNvPr>
          <p:cNvSpPr txBox="1"/>
          <p:nvPr/>
        </p:nvSpPr>
        <p:spPr>
          <a:xfrm rot="5400000">
            <a:off x="8228723" y="5329619"/>
            <a:ext cx="2261476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dirty="0"/>
              <a:t>Influence of points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341D00F-2AFB-F537-14DD-B70CAE3E39D8}"/>
              </a:ext>
            </a:extLst>
          </p:cNvPr>
          <p:cNvSpPr txBox="1"/>
          <p:nvPr/>
        </p:nvSpPr>
        <p:spPr>
          <a:xfrm rot="5400000">
            <a:off x="-477345" y="2561748"/>
            <a:ext cx="2261476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/>
              <a:t>Residuals </a:t>
            </a:r>
            <a:r>
              <a:rPr lang="en-GB" dirty="0" err="1"/>
              <a:t>centered</a:t>
            </a:r>
            <a:r>
              <a:rPr lang="en-GB" dirty="0"/>
              <a:t> around 0</a:t>
            </a:r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A2E428A-B7A1-05D5-0F91-09354F417DB8}"/>
              </a:ext>
            </a:extLst>
          </p:cNvPr>
          <p:cNvSpPr txBox="1"/>
          <p:nvPr/>
        </p:nvSpPr>
        <p:spPr>
          <a:xfrm rot="5400000">
            <a:off x="-345966" y="5327832"/>
            <a:ext cx="226147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err="1"/>
              <a:t>Homoskedascticity</a:t>
            </a:r>
            <a:endParaRPr lang="en-GB" dirty="0" err="1"/>
          </a:p>
        </p:txBody>
      </p:sp>
    </p:spTree>
    <p:extLst>
      <p:ext uri="{BB962C8B-B14F-4D97-AF65-F5344CB8AC3E}">
        <p14:creationId xmlns:p14="http://schemas.microsoft.com/office/powerpoint/2010/main" val="299594823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5070D3-F895-945D-38F8-78E884F05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CF487B-F1A0-6B9E-BEF9-ABB550953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a typeface="Verdana"/>
                <a:cs typeface="Gill Sans"/>
              </a:rPr>
              <a:t>Model summary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CF3972-9E6C-07AE-BE74-3DC917CCD4F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8200" y="934654"/>
            <a:ext cx="10515600" cy="5104579"/>
          </a:xfrm>
        </p:spPr>
        <p:txBody>
          <a:bodyPr vert="horz" lIns="91440" tIns="45720" rIns="91440" bIns="45720" rtlCol="0" anchor="t">
            <a:normAutofit fontScale="92500" lnSpcReduction="20000"/>
          </a:bodyPr>
          <a:lstStyle/>
          <a:p>
            <a:pPr>
              <a:spcBef>
                <a:spcPts val="400"/>
              </a:spcBef>
            </a:pPr>
            <a:r>
              <a:rPr lang="en-US" sz="1800" dirty="0">
                <a:latin typeface="Courier New"/>
                <a:ea typeface="+mn-lt"/>
                <a:cs typeface="+mn-lt"/>
              </a:rPr>
              <a:t>summary(</a:t>
            </a:r>
            <a:r>
              <a:rPr lang="en-US" sz="1800" dirty="0" err="1">
                <a:latin typeface="Courier New"/>
                <a:ea typeface="+mn-lt"/>
                <a:cs typeface="+mn-lt"/>
              </a:rPr>
              <a:t>model_height_age</a:t>
            </a:r>
            <a:r>
              <a:rPr lang="en-US" sz="1800" dirty="0">
                <a:latin typeface="Courier New"/>
                <a:ea typeface="+mn-lt"/>
                <a:cs typeface="+mn-lt"/>
              </a:rPr>
              <a:t>)</a:t>
            </a:r>
            <a:endParaRPr lang="en-US" dirty="0">
              <a:latin typeface="Courier New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r>
              <a:rPr lang="en-US" sz="1800" dirty="0">
                <a:solidFill>
                  <a:srgbClr val="262626"/>
                </a:solidFill>
                <a:latin typeface="Courier New"/>
                <a:ea typeface="+mn-lt"/>
                <a:cs typeface="Courier New"/>
              </a:rPr>
              <a:t>Call:</a:t>
            </a:r>
          </a:p>
          <a:p>
            <a:pPr>
              <a:lnSpc>
                <a:spcPct val="100000"/>
              </a:lnSpc>
              <a:spcBef>
                <a:spcPts val="360"/>
              </a:spcBef>
            </a:pPr>
            <a:r>
              <a:rPr lang="en-US" sz="1800" dirty="0" err="1">
                <a:solidFill>
                  <a:srgbClr val="262626"/>
                </a:solidFill>
                <a:latin typeface="Courier New"/>
                <a:ea typeface="+mn-lt"/>
                <a:cs typeface="Courier New"/>
              </a:rPr>
              <a:t>lm</a:t>
            </a:r>
            <a:r>
              <a:rPr lang="en-US" sz="1800" dirty="0">
                <a:solidFill>
                  <a:srgbClr val="262626"/>
                </a:solidFill>
                <a:latin typeface="Courier New"/>
                <a:ea typeface="+mn-lt"/>
                <a:cs typeface="Courier New"/>
              </a:rPr>
              <a:t>(formula = Height ~ Age, data = </a:t>
            </a:r>
            <a:r>
              <a:rPr lang="en-US" sz="1800" dirty="0" err="1">
                <a:solidFill>
                  <a:srgbClr val="262626"/>
                </a:solidFill>
                <a:latin typeface="Courier New"/>
                <a:ea typeface="+mn-lt"/>
                <a:cs typeface="Courier New"/>
              </a:rPr>
              <a:t>class_data</a:t>
            </a:r>
            <a:r>
              <a:rPr lang="en-US" sz="1800" dirty="0">
                <a:solidFill>
                  <a:srgbClr val="262626"/>
                </a:solidFill>
                <a:latin typeface="Courier New"/>
                <a:ea typeface="+mn-lt"/>
                <a:cs typeface="Courier New"/>
              </a:rPr>
              <a:t>)</a:t>
            </a: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US" sz="1800" dirty="0">
              <a:solidFill>
                <a:srgbClr val="000000"/>
              </a:solidFill>
              <a:latin typeface="Arial"/>
              <a:ea typeface="+mn-lt"/>
              <a:cs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r>
              <a:rPr lang="en-US" sz="1800" dirty="0">
                <a:solidFill>
                  <a:srgbClr val="262626"/>
                </a:solidFill>
                <a:latin typeface="Courier New"/>
                <a:ea typeface="+mn-lt"/>
                <a:cs typeface="Courier New"/>
              </a:rPr>
              <a:t>Residuals:</a:t>
            </a:r>
          </a:p>
          <a:p>
            <a:pPr>
              <a:lnSpc>
                <a:spcPct val="100000"/>
              </a:lnSpc>
              <a:spcBef>
                <a:spcPts val="360"/>
              </a:spcBef>
            </a:pPr>
            <a:r>
              <a:rPr lang="en-US" sz="1800" dirty="0">
                <a:solidFill>
                  <a:srgbClr val="262626"/>
                </a:solidFill>
                <a:latin typeface="Courier New"/>
                <a:ea typeface="+mn-lt"/>
                <a:cs typeface="Courier New"/>
              </a:rPr>
              <a:t>     Min       1Q   Median       3Q      Max </a:t>
            </a:r>
          </a:p>
          <a:p>
            <a:pPr>
              <a:lnSpc>
                <a:spcPct val="100000"/>
              </a:lnSpc>
              <a:spcBef>
                <a:spcPts val="360"/>
              </a:spcBef>
            </a:pPr>
            <a:r>
              <a:rPr lang="en-US" sz="1800" dirty="0">
                <a:solidFill>
                  <a:srgbClr val="262626"/>
                </a:solidFill>
                <a:latin typeface="Courier New"/>
                <a:ea typeface="+mn-lt"/>
                <a:cs typeface="Courier New"/>
              </a:rPr>
              <a:t>-12.5900  -3.5730  -0.0787   3.4900  15.5713 </a:t>
            </a: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US" sz="1800" dirty="0">
              <a:solidFill>
                <a:srgbClr val="000000"/>
              </a:solidFill>
              <a:latin typeface="Arial"/>
              <a:ea typeface="+mn-lt"/>
              <a:cs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r>
              <a:rPr lang="en-US" sz="1800" dirty="0">
                <a:solidFill>
                  <a:srgbClr val="262626"/>
                </a:solidFill>
                <a:latin typeface="Courier New"/>
                <a:ea typeface="+mn-lt"/>
                <a:cs typeface="Courier New"/>
              </a:rPr>
              <a:t>Coefficients:</a:t>
            </a:r>
          </a:p>
          <a:p>
            <a:pPr>
              <a:lnSpc>
                <a:spcPct val="100000"/>
              </a:lnSpc>
              <a:spcBef>
                <a:spcPts val="360"/>
              </a:spcBef>
            </a:pPr>
            <a:r>
              <a:rPr lang="en-US" sz="1800" dirty="0">
                <a:solidFill>
                  <a:srgbClr val="262626"/>
                </a:solidFill>
                <a:latin typeface="Courier New"/>
                <a:ea typeface="+mn-lt"/>
                <a:cs typeface="Courier New"/>
              </a:rPr>
              <a:t>            Estimate Std. Error t value </a:t>
            </a:r>
            <a:r>
              <a:rPr lang="en-US" sz="1800" dirty="0" err="1">
                <a:solidFill>
                  <a:srgbClr val="262626"/>
                </a:solidFill>
                <a:latin typeface="Courier New"/>
                <a:ea typeface="+mn-lt"/>
                <a:cs typeface="Courier New"/>
              </a:rPr>
              <a:t>Pr</a:t>
            </a:r>
            <a:r>
              <a:rPr lang="en-US" sz="1800" dirty="0">
                <a:solidFill>
                  <a:srgbClr val="262626"/>
                </a:solidFill>
                <a:latin typeface="Courier New"/>
                <a:ea typeface="+mn-lt"/>
                <a:cs typeface="Courier New"/>
              </a:rPr>
              <a:t>(&gt;|t|)    </a:t>
            </a:r>
          </a:p>
          <a:p>
            <a:pPr>
              <a:lnSpc>
                <a:spcPct val="100000"/>
              </a:lnSpc>
              <a:spcBef>
                <a:spcPts val="360"/>
              </a:spcBef>
            </a:pPr>
            <a:r>
              <a:rPr lang="en-US" sz="1800" dirty="0">
                <a:solidFill>
                  <a:srgbClr val="262626"/>
                </a:solidFill>
                <a:latin typeface="Courier New"/>
                <a:ea typeface="+mn-lt"/>
                <a:cs typeface="Courier New"/>
              </a:rPr>
              <a:t>(Intercept)   64.069     16.565   3.868  0.00124 ** </a:t>
            </a:r>
          </a:p>
          <a:p>
            <a:pPr>
              <a:lnSpc>
                <a:spcPct val="100000"/>
              </a:lnSpc>
              <a:spcBef>
                <a:spcPts val="360"/>
              </a:spcBef>
            </a:pPr>
            <a:r>
              <a:rPr lang="en-US" sz="1800" dirty="0">
                <a:solidFill>
                  <a:srgbClr val="262626"/>
                </a:solidFill>
                <a:latin typeface="Courier New"/>
                <a:ea typeface="+mn-lt"/>
                <a:cs typeface="Courier New"/>
              </a:rPr>
              <a:t>Age            7.079      1.237   5.724 </a:t>
            </a:r>
            <a:r>
              <a:rPr lang="en-US" sz="1800" b="1" dirty="0">
                <a:latin typeface="Courier New"/>
                <a:ea typeface="+mn-lt"/>
                <a:cs typeface="Courier New"/>
              </a:rPr>
              <a:t>2.48e-05</a:t>
            </a:r>
            <a:r>
              <a:rPr lang="en-US" sz="1800" dirty="0">
                <a:solidFill>
                  <a:srgbClr val="4F81BD"/>
                </a:solidFill>
                <a:latin typeface="Courier New"/>
                <a:ea typeface="+mn-lt"/>
                <a:cs typeface="Courier New"/>
              </a:rPr>
              <a:t> </a:t>
            </a:r>
            <a:r>
              <a:rPr lang="en-US" sz="1800" dirty="0">
                <a:solidFill>
                  <a:srgbClr val="262626"/>
                </a:solidFill>
                <a:latin typeface="Courier New"/>
                <a:ea typeface="+mn-lt"/>
                <a:cs typeface="Courier New"/>
              </a:rPr>
              <a:t>***</a:t>
            </a:r>
          </a:p>
          <a:p>
            <a:pPr>
              <a:lnSpc>
                <a:spcPct val="100000"/>
              </a:lnSpc>
              <a:spcBef>
                <a:spcPts val="360"/>
              </a:spcBef>
            </a:pPr>
            <a:r>
              <a:rPr lang="en-US" sz="1800" dirty="0">
                <a:solidFill>
                  <a:srgbClr val="262626"/>
                </a:solidFill>
                <a:latin typeface="Courier New"/>
                <a:ea typeface="+mn-lt"/>
                <a:cs typeface="Courier New"/>
              </a:rPr>
              <a:t>---</a:t>
            </a:r>
          </a:p>
          <a:p>
            <a:pPr>
              <a:lnSpc>
                <a:spcPct val="100000"/>
              </a:lnSpc>
              <a:spcBef>
                <a:spcPts val="360"/>
              </a:spcBef>
            </a:pPr>
            <a:r>
              <a:rPr lang="en-US" sz="1800" dirty="0" err="1">
                <a:solidFill>
                  <a:srgbClr val="262626"/>
                </a:solidFill>
                <a:latin typeface="Courier New"/>
                <a:ea typeface="+mn-lt"/>
                <a:cs typeface="Courier New"/>
              </a:rPr>
              <a:t>Signif</a:t>
            </a:r>
            <a:r>
              <a:rPr lang="en-US" sz="1800" dirty="0">
                <a:solidFill>
                  <a:srgbClr val="262626"/>
                </a:solidFill>
                <a:latin typeface="Courier New"/>
                <a:ea typeface="+mn-lt"/>
                <a:cs typeface="Courier New"/>
              </a:rPr>
              <a:t>. codes:  0 ‘***’ 0.001 ‘**’ 0.01 ‘*’ 0.05 ‘.’ 0.1 ‘ ’ 1</a:t>
            </a: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US" sz="1800" dirty="0">
              <a:solidFill>
                <a:srgbClr val="000000"/>
              </a:solidFill>
              <a:latin typeface="Arial"/>
              <a:ea typeface="+mn-lt"/>
              <a:cs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r>
              <a:rPr lang="en-US" sz="1800" dirty="0">
                <a:solidFill>
                  <a:srgbClr val="262626"/>
                </a:solidFill>
                <a:latin typeface="Courier New"/>
                <a:ea typeface="+mn-lt"/>
                <a:cs typeface="Courier New"/>
              </a:rPr>
              <a:t>Residual standard error: 7.832 on 17 degrees of freedom</a:t>
            </a:r>
          </a:p>
          <a:p>
            <a:pPr>
              <a:lnSpc>
                <a:spcPct val="100000"/>
              </a:lnSpc>
              <a:spcBef>
                <a:spcPts val="360"/>
              </a:spcBef>
            </a:pPr>
            <a:r>
              <a:rPr lang="en-US" sz="1800" dirty="0">
                <a:solidFill>
                  <a:srgbClr val="262626"/>
                </a:solidFill>
                <a:latin typeface="Courier New"/>
                <a:ea typeface="+mn-lt"/>
                <a:cs typeface="Courier New"/>
              </a:rPr>
              <a:t>Multiple R-squared:  0.6584, Adjusted R-squared:  </a:t>
            </a:r>
            <a:r>
              <a:rPr lang="en-US" sz="1800" b="1" dirty="0">
                <a:solidFill>
                  <a:srgbClr val="262626"/>
                </a:solidFill>
                <a:latin typeface="Courier New"/>
                <a:ea typeface="+mn-lt"/>
                <a:cs typeface="Courier New"/>
              </a:rPr>
              <a:t>0.6383 </a:t>
            </a:r>
          </a:p>
          <a:p>
            <a:pPr>
              <a:lnSpc>
                <a:spcPct val="100000"/>
              </a:lnSpc>
              <a:spcBef>
                <a:spcPts val="360"/>
              </a:spcBef>
            </a:pPr>
            <a:r>
              <a:rPr lang="en-US" sz="1800" dirty="0">
                <a:solidFill>
                  <a:srgbClr val="262626"/>
                </a:solidFill>
                <a:latin typeface="Courier New"/>
                <a:ea typeface="+mn-lt"/>
                <a:cs typeface="Courier New"/>
              </a:rPr>
              <a:t>F-statistic: 32.77 on 1 and 17 DF,  p-value: </a:t>
            </a:r>
            <a:r>
              <a:rPr lang="en-US" sz="1800" b="1" dirty="0">
                <a:latin typeface="Courier New"/>
                <a:ea typeface="+mn-lt"/>
                <a:cs typeface="Courier New"/>
              </a:rPr>
              <a:t>2.48e-05</a:t>
            </a:r>
          </a:p>
        </p:txBody>
      </p:sp>
    </p:spTree>
    <p:extLst>
      <p:ext uri="{BB962C8B-B14F-4D97-AF65-F5344CB8AC3E}">
        <p14:creationId xmlns:p14="http://schemas.microsoft.com/office/powerpoint/2010/main" val="394284620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75429-8023-258D-B6D6-FC451C95F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9DFDC-EEEB-AE66-1D8C-435A46BA93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a typeface="Verdana"/>
                <a:cs typeface="Gill Sans"/>
              </a:rPr>
              <a:t>Model summary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83F950-6326-BAB6-0690-3239AD9041E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8200" y="934654"/>
            <a:ext cx="10515600" cy="5104579"/>
          </a:xfrm>
        </p:spPr>
        <p:txBody>
          <a:bodyPr vert="horz" lIns="91440" tIns="45720" rIns="91440" bIns="45720" rtlCol="0" anchor="t">
            <a:normAutofit fontScale="92500" lnSpcReduction="20000"/>
          </a:bodyPr>
          <a:lstStyle/>
          <a:p>
            <a:pPr>
              <a:spcBef>
                <a:spcPts val="400"/>
              </a:spcBef>
            </a:pPr>
            <a:r>
              <a:rPr lang="en-US" sz="1800" dirty="0">
                <a:latin typeface="Courier New"/>
                <a:ea typeface="+mn-lt"/>
                <a:cs typeface="+mn-lt"/>
              </a:rPr>
              <a:t>summary(</a:t>
            </a:r>
            <a:r>
              <a:rPr lang="en-US" sz="1800" dirty="0" err="1">
                <a:latin typeface="Courier New"/>
                <a:ea typeface="+mn-lt"/>
                <a:cs typeface="+mn-lt"/>
              </a:rPr>
              <a:t>model_height_age</a:t>
            </a:r>
            <a:r>
              <a:rPr lang="en-US" sz="1800" dirty="0">
                <a:latin typeface="Courier New"/>
                <a:ea typeface="+mn-lt"/>
                <a:cs typeface="+mn-lt"/>
              </a:rPr>
              <a:t>)</a:t>
            </a:r>
            <a:endParaRPr lang="en-US" dirty="0">
              <a:latin typeface="Courier New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r>
              <a:rPr lang="en-US" sz="1800" dirty="0">
                <a:solidFill>
                  <a:srgbClr val="262626"/>
                </a:solidFill>
                <a:latin typeface="Courier New"/>
                <a:ea typeface="+mn-lt"/>
                <a:cs typeface="Courier New"/>
              </a:rPr>
              <a:t>Call:</a:t>
            </a:r>
          </a:p>
          <a:p>
            <a:pPr>
              <a:lnSpc>
                <a:spcPct val="100000"/>
              </a:lnSpc>
              <a:spcBef>
                <a:spcPts val="360"/>
              </a:spcBef>
            </a:pPr>
            <a:r>
              <a:rPr lang="en-US" sz="1800" dirty="0" err="1">
                <a:solidFill>
                  <a:srgbClr val="262626"/>
                </a:solidFill>
                <a:latin typeface="Courier New"/>
                <a:ea typeface="+mn-lt"/>
                <a:cs typeface="Courier New"/>
              </a:rPr>
              <a:t>lm</a:t>
            </a:r>
            <a:r>
              <a:rPr lang="en-US" sz="1800" dirty="0">
                <a:solidFill>
                  <a:srgbClr val="262626"/>
                </a:solidFill>
                <a:latin typeface="Courier New"/>
                <a:ea typeface="+mn-lt"/>
                <a:cs typeface="Courier New"/>
              </a:rPr>
              <a:t>(formula = Height ~ Age, data = </a:t>
            </a:r>
            <a:r>
              <a:rPr lang="en-US" sz="1800" dirty="0" err="1">
                <a:solidFill>
                  <a:srgbClr val="262626"/>
                </a:solidFill>
                <a:latin typeface="Courier New"/>
                <a:ea typeface="+mn-lt"/>
                <a:cs typeface="Courier New"/>
              </a:rPr>
              <a:t>class_data</a:t>
            </a:r>
            <a:r>
              <a:rPr lang="en-US" sz="1800" dirty="0">
                <a:solidFill>
                  <a:srgbClr val="262626"/>
                </a:solidFill>
                <a:latin typeface="Courier New"/>
                <a:ea typeface="+mn-lt"/>
                <a:cs typeface="Courier New"/>
              </a:rPr>
              <a:t>)</a:t>
            </a: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US" sz="1800" dirty="0">
              <a:solidFill>
                <a:srgbClr val="000000"/>
              </a:solidFill>
              <a:latin typeface="Arial"/>
              <a:ea typeface="+mn-lt"/>
              <a:cs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r>
              <a:rPr lang="en-US" sz="1800" dirty="0">
                <a:solidFill>
                  <a:srgbClr val="262626"/>
                </a:solidFill>
                <a:latin typeface="Courier New"/>
                <a:ea typeface="+mn-lt"/>
                <a:cs typeface="Courier New"/>
              </a:rPr>
              <a:t>Residuals:</a:t>
            </a:r>
          </a:p>
          <a:p>
            <a:pPr>
              <a:lnSpc>
                <a:spcPct val="100000"/>
              </a:lnSpc>
              <a:spcBef>
                <a:spcPts val="360"/>
              </a:spcBef>
            </a:pPr>
            <a:r>
              <a:rPr lang="en-US" sz="1800" dirty="0">
                <a:solidFill>
                  <a:srgbClr val="262626"/>
                </a:solidFill>
                <a:latin typeface="Courier New"/>
                <a:ea typeface="+mn-lt"/>
                <a:cs typeface="Courier New"/>
              </a:rPr>
              <a:t>     Min       1Q   Median       3Q      Max </a:t>
            </a:r>
          </a:p>
          <a:p>
            <a:pPr>
              <a:lnSpc>
                <a:spcPct val="100000"/>
              </a:lnSpc>
              <a:spcBef>
                <a:spcPts val="360"/>
              </a:spcBef>
            </a:pPr>
            <a:r>
              <a:rPr lang="en-US" sz="1800" dirty="0">
                <a:solidFill>
                  <a:srgbClr val="262626"/>
                </a:solidFill>
                <a:latin typeface="Courier New"/>
                <a:ea typeface="+mn-lt"/>
                <a:cs typeface="Courier New"/>
              </a:rPr>
              <a:t>-12.5900  -3.5730  -0.0787   3.4900  15.5713 </a:t>
            </a: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US" sz="1800" dirty="0">
              <a:solidFill>
                <a:srgbClr val="000000"/>
              </a:solidFill>
              <a:latin typeface="Arial"/>
              <a:ea typeface="+mn-lt"/>
              <a:cs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r>
              <a:rPr lang="en-US" sz="1800" dirty="0">
                <a:solidFill>
                  <a:srgbClr val="262626"/>
                </a:solidFill>
                <a:latin typeface="Courier New"/>
                <a:ea typeface="+mn-lt"/>
                <a:cs typeface="Courier New"/>
              </a:rPr>
              <a:t>Coefficients:</a:t>
            </a:r>
          </a:p>
          <a:p>
            <a:pPr>
              <a:lnSpc>
                <a:spcPct val="100000"/>
              </a:lnSpc>
              <a:spcBef>
                <a:spcPts val="360"/>
              </a:spcBef>
            </a:pPr>
            <a:r>
              <a:rPr lang="en-US" sz="1800" dirty="0">
                <a:solidFill>
                  <a:srgbClr val="262626"/>
                </a:solidFill>
                <a:latin typeface="Courier New"/>
                <a:ea typeface="+mn-lt"/>
                <a:cs typeface="Courier New"/>
              </a:rPr>
              <a:t>            Estimate Std. Error t value </a:t>
            </a:r>
            <a:r>
              <a:rPr lang="en-US" sz="1800" dirty="0" err="1">
                <a:solidFill>
                  <a:srgbClr val="262626"/>
                </a:solidFill>
                <a:latin typeface="Courier New"/>
                <a:ea typeface="+mn-lt"/>
                <a:cs typeface="Courier New"/>
              </a:rPr>
              <a:t>Pr</a:t>
            </a:r>
            <a:r>
              <a:rPr lang="en-US" sz="1800" dirty="0">
                <a:solidFill>
                  <a:srgbClr val="262626"/>
                </a:solidFill>
                <a:latin typeface="Courier New"/>
                <a:ea typeface="+mn-lt"/>
                <a:cs typeface="Courier New"/>
              </a:rPr>
              <a:t>(&gt;|t|)    </a:t>
            </a:r>
          </a:p>
          <a:p>
            <a:pPr>
              <a:lnSpc>
                <a:spcPct val="100000"/>
              </a:lnSpc>
              <a:spcBef>
                <a:spcPts val="360"/>
              </a:spcBef>
            </a:pPr>
            <a:r>
              <a:rPr lang="en-US" sz="1800" dirty="0">
                <a:solidFill>
                  <a:srgbClr val="262626"/>
                </a:solidFill>
                <a:latin typeface="Courier New"/>
                <a:ea typeface="+mn-lt"/>
                <a:cs typeface="Courier New"/>
              </a:rPr>
              <a:t>(Intercept)   64.069     16.565   3.868  0.00124 ** </a:t>
            </a:r>
          </a:p>
          <a:p>
            <a:pPr>
              <a:lnSpc>
                <a:spcPct val="100000"/>
              </a:lnSpc>
              <a:spcBef>
                <a:spcPts val="360"/>
              </a:spcBef>
            </a:pPr>
            <a:r>
              <a:rPr lang="en-US" sz="1800" dirty="0">
                <a:solidFill>
                  <a:srgbClr val="262626"/>
                </a:solidFill>
                <a:latin typeface="Courier New"/>
                <a:ea typeface="+mn-lt"/>
                <a:cs typeface="Courier New"/>
              </a:rPr>
              <a:t>Age            7.079      1.237   5.724 </a:t>
            </a:r>
            <a:r>
              <a:rPr lang="en-US" sz="1800" b="1" dirty="0">
                <a:latin typeface="Courier New"/>
                <a:ea typeface="+mn-lt"/>
                <a:cs typeface="Courier New"/>
              </a:rPr>
              <a:t>2.48e-05</a:t>
            </a:r>
            <a:r>
              <a:rPr lang="en-US" sz="1800" dirty="0">
                <a:solidFill>
                  <a:srgbClr val="4F81BD"/>
                </a:solidFill>
                <a:latin typeface="Courier New"/>
                <a:ea typeface="+mn-lt"/>
                <a:cs typeface="Courier New"/>
              </a:rPr>
              <a:t> </a:t>
            </a:r>
            <a:r>
              <a:rPr lang="en-US" sz="1800" dirty="0">
                <a:solidFill>
                  <a:srgbClr val="262626"/>
                </a:solidFill>
                <a:latin typeface="Courier New"/>
                <a:ea typeface="+mn-lt"/>
                <a:cs typeface="Courier New"/>
              </a:rPr>
              <a:t>***</a:t>
            </a:r>
          </a:p>
          <a:p>
            <a:pPr>
              <a:lnSpc>
                <a:spcPct val="100000"/>
              </a:lnSpc>
              <a:spcBef>
                <a:spcPts val="360"/>
              </a:spcBef>
            </a:pPr>
            <a:r>
              <a:rPr lang="en-US" sz="1800" dirty="0">
                <a:solidFill>
                  <a:srgbClr val="262626"/>
                </a:solidFill>
                <a:latin typeface="Courier New"/>
                <a:ea typeface="+mn-lt"/>
                <a:cs typeface="Courier New"/>
              </a:rPr>
              <a:t>---</a:t>
            </a:r>
          </a:p>
          <a:p>
            <a:pPr>
              <a:lnSpc>
                <a:spcPct val="100000"/>
              </a:lnSpc>
              <a:spcBef>
                <a:spcPts val="360"/>
              </a:spcBef>
            </a:pPr>
            <a:r>
              <a:rPr lang="en-US" sz="1800" dirty="0" err="1">
                <a:solidFill>
                  <a:srgbClr val="262626"/>
                </a:solidFill>
                <a:latin typeface="Courier New"/>
                <a:ea typeface="+mn-lt"/>
                <a:cs typeface="Courier New"/>
              </a:rPr>
              <a:t>Signif</a:t>
            </a:r>
            <a:r>
              <a:rPr lang="en-US" sz="1800" dirty="0">
                <a:solidFill>
                  <a:srgbClr val="262626"/>
                </a:solidFill>
                <a:latin typeface="Courier New"/>
                <a:ea typeface="+mn-lt"/>
                <a:cs typeface="Courier New"/>
              </a:rPr>
              <a:t>. codes:  0 ‘***’ 0.001 ‘**’ 0.01 ‘*’ 0.05 ‘.’ 0.1 ‘ ’ 1</a:t>
            </a: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US" sz="1800" dirty="0">
              <a:solidFill>
                <a:srgbClr val="000000"/>
              </a:solidFill>
              <a:latin typeface="Arial"/>
              <a:ea typeface="+mn-lt"/>
              <a:cs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r>
              <a:rPr lang="en-US" sz="1800" dirty="0">
                <a:solidFill>
                  <a:srgbClr val="262626"/>
                </a:solidFill>
                <a:latin typeface="Courier New"/>
                <a:ea typeface="+mn-lt"/>
                <a:cs typeface="Courier New"/>
              </a:rPr>
              <a:t>Residual standard error: 7.832 on 17 degrees of freedom</a:t>
            </a:r>
          </a:p>
          <a:p>
            <a:pPr>
              <a:lnSpc>
                <a:spcPct val="100000"/>
              </a:lnSpc>
              <a:spcBef>
                <a:spcPts val="360"/>
              </a:spcBef>
            </a:pPr>
            <a:r>
              <a:rPr lang="en-US" sz="1800" dirty="0">
                <a:solidFill>
                  <a:srgbClr val="262626"/>
                </a:solidFill>
                <a:latin typeface="Courier New"/>
                <a:ea typeface="+mn-lt"/>
                <a:cs typeface="Courier New"/>
              </a:rPr>
              <a:t>Multiple R-squared:  0.6584, Adjusted R-squared:  </a:t>
            </a:r>
            <a:r>
              <a:rPr lang="en-US" sz="1800" b="1" dirty="0">
                <a:solidFill>
                  <a:srgbClr val="262626"/>
                </a:solidFill>
                <a:latin typeface="Courier New"/>
                <a:ea typeface="+mn-lt"/>
                <a:cs typeface="Courier New"/>
              </a:rPr>
              <a:t>0.6383 </a:t>
            </a:r>
          </a:p>
          <a:p>
            <a:pPr>
              <a:lnSpc>
                <a:spcPct val="100000"/>
              </a:lnSpc>
              <a:spcBef>
                <a:spcPts val="360"/>
              </a:spcBef>
            </a:pPr>
            <a:r>
              <a:rPr lang="en-US" sz="1800" dirty="0">
                <a:solidFill>
                  <a:srgbClr val="262626"/>
                </a:solidFill>
                <a:latin typeface="Courier New"/>
                <a:ea typeface="+mn-lt"/>
                <a:cs typeface="Courier New"/>
              </a:rPr>
              <a:t>F-statistic: 32.77 on 1 and 17 DF,  p-value: </a:t>
            </a:r>
            <a:r>
              <a:rPr lang="en-US" sz="1800" b="1" dirty="0">
                <a:latin typeface="Courier New"/>
                <a:ea typeface="+mn-lt"/>
                <a:cs typeface="Courier New"/>
              </a:rPr>
              <a:t>2.48e-05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2F86AAB-3F49-B694-C653-6ADED12A5274}"/>
              </a:ext>
            </a:extLst>
          </p:cNvPr>
          <p:cNvSpPr/>
          <p:nvPr/>
        </p:nvSpPr>
        <p:spPr>
          <a:xfrm>
            <a:off x="642395" y="1891496"/>
            <a:ext cx="6267690" cy="827589"/>
          </a:xfrm>
          <a:prstGeom prst="round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6DF0967-BF73-A9B3-447D-82F49B110A70}"/>
              </a:ext>
            </a:extLst>
          </p:cNvPr>
          <p:cNvSpPr/>
          <p:nvPr/>
        </p:nvSpPr>
        <p:spPr>
          <a:xfrm>
            <a:off x="642394" y="2875344"/>
            <a:ext cx="8505462" cy="1608880"/>
          </a:xfrm>
          <a:prstGeom prst="round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66D494D-B11B-7ECB-CDAF-125041CF29C6}"/>
              </a:ext>
            </a:extLst>
          </p:cNvPr>
          <p:cNvSpPr/>
          <p:nvPr/>
        </p:nvSpPr>
        <p:spPr>
          <a:xfrm>
            <a:off x="642393" y="4871977"/>
            <a:ext cx="7608426" cy="258500"/>
          </a:xfrm>
          <a:prstGeom prst="round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68C2B4A-A66C-B983-E386-E088DDC5047B}"/>
              </a:ext>
            </a:extLst>
          </p:cNvPr>
          <p:cNvSpPr/>
          <p:nvPr/>
        </p:nvSpPr>
        <p:spPr>
          <a:xfrm>
            <a:off x="642392" y="5132406"/>
            <a:ext cx="7222602" cy="287437"/>
          </a:xfrm>
          <a:prstGeom prst="round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4BCA30-46BC-492F-0ECE-009FBAE9D182}"/>
              </a:ext>
            </a:extLst>
          </p:cNvPr>
          <p:cNvSpPr txBox="1"/>
          <p:nvPr/>
        </p:nvSpPr>
        <p:spPr>
          <a:xfrm>
            <a:off x="7021974" y="1851949"/>
            <a:ext cx="497132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dirty="0"/>
              <a:t>Residuals: difference between observed and fitted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3818B5-4D55-9D25-19D5-06501F3AD7D0}"/>
              </a:ext>
            </a:extLst>
          </p:cNvPr>
          <p:cNvSpPr txBox="1"/>
          <p:nvPr/>
        </p:nvSpPr>
        <p:spPr>
          <a:xfrm>
            <a:off x="9143998" y="2874379"/>
            <a:ext cx="2993984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dirty="0"/>
              <a:t>Parameter significance: </a:t>
            </a:r>
          </a:p>
          <a:p>
            <a:pPr marL="285750" indent="-285750">
              <a:buFont typeface="Arial"/>
              <a:buChar char="•"/>
            </a:pPr>
            <a:r>
              <a:rPr lang="en-GB" dirty="0"/>
              <a:t>T-test</a:t>
            </a:r>
          </a:p>
          <a:p>
            <a:pPr marL="285750" indent="-285750">
              <a:buFont typeface="Arial"/>
              <a:buChar char="•"/>
            </a:pPr>
            <a:r>
              <a:rPr lang="en-GB" dirty="0"/>
              <a:t>Residual normality assumption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BC48F3-D736-9271-2FE1-4E2BBDA3ED64}"/>
              </a:ext>
            </a:extLst>
          </p:cNvPr>
          <p:cNvSpPr txBox="1"/>
          <p:nvPr/>
        </p:nvSpPr>
        <p:spPr>
          <a:xfrm>
            <a:off x="8324125" y="4678100"/>
            <a:ext cx="3582363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dirty="0"/>
              <a:t>R-squared : fraction of the variance explained by the model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F8016D4-0F6A-5973-E8F9-7A6F8B6D4F2B}"/>
              </a:ext>
            </a:extLst>
          </p:cNvPr>
          <p:cNvSpPr txBox="1"/>
          <p:nvPr/>
        </p:nvSpPr>
        <p:spPr>
          <a:xfrm>
            <a:off x="646251" y="5575137"/>
            <a:ext cx="5289628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b="1" dirty="0"/>
              <a:t>F-test</a:t>
            </a:r>
            <a:r>
              <a:rPr lang="en-GB" dirty="0"/>
              <a:t>: does the model explain significantly more than a model with just the intercept?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386785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6E5C1-BDEB-4748-E82A-24B5D8074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0705A2-CCCB-48E4-52F8-8161497871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991" y="318882"/>
            <a:ext cx="5719843" cy="1168976"/>
          </a:xfrm>
        </p:spPr>
        <p:txBody>
          <a:bodyPr/>
          <a:lstStyle/>
          <a:p>
            <a:r>
              <a:rPr lang="en-GB" dirty="0">
                <a:ea typeface="Verdana"/>
              </a:rPr>
              <a:t>Let's practice - 11</a:t>
            </a:r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43E71F-357E-7657-6702-6ED3B70A0208}"/>
              </a:ext>
            </a:extLst>
          </p:cNvPr>
          <p:cNvSpPr txBox="1"/>
          <p:nvPr/>
        </p:nvSpPr>
        <p:spPr>
          <a:xfrm>
            <a:off x="674413" y="1182414"/>
            <a:ext cx="10098689" cy="58810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90000"/>
              </a:lnSpc>
              <a:spcBef>
                <a:spcPts val="1001"/>
              </a:spcBef>
            </a:pPr>
            <a:r>
              <a:rPr lang="en-US" sz="2000" dirty="0">
                <a:solidFill>
                  <a:srgbClr val="000000"/>
                </a:solidFill>
                <a:ea typeface="+mn-lt"/>
                <a:cs typeface="+mn-lt"/>
              </a:rPr>
              <a:t>The data set "Pima" comes from a study on diabetes in women of Pima Indian heritage. </a:t>
            </a:r>
            <a:endParaRPr lang="en-US"/>
          </a:p>
          <a:p>
            <a:pPr>
              <a:lnSpc>
                <a:spcPct val="90000"/>
              </a:lnSpc>
              <a:spcBef>
                <a:spcPts val="1001"/>
              </a:spcBef>
            </a:pPr>
            <a:r>
              <a:rPr lang="en-US" sz="2000" dirty="0">
                <a:solidFill>
                  <a:srgbClr val="000000"/>
                </a:solidFill>
                <a:ea typeface="+mn-lt"/>
                <a:cs typeface="+mn-lt"/>
              </a:rPr>
              <a:t>We are using a subset (Pima.tr).</a:t>
            </a:r>
            <a:endParaRPr lang="en-US" dirty="0"/>
          </a:p>
          <a:p>
            <a:pPr marL="457200" indent="-457200">
              <a:lnSpc>
                <a:spcPct val="90000"/>
              </a:lnSpc>
              <a:spcBef>
                <a:spcPts val="2401"/>
              </a:spcBef>
              <a:buAutoNum type="arabicPeriod"/>
            </a:pPr>
            <a:r>
              <a:rPr lang="en-US" sz="2000" dirty="0">
                <a:solidFill>
                  <a:srgbClr val="000000"/>
                </a:solidFill>
                <a:ea typeface="+mn-lt"/>
                <a:cs typeface="+mn-lt"/>
              </a:rPr>
              <a:t> Load the package MASS using library(). Load the dataset Pima.tr using data(Pima.tr). Use ? to get an idea which variables it contains.</a:t>
            </a:r>
          </a:p>
          <a:p>
            <a:pPr marL="457200" indent="-457200">
              <a:lnSpc>
                <a:spcPct val="90000"/>
              </a:lnSpc>
              <a:spcBef>
                <a:spcPts val="2401"/>
              </a:spcBef>
              <a:buAutoNum type="arabicPeriod"/>
            </a:pPr>
            <a:r>
              <a:rPr lang="en-US" sz="2000" dirty="0">
                <a:solidFill>
                  <a:srgbClr val="000000"/>
                </a:solidFill>
                <a:ea typeface="+mn-lt"/>
                <a:cs typeface="+mn-lt"/>
              </a:rPr>
              <a:t>Hypothesis: Blood glucose level (</a:t>
            </a:r>
            <a:r>
              <a:rPr lang="en-US" sz="2000" dirty="0" err="1">
                <a:solidFill>
                  <a:srgbClr val="000000"/>
                </a:solidFill>
                <a:ea typeface="+mn-lt"/>
                <a:cs typeface="+mn-lt"/>
              </a:rPr>
              <a:t>glu</a:t>
            </a:r>
            <a:r>
              <a:rPr lang="en-US" sz="2000" dirty="0">
                <a:solidFill>
                  <a:srgbClr val="000000"/>
                </a:solidFill>
                <a:ea typeface="+mn-lt"/>
                <a:cs typeface="+mn-lt"/>
              </a:rPr>
              <a:t>) is associated with diastolic blood pressure (bp). Run a linear model to test the hypothesis.</a:t>
            </a:r>
          </a:p>
          <a:p>
            <a:pPr marL="457200" indent="-457200">
              <a:lnSpc>
                <a:spcPct val="90000"/>
              </a:lnSpc>
              <a:spcBef>
                <a:spcPts val="2401"/>
              </a:spcBef>
              <a:buAutoNum type="arabicPeriod"/>
            </a:pPr>
            <a:r>
              <a:rPr lang="en-US" sz="2000" dirty="0">
                <a:solidFill>
                  <a:srgbClr val="000000"/>
                </a:solidFill>
                <a:ea typeface="+mn-lt"/>
                <a:cs typeface="+mn-lt"/>
              </a:rPr>
              <a:t> Visualize the fit with a scatter plot and a trend line.</a:t>
            </a:r>
          </a:p>
          <a:p>
            <a:pPr marL="457200" indent="-457200">
              <a:lnSpc>
                <a:spcPct val="90000"/>
              </a:lnSpc>
              <a:spcBef>
                <a:spcPts val="2401"/>
              </a:spcBef>
              <a:buAutoNum type="arabicPeriod"/>
            </a:pPr>
            <a:r>
              <a:rPr lang="en-US" sz="2000" dirty="0">
                <a:solidFill>
                  <a:srgbClr val="000000"/>
                </a:solidFill>
                <a:ea typeface="+mn-lt"/>
                <a:cs typeface="+mn-lt"/>
              </a:rPr>
              <a:t> Check assumptions of the model (homoscedasticity, mean of residual at 0, normality of the residuals) graphically.</a:t>
            </a:r>
          </a:p>
          <a:p>
            <a:pPr marL="457200" indent="-457200">
              <a:lnSpc>
                <a:spcPct val="90000"/>
              </a:lnSpc>
              <a:spcBef>
                <a:spcPts val="1001"/>
              </a:spcBef>
              <a:buAutoNum type="arabicPeriod"/>
            </a:pPr>
            <a:endParaRPr lang="en-US" sz="2000" dirty="0">
              <a:solidFill>
                <a:srgbClr val="000000"/>
              </a:solidFill>
              <a:latin typeface="Arial"/>
              <a:cs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</a:pPr>
            <a:r>
              <a:rPr lang="en-US" sz="2000" b="1" dirty="0">
                <a:solidFill>
                  <a:srgbClr val="000000"/>
                </a:solidFill>
                <a:latin typeface="Arial"/>
                <a:cs typeface="Arial"/>
              </a:rPr>
              <a:t>EXTRA TASKS:</a:t>
            </a:r>
          </a:p>
          <a:p>
            <a:pPr>
              <a:lnSpc>
                <a:spcPct val="90000"/>
              </a:lnSpc>
              <a:spcBef>
                <a:spcPts val="1001"/>
              </a:spcBef>
            </a:pPr>
            <a:r>
              <a:rPr lang="en-US" sz="2000" dirty="0">
                <a:solidFill>
                  <a:srgbClr val="000000"/>
                </a:solidFill>
                <a:latin typeface="Arial"/>
                <a:cs typeface="Arial"/>
              </a:rPr>
              <a:t>Look up in the next slides how you can run a </a:t>
            </a:r>
            <a:r>
              <a:rPr lang="en-US" sz="2000" err="1">
                <a:solidFill>
                  <a:srgbClr val="000000"/>
                </a:solidFill>
                <a:latin typeface="Arial"/>
                <a:cs typeface="Arial"/>
              </a:rPr>
              <a:t>muliple</a:t>
            </a:r>
            <a:r>
              <a:rPr lang="en-US" sz="2000" dirty="0">
                <a:solidFill>
                  <a:srgbClr val="000000"/>
                </a:solidFill>
                <a:latin typeface="Arial"/>
                <a:cs typeface="Arial"/>
              </a:rPr>
              <a:t> regression. Do the same for the Pima.tr data by adding a couple of covariables to the model.</a:t>
            </a:r>
          </a:p>
          <a:p>
            <a:pPr>
              <a:lnSpc>
                <a:spcPct val="90000"/>
              </a:lnSpc>
              <a:spcBef>
                <a:spcPts val="1349"/>
              </a:spcBef>
              <a:spcAft>
                <a:spcPts val="850"/>
              </a:spcAft>
            </a:pPr>
            <a:endParaRPr lang="en-US" sz="2000" dirty="0">
              <a:solidFill>
                <a:srgbClr val="26262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334143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E8B4FBB-AAE4-5CD6-5B90-29D7721DF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86DF16-690E-E689-42A0-6E2FDF98D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a typeface="Verdana"/>
                <a:cs typeface="Gill Sans"/>
              </a:rPr>
              <a:t>Additional content : model with 2 covariables (I)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D1D7E4-F1FC-C784-8486-20986694F91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8200" y="934654"/>
            <a:ext cx="10515600" cy="5104579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1800" dirty="0">
                <a:latin typeface="Courier New"/>
                <a:ea typeface="+mn-lt"/>
                <a:cs typeface="+mn-lt"/>
              </a:rPr>
              <a:t>model2 &lt;- </a:t>
            </a:r>
            <a:r>
              <a:rPr lang="en-US" sz="1800" err="1">
                <a:latin typeface="Courier New"/>
                <a:ea typeface="+mn-lt"/>
                <a:cs typeface="+mn-lt"/>
              </a:rPr>
              <a:t>lm</a:t>
            </a:r>
            <a:r>
              <a:rPr lang="en-US" sz="1800" dirty="0">
                <a:latin typeface="Courier New"/>
                <a:ea typeface="+mn-lt"/>
                <a:cs typeface="+mn-lt"/>
              </a:rPr>
              <a:t>(</a:t>
            </a:r>
            <a:r>
              <a:rPr lang="en-US" sz="1800" b="1" err="1">
                <a:latin typeface="Courier New"/>
                <a:ea typeface="+mn-lt"/>
                <a:cs typeface="+mn-lt"/>
              </a:rPr>
              <a:t>Height~Age+Gender</a:t>
            </a:r>
            <a:r>
              <a:rPr lang="en-US" sz="1800" dirty="0">
                <a:latin typeface="Courier New"/>
                <a:ea typeface="+mn-lt"/>
                <a:cs typeface="+mn-lt"/>
              </a:rPr>
              <a:t>, data=</a:t>
            </a:r>
            <a:r>
              <a:rPr lang="en-US" sz="1800" err="1">
                <a:latin typeface="Courier New"/>
                <a:ea typeface="+mn-lt"/>
                <a:cs typeface="+mn-lt"/>
              </a:rPr>
              <a:t>class_data</a:t>
            </a:r>
            <a:r>
              <a:rPr lang="en-US" sz="1800" dirty="0">
                <a:latin typeface="Courier New"/>
                <a:ea typeface="+mn-lt"/>
                <a:cs typeface="+mn-lt"/>
              </a:rPr>
              <a:t>)</a:t>
            </a:r>
            <a:endParaRPr lang="en-US">
              <a:latin typeface="Courier New"/>
            </a:endParaRPr>
          </a:p>
          <a:p>
            <a:r>
              <a:rPr lang="en-US" sz="1800" dirty="0">
                <a:latin typeface="Courier New"/>
                <a:ea typeface="+mn-lt"/>
                <a:cs typeface="+mn-lt"/>
              </a:rPr>
              <a:t>par(</a:t>
            </a:r>
            <a:r>
              <a:rPr lang="en-US" sz="1800" dirty="0" err="1">
                <a:latin typeface="Courier New"/>
                <a:ea typeface="+mn-lt"/>
                <a:cs typeface="+mn-lt"/>
              </a:rPr>
              <a:t>mfrow</a:t>
            </a:r>
            <a:r>
              <a:rPr lang="en-US" sz="1800" dirty="0">
                <a:latin typeface="Courier New"/>
                <a:ea typeface="+mn-lt"/>
                <a:cs typeface="+mn-lt"/>
              </a:rPr>
              <a:t>=c(2,2))</a:t>
            </a:r>
            <a:endParaRPr lang="en-US" dirty="0">
              <a:latin typeface="Courier New"/>
            </a:endParaRPr>
          </a:p>
          <a:p>
            <a:r>
              <a:rPr lang="en-US" sz="1800" dirty="0">
                <a:latin typeface="Courier New"/>
                <a:ea typeface="+mn-lt"/>
                <a:cs typeface="+mn-lt"/>
              </a:rPr>
              <a:t>plot(model2)</a:t>
            </a:r>
            <a:endParaRPr lang="en-US" sz="1800" b="1" dirty="0">
              <a:latin typeface="Courier New"/>
              <a:ea typeface="+mn-lt"/>
              <a:cs typeface="Courier New"/>
            </a:endParaRPr>
          </a:p>
        </p:txBody>
      </p:sp>
      <p:pic>
        <p:nvPicPr>
          <p:cNvPr id="5" name="Picture 4" descr="A group of graphs showing different values&#10;&#10;Description automatically generated">
            <a:extLst>
              <a:ext uri="{FF2B5EF4-FFF2-40B4-BE49-F238E27FC236}">
                <a16:creationId xmlns:a16="http://schemas.microsoft.com/office/drawing/2014/main" id="{B23AE3BB-389B-1C20-CD4C-F007C186B9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6684" y="1971474"/>
            <a:ext cx="8960734" cy="4882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268961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82C7993-1423-57DC-65DD-083FD4487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D4526B-ECAD-3FC6-D728-F3E8DB786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a typeface="Verdana"/>
                <a:cs typeface="Gill Sans"/>
              </a:rPr>
              <a:t>Additional content : model with 2 covariables (II)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D7E2FB-F68B-DDCB-40CF-21590B15B15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8200" y="934654"/>
            <a:ext cx="10515600" cy="5664022"/>
          </a:xfrm>
        </p:spPr>
        <p:txBody>
          <a:bodyPr vert="horz" lIns="91440" tIns="45720" rIns="91440" bIns="45720" rtlCol="0" anchor="t">
            <a:normAutofit fontScale="85000" lnSpcReduction="20000"/>
          </a:bodyPr>
          <a:lstStyle/>
          <a:p>
            <a:r>
              <a:rPr lang="en-US" sz="1800">
                <a:latin typeface="Courier New"/>
                <a:ea typeface="+mn-lt"/>
                <a:cs typeface="+mn-lt"/>
              </a:rPr>
              <a:t>summary( model2 )</a:t>
            </a:r>
          </a:p>
          <a:p>
            <a:r>
              <a:rPr lang="en-US" sz="1800">
                <a:latin typeface="Courier New"/>
                <a:ea typeface="+mn-lt"/>
                <a:cs typeface="+mn-lt"/>
              </a:rPr>
              <a:t>Call:</a:t>
            </a:r>
            <a:endParaRPr lang="en-US">
              <a:latin typeface="Courier New"/>
            </a:endParaRPr>
          </a:p>
          <a:p>
            <a:r>
              <a:rPr lang="en-US" sz="1800" err="1">
                <a:latin typeface="Courier New"/>
                <a:ea typeface="+mn-lt"/>
                <a:cs typeface="+mn-lt"/>
              </a:rPr>
              <a:t>lm</a:t>
            </a:r>
            <a:r>
              <a:rPr lang="en-US" sz="1800" dirty="0">
                <a:latin typeface="Courier New"/>
                <a:ea typeface="+mn-lt"/>
                <a:cs typeface="+mn-lt"/>
              </a:rPr>
              <a:t>(formula = Height ~ Age + Gender, data = </a:t>
            </a:r>
            <a:r>
              <a:rPr lang="en-US" sz="1800" err="1">
                <a:latin typeface="Courier New"/>
                <a:ea typeface="+mn-lt"/>
                <a:cs typeface="+mn-lt"/>
              </a:rPr>
              <a:t>class_data</a:t>
            </a:r>
            <a:r>
              <a:rPr lang="en-US" sz="1800" dirty="0">
                <a:latin typeface="Courier New"/>
                <a:ea typeface="+mn-lt"/>
                <a:cs typeface="+mn-lt"/>
              </a:rPr>
              <a:t>)</a:t>
            </a:r>
            <a:endParaRPr lang="en-US" dirty="0">
              <a:latin typeface="Courier New"/>
            </a:endParaRPr>
          </a:p>
          <a:p>
            <a:endParaRPr lang="en-US" dirty="0">
              <a:latin typeface="Courier New"/>
            </a:endParaRPr>
          </a:p>
          <a:p>
            <a:r>
              <a:rPr lang="en-US" sz="1800" dirty="0">
                <a:latin typeface="Courier New"/>
                <a:ea typeface="+mn-lt"/>
                <a:cs typeface="+mn-lt"/>
              </a:rPr>
              <a:t>Residuals:</a:t>
            </a:r>
            <a:endParaRPr lang="en-US" dirty="0">
              <a:latin typeface="Courier New"/>
            </a:endParaRPr>
          </a:p>
          <a:p>
            <a:r>
              <a:rPr lang="en-US" sz="1800" dirty="0">
                <a:latin typeface="Courier New"/>
                <a:ea typeface="+mn-lt"/>
                <a:cs typeface="+mn-lt"/>
              </a:rPr>
              <a:t>    Min      1Q  Median      3Q     Max </a:t>
            </a:r>
            <a:endParaRPr lang="en-US">
              <a:latin typeface="Courier New"/>
              <a:ea typeface="Tahoma"/>
              <a:cs typeface="Gill Sans Light"/>
            </a:endParaRPr>
          </a:p>
          <a:p>
            <a:r>
              <a:rPr lang="en-US" sz="1800">
                <a:latin typeface="Courier New"/>
                <a:ea typeface="+mn-lt"/>
                <a:cs typeface="+mn-lt"/>
              </a:rPr>
              <a:t>-8.8462 -4.8523 -0.8102  3.3677 13.5058 </a:t>
            </a:r>
            <a:endParaRPr lang="en-US">
              <a:latin typeface="Courier New"/>
            </a:endParaRPr>
          </a:p>
          <a:p>
            <a:endParaRPr lang="en-US" dirty="0">
              <a:latin typeface="Courier New"/>
            </a:endParaRPr>
          </a:p>
          <a:p>
            <a:r>
              <a:rPr lang="en-US" sz="1800" dirty="0">
                <a:latin typeface="Courier New"/>
                <a:ea typeface="+mn-lt"/>
                <a:cs typeface="+mn-lt"/>
              </a:rPr>
              <a:t>Coefficients:</a:t>
            </a:r>
            <a:endParaRPr lang="en-US" dirty="0">
              <a:latin typeface="Courier New"/>
            </a:endParaRPr>
          </a:p>
          <a:p>
            <a:r>
              <a:rPr lang="en-US" sz="1800" dirty="0">
                <a:latin typeface="Courier New"/>
                <a:ea typeface="+mn-lt"/>
                <a:cs typeface="+mn-lt"/>
              </a:rPr>
              <a:t>            Estimate Std. Error t value </a:t>
            </a:r>
            <a:r>
              <a:rPr lang="en-US" sz="1800" err="1">
                <a:latin typeface="Courier New"/>
                <a:ea typeface="+mn-lt"/>
                <a:cs typeface="+mn-lt"/>
              </a:rPr>
              <a:t>Pr</a:t>
            </a:r>
            <a:r>
              <a:rPr lang="en-US" sz="1800" dirty="0">
                <a:latin typeface="Courier New"/>
                <a:ea typeface="+mn-lt"/>
                <a:cs typeface="+mn-lt"/>
              </a:rPr>
              <a:t>(&gt;|t|)    </a:t>
            </a:r>
            <a:endParaRPr lang="en-US">
              <a:latin typeface="Courier New"/>
            </a:endParaRPr>
          </a:p>
          <a:p>
            <a:r>
              <a:rPr lang="en-US" sz="1800" dirty="0">
                <a:latin typeface="Courier New"/>
                <a:ea typeface="+mn-lt"/>
                <a:cs typeface="+mn-lt"/>
              </a:rPr>
              <a:t>(Intercept)   62.291     14.957   4.165 0.000731 ***</a:t>
            </a:r>
            <a:endParaRPr lang="en-US" dirty="0">
              <a:latin typeface="Courier New"/>
            </a:endParaRPr>
          </a:p>
          <a:p>
            <a:r>
              <a:rPr lang="en-US" sz="1800" dirty="0">
                <a:latin typeface="Courier New"/>
                <a:ea typeface="+mn-lt"/>
                <a:cs typeface="+mn-lt"/>
              </a:rPr>
              <a:t>Age            6.928      1.117   6.202 1.27e-05 ***</a:t>
            </a:r>
            <a:endParaRPr lang="en-US" dirty="0">
              <a:latin typeface="Courier New"/>
            </a:endParaRPr>
          </a:p>
          <a:p>
            <a:r>
              <a:rPr lang="en-US" sz="1800" err="1">
                <a:latin typeface="Courier New"/>
                <a:ea typeface="+mn-lt"/>
                <a:cs typeface="+mn-lt"/>
              </a:rPr>
              <a:t>GenderM</a:t>
            </a:r>
            <a:r>
              <a:rPr lang="en-US" sz="1800" dirty="0">
                <a:latin typeface="Courier New"/>
                <a:ea typeface="+mn-lt"/>
                <a:cs typeface="+mn-lt"/>
              </a:rPr>
              <a:t>        7.204      3.251   2.216 0.041517 *  </a:t>
            </a:r>
            <a:endParaRPr lang="en-US">
              <a:latin typeface="Courier New"/>
            </a:endParaRPr>
          </a:p>
          <a:p>
            <a:r>
              <a:rPr lang="en-US" sz="1800">
                <a:latin typeface="Courier New"/>
                <a:ea typeface="+mn-lt"/>
                <a:cs typeface="+mn-lt"/>
              </a:rPr>
              <a:t>---</a:t>
            </a:r>
            <a:endParaRPr lang="en-US">
              <a:latin typeface="Courier New"/>
            </a:endParaRPr>
          </a:p>
          <a:p>
            <a:r>
              <a:rPr lang="en-US" sz="1800" err="1">
                <a:latin typeface="Courier New"/>
                <a:ea typeface="+mn-lt"/>
                <a:cs typeface="+mn-lt"/>
              </a:rPr>
              <a:t>Signif</a:t>
            </a:r>
            <a:r>
              <a:rPr lang="en-US" sz="1800" dirty="0">
                <a:latin typeface="Courier New"/>
                <a:ea typeface="+mn-lt"/>
                <a:cs typeface="+mn-lt"/>
              </a:rPr>
              <a:t>. codes:  0 ‘***’ 0.001 ‘**’ 0.01 ‘*’ 0.05 ‘.’ 0.1 ‘ ’ 1</a:t>
            </a:r>
            <a:endParaRPr lang="en-US" dirty="0">
              <a:latin typeface="Courier New"/>
            </a:endParaRPr>
          </a:p>
          <a:p>
            <a:endParaRPr lang="en-US" dirty="0">
              <a:latin typeface="Courier New"/>
            </a:endParaRPr>
          </a:p>
          <a:p>
            <a:r>
              <a:rPr lang="en-US" sz="1800" dirty="0">
                <a:latin typeface="Courier New"/>
                <a:ea typeface="+mn-lt"/>
                <a:cs typeface="+mn-lt"/>
              </a:rPr>
              <a:t>Residual standard error: 7.061 on 16 degrees of freedom</a:t>
            </a:r>
            <a:endParaRPr lang="en-US" dirty="0">
              <a:latin typeface="Courier New"/>
            </a:endParaRPr>
          </a:p>
          <a:p>
            <a:r>
              <a:rPr lang="en-US" sz="1800" dirty="0">
                <a:latin typeface="Courier New"/>
                <a:ea typeface="+mn-lt"/>
                <a:cs typeface="+mn-lt"/>
              </a:rPr>
              <a:t>Multiple R-squared:  0.7387,    Adjusted R-squared:  0.706 </a:t>
            </a:r>
            <a:endParaRPr lang="en-US">
              <a:latin typeface="Courier New"/>
            </a:endParaRPr>
          </a:p>
          <a:p>
            <a:r>
              <a:rPr lang="en-US" sz="1800" dirty="0">
                <a:latin typeface="Courier New"/>
                <a:ea typeface="+mn-lt"/>
                <a:cs typeface="+mn-lt"/>
              </a:rPr>
              <a:t>F-statistic: 22.61 on 2 and 16 DF,  p-value: 2.176e-05</a:t>
            </a:r>
            <a:endParaRPr lang="en-US" dirty="0">
              <a:latin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351016816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CABC896-2FCF-8F81-D6FE-884AD433A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F0402B4-8AD2-BC7C-5A43-677BDB4406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0605" y="0"/>
            <a:ext cx="528309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935EFA4-F080-9340-D855-323D76C7BB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a typeface="Verdana"/>
                <a:cs typeface="Gill Sans"/>
              </a:rPr>
              <a:t>Additional content : model with 2 covariables (III)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9DB931-0D08-60FE-2CCB-D7FE6A54F67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8200" y="934654"/>
            <a:ext cx="10515600" cy="566402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1800" dirty="0">
                <a:latin typeface="Courier New"/>
                <a:ea typeface="+mn-lt"/>
                <a:cs typeface="+mn-lt"/>
              </a:rPr>
              <a:t>plot( </a:t>
            </a:r>
            <a:r>
              <a:rPr lang="en-US" sz="1800" err="1">
                <a:latin typeface="Courier New"/>
                <a:ea typeface="+mn-lt"/>
                <a:cs typeface="+mn-lt"/>
              </a:rPr>
              <a:t>Height~Age</a:t>
            </a:r>
            <a:r>
              <a:rPr lang="en-US" sz="1800" dirty="0">
                <a:latin typeface="Courier New"/>
                <a:ea typeface="+mn-lt"/>
                <a:cs typeface="+mn-lt"/>
              </a:rPr>
              <a:t>, </a:t>
            </a:r>
            <a:endParaRPr lang="en-US" dirty="0">
              <a:latin typeface="Courier New"/>
            </a:endParaRPr>
          </a:p>
          <a:p>
            <a:r>
              <a:rPr lang="en-US" sz="1800" dirty="0">
                <a:latin typeface="Courier New"/>
                <a:ea typeface="+mn-lt"/>
                <a:cs typeface="+mn-lt"/>
              </a:rPr>
              <a:t>      col=c('</a:t>
            </a:r>
            <a:r>
              <a:rPr lang="en-US" sz="1800" dirty="0" err="1">
                <a:latin typeface="Courier New"/>
                <a:ea typeface="+mn-lt"/>
                <a:cs typeface="+mn-lt"/>
              </a:rPr>
              <a:t>turquoise','purple</a:t>
            </a:r>
            <a:r>
              <a:rPr lang="en-US" sz="1800" dirty="0">
                <a:latin typeface="Courier New"/>
                <a:ea typeface="+mn-lt"/>
                <a:cs typeface="+mn-lt"/>
              </a:rPr>
              <a:t>')[Gender],</a:t>
            </a:r>
            <a:endParaRPr lang="en-US" dirty="0">
              <a:latin typeface="Courier New"/>
            </a:endParaRPr>
          </a:p>
          <a:p>
            <a:r>
              <a:rPr lang="en-US" sz="1800" dirty="0">
                <a:latin typeface="Courier New"/>
                <a:ea typeface="+mn-lt"/>
                <a:cs typeface="+mn-lt"/>
              </a:rPr>
              <a:t>      </a:t>
            </a:r>
            <a:r>
              <a:rPr lang="en-US" sz="1800" dirty="0" err="1">
                <a:latin typeface="Courier New"/>
                <a:ea typeface="+mn-lt"/>
                <a:cs typeface="+mn-lt"/>
              </a:rPr>
              <a:t>pch</a:t>
            </a:r>
            <a:r>
              <a:rPr lang="en-US" sz="1800" dirty="0">
                <a:latin typeface="Courier New"/>
                <a:ea typeface="+mn-lt"/>
                <a:cs typeface="+mn-lt"/>
              </a:rPr>
              <a:t>=19, data=</a:t>
            </a:r>
            <a:r>
              <a:rPr lang="en-US" sz="1800" dirty="0" err="1">
                <a:latin typeface="Courier New"/>
                <a:ea typeface="+mn-lt"/>
                <a:cs typeface="+mn-lt"/>
              </a:rPr>
              <a:t>class_data</a:t>
            </a:r>
            <a:r>
              <a:rPr lang="en-US" sz="1800" dirty="0">
                <a:latin typeface="Courier New"/>
                <a:ea typeface="+mn-lt"/>
                <a:cs typeface="+mn-lt"/>
              </a:rPr>
              <a:t>  )</a:t>
            </a:r>
            <a:endParaRPr lang="en-US" dirty="0">
              <a:latin typeface="Courier New"/>
            </a:endParaRPr>
          </a:p>
          <a:p>
            <a:r>
              <a:rPr lang="en-US" sz="1800" dirty="0">
                <a:latin typeface="Courier New"/>
                <a:ea typeface="+mn-lt"/>
                <a:cs typeface="+mn-lt"/>
              </a:rPr>
              <a:t>C = </a:t>
            </a:r>
            <a:r>
              <a:rPr lang="en-US" sz="1800" err="1">
                <a:latin typeface="Courier New"/>
                <a:ea typeface="+mn-lt"/>
                <a:cs typeface="+mn-lt"/>
              </a:rPr>
              <a:t>coef</a:t>
            </a:r>
            <a:r>
              <a:rPr lang="en-US" sz="1800" dirty="0">
                <a:latin typeface="Courier New"/>
                <a:ea typeface="+mn-lt"/>
                <a:cs typeface="+mn-lt"/>
              </a:rPr>
              <a:t>( model2 )</a:t>
            </a:r>
            <a:endParaRPr lang="en-US" dirty="0">
              <a:latin typeface="Courier New"/>
            </a:endParaRPr>
          </a:p>
          <a:p>
            <a:r>
              <a:rPr lang="en-US" sz="1800" dirty="0" err="1">
                <a:latin typeface="Courier New"/>
                <a:ea typeface="+mn-lt"/>
                <a:cs typeface="+mn-lt"/>
              </a:rPr>
              <a:t>abline</a:t>
            </a:r>
            <a:r>
              <a:rPr lang="en-US" sz="1800" dirty="0">
                <a:latin typeface="Courier New"/>
                <a:ea typeface="+mn-lt"/>
                <a:cs typeface="+mn-lt"/>
              </a:rPr>
              <a:t>(a=C[1],b=C[2] ,</a:t>
            </a:r>
            <a:r>
              <a:rPr lang="en-US" sz="1800" dirty="0" err="1">
                <a:latin typeface="Courier New"/>
                <a:ea typeface="+mn-lt"/>
                <a:cs typeface="Courier New"/>
              </a:rPr>
              <a:t>lwd</a:t>
            </a:r>
            <a:r>
              <a:rPr lang="en-US" sz="1800" dirty="0">
                <a:latin typeface="Courier New"/>
                <a:ea typeface="+mn-lt"/>
                <a:cs typeface="Courier New"/>
              </a:rPr>
              <a:t>=2, </a:t>
            </a:r>
            <a:endParaRPr lang="en-US" sz="1800">
              <a:latin typeface="Courier New"/>
            </a:endParaRPr>
          </a:p>
          <a:p>
            <a:r>
              <a:rPr lang="en-US" sz="1800" dirty="0">
                <a:latin typeface="Courier New"/>
                <a:ea typeface="+mn-lt"/>
                <a:cs typeface="+mn-lt"/>
              </a:rPr>
              <a:t>       col='turquoise')</a:t>
            </a:r>
            <a:endParaRPr lang="en-US" dirty="0">
              <a:latin typeface="Courier New"/>
            </a:endParaRPr>
          </a:p>
          <a:p>
            <a:r>
              <a:rPr lang="en-US" sz="1800" dirty="0" err="1">
                <a:latin typeface="Courier New"/>
                <a:ea typeface="+mn-lt"/>
                <a:cs typeface="+mn-lt"/>
              </a:rPr>
              <a:t>abline</a:t>
            </a:r>
            <a:r>
              <a:rPr lang="en-US" sz="1800" dirty="0">
                <a:latin typeface="Courier New"/>
                <a:ea typeface="+mn-lt"/>
                <a:cs typeface="+mn-lt"/>
              </a:rPr>
              <a:t>(a=C[1]+C[3],b=C[2] </a:t>
            </a:r>
            <a:r>
              <a:rPr lang="en-US" sz="1800" dirty="0" err="1">
                <a:latin typeface="Courier New"/>
                <a:ea typeface="+mn-lt"/>
                <a:cs typeface="Courier New"/>
              </a:rPr>
              <a:t>lwd</a:t>
            </a:r>
            <a:r>
              <a:rPr lang="en-US" sz="1800" dirty="0">
                <a:latin typeface="Courier New"/>
                <a:ea typeface="+mn-lt"/>
                <a:cs typeface="Courier New"/>
              </a:rPr>
              <a:t>=2,</a:t>
            </a:r>
            <a:endParaRPr lang="en-US" dirty="0">
              <a:latin typeface="Courier New"/>
            </a:endParaRPr>
          </a:p>
          <a:p>
            <a:r>
              <a:rPr lang="en-US" sz="1800" dirty="0">
                <a:latin typeface="Courier New"/>
                <a:ea typeface="+mn-lt"/>
                <a:cs typeface="+mn-lt"/>
              </a:rPr>
              <a:t>       col='purple')</a:t>
            </a:r>
            <a:endParaRPr lang="en-US" dirty="0">
              <a:latin typeface="Courier New"/>
            </a:endParaRPr>
          </a:p>
          <a:p>
            <a:r>
              <a:rPr lang="en-US" sz="1800" dirty="0">
                <a:latin typeface="Courier New"/>
                <a:ea typeface="+mn-lt"/>
                <a:cs typeface="+mn-lt"/>
              </a:rPr>
              <a:t>legend('</a:t>
            </a:r>
            <a:r>
              <a:rPr lang="en-US" sz="1800" dirty="0" err="1">
                <a:latin typeface="Courier New"/>
                <a:ea typeface="+mn-lt"/>
                <a:cs typeface="+mn-lt"/>
              </a:rPr>
              <a:t>bottomright</a:t>
            </a:r>
            <a:r>
              <a:rPr lang="en-US" sz="1800" dirty="0">
                <a:latin typeface="Courier New"/>
                <a:ea typeface="+mn-lt"/>
                <a:cs typeface="+mn-lt"/>
              </a:rPr>
              <a:t>',c('</a:t>
            </a:r>
            <a:r>
              <a:rPr lang="en-US" sz="1800" dirty="0" err="1">
                <a:latin typeface="Courier New"/>
                <a:ea typeface="+mn-lt"/>
                <a:cs typeface="+mn-lt"/>
              </a:rPr>
              <a:t>female','male</a:t>
            </a:r>
            <a:r>
              <a:rPr lang="en-US" sz="1800" dirty="0">
                <a:latin typeface="Courier New"/>
                <a:ea typeface="+mn-lt"/>
                <a:cs typeface="+mn-lt"/>
              </a:rPr>
              <a:t>'),</a:t>
            </a:r>
            <a:endParaRPr lang="en-US" dirty="0">
              <a:latin typeface="Courier New"/>
            </a:endParaRPr>
          </a:p>
          <a:p>
            <a:r>
              <a:rPr lang="en-US" sz="1800" dirty="0">
                <a:latin typeface="Courier New"/>
                <a:ea typeface="+mn-lt"/>
                <a:cs typeface="+mn-lt"/>
              </a:rPr>
              <a:t>    </a:t>
            </a:r>
            <a:r>
              <a:rPr lang="en-US" sz="1800" err="1">
                <a:latin typeface="Courier New"/>
                <a:ea typeface="+mn-lt"/>
                <a:cs typeface="+mn-lt"/>
              </a:rPr>
              <a:t>pch</a:t>
            </a:r>
            <a:r>
              <a:rPr lang="en-US" sz="1800">
                <a:latin typeface="Courier New"/>
                <a:ea typeface="+mn-lt"/>
                <a:cs typeface="+mn-lt"/>
              </a:rPr>
              <a:t>=19,lwd=2,</a:t>
            </a:r>
            <a:endParaRPr lang="en-US">
              <a:latin typeface="Courier New"/>
            </a:endParaRPr>
          </a:p>
          <a:p>
            <a:r>
              <a:rPr lang="en-US" sz="1800" dirty="0">
                <a:latin typeface="Courier New"/>
                <a:ea typeface="+mn-lt"/>
                <a:cs typeface="+mn-lt"/>
              </a:rPr>
              <a:t>    col=c('</a:t>
            </a:r>
            <a:r>
              <a:rPr lang="en-US" sz="1800" dirty="0" err="1">
                <a:latin typeface="Courier New"/>
                <a:ea typeface="+mn-lt"/>
                <a:cs typeface="+mn-lt"/>
              </a:rPr>
              <a:t>turquoise','purple</a:t>
            </a:r>
            <a:r>
              <a:rPr lang="en-US" sz="1800" dirty="0">
                <a:latin typeface="Courier New"/>
                <a:ea typeface="+mn-lt"/>
                <a:cs typeface="+mn-lt"/>
              </a:rPr>
              <a:t>'))</a:t>
            </a:r>
            <a:endParaRPr lang="en-US" dirty="0">
              <a:latin typeface="Courier New"/>
            </a:endParaRPr>
          </a:p>
          <a:p>
            <a:endParaRPr lang="en-US" sz="1800" dirty="0">
              <a:latin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105506461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DE9C2-B973-954A-6729-936D7F2E06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360DB-7EC9-8CEF-CAD6-D0FC63A9B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a typeface="Verdana"/>
                <a:cs typeface="Gill Sans"/>
              </a:rPr>
              <a:t>The next steps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BA98E8-77E0-084E-5D9F-EF772863794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8200" y="934654"/>
            <a:ext cx="10515600" cy="566402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266700" indent="-264160">
              <a:lnSpc>
                <a:spcPct val="100000"/>
              </a:lnSpc>
              <a:spcBef>
                <a:spcPts val="601"/>
              </a:spcBef>
              <a:spcAft>
                <a:spcPts val="300"/>
              </a:spcAft>
              <a:buFont typeface="Arial,Sans-Serif"/>
              <a:buChar char="•"/>
            </a:pPr>
            <a:r>
              <a:rPr lang="en-US" b="1" dirty="0">
                <a:solidFill>
                  <a:srgbClr val="262626"/>
                </a:solidFill>
                <a:latin typeface="Corbel"/>
                <a:ea typeface="Tahoma"/>
                <a:cs typeface="Arial"/>
              </a:rPr>
              <a:t>R manuals: </a:t>
            </a:r>
            <a:r>
              <a:rPr lang="en-US" dirty="0">
                <a:latin typeface="Corbel"/>
                <a:ea typeface="Tahoma"/>
                <a:cs typeface="Arial"/>
                <a:hlinkClick r:id="rId2"/>
              </a:rPr>
              <a:t>http://cran.r-project.org/manuals.html</a:t>
            </a:r>
            <a:endParaRPr lang="en-US">
              <a:solidFill>
                <a:srgbClr val="000000"/>
              </a:solidFill>
              <a:latin typeface="Corbel"/>
              <a:ea typeface="Tahoma"/>
              <a:cs typeface="Arial"/>
            </a:endParaRPr>
          </a:p>
          <a:p>
            <a:pPr marL="266700" indent="-264160">
              <a:lnSpc>
                <a:spcPct val="100000"/>
              </a:lnSpc>
              <a:spcBef>
                <a:spcPts val="601"/>
              </a:spcBef>
              <a:spcAft>
                <a:spcPts val="300"/>
              </a:spcAft>
              <a:buFont typeface="Arial,Sans-Serif"/>
              <a:buChar char="•"/>
            </a:pPr>
            <a:r>
              <a:rPr lang="en-US" b="1">
                <a:solidFill>
                  <a:srgbClr val="262626"/>
                </a:solidFill>
                <a:latin typeface="Corbel"/>
                <a:ea typeface="Tahoma"/>
                <a:cs typeface="Arial"/>
              </a:rPr>
              <a:t>free course material: </a:t>
            </a:r>
            <a:r>
              <a:rPr lang="en-US" dirty="0">
                <a:solidFill>
                  <a:srgbClr val="262626"/>
                </a:solidFill>
                <a:latin typeface="Corbel"/>
                <a:ea typeface="Tahoma"/>
                <a:cs typeface="Arial"/>
                <a:hlinkClick r:id="rId3"/>
              </a:rPr>
              <a:t>https://</a:t>
            </a:r>
            <a:r>
              <a:rPr lang="en-US" dirty="0">
                <a:latin typeface="Corbel"/>
                <a:ea typeface="Tahoma"/>
                <a:cs typeface="Arial"/>
                <a:hlinkClick r:id="rId3"/>
              </a:rPr>
              <a:t>glittr.org</a:t>
            </a:r>
            <a:endParaRPr lang="en-US" dirty="0">
              <a:solidFill>
                <a:srgbClr val="000000"/>
              </a:solidFill>
              <a:latin typeface="Corbel"/>
              <a:ea typeface="Tahoma"/>
              <a:cs typeface="Arial"/>
            </a:endParaRPr>
          </a:p>
          <a:p>
            <a:pPr marL="266700" indent="-264160">
              <a:lnSpc>
                <a:spcPct val="100000"/>
              </a:lnSpc>
              <a:spcBef>
                <a:spcPts val="601"/>
              </a:spcBef>
              <a:spcAft>
                <a:spcPts val="300"/>
              </a:spcAft>
              <a:buFont typeface="Arial,Sans-Serif"/>
              <a:buChar char="•"/>
            </a:pPr>
            <a:r>
              <a:rPr lang="en-US" b="1" dirty="0">
                <a:solidFill>
                  <a:srgbClr val="262626"/>
                </a:solidFill>
                <a:latin typeface="Corbel"/>
                <a:ea typeface="Tahoma"/>
                <a:cs typeface="Arial"/>
              </a:rPr>
              <a:t>STHDA (Statistical Tools for High Throughput Data Analysis) free tutorials: </a:t>
            </a:r>
            <a:r>
              <a:rPr lang="en-US" dirty="0">
                <a:latin typeface="Corbel"/>
                <a:ea typeface="Tahoma"/>
                <a:cs typeface="Arial"/>
                <a:hlinkClick r:id="rId4"/>
              </a:rPr>
              <a:t>http://www.sthda.com/english/</a:t>
            </a:r>
            <a:endParaRPr lang="en-US">
              <a:solidFill>
                <a:srgbClr val="000000"/>
              </a:solidFill>
              <a:latin typeface="Corbel"/>
              <a:ea typeface="Tahoma"/>
              <a:cs typeface="Arial"/>
            </a:endParaRPr>
          </a:p>
          <a:p>
            <a:pPr marL="266700" indent="-264160">
              <a:lnSpc>
                <a:spcPct val="100000"/>
              </a:lnSpc>
              <a:spcBef>
                <a:spcPts val="601"/>
              </a:spcBef>
              <a:spcAft>
                <a:spcPts val="300"/>
              </a:spcAft>
              <a:buFont typeface="Arial,Sans-Serif"/>
              <a:buChar char="•"/>
            </a:pPr>
            <a:r>
              <a:rPr lang="en-US" b="1" err="1">
                <a:solidFill>
                  <a:srgbClr val="262626"/>
                </a:solidFill>
                <a:latin typeface="Corbel"/>
                <a:ea typeface="Tahoma"/>
                <a:cs typeface="Arial"/>
              </a:rPr>
              <a:t>Stackoverflow</a:t>
            </a:r>
            <a:r>
              <a:rPr lang="en-US" dirty="0">
                <a:solidFill>
                  <a:srgbClr val="262626"/>
                </a:solidFill>
                <a:latin typeface="Corbel"/>
                <a:ea typeface="Tahoma"/>
                <a:cs typeface="Arial"/>
              </a:rPr>
              <a:t> documentation, resources and user forum: </a:t>
            </a:r>
            <a:r>
              <a:rPr lang="en-US" dirty="0">
                <a:latin typeface="Corbel"/>
                <a:ea typeface="Tahoma"/>
                <a:cs typeface="Arial"/>
                <a:hlinkClick r:id="rId5"/>
              </a:rPr>
              <a:t>http://stackoverflow.com/tags/r/info</a:t>
            </a:r>
            <a:endParaRPr lang="en-US">
              <a:solidFill>
                <a:srgbClr val="000000"/>
              </a:solidFill>
              <a:latin typeface="Corbel"/>
              <a:ea typeface="Tahoma"/>
              <a:cs typeface="Arial"/>
            </a:endParaRPr>
          </a:p>
          <a:p>
            <a:pPr marL="266700" indent="-264160">
              <a:lnSpc>
                <a:spcPct val="100000"/>
              </a:lnSpc>
              <a:spcBef>
                <a:spcPts val="601"/>
              </a:spcBef>
              <a:spcAft>
                <a:spcPts val="300"/>
              </a:spcAft>
              <a:buFont typeface="Arial,Sans-Serif"/>
              <a:buChar char="•"/>
            </a:pPr>
            <a:r>
              <a:rPr lang="en-US" b="1" err="1">
                <a:solidFill>
                  <a:srgbClr val="262626"/>
                </a:solidFill>
                <a:latin typeface="Corbel"/>
                <a:ea typeface="Tahoma"/>
                <a:cs typeface="Arial"/>
              </a:rPr>
              <a:t>Rseek</a:t>
            </a:r>
            <a:r>
              <a:rPr lang="en-US" b="1" dirty="0">
                <a:solidFill>
                  <a:srgbClr val="262626"/>
                </a:solidFill>
                <a:latin typeface="Corbel"/>
                <a:ea typeface="Tahoma"/>
                <a:cs typeface="Arial"/>
              </a:rPr>
              <a:t> -  </a:t>
            </a:r>
            <a:r>
              <a:rPr lang="en-US" dirty="0">
                <a:solidFill>
                  <a:srgbClr val="262626"/>
                </a:solidFill>
                <a:latin typeface="Corbel"/>
                <a:ea typeface="Tahoma"/>
                <a:cs typeface="Arial"/>
              </a:rPr>
              <a:t>search engine on numerous online R resources: </a:t>
            </a:r>
            <a:r>
              <a:rPr lang="en-US" dirty="0">
                <a:latin typeface="Corbel"/>
                <a:ea typeface="Tahoma"/>
                <a:cs typeface="Arial"/>
                <a:hlinkClick r:id="rId6"/>
              </a:rPr>
              <a:t>http://www.rseek.org</a:t>
            </a:r>
            <a:endParaRPr lang="en-US">
              <a:solidFill>
                <a:srgbClr val="000000"/>
              </a:solidFill>
              <a:latin typeface="Corbel"/>
              <a:ea typeface="Tahoma"/>
              <a:cs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  <a:spcAft>
                <a:spcPts val="300"/>
              </a:spcAft>
            </a:pPr>
            <a:endParaRPr lang="en-US" dirty="0">
              <a:solidFill>
                <a:srgbClr val="000000"/>
              </a:solidFill>
              <a:latin typeface="Corbel"/>
              <a:cs typeface="Arial"/>
            </a:endParaRPr>
          </a:p>
          <a:p>
            <a:endParaRPr lang="en-US" sz="1800" dirty="0">
              <a:latin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203125018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B3DD1-C653-8D6F-FCA5-C04BBEECFA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3C3DD9-E6CF-4843-4471-1CA58AF4EF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a typeface="Verdana"/>
                <a:cs typeface="Gill Sans"/>
              </a:rPr>
              <a:t>Credits and Acknowledgments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19D704-F64F-CFF6-D7F8-DC7B5273F48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8200" y="934654"/>
            <a:ext cx="10515600" cy="5664022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ts val="601"/>
              </a:spcBef>
              <a:spcAft>
                <a:spcPts val="300"/>
              </a:spcAft>
            </a:pPr>
            <a:endParaRPr lang="en-US" dirty="0">
              <a:solidFill>
                <a:srgbClr val="000000"/>
              </a:solidFill>
              <a:latin typeface="Corbel"/>
              <a:cs typeface="Arial"/>
            </a:endParaRPr>
          </a:p>
          <a:p>
            <a:pPr marL="2540">
              <a:lnSpc>
                <a:spcPct val="100000"/>
              </a:lnSpc>
              <a:spcBef>
                <a:spcPts val="400"/>
              </a:spcBef>
            </a:pPr>
            <a:r>
              <a:rPr lang="en-US" sz="2000">
                <a:solidFill>
                  <a:srgbClr val="262626"/>
                </a:solidFill>
                <a:latin typeface="Arial"/>
                <a:cs typeface="Arial"/>
              </a:rPr>
              <a:t>Content and slides developed by: </a:t>
            </a:r>
            <a:br>
              <a:rPr lang="en-US" sz="2000" dirty="0">
                <a:solidFill>
                  <a:srgbClr val="262626"/>
                </a:solidFill>
                <a:latin typeface="Arial"/>
                <a:cs typeface="Arial"/>
              </a:rPr>
            </a:br>
            <a:r>
              <a:rPr lang="en-US" sz="2000">
                <a:solidFill>
                  <a:srgbClr val="262626"/>
                </a:solidFill>
                <a:latin typeface="Arial"/>
                <a:cs typeface="Arial"/>
              </a:rPr>
              <a:t>Diana Marek, Geoffrey Fucile, Alex Smith, Linda Dib, Leonore Wigger, Wandrille </a:t>
            </a:r>
            <a:r>
              <a:rPr lang="en-US" sz="1800">
                <a:solidFill>
                  <a:srgbClr val="262626"/>
                </a:solidFill>
                <a:latin typeface="Arial"/>
                <a:cs typeface="Arial"/>
              </a:rPr>
              <a:t>Duchemin</a:t>
            </a:r>
          </a:p>
          <a:p>
            <a:pPr marL="2540">
              <a:lnSpc>
                <a:spcPct val="100000"/>
              </a:lnSpc>
              <a:spcBef>
                <a:spcPts val="400"/>
              </a:spcBef>
            </a:pPr>
            <a:endParaRPr lang="en-US" sz="2000" dirty="0">
              <a:solidFill>
                <a:srgbClr val="262626"/>
              </a:solidFill>
              <a:latin typeface="Arial"/>
              <a:cs typeface="Arial"/>
            </a:endParaRPr>
          </a:p>
          <a:p>
            <a:pPr marL="2540">
              <a:lnSpc>
                <a:spcPct val="100000"/>
              </a:lnSpc>
              <a:spcBef>
                <a:spcPts val="400"/>
              </a:spcBef>
              <a:buFont typeface="Arial,Sans-Serif"/>
            </a:pPr>
            <a:r>
              <a:rPr lang="en-US" sz="2000" dirty="0">
                <a:solidFill>
                  <a:srgbClr val="262626"/>
                </a:solidFill>
                <a:latin typeface="Arial"/>
                <a:ea typeface="Tahoma"/>
                <a:cs typeface="Arial"/>
              </a:rPr>
              <a:t>Content inspired by material from: </a:t>
            </a:r>
          </a:p>
          <a:p>
            <a:pPr marL="448945" lvl="1" indent="-180340">
              <a:lnSpc>
                <a:spcPct val="100000"/>
              </a:lnSpc>
              <a:spcBef>
                <a:spcPts val="360"/>
              </a:spcBef>
              <a:buFont typeface="Arial,Sans-Serif"/>
              <a:buChar char="•"/>
            </a:pPr>
            <a:r>
              <a:rPr lang="en-US" sz="1800">
                <a:solidFill>
                  <a:srgbClr val="262626"/>
                </a:solidFill>
                <a:latin typeface="Arial"/>
                <a:cs typeface="Arial"/>
              </a:rPr>
              <a:t>Owen L. PETCHEY and “Getting started with R” book </a:t>
            </a:r>
          </a:p>
          <a:p>
            <a:pPr marL="448945" lvl="1" indent="-180340">
              <a:lnSpc>
                <a:spcPct val="100000"/>
              </a:lnSpc>
              <a:spcBef>
                <a:spcPts val="360"/>
              </a:spcBef>
              <a:buFont typeface="Arial,Sans-Serif"/>
              <a:buChar char="•"/>
            </a:pPr>
            <a:r>
              <a:rPr lang="en-US" sz="1800">
                <a:solidFill>
                  <a:srgbClr val="262626"/>
                </a:solidFill>
                <a:latin typeface="Arial"/>
                <a:cs typeface="Arial"/>
              </a:rPr>
              <a:t>Daniel WEGMANN and Frédéric SCHÜTZ</a:t>
            </a:r>
          </a:p>
          <a:p>
            <a:pPr marL="448945" lvl="1" indent="-180340">
              <a:lnSpc>
                <a:spcPct val="100000"/>
              </a:lnSpc>
              <a:spcBef>
                <a:spcPts val="360"/>
              </a:spcBef>
              <a:buFont typeface="Arial,Sans-Serif"/>
              <a:buChar char="•"/>
            </a:pPr>
            <a:r>
              <a:rPr lang="en-US" sz="1800">
                <a:solidFill>
                  <a:srgbClr val="262626"/>
                </a:solidFill>
                <a:latin typeface="Arial"/>
                <a:cs typeface="Arial"/>
              </a:rPr>
              <a:t>Robert STOJNIĆ and Ian ROBERTS</a:t>
            </a:r>
          </a:p>
          <a:p>
            <a:pPr marL="448945" lvl="1" indent="-180340">
              <a:lnSpc>
                <a:spcPct val="100000"/>
              </a:lnSpc>
              <a:spcBef>
                <a:spcPts val="360"/>
              </a:spcBef>
              <a:buFont typeface="Arial,Sans-Serif"/>
              <a:buChar char="•"/>
            </a:pPr>
            <a:r>
              <a:rPr lang="en-US" sz="1800">
                <a:solidFill>
                  <a:srgbClr val="262626"/>
                </a:solidFill>
                <a:latin typeface="Arial"/>
                <a:cs typeface="Arial"/>
              </a:rPr>
              <a:t>Jenny DRNEVICH</a:t>
            </a:r>
          </a:p>
          <a:p>
            <a:pPr algn="ctr">
              <a:lnSpc>
                <a:spcPct val="100000"/>
              </a:lnSpc>
              <a:spcBef>
                <a:spcPts val="641"/>
              </a:spcBef>
            </a:pPr>
            <a:endParaRPr lang="en-US" sz="1800" dirty="0">
              <a:solidFill>
                <a:srgbClr val="000000"/>
              </a:solidFill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61"/>
              </a:spcBef>
            </a:pPr>
            <a:endParaRPr lang="en-US" sz="3200" dirty="0">
              <a:solidFill>
                <a:srgbClr val="000000"/>
              </a:solidFill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61"/>
              </a:spcBef>
            </a:pPr>
            <a:r>
              <a:rPr lang="en-US" sz="2800" dirty="0">
                <a:ea typeface="+mn-lt"/>
                <a:cs typeface="+mn-lt"/>
                <a:hlinkClick r:id="rId2"/>
              </a:rPr>
              <a:t>http://www.sib.swiss/training</a:t>
            </a:r>
            <a:br>
              <a:rPr lang="en-US" sz="2800" dirty="0">
                <a:ea typeface="+mn-lt"/>
                <a:cs typeface="+mn-lt"/>
              </a:rPr>
            </a:br>
            <a:r>
              <a:rPr lang="en-US" sz="2800" dirty="0">
                <a:ea typeface="+mn-lt"/>
                <a:cs typeface="+mn-lt"/>
              </a:rPr>
              <a:t> Any questions? Contact </a:t>
            </a:r>
            <a:r>
              <a:rPr lang="en-US" sz="2800" dirty="0">
                <a:ea typeface="+mn-lt"/>
                <a:cs typeface="+mn-lt"/>
                <a:hlinkClick r:id="rId3"/>
              </a:rPr>
              <a:t>training@sib.swiss</a:t>
            </a:r>
            <a:endParaRPr lang="en-US" sz="2800">
              <a:solidFill>
                <a:srgbClr val="000000"/>
              </a:solidFill>
              <a:latin typeface="Arial"/>
              <a:cs typeface="Arial"/>
            </a:endParaRPr>
          </a:p>
          <a:p>
            <a:endParaRPr lang="en-US" sz="1800" dirty="0">
              <a:latin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65150067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771C03-F154-28F6-60B0-88AA0816922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200"/>
              <a:t>Thank you</a:t>
            </a:r>
            <a:endParaRPr lang="en-CH"/>
          </a:p>
        </p:txBody>
      </p:sp>
      <p:sp>
        <p:nvSpPr>
          <p:cNvPr id="4" name="Espace réservé du texte 6">
            <a:extLst>
              <a:ext uri="{FF2B5EF4-FFF2-40B4-BE49-F238E27FC236}">
                <a16:creationId xmlns:a16="http://schemas.microsoft.com/office/drawing/2014/main" id="{6214F1F6-DACC-2B92-A4DF-8FC9222FFECC}"/>
              </a:ext>
            </a:extLst>
          </p:cNvPr>
          <p:cNvSpPr txBox="1">
            <a:spLocks/>
          </p:cNvSpPr>
          <p:nvPr/>
        </p:nvSpPr>
        <p:spPr>
          <a:xfrm>
            <a:off x="5063924" y="6426200"/>
            <a:ext cx="1860550" cy="29210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58775" indent="-358775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70000"/>
              <a:buFontTx/>
              <a:buBlip>
                <a:blip r:embed="rId2"/>
              </a:buBlip>
              <a:tabLst/>
              <a:defRPr sz="1800" b="0" i="0" kern="120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1pPr>
            <a:lvl2pPr marL="358775" indent="-358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SzPct val="70000"/>
              <a:buFont typeface="Corbel" panose="020B0503020204020204" pitchFamily="34" charset="0"/>
              <a:buChar char="–"/>
              <a:tabLst/>
              <a:defRPr sz="1800" b="0" i="0" kern="120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2pPr>
            <a:lvl3pPr marL="358775" indent="-358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SzPct val="70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3pPr>
            <a:lvl4pPr marL="358775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SzPct val="70000"/>
              <a:buFont typeface="Arial" panose="020B0604020202020204" pitchFamily="34" charset="0"/>
              <a:buNone/>
              <a:defRPr sz="1400" b="0" i="0" kern="120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4pPr>
            <a:lvl5pPr marL="358775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SzPct val="70000"/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Gill Sans Light" panose="020B0302020104020203" pitchFamily="34" charset="-79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Tx/>
              <a:buNone/>
            </a:pPr>
            <a:r>
              <a:rPr lang="en-US" sz="1600"/>
              <a:t>sib.swiss</a:t>
            </a:r>
          </a:p>
        </p:txBody>
      </p:sp>
    </p:spTree>
    <p:extLst>
      <p:ext uri="{BB962C8B-B14F-4D97-AF65-F5344CB8AC3E}">
        <p14:creationId xmlns:p14="http://schemas.microsoft.com/office/powerpoint/2010/main" val="113214839"/>
      </p:ext>
    </p:extLst>
  </p:cSld>
  <p:clrMapOvr>
    <a:masterClrMapping/>
  </p:clrMapOvr>
</p:sld>
</file>

<file path=ppt/theme/theme1.xml><?xml version="1.0" encoding="utf-8"?>
<a:theme xmlns:a="http://schemas.openxmlformats.org/drawingml/2006/main" name="Global theme">
  <a:themeElements>
    <a:clrScheme name="SIB">
      <a:dk1>
        <a:srgbClr val="1E2232"/>
      </a:dk1>
      <a:lt1>
        <a:srgbClr val="FFFFFF"/>
      </a:lt1>
      <a:dk2>
        <a:srgbClr val="E20613"/>
      </a:dk2>
      <a:lt2>
        <a:srgbClr val="E7E6E6"/>
      </a:lt2>
      <a:accent1>
        <a:srgbClr val="77E0C1"/>
      </a:accent1>
      <a:accent2>
        <a:srgbClr val="3368ED"/>
      </a:accent2>
      <a:accent3>
        <a:srgbClr val="F6D0D0"/>
      </a:accent3>
      <a:accent4>
        <a:srgbClr val="50B798"/>
      </a:accent4>
      <a:accent5>
        <a:srgbClr val="F6F6F6"/>
      </a:accent5>
      <a:accent6>
        <a:srgbClr val="000000"/>
      </a:accent6>
      <a:hlink>
        <a:srgbClr val="3267ED"/>
      </a:hlink>
      <a:folHlink>
        <a:srgbClr val="1E2132"/>
      </a:folHlink>
    </a:clrScheme>
    <a:fontScheme name="Corbel">
      <a:maj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accent2"/>
          </a:solidFill>
          <a:tailEnd type="triangle"/>
        </a:ln>
      </a:spPr>
      <a:bodyPr/>
      <a:lstStyle/>
      <a:style>
        <a:lnRef idx="1">
          <a:schemeClr val="accent2"/>
        </a:lnRef>
        <a:fillRef idx="0">
          <a:schemeClr val="accent2"/>
        </a:fillRef>
        <a:effectRef idx="0">
          <a:schemeClr val="accent2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1884769A1460844A8276E9E33D9EC1F" ma:contentTypeVersion="17" ma:contentTypeDescription="Create a new document." ma:contentTypeScope="" ma:versionID="1e661dde982bb637ab265ef9bdeebac4">
  <xsd:schema xmlns:xsd="http://www.w3.org/2001/XMLSchema" xmlns:xs="http://www.w3.org/2001/XMLSchema" xmlns:p="http://schemas.microsoft.com/office/2006/metadata/properties" xmlns:ns2="51cd6d5f-6ae9-4e54-9898-8992a7ff3036" xmlns:ns3="1136f6dd-7c48-4f33-aa6a-8b8e7584cecf" targetNamespace="http://schemas.microsoft.com/office/2006/metadata/properties" ma:root="true" ma:fieldsID="268353165dcdbb2dfcde019cd206b759" ns2:_="" ns3:_="">
    <xsd:import namespace="51cd6d5f-6ae9-4e54-9898-8992a7ff3036"/>
    <xsd:import namespace="1136f6dd-7c48-4f33-aa6a-8b8e7584cec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1cd6d5f-6ae9-4e54-9898-8992a7ff303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6af233ad-a872-49f3-8d8c-f1cf611cbd9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136f6dd-7c48-4f33-aa6a-8b8e7584cecf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9d6480a6-8657-40ee-b73b-62f5e6461347}" ma:internalName="TaxCatchAll" ma:showField="CatchAllData" ma:web="1136f6dd-7c48-4f33-aa6a-8b8e7584cec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1cd6d5f-6ae9-4e54-9898-8992a7ff3036">
      <Terms xmlns="http://schemas.microsoft.com/office/infopath/2007/PartnerControls"/>
    </lcf76f155ced4ddcb4097134ff3c332f>
    <TaxCatchAll xmlns="1136f6dd-7c48-4f33-aa6a-8b8e7584cecf" xsi:nil="true"/>
  </documentManagement>
</p:properties>
</file>

<file path=customXml/itemProps1.xml><?xml version="1.0" encoding="utf-8"?>
<ds:datastoreItem xmlns:ds="http://schemas.openxmlformats.org/officeDocument/2006/customXml" ds:itemID="{FC234DFD-9E98-47EE-A822-37224EBFD70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3CC3BE7-1E24-4E91-A36E-E39FC0373FB8}">
  <ds:schemaRefs>
    <ds:schemaRef ds:uri="1136f6dd-7c48-4f33-aa6a-8b8e7584cecf"/>
    <ds:schemaRef ds:uri="51cd6d5f-6ae9-4e54-9898-8992a7ff3036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00B38228-41B2-4CC0-85B6-8CB372D27A8C}">
  <ds:schemaRefs>
    <ds:schemaRef ds:uri="51cd6d5f-6ae9-4e54-9898-8992a7ff3036"/>
    <ds:schemaRef ds:uri="http://purl.org/dc/terms/"/>
    <ds:schemaRef ds:uri="http://schemas.openxmlformats.org/package/2006/metadata/core-properties"/>
    <ds:schemaRef ds:uri="http://schemas.microsoft.com/office/infopath/2007/PartnerControls"/>
    <ds:schemaRef ds:uri="http://purl.org/dc/elements/1.1/"/>
    <ds:schemaRef ds:uri="http://schemas.microsoft.com/office/2006/documentManagement/types"/>
    <ds:schemaRef ds:uri="http://purl.org/dc/dcmitype/"/>
    <ds:schemaRef ds:uri="1136f6dd-7c48-4f33-aa6a-8b8e7584cecf"/>
    <ds:schemaRef ds:uri="http://schemas.microsoft.com/office/2006/metadata/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3604</TotalTime>
  <Words>4010</Words>
  <Application>Microsoft Macintosh PowerPoint</Application>
  <PresentationFormat>Grand écran</PresentationFormat>
  <Paragraphs>492</Paragraphs>
  <Slides>44</Slides>
  <Notes>1</Notes>
  <HiddenSlides>4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44</vt:i4>
      </vt:variant>
    </vt:vector>
  </HeadingPairs>
  <TitlesOfParts>
    <vt:vector size="51" baseType="lpstr">
      <vt:lpstr>Arial</vt:lpstr>
      <vt:lpstr>Arial,Sans-Serif</vt:lpstr>
      <vt:lpstr>Corbel</vt:lpstr>
      <vt:lpstr>Courier New</vt:lpstr>
      <vt:lpstr>Tahoma</vt:lpstr>
      <vt:lpstr>Verdana</vt:lpstr>
      <vt:lpstr>Global theme</vt:lpstr>
      <vt:lpstr>First Steps with R in Life Sciences: Statistics</vt:lpstr>
      <vt:lpstr>Statistical hypothesis testing</vt:lpstr>
      <vt:lpstr>t-test</vt:lpstr>
      <vt:lpstr>Example data set: iris </vt:lpstr>
      <vt:lpstr>Check normality of the data with plots</vt:lpstr>
      <vt:lpstr>Check normality of the data with tests</vt:lpstr>
      <vt:lpstr>Check normality of the data with tests</vt:lpstr>
      <vt:lpstr>Visualize group differences</vt:lpstr>
      <vt:lpstr>Function t.test()</vt:lpstr>
      <vt:lpstr>t.test object</vt:lpstr>
      <vt:lpstr>Paired data</vt:lpstr>
      <vt:lpstr>Paired data representation</vt:lpstr>
      <vt:lpstr>Check normality of the differences between pairs</vt:lpstr>
      <vt:lpstr>Paired t-test</vt:lpstr>
      <vt:lpstr>Non-parametric alternatives to the t-test</vt:lpstr>
      <vt:lpstr>wilcox.test()</vt:lpstr>
      <vt:lpstr>wilcox.test() - warning messages</vt:lpstr>
      <vt:lpstr>Let's practice - 10</vt:lpstr>
      <vt:lpstr>Bivariate linear correlation</vt:lpstr>
      <vt:lpstr>Visualization of linear correlation</vt:lpstr>
      <vt:lpstr>More vosialization of linear correlation</vt:lpstr>
      <vt:lpstr>Scatter plot</vt:lpstr>
      <vt:lpstr>Scatter plot</vt:lpstr>
      <vt:lpstr>Linear correlation</vt:lpstr>
      <vt:lpstr>Linear regression</vt:lpstr>
      <vt:lpstr>Simple linear regression</vt:lpstr>
      <vt:lpstr>Summary of the data</vt:lpstr>
      <vt:lpstr>Visual summary of the data</vt:lpstr>
      <vt:lpstr>The  lm() function</vt:lpstr>
      <vt:lpstr>Simple linear regression code</vt:lpstr>
      <vt:lpstr>Representation of the fit (I)</vt:lpstr>
      <vt:lpstr>Representation of the fit (II)</vt:lpstr>
      <vt:lpstr>Representation of the fit (III)</vt:lpstr>
      <vt:lpstr>Check model assumptions</vt:lpstr>
      <vt:lpstr>Check model assumptions</vt:lpstr>
      <vt:lpstr>Model summary</vt:lpstr>
      <vt:lpstr>Model summary</vt:lpstr>
      <vt:lpstr>Let's practice - 11</vt:lpstr>
      <vt:lpstr>Additional content : model with 2 covariables (I)</vt:lpstr>
      <vt:lpstr>Additional content : model with 2 covariables (II)</vt:lpstr>
      <vt:lpstr>Additional content : model with 2 covariables (III)</vt:lpstr>
      <vt:lpstr>The next steps</vt:lpstr>
      <vt:lpstr>Credits and Acknowledgments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SIB Swiss Institute of Bioinformatics</dc:title>
  <dc:creator>O365</dc:creator>
  <cp:lastModifiedBy>Josefina Lascano Maillard</cp:lastModifiedBy>
  <cp:revision>820</cp:revision>
  <dcterms:created xsi:type="dcterms:W3CDTF">2023-02-23T13:26:01Z</dcterms:created>
  <dcterms:modified xsi:type="dcterms:W3CDTF">2026-09-28T13:32:35Z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0x010100D1884769A1460844A8276E9E33D9EC1F</vt:lpwstr>
  </property>
  <property fmtid="{D5CDD505-2E9C-101B-9397-08002B2CF9AE}" pid="3" name="MediaServiceImageTags">
    <vt:lpwstr/>
  </property>
</Properties>
</file>